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2" r:id="rId7"/>
    <p:sldId id="337" r:id="rId8"/>
    <p:sldId id="347" r:id="rId9"/>
    <p:sldId id="344" r:id="rId10"/>
    <p:sldId id="265" r:id="rId11"/>
    <p:sldId id="346" r:id="rId12"/>
    <p:sldId id="349" r:id="rId13"/>
    <p:sldId id="350" r:id="rId14"/>
    <p:sldId id="351" r:id="rId15"/>
    <p:sldId id="323" r:id="rId16"/>
    <p:sldId id="284" r:id="rId17"/>
    <p:sldId id="283" r:id="rId18"/>
    <p:sldId id="307" r:id="rId19"/>
    <p:sldId id="317" r:id="rId20"/>
    <p:sldId id="315" r:id="rId21"/>
    <p:sldId id="339" r:id="rId22"/>
    <p:sldId id="280" r:id="rId23"/>
    <p:sldId id="287" r:id="rId24"/>
    <p:sldId id="300" r:id="rId25"/>
    <p:sldId id="288" r:id="rId26"/>
    <p:sldId id="293" r:id="rId27"/>
    <p:sldId id="294" r:id="rId28"/>
    <p:sldId id="290" r:id="rId29"/>
    <p:sldId id="291" r:id="rId30"/>
    <p:sldId id="295" r:id="rId31"/>
    <p:sldId id="296" r:id="rId32"/>
    <p:sldId id="297" r:id="rId33"/>
    <p:sldId id="298" r:id="rId34"/>
    <p:sldId id="292" r:id="rId35"/>
    <p:sldId id="289" r:id="rId36"/>
    <p:sldId id="299" r:id="rId37"/>
    <p:sldId id="301" r:id="rId38"/>
    <p:sldId id="302" r:id="rId39"/>
    <p:sldId id="303" r:id="rId40"/>
    <p:sldId id="310" r:id="rId41"/>
    <p:sldId id="304" r:id="rId42"/>
    <p:sldId id="305" r:id="rId43"/>
    <p:sldId id="306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6575"/>
    <a:srgbClr val="E6E6E6"/>
    <a:srgbClr val="C0C4CB"/>
    <a:srgbClr val="146984"/>
    <a:srgbClr val="2389A8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60048" autoAdjust="0"/>
  </p:normalViewPr>
  <p:slideViewPr>
    <p:cSldViewPr snapToGrid="0" snapToObjects="1">
      <p:cViewPr varScale="1">
        <p:scale>
          <a:sx n="91" d="100"/>
          <a:sy n="91" d="100"/>
        </p:scale>
        <p:origin x="11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42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核心】一句話版</a:t>
            </a:r>
            <a:r>
              <a:t> 0 字≈0 秒 ｜ </a:t>
            </a:r>
            <a:r>
              <a:rPr err="1"/>
              <a:t>完整版</a:t>
            </a:r>
            <a:r>
              <a:t> 166 字≈0.8 分</a:t>
            </a:r>
          </a:p>
          <a:p>
            <a:endParaRPr/>
          </a:p>
          <a:p>
            <a:r>
              <a:t>【</a:t>
            </a:r>
            <a:r>
              <a:rPr err="1"/>
              <a:t>怎麼講】停</a:t>
            </a:r>
            <a:r>
              <a:t> 3 </a:t>
            </a:r>
            <a:r>
              <a:rPr err="1"/>
              <a:t>秒讓委員讀完題目,不需逐字念。自我介紹後直接進目錄</a:t>
            </a:r>
            <a:r>
              <a:t>。</a:t>
            </a:r>
          </a:p>
          <a:p>
            <a:endParaRPr/>
          </a:p>
          <a:p>
            <a:r>
              <a:t>【口頭示範】各位委員早安,</a:t>
            </a:r>
            <a:r>
              <a:rPr err="1"/>
              <a:t>我是〔姓名</a:t>
            </a:r>
            <a:r>
              <a:t>〕,</a:t>
            </a:r>
            <a:r>
              <a:rPr err="1"/>
              <a:t>指導教授是〔教授</a:t>
            </a:r>
            <a:r>
              <a:t>〕。</a:t>
            </a:r>
            <a:r>
              <a:rPr err="1"/>
              <a:t>今天報告的題目是「無人機系統整合與控制研究</a:t>
            </a:r>
            <a:r>
              <a:t>」— 主要工作是把一套商用飛控移植到另一顆微控制器上,並在這個平臺上延伸出室內定位與多機控制。</a:t>
            </a:r>
          </a:p>
          <a:p>
            <a:endParaRPr/>
          </a:p>
          <a:p>
            <a:r>
              <a:t>【★ </a:t>
            </a:r>
            <a:r>
              <a:rPr err="1"/>
              <a:t>提醒】封面的姓名、教授、系所、日期務必在口試前填妥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「各位口試委員、教授好，我是林寗墾。今天我要報告的題目是</a:t>
            </a:r>
            <a:r>
              <a:rPr lang="en-US" altLang="zh-TW"/>
              <a:t>『</a:t>
            </a:r>
            <a:r>
              <a:rPr lang="zh-TW" altLang="en-US"/>
              <a:t>無人機系統整合與控制研究</a:t>
            </a:r>
            <a:r>
              <a:rPr lang="en-US" altLang="zh-TW"/>
              <a:t>』</a:t>
            </a:r>
            <a:r>
              <a:rPr lang="zh-TW" altLang="en-US"/>
              <a:t>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這是今天的簡報大綱，主要分為五個部分： 首先是</a:t>
            </a:r>
            <a:r>
              <a:rPr lang="zh-TW" altLang="en-US" b="1"/>
              <a:t>研究背景與動機</a:t>
            </a:r>
            <a:r>
              <a:rPr lang="zh-TW" altLang="en-US"/>
              <a:t>，說明室內微型無人機開發面臨的痛點。 </a:t>
            </a:r>
            <a:endParaRPr lang="en-US" altLang="zh-TW"/>
          </a:p>
          <a:p>
            <a:r>
              <a:rPr lang="zh-TW" altLang="en-US"/>
              <a:t>接著進入核心實作，我會依序介紹硬體層面的</a:t>
            </a:r>
            <a:r>
              <a:rPr lang="zh-TW" altLang="en-US" b="1"/>
              <a:t>自製飛控電路板</a:t>
            </a:r>
            <a:r>
              <a:rPr lang="zh-TW" altLang="en-US"/>
              <a:t>、韌體層面的</a:t>
            </a:r>
            <a:r>
              <a:rPr lang="zh-TW" altLang="en-US" b="1"/>
              <a:t>飛控韌體移植</a:t>
            </a:r>
            <a:r>
              <a:rPr lang="zh-TW" altLang="en-US"/>
              <a:t>，以及應用層面的 </a:t>
            </a:r>
            <a:r>
              <a:rPr lang="en-US" altLang="zh-TW" b="1"/>
              <a:t>BLE </a:t>
            </a:r>
            <a:r>
              <a:rPr lang="zh-TW" altLang="en-US" b="1"/>
              <a:t>室內定位整合</a:t>
            </a:r>
            <a:r>
              <a:rPr lang="zh-TW" altLang="en-US"/>
              <a:t>。 最後則是</a:t>
            </a:r>
            <a:r>
              <a:rPr lang="zh-TW" altLang="en-US" b="1"/>
              <a:t>結論與未來展望</a:t>
            </a:r>
            <a:r>
              <a:rPr lang="zh-TW" altLang="en-US"/>
              <a:t>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首先，讓我們進入第一部分：研究背景與動機。」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ffectLst/>
                <a:latin typeface="Google Sans Text"/>
              </a:rPr>
              <a:t>「各位委員，在進行室內無人機開發與實驗時，我們主要面臨三項限制：</a:t>
            </a:r>
            <a:endParaRPr lang="en-US" altLang="zh-TW">
              <a:effectLst/>
              <a:latin typeface="Google Sans Text"/>
            </a:endParaRPr>
          </a:p>
          <a:p>
            <a:endParaRPr lang="zh-TW" altLang="en-US">
              <a:effectLst/>
              <a:latin typeface="Google Sans Text"/>
            </a:endParaRPr>
          </a:p>
          <a:p>
            <a:r>
              <a:rPr lang="zh-TW" altLang="en-US">
                <a:effectLst/>
                <a:latin typeface="Google Sans Text"/>
              </a:rPr>
              <a:t>第一，</a:t>
            </a:r>
            <a:r>
              <a:rPr lang="zh-TW" altLang="en-US" b="1">
                <a:effectLst/>
                <a:latin typeface="Google Sans Text"/>
              </a:rPr>
              <a:t>傳統硬體故障難以檢測與更換</a:t>
            </a:r>
            <a:r>
              <a:rPr lang="zh-TW" altLang="en-US">
                <a:effectLst/>
                <a:latin typeface="Google Sans Text"/>
              </a:rPr>
              <a:t>。市面上的微型飛控板大部分元件都是直接焊接固定在</a:t>
            </a:r>
            <a:r>
              <a:rPr lang="en-US" altLang="zh-TW">
                <a:effectLst/>
                <a:latin typeface="Google Sans Text"/>
              </a:rPr>
              <a:t>PCB</a:t>
            </a:r>
            <a:r>
              <a:rPr lang="zh-TW" altLang="en-US">
                <a:effectLst/>
                <a:latin typeface="Google Sans Text"/>
              </a:rPr>
              <a:t>上，一旦出現異常或硬體損壞，不僅難</a:t>
            </a:r>
            <a:r>
              <a:rPr lang="zh-CN" altLang="en-US">
                <a:effectLst/>
                <a:latin typeface="Google Sans Text"/>
              </a:rPr>
              <a:t>以</a:t>
            </a:r>
            <a:r>
              <a:rPr lang="zh-TW" altLang="en-US">
                <a:effectLst/>
                <a:latin typeface="Google Sans Text"/>
              </a:rPr>
              <a:t>單獨用儀器測量除錯，拆卸替換</a:t>
            </a:r>
            <a:r>
              <a:rPr lang="zh-CN" altLang="en-US">
                <a:effectLst/>
                <a:latin typeface="Google Sans Text"/>
              </a:rPr>
              <a:t>也需要較爲專業設備與手法</a:t>
            </a:r>
            <a:r>
              <a:rPr lang="zh-TW" altLang="en-US">
                <a:effectLst/>
                <a:latin typeface="Google Sans Text"/>
              </a:rPr>
              <a:t>。</a:t>
            </a:r>
            <a:endParaRPr lang="en-US" altLang="zh-TW">
              <a:effectLst/>
              <a:latin typeface="Google Sans Text"/>
            </a:endParaRPr>
          </a:p>
          <a:p>
            <a:endParaRPr lang="zh-TW" altLang="en-US">
              <a:effectLst/>
              <a:latin typeface="Google Sans Text"/>
            </a:endParaRPr>
          </a:p>
          <a:p>
            <a:r>
              <a:rPr lang="zh-TW" altLang="en-US">
                <a:effectLst/>
                <a:latin typeface="Google Sans Text"/>
              </a:rPr>
              <a:t>第二，</a:t>
            </a:r>
            <a:r>
              <a:rPr lang="zh-TW" altLang="en-US" b="1">
                <a:effectLst/>
                <a:latin typeface="Google Sans Text"/>
              </a:rPr>
              <a:t>通訊協定與射頻整合</a:t>
            </a:r>
            <a:r>
              <a:rPr lang="zh-TW" altLang="en-US">
                <a:effectLst/>
                <a:latin typeface="Google Sans Text"/>
              </a:rPr>
              <a:t>。 </a:t>
            </a:r>
            <a:r>
              <a:rPr lang="en-US" altLang="zh-TW">
                <a:effectLst/>
                <a:latin typeface="Google Sans Text"/>
              </a:rPr>
              <a:t>MiniFly </a:t>
            </a:r>
            <a:r>
              <a:rPr lang="zh-TW" altLang="en-US">
                <a:effectLst/>
                <a:latin typeface="Google Sans Text"/>
              </a:rPr>
              <a:t>需外接 </a:t>
            </a:r>
            <a:r>
              <a:rPr lang="en-US" altLang="zh-TW">
                <a:effectLst/>
                <a:latin typeface="Google Sans Text"/>
              </a:rPr>
              <a:t>RF </a:t>
            </a:r>
            <a:r>
              <a:rPr lang="zh-TW" altLang="en-US">
                <a:effectLst/>
                <a:latin typeface="Google Sans Text"/>
              </a:rPr>
              <a:t>模組，而常見 </a:t>
            </a:r>
            <a:r>
              <a:rPr lang="en-US" altLang="zh-TW">
                <a:effectLst/>
                <a:latin typeface="Google Sans Text"/>
              </a:rPr>
              <a:t>ESP </a:t>
            </a:r>
            <a:r>
              <a:rPr lang="zh-TW" altLang="en-US">
                <a:effectLst/>
                <a:latin typeface="Google Sans Text"/>
              </a:rPr>
              <a:t>平臺又無法原生相容原廠 </a:t>
            </a:r>
            <a:r>
              <a:rPr lang="en-US" altLang="zh-TW">
                <a:effectLst/>
                <a:latin typeface="Google Sans Text"/>
              </a:rPr>
              <a:t>ESB </a:t>
            </a:r>
            <a:r>
              <a:rPr lang="zh-TW" altLang="en-US">
                <a:effectLst/>
                <a:latin typeface="Google Sans Text"/>
              </a:rPr>
              <a:t>協定。</a:t>
            </a:r>
            <a:endParaRPr lang="en-US" altLang="zh-TW">
              <a:effectLst/>
              <a:latin typeface="Google Sans Text"/>
            </a:endParaRPr>
          </a:p>
          <a:p>
            <a:endParaRPr lang="zh-TW" altLang="en-US">
              <a:effectLst/>
              <a:latin typeface="Google Sans Text"/>
            </a:endParaRPr>
          </a:p>
          <a:p>
            <a:r>
              <a:rPr lang="zh-TW" altLang="en-US">
                <a:effectLst/>
                <a:latin typeface="Google Sans Text"/>
              </a:rPr>
              <a:t>第三，</a:t>
            </a:r>
            <a:r>
              <a:rPr lang="zh-TW" altLang="en-US" b="1">
                <a:effectLst/>
                <a:latin typeface="Google Sans Text"/>
              </a:rPr>
              <a:t>室內無法使用衛星定位</a:t>
            </a:r>
            <a:r>
              <a:rPr lang="zh-TW" altLang="en-US">
                <a:effectLst/>
                <a:latin typeface="Google Sans Text"/>
              </a:rPr>
              <a:t>。在無 </a:t>
            </a:r>
            <a:r>
              <a:rPr lang="en-US" altLang="zh-TW">
                <a:effectLst/>
                <a:latin typeface="Google Sans Text"/>
              </a:rPr>
              <a:t>GNSS </a:t>
            </a:r>
            <a:r>
              <a:rPr lang="zh-TW" altLang="en-US">
                <a:effectLst/>
                <a:latin typeface="Google Sans Text"/>
              </a:rPr>
              <a:t>環境下，無人機必須依靠自主定位。 </a:t>
            </a:r>
            <a:endParaRPr lang="en-US" altLang="zh-TW">
              <a:effectLst/>
              <a:latin typeface="Google Sans Text"/>
            </a:endParaRPr>
          </a:p>
          <a:p>
            <a:endParaRPr lang="zh-TW" altLang="en-US">
              <a:effectLst/>
              <a:latin typeface="Google Sans Text"/>
            </a:endParaRPr>
          </a:p>
          <a:p>
            <a:r>
              <a:rPr lang="zh-TW" altLang="en-US">
                <a:effectLst/>
                <a:latin typeface="Google Sans Text"/>
              </a:rPr>
              <a:t>本研究的做法就是</a:t>
            </a:r>
            <a:r>
              <a:rPr lang="zh-TW" altLang="en-US" b="1">
                <a:effectLst/>
                <a:latin typeface="Google Sans Text"/>
              </a:rPr>
              <a:t>自行設計易檢測與更換的</a:t>
            </a:r>
            <a:r>
              <a:rPr lang="en-US" altLang="zh-TW" b="1">
                <a:effectLst/>
                <a:latin typeface="Google Sans Text"/>
              </a:rPr>
              <a:t>PCB</a:t>
            </a:r>
            <a:r>
              <a:rPr lang="zh-TW" altLang="en-US" b="1">
                <a:effectLst/>
                <a:latin typeface="Google Sans Text"/>
              </a:rPr>
              <a:t>、移植韌體至 </a:t>
            </a:r>
            <a:r>
              <a:rPr lang="en-US" altLang="zh-TW" b="1">
                <a:effectLst/>
                <a:latin typeface="Google Sans Text"/>
              </a:rPr>
              <a:t>nRF52840</a:t>
            </a:r>
            <a:r>
              <a:rPr lang="zh-TW" altLang="en-US" b="1">
                <a:effectLst/>
                <a:latin typeface="Google Sans Text"/>
              </a:rPr>
              <a:t>，並整合 </a:t>
            </a:r>
            <a:r>
              <a:rPr lang="en-US" altLang="zh-TW" b="1">
                <a:effectLst/>
                <a:latin typeface="Google Sans Text"/>
              </a:rPr>
              <a:t>BLE </a:t>
            </a:r>
            <a:r>
              <a:rPr lang="zh-TW" altLang="en-US" b="1">
                <a:effectLst/>
                <a:latin typeface="Google Sans Text"/>
              </a:rPr>
              <a:t>室內定位</a:t>
            </a:r>
            <a:r>
              <a:rPr lang="zh-TW" altLang="en-US">
                <a:effectLst/>
                <a:latin typeface="Google Sans Text"/>
              </a:rPr>
              <a:t>，打造高擴充性的無人機實驗平</a:t>
            </a:r>
            <a:r>
              <a:rPr lang="zh-CN" altLang="en-US">
                <a:effectLst/>
                <a:latin typeface="Google Sans Text"/>
              </a:rPr>
              <a:t>台</a:t>
            </a:r>
            <a:r>
              <a:rPr lang="zh-TW" altLang="en-US">
                <a:effectLst/>
                <a:latin typeface="Google Sans Text"/>
              </a:rPr>
              <a:t>。」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「本研究的核心目標與貢獻可歸納為三個部分：</a:t>
            </a:r>
            <a:endParaRPr lang="en-US" altLang="zh-TW"/>
          </a:p>
          <a:p>
            <a:endParaRPr lang="zh-TW" alt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第一是</a:t>
            </a:r>
            <a:r>
              <a:rPr lang="zh-TW" altLang="en-US" b="1"/>
              <a:t>自製飛控電路板</a:t>
            </a:r>
            <a:r>
              <a:rPr lang="zh-TW" altLang="en-US"/>
              <a:t>。</a:t>
            </a:r>
            <a:r>
              <a:rPr lang="en-US" altLang="zh-TW">
                <a:effectLst/>
                <a:latin typeface="Google Sans Text"/>
              </a:rPr>
              <a:t>layout</a:t>
            </a:r>
            <a:r>
              <a:rPr lang="zh-TW" altLang="en-US"/>
              <a:t>可拆卸的插拔式載板，降低硬體損壞時難以檢測與更換的門檻。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第二是</a:t>
            </a:r>
            <a:r>
              <a:rPr lang="zh-TW" altLang="en-US" b="1"/>
              <a:t>韌體移植</a:t>
            </a:r>
            <a:r>
              <a:rPr lang="zh-TW" altLang="en-US"/>
              <a:t>。我們將 </a:t>
            </a:r>
            <a:r>
              <a:rPr lang="en-US" altLang="zh-TW"/>
              <a:t>MiniFly </a:t>
            </a:r>
            <a:r>
              <a:rPr lang="zh-TW" altLang="en-US"/>
              <a:t>飛控韌體移植到 </a:t>
            </a:r>
            <a:r>
              <a:rPr lang="en-US" altLang="zh-TW" b="1"/>
              <a:t>nRF52840</a:t>
            </a:r>
            <a:r>
              <a:rPr lang="zh-TW" altLang="en-US"/>
              <a:t> 晶片上，並相容原廠的 </a:t>
            </a:r>
            <a:r>
              <a:rPr lang="en-US" altLang="zh-TW"/>
              <a:t>ATK ESB </a:t>
            </a:r>
            <a:r>
              <a:rPr lang="zh-TW" altLang="en-US"/>
              <a:t>通訊協定。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第三則是</a:t>
            </a:r>
            <a:r>
              <a:rPr lang="zh-TW" altLang="en-US" b="1"/>
              <a:t>整合 </a:t>
            </a:r>
            <a:r>
              <a:rPr lang="en-US" altLang="zh-TW" b="1"/>
              <a:t>BLE </a:t>
            </a:r>
            <a:r>
              <a:rPr lang="zh-TW" altLang="en-US" b="1"/>
              <a:t>室內定位</a:t>
            </a:r>
            <a:r>
              <a:rPr lang="zh-TW" altLang="en-US"/>
              <a:t>，補足無 </a:t>
            </a:r>
            <a:r>
              <a:rPr lang="en-US" altLang="zh-TW"/>
              <a:t>GNSS </a:t>
            </a:r>
            <a:r>
              <a:rPr lang="zh-TW" altLang="en-US"/>
              <a:t>環境下的自主定位能力。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接下來，我將依序介紹硬體電路設計、韌體移植過程與定位實作細節</a:t>
            </a:r>
            <a:r>
              <a:rPr lang="en-US" altLang="zh-TW"/>
              <a:t>……</a:t>
            </a:r>
            <a:r>
              <a:rPr lang="zh-TW" altLang="en-US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「</a:t>
            </a:r>
            <a:r>
              <a:rPr lang="zh-CN" altLang="en-US"/>
              <a:t>本</a:t>
            </a:r>
            <a:r>
              <a:rPr lang="zh-TW" altLang="en-US"/>
              <a:t>頁展示的是本研究的</a:t>
            </a:r>
            <a:r>
              <a:rPr lang="zh-TW" altLang="en-US" b="1"/>
              <a:t>系統總架構</a:t>
            </a:r>
            <a:r>
              <a:rPr lang="zh-TW" altLang="en-US"/>
              <a:t>，整體分為</a:t>
            </a:r>
            <a:r>
              <a:rPr lang="en-US" altLang="zh-TW"/>
              <a:t>『</a:t>
            </a:r>
            <a:r>
              <a:rPr lang="zh-TW" altLang="en-US"/>
              <a:t>控制</a:t>
            </a:r>
            <a:r>
              <a:rPr lang="en-US" altLang="zh-TW"/>
              <a:t>』</a:t>
            </a:r>
            <a:r>
              <a:rPr lang="zh-TW" altLang="en-US"/>
              <a:t>與</a:t>
            </a:r>
            <a:r>
              <a:rPr lang="en-US" altLang="zh-TW"/>
              <a:t>『</a:t>
            </a:r>
            <a:r>
              <a:rPr lang="zh-TW" altLang="en-US"/>
              <a:t>定位</a:t>
            </a:r>
            <a:r>
              <a:rPr lang="en-US" altLang="zh-TW"/>
              <a:t>』</a:t>
            </a:r>
            <a:r>
              <a:rPr lang="zh-TW" altLang="en-US"/>
              <a:t>：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首先在控制鏈路上，最上層是 </a:t>
            </a:r>
            <a:r>
              <a:rPr lang="en-US" altLang="zh-TW" b="1"/>
              <a:t>PC </a:t>
            </a:r>
            <a:r>
              <a:rPr lang="zh-TW" altLang="en-US" b="1"/>
              <a:t>上位機</a:t>
            </a:r>
            <a:r>
              <a:rPr lang="zh-TW" altLang="en-US"/>
              <a:t>，作為系統的運算，負責地圖顯示、定位解算與生成控制指令。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指令下傳給</a:t>
            </a:r>
            <a:r>
              <a:rPr lang="zh-CN" altLang="en-US"/>
              <a:t>飛控系統 </a:t>
            </a:r>
            <a:r>
              <a:rPr lang="zh-TW" altLang="en-US"/>
              <a:t>的 </a:t>
            </a:r>
            <a:r>
              <a:rPr lang="en-US" altLang="zh-TW" b="1"/>
              <a:t>ATK </a:t>
            </a:r>
            <a:r>
              <a:rPr lang="zh-TW" altLang="en-US" b="1"/>
              <a:t>遙控器</a:t>
            </a:r>
            <a:r>
              <a:rPr lang="zh-TW" altLang="en-US"/>
              <a:t>，透過 </a:t>
            </a:r>
            <a:r>
              <a:rPr lang="en-US" altLang="zh-TW"/>
              <a:t>2.4GHz ESB </a:t>
            </a:r>
            <a:r>
              <a:rPr lang="zh-TW" altLang="en-US"/>
              <a:t>協定，指令會傳送給：</a:t>
            </a:r>
            <a:r>
              <a:rPr lang="zh-TW" altLang="en-US" b="1"/>
              <a:t>飛機 </a:t>
            </a:r>
            <a:r>
              <a:rPr lang="en-US" altLang="zh-TW" b="1"/>
              <a:t>A</a:t>
            </a:r>
            <a:r>
              <a:rPr lang="zh-TW" altLang="en-US"/>
              <a:t> 是</a:t>
            </a:r>
            <a:r>
              <a:rPr lang="en-US" altLang="zh-CN"/>
              <a:t>ATK</a:t>
            </a:r>
            <a:r>
              <a:rPr lang="zh-TW" altLang="en-US"/>
              <a:t>原機；</a:t>
            </a:r>
            <a:r>
              <a:rPr lang="zh-TW" altLang="en-US" b="1"/>
              <a:t>飛機 </a:t>
            </a:r>
            <a:r>
              <a:rPr lang="en-US" altLang="zh-TW" b="1"/>
              <a:t>B</a:t>
            </a:r>
            <a:r>
              <a:rPr lang="zh-TW" altLang="en-US"/>
              <a:t> 是我們的自製載</a:t>
            </a:r>
            <a:r>
              <a:rPr lang="en-US" altLang="zh-TW"/>
              <a:t>+</a:t>
            </a:r>
            <a:r>
              <a:rPr lang="zh-TW" altLang="en-US"/>
              <a:t>上 </a:t>
            </a:r>
            <a:r>
              <a:rPr lang="en-US" altLang="zh-TW" b="1"/>
              <a:t>nRF52840</a:t>
            </a:r>
            <a:r>
              <a:rPr lang="zh-TW" altLang="en-US"/>
              <a:t>，驗證韌體移植；</a:t>
            </a:r>
            <a:endParaRPr lang="en-US" altLang="zh-TW"/>
          </a:p>
          <a:p>
            <a:endParaRPr lang="en-US" altLang="zh-TW" b="1"/>
          </a:p>
          <a:p>
            <a:r>
              <a:rPr lang="zh-TW" altLang="en-US" b="1"/>
              <a:t>飛機 </a:t>
            </a:r>
            <a:r>
              <a:rPr lang="en-US" altLang="zh-TW" b="1"/>
              <a:t>C</a:t>
            </a:r>
            <a:r>
              <a:rPr lang="zh-TW" altLang="en-US"/>
              <a:t> 則是同一塊載板</a:t>
            </a:r>
            <a:r>
              <a:rPr lang="zh-CN" altLang="en-US"/>
              <a:t>更</a:t>
            </a:r>
            <a:r>
              <a:rPr lang="zh-TW" altLang="en-US"/>
              <a:t>插 </a:t>
            </a:r>
            <a:r>
              <a:rPr lang="en-US" altLang="zh-TW" b="1"/>
              <a:t>ESP32S3</a:t>
            </a:r>
            <a:r>
              <a:rPr lang="zh-TW" altLang="en-US"/>
              <a:t>，驗證</a:t>
            </a:r>
            <a:r>
              <a:rPr lang="en-US" altLang="zh-TW"/>
              <a:t>PCB </a:t>
            </a:r>
            <a:r>
              <a:rPr lang="zh-CN" altLang="en-US"/>
              <a:t>可</a:t>
            </a:r>
            <a:r>
              <a:rPr lang="zh-TW" altLang="en-US"/>
              <a:t>更換</a:t>
            </a:r>
            <a:r>
              <a:rPr lang="zh-CN" altLang="en-US"/>
              <a:t>的</a:t>
            </a:r>
            <a:r>
              <a:rPr lang="zh-TW" altLang="en-US"/>
              <a:t>能力。</a:t>
            </a:r>
            <a:r>
              <a:rPr lang="zh-CN" altLang="en-US"/>
              <a:t>指令由上位機透過 </a:t>
            </a:r>
            <a:r>
              <a:rPr lang="en-US" altLang="zh-TW" b="1"/>
              <a:t>ESP32S3</a:t>
            </a:r>
            <a:r>
              <a:rPr lang="zh-CN" altLang="en-US" b="1"/>
              <a:t>中繼站 </a:t>
            </a:r>
            <a:r>
              <a:rPr lang="zh-TW" altLang="en-US"/>
              <a:t>透</a:t>
            </a:r>
            <a:r>
              <a:rPr lang="zh-CN" altLang="en-US"/>
              <a:t>過 </a:t>
            </a:r>
            <a:r>
              <a:rPr lang="en-US" altLang="zh-CN"/>
              <a:t>ESP-NOW </a:t>
            </a:r>
            <a:r>
              <a:rPr lang="zh-CN" altLang="en-US"/>
              <a:t>協定傳輸給 ：</a:t>
            </a:r>
            <a:r>
              <a:rPr lang="zh-TW" altLang="en-US" b="1"/>
              <a:t>飛機 </a:t>
            </a:r>
            <a:r>
              <a:rPr lang="en-US" altLang="zh-TW" b="1"/>
              <a:t>C</a:t>
            </a:r>
            <a:r>
              <a:rPr lang="zh-TW" altLang="en-US"/>
              <a:t> </a:t>
            </a:r>
            <a:endParaRPr lang="en-US" altLang="zh-TW" b="1"/>
          </a:p>
          <a:p>
            <a:endParaRPr lang="zh-TW" altLang="en-US"/>
          </a:p>
          <a:p>
            <a:r>
              <a:rPr lang="zh-TW" altLang="en-US"/>
              <a:t>最後是</a:t>
            </a:r>
            <a:r>
              <a:rPr lang="zh-TW" altLang="en-US" b="1"/>
              <a:t>定位</a:t>
            </a:r>
            <a:r>
              <a:rPr lang="zh-TW" altLang="en-US"/>
              <a:t>：三架飛機在飛行時都會廣播 </a:t>
            </a:r>
            <a:r>
              <a:rPr lang="en-US" altLang="zh-TW"/>
              <a:t>BLE </a:t>
            </a:r>
            <a:r>
              <a:rPr lang="zh-TW" altLang="en-US"/>
              <a:t>，由場地周圍的 </a:t>
            </a:r>
            <a:r>
              <a:rPr lang="en-US" altLang="zh-TW" b="1"/>
              <a:t>4 </a:t>
            </a:r>
            <a:r>
              <a:rPr lang="zh-TW" altLang="en-US" b="1"/>
              <a:t>個 </a:t>
            </a:r>
            <a:r>
              <a:rPr lang="en-US" altLang="zh-TW" b="1"/>
              <a:t>ESP32 </a:t>
            </a:r>
            <a:r>
              <a:rPr lang="zh-TW" altLang="en-US" b="1"/>
              <a:t>錨點</a:t>
            </a:r>
            <a:r>
              <a:rPr lang="zh-TW" altLang="en-US"/>
              <a:t>進行</a:t>
            </a:r>
            <a:r>
              <a:rPr lang="zh-CN" altLang="en-US"/>
              <a:t>接收</a:t>
            </a:r>
            <a:r>
              <a:rPr lang="zh-TW" altLang="en-US"/>
              <a:t>，再透過 </a:t>
            </a:r>
            <a:r>
              <a:rPr lang="en-US" altLang="zh-TW" b="1"/>
              <a:t>ESP</a:t>
            </a:r>
            <a:r>
              <a:rPr lang="zh-CN" altLang="en-US" b="1"/>
              <a:t>中繼站 </a:t>
            </a:r>
            <a:r>
              <a:rPr lang="zh-TW" altLang="en-US"/>
              <a:t>將</a:t>
            </a:r>
            <a:r>
              <a:rPr lang="en-US" altLang="zh-CN"/>
              <a:t>RSSI</a:t>
            </a:r>
            <a:r>
              <a:rPr lang="zh-TW" altLang="en-US"/>
              <a:t>數據傳回 </a:t>
            </a:r>
            <a:r>
              <a:rPr lang="en-US" altLang="zh-TW"/>
              <a:t>PC </a:t>
            </a:r>
            <a:r>
              <a:rPr lang="zh-TW" altLang="en-US"/>
              <a:t>上位機進行計算。</a:t>
            </a:r>
          </a:p>
          <a:p>
            <a:r>
              <a:rPr lang="zh-TW" altLang="en-US"/>
              <a:t>這套架構成功建立了兼具多機控制與室內定位能力的實驗平臺。」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</a:t>
            </a:r>
            <a:r>
              <a:rPr lang="zh-CN" altLang="en-US" dirty="0"/>
              <a:t>本研究硬體</a:t>
            </a:r>
            <a:r>
              <a:rPr lang="zh-TW" altLang="en-US" dirty="0"/>
              <a:t>框架，</a:t>
            </a:r>
            <a:r>
              <a:rPr lang="zh-CN" altLang="en-US" dirty="0"/>
              <a:t>與</a:t>
            </a:r>
            <a:r>
              <a:rPr lang="zh-TW" altLang="en-US" dirty="0"/>
              <a:t>原廠</a:t>
            </a:r>
            <a:r>
              <a:rPr lang="en-US" altLang="zh-CN" dirty="0" err="1"/>
              <a:t>atk-minifly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TW" dirty="0"/>
          </a:p>
          <a:p>
            <a:r>
              <a:rPr lang="en-US" altLang="zh-TW" dirty="0"/>
              <a:t>nRF52840 </a:t>
            </a:r>
            <a:r>
              <a:rPr lang="zh-TW" altLang="en-US" dirty="0"/>
              <a:t>擁有 </a:t>
            </a:r>
            <a:r>
              <a:rPr lang="en-US" altLang="zh-TW" dirty="0"/>
              <a:t>ARM Cortex-M4 </a:t>
            </a:r>
            <a:r>
              <a:rPr lang="zh-CN" altLang="en-US" dirty="0"/>
              <a:t>則整合了倆顆</a:t>
            </a:r>
            <a:r>
              <a:rPr lang="en-US" altLang="zh-CN" dirty="0"/>
              <a:t>MCU </a:t>
            </a:r>
            <a:r>
              <a:rPr lang="zh-CN" altLang="en-US" dirty="0"/>
              <a:t>的功能，</a:t>
            </a:r>
            <a:r>
              <a:rPr lang="zh-TW" altLang="en-US" dirty="0"/>
              <a:t>無線通訊與電源管理</a:t>
            </a:r>
            <a:r>
              <a:rPr lang="zh-CN" altLang="en-US" dirty="0"/>
              <a:t>，</a:t>
            </a:r>
            <a:r>
              <a:rPr lang="zh-TW" altLang="en-US" dirty="0"/>
              <a:t>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</a:t>
            </a:r>
            <a:endParaRPr lang="en-US" altLang="zh-TW" dirty="0"/>
          </a:p>
          <a:p>
            <a:endParaRPr lang="zh-TW" altLang="en-US" dirty="0"/>
          </a:p>
          <a:p>
            <a:r>
              <a:rPr lang="zh-CN" altLang="en-US" dirty="0"/>
              <a:t>都使用 </a:t>
            </a:r>
            <a:r>
              <a:rPr lang="zh-TW" altLang="en-US" dirty="0"/>
              <a:t>十</a:t>
            </a:r>
            <a:r>
              <a:rPr lang="en-US" altLang="zh-CN" dirty="0"/>
              <a:t>IMU </a:t>
            </a:r>
            <a:r>
              <a:rPr lang="zh-TW" altLang="en-US" dirty="0"/>
              <a:t>，包含三軸加速度計、三軸陀螺儀、三軸磁力計與氣壓計，</a:t>
            </a:r>
            <a:r>
              <a:rPr lang="zh-CN" altLang="en-US" dirty="0"/>
              <a:t>一個</a:t>
            </a:r>
            <a:r>
              <a:rPr lang="zh-TW" altLang="en-US" dirty="0"/>
              <a:t>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  <a:r>
              <a:rPr lang="zh-CN" altLang="en-US" dirty="0"/>
              <a:t>一個是使用</a:t>
            </a:r>
            <a:r>
              <a:rPr lang="en-US" altLang="zh-CN" dirty="0"/>
              <a:t>TWIM</a:t>
            </a:r>
            <a:r>
              <a:rPr lang="zh-CN" altLang="en-US" dirty="0"/>
              <a:t>。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電源部分</a:t>
            </a:r>
            <a:r>
              <a:rPr lang="en-US" altLang="zh-CN" dirty="0" err="1"/>
              <a:t>atk</a:t>
            </a:r>
            <a:r>
              <a:rPr lang="en-US" altLang="zh-CN" dirty="0"/>
              <a:t> </a:t>
            </a:r>
            <a:r>
              <a:rPr lang="zh-CN" altLang="en-US" dirty="0"/>
              <a:t>是外置</a:t>
            </a:r>
            <a:r>
              <a:rPr lang="zh-TW" altLang="en-US" dirty="0"/>
              <a:t>電源管理、充電電路與 </a:t>
            </a:r>
            <a:r>
              <a:rPr lang="en-US" altLang="zh-TW" dirty="0"/>
              <a:t>USB </a:t>
            </a:r>
            <a:r>
              <a:rPr lang="zh-CN" altLang="en-US" dirty="0"/>
              <a:t>介面</a:t>
            </a:r>
            <a:r>
              <a:rPr lang="zh-TW" altLang="en-US" dirty="0"/>
              <a:t>。</a:t>
            </a:r>
            <a:r>
              <a:rPr lang="zh-CN" altLang="en-US" dirty="0"/>
              <a:t>本研究則使用內部充電電路。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16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</a:t>
            </a:r>
            <a:r>
              <a:rPr lang="zh-CN" altLang="en-US" dirty="0"/>
              <a:t>本研究硬體</a:t>
            </a:r>
            <a:r>
              <a:rPr lang="zh-TW" altLang="en-US" dirty="0"/>
              <a:t>框架，</a:t>
            </a:r>
            <a:r>
              <a:rPr lang="zh-CN" altLang="en-US" dirty="0"/>
              <a:t>與</a:t>
            </a:r>
            <a:r>
              <a:rPr lang="zh-TW" altLang="en-US" dirty="0"/>
              <a:t>原廠</a:t>
            </a:r>
            <a:r>
              <a:rPr lang="en-US" altLang="zh-CN" dirty="0" err="1"/>
              <a:t>atk-minifly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TW" dirty="0"/>
          </a:p>
          <a:p>
            <a:r>
              <a:rPr lang="en-US" altLang="zh-TW" dirty="0"/>
              <a:t>nRF52840 </a:t>
            </a:r>
            <a:r>
              <a:rPr lang="zh-TW" altLang="en-US" dirty="0"/>
              <a:t>擁有 </a:t>
            </a:r>
            <a:r>
              <a:rPr lang="en-US" altLang="zh-TW" dirty="0"/>
              <a:t>ARM Cortex-M4 </a:t>
            </a:r>
            <a:r>
              <a:rPr lang="zh-CN" altLang="en-US" dirty="0"/>
              <a:t>則整合了倆顆</a:t>
            </a:r>
            <a:r>
              <a:rPr lang="en-US" altLang="zh-CN" dirty="0"/>
              <a:t>MCU </a:t>
            </a:r>
            <a:r>
              <a:rPr lang="zh-CN" altLang="en-US" dirty="0"/>
              <a:t>的功能，</a:t>
            </a:r>
            <a:r>
              <a:rPr lang="zh-TW" altLang="en-US" dirty="0"/>
              <a:t>無線通訊與電源管理</a:t>
            </a:r>
            <a:r>
              <a:rPr lang="zh-CN" altLang="en-US" dirty="0"/>
              <a:t>，</a:t>
            </a:r>
            <a:r>
              <a:rPr lang="zh-TW" altLang="en-US" dirty="0"/>
              <a:t>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</a:t>
            </a:r>
            <a:endParaRPr lang="en-US" altLang="zh-TW" dirty="0"/>
          </a:p>
          <a:p>
            <a:endParaRPr lang="zh-TW" altLang="en-US" dirty="0"/>
          </a:p>
          <a:p>
            <a:r>
              <a:rPr lang="zh-CN" altLang="en-US" dirty="0"/>
              <a:t>都使用 </a:t>
            </a:r>
            <a:r>
              <a:rPr lang="zh-TW" altLang="en-US" dirty="0"/>
              <a:t>十</a:t>
            </a:r>
            <a:r>
              <a:rPr lang="en-US" altLang="zh-CN" dirty="0"/>
              <a:t>IMU </a:t>
            </a:r>
            <a:r>
              <a:rPr lang="zh-TW" altLang="en-US" dirty="0"/>
              <a:t>，包含三軸加速度計、三軸陀螺儀、三軸磁力計與氣壓計，</a:t>
            </a:r>
            <a:r>
              <a:rPr lang="zh-CN" altLang="en-US" dirty="0"/>
              <a:t>一個</a:t>
            </a:r>
            <a:r>
              <a:rPr lang="zh-TW" altLang="en-US" dirty="0"/>
              <a:t>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  <a:r>
              <a:rPr lang="zh-CN" altLang="en-US" dirty="0"/>
              <a:t>一個是使用</a:t>
            </a:r>
            <a:r>
              <a:rPr lang="en-US" altLang="zh-CN" dirty="0"/>
              <a:t>TWIM</a:t>
            </a:r>
            <a:r>
              <a:rPr lang="zh-CN" altLang="en-US" dirty="0"/>
              <a:t>。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電源部分</a:t>
            </a:r>
            <a:r>
              <a:rPr lang="en-US" altLang="zh-CN" dirty="0" err="1"/>
              <a:t>atk</a:t>
            </a:r>
            <a:r>
              <a:rPr lang="en-US" altLang="zh-CN" dirty="0"/>
              <a:t> </a:t>
            </a:r>
            <a:r>
              <a:rPr lang="zh-CN" altLang="en-US" dirty="0"/>
              <a:t>是外置</a:t>
            </a:r>
            <a:r>
              <a:rPr lang="zh-TW" altLang="en-US" dirty="0"/>
              <a:t>電源管理、充電電路與 </a:t>
            </a:r>
            <a:r>
              <a:rPr lang="en-US" altLang="zh-TW" dirty="0"/>
              <a:t>USB </a:t>
            </a:r>
            <a:r>
              <a:rPr lang="zh-CN" altLang="en-US" dirty="0"/>
              <a:t>介面</a:t>
            </a:r>
            <a:r>
              <a:rPr lang="zh-TW" altLang="en-US" dirty="0"/>
              <a:t>。</a:t>
            </a:r>
            <a:r>
              <a:rPr lang="zh-CN" altLang="en-US" dirty="0"/>
              <a:t>本研究則使用內部充電電路。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5421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「第</a:t>
            </a:r>
            <a:r>
              <a:rPr lang="zh-CN" altLang="en-US"/>
              <a:t>七</a:t>
            </a:r>
            <a:r>
              <a:rPr lang="zh-TW" altLang="en-US"/>
              <a:t>頁展示的是我們自製飛控板的四項硬體設計重點：</a:t>
            </a:r>
          </a:p>
          <a:p>
            <a:r>
              <a:rPr lang="zh-TW" altLang="en-US"/>
              <a:t>第一是</a:t>
            </a:r>
            <a:r>
              <a:rPr lang="zh-TW" altLang="en-US" b="1"/>
              <a:t>模組化設計</a:t>
            </a:r>
            <a:r>
              <a:rPr lang="zh-TW" altLang="en-US"/>
              <a:t>，</a:t>
            </a:r>
            <a:r>
              <a:rPr lang="en-US" altLang="zh-CN"/>
              <a:t>MCU</a:t>
            </a:r>
            <a:r>
              <a:rPr lang="zh-TW" altLang="en-US"/>
              <a:t>和 </a:t>
            </a:r>
            <a:r>
              <a:rPr lang="en-US" altLang="zh-TW"/>
              <a:t>GY-91 </a:t>
            </a:r>
            <a:r>
              <a:rPr lang="zh-TW" altLang="en-US"/>
              <a:t>感測器都採用排母連接，方便獨立拆裝與</a:t>
            </a:r>
            <a:r>
              <a:rPr lang="zh-CN" altLang="en-US"/>
              <a:t>檢</a:t>
            </a:r>
            <a:r>
              <a:rPr lang="zh-TW" altLang="en-US"/>
              <a:t>測。</a:t>
            </a:r>
            <a:endParaRPr lang="en-US" altLang="zh-TW"/>
          </a:p>
          <a:p>
            <a:endParaRPr lang="zh-TW" altLang="en-US"/>
          </a:p>
          <a:p>
            <a:r>
              <a:rPr lang="zh-TW" altLang="en-US"/>
              <a:t>第二是</a:t>
            </a:r>
            <a:r>
              <a:rPr lang="zh-CN" altLang="en-US" b="1"/>
              <a:t>板框</a:t>
            </a:r>
            <a:r>
              <a:rPr lang="zh-TW" altLang="en-US" b="1"/>
              <a:t>一體化</a:t>
            </a:r>
            <a:r>
              <a:rPr lang="zh-TW" altLang="en-US"/>
              <a:t>，直接用 </a:t>
            </a:r>
            <a:r>
              <a:rPr lang="en-US" altLang="zh-TW"/>
              <a:t>PCB </a:t>
            </a:r>
            <a:r>
              <a:rPr lang="zh-TW" altLang="en-US"/>
              <a:t>當作機身結構與馬達座，實現輕量化。</a:t>
            </a:r>
          </a:p>
          <a:p>
            <a:endParaRPr lang="en-US" altLang="zh-TW"/>
          </a:p>
          <a:p>
            <a:r>
              <a:rPr lang="zh-TW" altLang="en-US"/>
              <a:t>第</a:t>
            </a:r>
            <a:r>
              <a:rPr lang="zh-CN" altLang="en-US"/>
              <a:t>三</a:t>
            </a:r>
            <a:r>
              <a:rPr lang="zh-TW" altLang="en-US"/>
              <a:t>是</a:t>
            </a:r>
            <a:r>
              <a:rPr lang="zh-TW" altLang="en-US" b="1"/>
              <a:t>重心平衡與空間利用</a:t>
            </a:r>
            <a:r>
              <a:rPr lang="zh-TW" altLang="en-US"/>
              <a:t>，</a:t>
            </a:r>
            <a:r>
              <a:rPr lang="zh-CN" altLang="en-US"/>
              <a:t>母排</a:t>
            </a:r>
            <a:r>
              <a:rPr lang="zh-TW" altLang="en-US"/>
              <a:t>架下方空隙</a:t>
            </a:r>
            <a:r>
              <a:rPr lang="zh-CN" altLang="en-US"/>
              <a:t>放</a:t>
            </a:r>
            <a:r>
              <a:rPr lang="zh-TW" altLang="en-US"/>
              <a:t>置元件</a:t>
            </a:r>
            <a:r>
              <a:rPr lang="zh-CN" altLang="en-US"/>
              <a:t>，可使用較大顆元件容易更換和維護，提升高利用率</a:t>
            </a:r>
            <a:r>
              <a:rPr lang="zh-TW" altLang="en-US"/>
              <a:t>，並對稱擺放模組，確保整體重心</a:t>
            </a:r>
            <a:r>
              <a:rPr lang="zh-CN" altLang="en-US" sz="120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較平衡</a:t>
            </a:r>
            <a:r>
              <a:rPr lang="zh-TW" altLang="en-US"/>
              <a:t>。</a:t>
            </a:r>
            <a:endParaRPr lang="en-US" altLang="zh-TW"/>
          </a:p>
          <a:p>
            <a:endParaRPr lang="en-US" altLang="zh-TW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第</a:t>
            </a:r>
            <a:r>
              <a:rPr lang="zh-CN" altLang="en-US"/>
              <a:t>四</a:t>
            </a:r>
            <a:r>
              <a:rPr lang="zh-TW" altLang="en-US"/>
              <a:t>是</a:t>
            </a:r>
            <a:r>
              <a:rPr lang="zh-TW" altLang="en-US" b="1"/>
              <a:t>降低電磁幹擾</a:t>
            </a:r>
            <a:r>
              <a:rPr lang="zh-TW" altLang="en-US"/>
              <a:t>。將馬達插座配置於背面，</a:t>
            </a:r>
            <a:r>
              <a:rPr lang="en-US" altLang="zh-TW"/>
              <a:t>PCB </a:t>
            </a:r>
            <a:r>
              <a:rPr lang="zh-TW" altLang="en-US"/>
              <a:t>厚度與母</a:t>
            </a:r>
            <a:r>
              <a:rPr lang="zh-CN" altLang="en-US"/>
              <a:t>排</a:t>
            </a:r>
            <a:r>
              <a:rPr lang="zh-TW" altLang="en-US"/>
              <a:t>高度拉開距離，降低高電流切換的電磁； 於馬達採用 </a:t>
            </a:r>
            <a:r>
              <a:rPr lang="en-US" altLang="zh-TW"/>
              <a:t>N-MOSFET </a:t>
            </a:r>
            <a:r>
              <a:rPr lang="zh-TW" altLang="en-US"/>
              <a:t>驅動，並於馬達兩端並聯 </a:t>
            </a:r>
            <a:r>
              <a:rPr lang="en-US" altLang="zh-TW"/>
              <a:t>SS14 </a:t>
            </a:r>
            <a:r>
              <a:rPr lang="zh-TW" altLang="en-US"/>
              <a:t>續流二極體。當 </a:t>
            </a:r>
            <a:r>
              <a:rPr lang="en-US" altLang="zh-TW"/>
              <a:t>MOSFET </a:t>
            </a:r>
            <a:r>
              <a:rPr lang="zh-TW" altLang="en-US"/>
              <a:t>切換關閉時，馬達會產生反電動勢，二極體能提供電流迴路，防止汲極</a:t>
            </a:r>
            <a:r>
              <a:rPr lang="zh-CN" altLang="en-US"/>
              <a:t>（</a:t>
            </a:r>
            <a:r>
              <a:rPr lang="en-US" altLang="zh-TW"/>
              <a:t>Drain </a:t>
            </a:r>
            <a:r>
              <a:rPr lang="zh-CN" altLang="en-US"/>
              <a:t>）</a:t>
            </a:r>
            <a:r>
              <a:rPr lang="zh-TW" altLang="en-US"/>
              <a:t>腳位產生高壓擊穿 </a:t>
            </a:r>
            <a:r>
              <a:rPr lang="en-US" altLang="zh-TW"/>
              <a:t>MOSFET</a:t>
            </a:r>
            <a:r>
              <a:rPr lang="zh-TW" altLang="en-US"/>
              <a:t>；同時搭配 </a:t>
            </a:r>
            <a:r>
              <a:rPr lang="en-US" altLang="zh-TW"/>
              <a:t>100 </a:t>
            </a:r>
            <a:r>
              <a:rPr lang="en-US" altLang="zh-TW" err="1"/>
              <a:t>nF</a:t>
            </a:r>
            <a:r>
              <a:rPr lang="en-US" altLang="zh-TW"/>
              <a:t> </a:t>
            </a:r>
            <a:r>
              <a:rPr lang="zh-TW" altLang="en-US"/>
              <a:t>去耦電容濾除高頻切換雜訊，避免幹擾經由電源與接地路徑耦合至 </a:t>
            </a:r>
            <a:r>
              <a:rPr lang="en-US" altLang="zh-TW"/>
              <a:t>IMU</a:t>
            </a:r>
            <a:r>
              <a:rPr lang="zh-TW" altLang="en-US"/>
              <a:t>。</a:t>
            </a:r>
            <a:endParaRPr lang="en-US" altLang="zh-TW"/>
          </a:p>
          <a:p>
            <a:endParaRPr/>
          </a:p>
          <a:p>
            <a:r>
              <a:rPr err="1"/>
              <a:t>接下來第八頁，我將說明本研究使用的三個飛控平臺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59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第八頁是本研究實際使用的三個飛控平臺對照</a:t>
            </a:r>
            <a:r>
              <a:t>。</a:t>
            </a:r>
          </a:p>
          <a:p>
            <a:endParaRPr/>
          </a:p>
          <a:p>
            <a:r>
              <a:rPr err="1"/>
              <a:t>第一列是</a:t>
            </a:r>
            <a:r>
              <a:t> ATK-</a:t>
            </a:r>
            <a:r>
              <a:rPr err="1"/>
              <a:t>MiniFly</a:t>
            </a:r>
            <a:r>
              <a:t> </a:t>
            </a:r>
            <a:r>
              <a:rPr err="1"/>
              <a:t>原機。主控是</a:t>
            </a:r>
            <a:r>
              <a:t> STM32F411，96 MHz 的 Cortex-M4，無線另外掛一顆 nRF51822 </a:t>
            </a:r>
            <a:r>
              <a:rPr err="1"/>
              <a:t>加上</a:t>
            </a:r>
            <a:r>
              <a:t> RFX2401C </a:t>
            </a:r>
            <a:r>
              <a:rPr err="1"/>
              <a:t>功率放大晶片，跑的是原廠韌體。它在本研究裡有兩個角色：一是韌體移植的來源，二是後面多機控制的其中一架受控機</a:t>
            </a:r>
            <a:r>
              <a:t>。</a:t>
            </a:r>
          </a:p>
          <a:p>
            <a:endParaRPr/>
          </a:p>
          <a:p>
            <a:r>
              <a:rPr err="1"/>
              <a:t>第二列是自製電路板插上</a:t>
            </a:r>
            <a:r>
              <a:t> XIAO nRF52840。這顆是 64 MHz 的 Cortex-M4，帶浮點運算單元，並且內建 RADIO </a:t>
            </a:r>
            <a:r>
              <a:rPr err="1"/>
              <a:t>無線電，所以主控與無線合併在同一顆晶片上，不需要外掛射頻晶片。韌體是本研究移植的版本，這一列是本研究的主要對象</a:t>
            </a:r>
            <a:r>
              <a:t>。</a:t>
            </a:r>
          </a:p>
          <a:p>
            <a:endParaRPr/>
          </a:p>
          <a:p>
            <a:r>
              <a:rPr err="1"/>
              <a:t>第三列是同一塊自製電路板，換插</a:t>
            </a:r>
            <a:r>
              <a:t> XIAO ESP32S3，改用 </a:t>
            </a:r>
            <a:r>
              <a:rPr err="1"/>
              <a:t>WiFi</a:t>
            </a:r>
            <a:r>
              <a:t> 與 </a:t>
            </a:r>
            <a:r>
              <a:rPr err="1"/>
              <a:t>BLE，跑的是開源的</a:t>
            </a:r>
            <a:r>
              <a:t> ESP-FC </a:t>
            </a:r>
            <a:r>
              <a:rPr err="1"/>
              <a:t>韌體</a:t>
            </a:r>
            <a:r>
              <a:t>。</a:t>
            </a:r>
          </a:p>
          <a:p>
            <a:endParaRPr/>
          </a:p>
          <a:p>
            <a:r>
              <a:rPr err="1"/>
              <a:t>這裡要請委員注意的是，第二列和第三列用的是同一塊電路板，只是換插不同的主控模組。這正好驗證了上一頁講的模組化設計</a:t>
            </a:r>
            <a:r>
              <a:t>——</a:t>
            </a:r>
            <a:r>
              <a:rPr err="1"/>
              <a:t>排母引出腳位之後，主控確實可以整顆更換</a:t>
            </a:r>
            <a:r>
              <a:t>。</a:t>
            </a:r>
          </a:p>
          <a:p>
            <a:endParaRPr/>
          </a:p>
          <a:p>
            <a:r>
              <a:rPr err="1"/>
              <a:t>第三列之所以不列為本研究的移植成果，是因為</a:t>
            </a:r>
            <a:r>
              <a:t> ESP32 </a:t>
            </a:r>
            <a:r>
              <a:rPr err="1"/>
              <a:t>的飛控生態已經成熟，再做一次沒有研究上的增量，所以直接採用開源方案，把力氣集中在</a:t>
            </a:r>
            <a:r>
              <a:t> nRF52840 </a:t>
            </a:r>
            <a:r>
              <a:rPr err="1"/>
              <a:t>這一顆上</a:t>
            </a:r>
            <a:r>
              <a:t>。</a:t>
            </a:r>
          </a:p>
          <a:p>
            <a:endParaRPr/>
          </a:p>
          <a:p>
            <a:r>
              <a:rPr err="1"/>
              <a:t>接下來第九頁，我將說明原廠的系統框架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第八頁是本研究實際使用的三個飛控平臺對照</a:t>
            </a:r>
            <a:r>
              <a:t>。</a:t>
            </a:r>
          </a:p>
          <a:p>
            <a:endParaRPr/>
          </a:p>
          <a:p>
            <a:r>
              <a:rPr err="1"/>
              <a:t>第一列是</a:t>
            </a:r>
            <a:r>
              <a:t> ATK-</a:t>
            </a:r>
            <a:r>
              <a:rPr err="1"/>
              <a:t>MiniFly</a:t>
            </a:r>
            <a:r>
              <a:t> </a:t>
            </a:r>
            <a:r>
              <a:rPr err="1"/>
              <a:t>原機。主控是</a:t>
            </a:r>
            <a:r>
              <a:t> STM32F411，96 MHz 的 Cortex-M4，無線另外掛一顆 nRF51822 </a:t>
            </a:r>
            <a:r>
              <a:rPr err="1"/>
              <a:t>加上</a:t>
            </a:r>
            <a:r>
              <a:t> RFX2401C </a:t>
            </a:r>
            <a:r>
              <a:rPr err="1"/>
              <a:t>功率放大晶片，跑的是原廠韌體。它在本研究裡有兩個角色：一是韌體移植的來源，二是後面多機控制的其中一架受控機</a:t>
            </a:r>
            <a:r>
              <a:t>。</a:t>
            </a:r>
          </a:p>
          <a:p>
            <a:endParaRPr/>
          </a:p>
          <a:p>
            <a:r>
              <a:rPr err="1"/>
              <a:t>第二列是自製電路板插上</a:t>
            </a:r>
            <a:r>
              <a:t> XIAO nRF52840。這顆是 64 MHz 的 Cortex-M4，帶浮點運算單元，並且內建 RADIO </a:t>
            </a:r>
            <a:r>
              <a:rPr err="1"/>
              <a:t>無線電，所以主控與無線合併在同一顆晶片上，不需要外掛射頻晶片。韌體是本研究移植的版本，這一列是本研究的主要對象</a:t>
            </a:r>
            <a:r>
              <a:t>。</a:t>
            </a:r>
          </a:p>
          <a:p>
            <a:endParaRPr/>
          </a:p>
          <a:p>
            <a:r>
              <a:rPr err="1"/>
              <a:t>第三列是同一塊自製電路板，換插</a:t>
            </a:r>
            <a:r>
              <a:t> XIAO ESP32S3，改用 </a:t>
            </a:r>
            <a:r>
              <a:rPr err="1"/>
              <a:t>WiFi</a:t>
            </a:r>
            <a:r>
              <a:t> 與 </a:t>
            </a:r>
            <a:r>
              <a:rPr err="1"/>
              <a:t>BLE，跑的是開源的</a:t>
            </a:r>
            <a:r>
              <a:t> ESP-FC </a:t>
            </a:r>
            <a:r>
              <a:rPr err="1"/>
              <a:t>韌體</a:t>
            </a:r>
            <a:r>
              <a:t>。</a:t>
            </a:r>
          </a:p>
          <a:p>
            <a:endParaRPr/>
          </a:p>
          <a:p>
            <a:r>
              <a:rPr err="1"/>
              <a:t>這裡要請委員注意的是，第二列和第三列用的是同一塊電路板，只是換插不同的主控模組。這正好驗證了上一頁講的模組化設計</a:t>
            </a:r>
            <a:r>
              <a:t>——</a:t>
            </a:r>
            <a:r>
              <a:rPr err="1"/>
              <a:t>排母引出腳位之後，主控確實可以整顆更換</a:t>
            </a:r>
            <a:r>
              <a:t>。</a:t>
            </a:r>
          </a:p>
          <a:p>
            <a:endParaRPr/>
          </a:p>
          <a:p>
            <a:r>
              <a:rPr err="1"/>
              <a:t>第三列之所以不列為本研究的移植成果，是因為</a:t>
            </a:r>
            <a:r>
              <a:t> ESP32 </a:t>
            </a:r>
            <a:r>
              <a:rPr err="1"/>
              <a:t>的飛控生態已經成熟，再做一次沒有研究上的增量，所以直接採用開源方案，把力氣集中在</a:t>
            </a:r>
            <a:r>
              <a:t> nRF52840 </a:t>
            </a:r>
            <a:r>
              <a:rPr err="1"/>
              <a:t>這一顆上</a:t>
            </a:r>
            <a:r>
              <a:t>。</a:t>
            </a:r>
          </a:p>
          <a:p>
            <a:endParaRPr/>
          </a:p>
          <a:p>
            <a:r>
              <a:rPr err="1"/>
              <a:t>接下來第九頁，我將說明原廠的系統框架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26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第八頁是本研究實際使用的三個飛控平臺對照</a:t>
            </a:r>
            <a:r>
              <a:t>。</a:t>
            </a:r>
          </a:p>
          <a:p>
            <a:endParaRPr/>
          </a:p>
          <a:p>
            <a:r>
              <a:rPr err="1"/>
              <a:t>第一列是</a:t>
            </a:r>
            <a:r>
              <a:t> ATK-</a:t>
            </a:r>
            <a:r>
              <a:rPr err="1"/>
              <a:t>MiniFly</a:t>
            </a:r>
            <a:r>
              <a:t> </a:t>
            </a:r>
            <a:r>
              <a:rPr err="1"/>
              <a:t>原機。主控是</a:t>
            </a:r>
            <a:r>
              <a:t> STM32F411，96 MHz 的 Cortex-M4，無線另外掛一顆 nRF51822 </a:t>
            </a:r>
            <a:r>
              <a:rPr err="1"/>
              <a:t>加上</a:t>
            </a:r>
            <a:r>
              <a:t> RFX2401C </a:t>
            </a:r>
            <a:r>
              <a:rPr err="1"/>
              <a:t>功率放大晶片，跑的是原廠韌體。它在本研究裡有兩個角色：一是韌體移植的來源，二是後面多機控制的其中一架受控機</a:t>
            </a:r>
            <a:r>
              <a:t>。</a:t>
            </a:r>
          </a:p>
          <a:p>
            <a:endParaRPr/>
          </a:p>
          <a:p>
            <a:r>
              <a:rPr err="1"/>
              <a:t>第二列是自製電路板插上</a:t>
            </a:r>
            <a:r>
              <a:t> XIAO nRF52840。這顆是 64 MHz 的 Cortex-M4，帶浮點運算單元，並且內建 RADIO </a:t>
            </a:r>
            <a:r>
              <a:rPr err="1"/>
              <a:t>無線電，所以主控與無線合併在同一顆晶片上，不需要外掛射頻晶片。韌體是本研究移植的版本，這一列是本研究的主要對象</a:t>
            </a:r>
            <a:r>
              <a:t>。</a:t>
            </a:r>
          </a:p>
          <a:p>
            <a:endParaRPr/>
          </a:p>
          <a:p>
            <a:r>
              <a:rPr err="1"/>
              <a:t>第三列是同一塊自製電路板，換插</a:t>
            </a:r>
            <a:r>
              <a:t> XIAO ESP32S3，改用 </a:t>
            </a:r>
            <a:r>
              <a:rPr err="1"/>
              <a:t>WiFi</a:t>
            </a:r>
            <a:r>
              <a:t> 與 </a:t>
            </a:r>
            <a:r>
              <a:rPr err="1"/>
              <a:t>BLE，跑的是開源的</a:t>
            </a:r>
            <a:r>
              <a:t> ESP-FC </a:t>
            </a:r>
            <a:r>
              <a:rPr err="1"/>
              <a:t>韌體</a:t>
            </a:r>
            <a:r>
              <a:t>。</a:t>
            </a:r>
          </a:p>
          <a:p>
            <a:endParaRPr/>
          </a:p>
          <a:p>
            <a:r>
              <a:rPr err="1"/>
              <a:t>這裡要請委員注意的是，第二列和第三列用的是同一塊電路板，只是換插不同的主控模組。這正好驗證了上一頁講的模組化設計</a:t>
            </a:r>
            <a:r>
              <a:t>——</a:t>
            </a:r>
            <a:r>
              <a:rPr err="1"/>
              <a:t>排母引出腳位之後，主控確實可以整顆更換</a:t>
            </a:r>
            <a:r>
              <a:t>。</a:t>
            </a:r>
          </a:p>
          <a:p>
            <a:endParaRPr/>
          </a:p>
          <a:p>
            <a:r>
              <a:rPr err="1"/>
              <a:t>第三列之所以不列為本研究的移植成果，是因為</a:t>
            </a:r>
            <a:r>
              <a:t> ESP32 </a:t>
            </a:r>
            <a:r>
              <a:rPr err="1"/>
              <a:t>的飛控生態已經成熟，再做一次沒有研究上的增量，所以直接採用開源方案，把力氣集中在</a:t>
            </a:r>
            <a:r>
              <a:t> nRF52840 </a:t>
            </a:r>
            <a:r>
              <a:rPr err="1"/>
              <a:t>這一顆上</a:t>
            </a:r>
            <a:r>
              <a:t>。</a:t>
            </a:r>
          </a:p>
          <a:p>
            <a:endParaRPr/>
          </a:p>
          <a:p>
            <a:r>
              <a:rPr err="1"/>
              <a:t>接下來第九頁，我將說明原廠的系統框架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77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第八頁是本研究實際使用的三個飛控平臺對照</a:t>
            </a:r>
            <a:r>
              <a:t>。</a:t>
            </a:r>
          </a:p>
          <a:p>
            <a:endParaRPr/>
          </a:p>
          <a:p>
            <a:r>
              <a:rPr err="1"/>
              <a:t>第一列是</a:t>
            </a:r>
            <a:r>
              <a:t> ATK-</a:t>
            </a:r>
            <a:r>
              <a:rPr err="1"/>
              <a:t>MiniFly</a:t>
            </a:r>
            <a:r>
              <a:t> </a:t>
            </a:r>
            <a:r>
              <a:rPr err="1"/>
              <a:t>原機。主控是</a:t>
            </a:r>
            <a:r>
              <a:t> STM32F411，96 MHz 的 Cortex-M4，無線另外掛一顆 nRF51822 </a:t>
            </a:r>
            <a:r>
              <a:rPr err="1"/>
              <a:t>加上</a:t>
            </a:r>
            <a:r>
              <a:t> RFX2401C </a:t>
            </a:r>
            <a:r>
              <a:rPr err="1"/>
              <a:t>功率放大晶片，跑的是原廠韌體。它在本研究裡有兩個角色：一是韌體移植的來源，二是後面多機控制的其中一架受控機</a:t>
            </a:r>
            <a:r>
              <a:t>。</a:t>
            </a:r>
          </a:p>
          <a:p>
            <a:endParaRPr/>
          </a:p>
          <a:p>
            <a:r>
              <a:rPr err="1"/>
              <a:t>第二列是自製電路板插上</a:t>
            </a:r>
            <a:r>
              <a:t> XIAO nRF52840。這顆是 64 MHz 的 Cortex-M4，帶浮點運算單元，並且內建 RADIO </a:t>
            </a:r>
            <a:r>
              <a:rPr err="1"/>
              <a:t>無線電，所以主控與無線合併在同一顆晶片上，不需要外掛射頻晶片。韌體是本研究移植的版本，這一列是本研究的主要對象</a:t>
            </a:r>
            <a:r>
              <a:t>。</a:t>
            </a:r>
          </a:p>
          <a:p>
            <a:endParaRPr/>
          </a:p>
          <a:p>
            <a:r>
              <a:rPr err="1"/>
              <a:t>第三列是同一塊自製電路板，換插</a:t>
            </a:r>
            <a:r>
              <a:t> XIAO ESP32S3，改用 </a:t>
            </a:r>
            <a:r>
              <a:rPr err="1"/>
              <a:t>WiFi</a:t>
            </a:r>
            <a:r>
              <a:t> 與 </a:t>
            </a:r>
            <a:r>
              <a:rPr err="1"/>
              <a:t>BLE，跑的是開源的</a:t>
            </a:r>
            <a:r>
              <a:t> ESP-FC </a:t>
            </a:r>
            <a:r>
              <a:rPr err="1"/>
              <a:t>韌體</a:t>
            </a:r>
            <a:r>
              <a:t>。</a:t>
            </a:r>
          </a:p>
          <a:p>
            <a:endParaRPr/>
          </a:p>
          <a:p>
            <a:r>
              <a:rPr err="1"/>
              <a:t>這裡要請委員注意的是，第二列和第三列用的是同一塊電路板，只是換插不同的主控模組。這正好驗證了上一頁講的模組化設計</a:t>
            </a:r>
            <a:r>
              <a:t>——</a:t>
            </a:r>
            <a:r>
              <a:rPr err="1"/>
              <a:t>排母引出腳位之後，主控確實可以整顆更換</a:t>
            </a:r>
            <a:r>
              <a:t>。</a:t>
            </a:r>
          </a:p>
          <a:p>
            <a:endParaRPr/>
          </a:p>
          <a:p>
            <a:r>
              <a:rPr err="1"/>
              <a:t>第三列之所以不列為本研究的移植成果，是因為</a:t>
            </a:r>
            <a:r>
              <a:t> ESP32 </a:t>
            </a:r>
            <a:r>
              <a:rPr err="1"/>
              <a:t>的飛控生態已經成熟，再做一次沒有研究上的增量，所以直接採用開源方案，把力氣集中在</a:t>
            </a:r>
            <a:r>
              <a:t> nRF52840 </a:t>
            </a:r>
            <a:r>
              <a:rPr err="1"/>
              <a:t>這一顆上</a:t>
            </a:r>
            <a:r>
              <a:t>。</a:t>
            </a:r>
          </a:p>
          <a:p>
            <a:endParaRPr/>
          </a:p>
          <a:p>
            <a:r>
              <a:rPr err="1"/>
              <a:t>接下來第九頁，我將說明原廠的系統框架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25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第八頁是本研究實際使用的三個飛控平臺對照</a:t>
            </a:r>
            <a:r>
              <a:t>。</a:t>
            </a:r>
          </a:p>
          <a:p>
            <a:endParaRPr/>
          </a:p>
          <a:p>
            <a:r>
              <a:rPr err="1"/>
              <a:t>第一列是</a:t>
            </a:r>
            <a:r>
              <a:t> ATK-</a:t>
            </a:r>
            <a:r>
              <a:rPr err="1"/>
              <a:t>MiniFly</a:t>
            </a:r>
            <a:r>
              <a:t> </a:t>
            </a:r>
            <a:r>
              <a:rPr err="1"/>
              <a:t>原機。主控是</a:t>
            </a:r>
            <a:r>
              <a:t> STM32F411，96 MHz 的 Cortex-M4，無線另外掛一顆 nRF51822 </a:t>
            </a:r>
            <a:r>
              <a:rPr err="1"/>
              <a:t>加上</a:t>
            </a:r>
            <a:r>
              <a:t> RFX2401C </a:t>
            </a:r>
            <a:r>
              <a:rPr err="1"/>
              <a:t>功率放大晶片，跑的是原廠韌體。它在本研究裡有兩個角色：一是韌體移植的來源，二是後面多機控制的其中一架受控機</a:t>
            </a:r>
            <a:r>
              <a:t>。</a:t>
            </a:r>
          </a:p>
          <a:p>
            <a:endParaRPr/>
          </a:p>
          <a:p>
            <a:r>
              <a:rPr err="1"/>
              <a:t>第二列是自製電路板插上</a:t>
            </a:r>
            <a:r>
              <a:t> XIAO nRF52840。這顆是 64 MHz 的 Cortex-M4，帶浮點運算單元，並且內建 RADIO </a:t>
            </a:r>
            <a:r>
              <a:rPr err="1"/>
              <a:t>無線電，所以主控與無線合併在同一顆晶片上，不需要外掛射頻晶片。韌體是本研究移植的版本，這一列是本研究的主要對象</a:t>
            </a:r>
            <a:r>
              <a:t>。</a:t>
            </a:r>
          </a:p>
          <a:p>
            <a:endParaRPr/>
          </a:p>
          <a:p>
            <a:r>
              <a:rPr err="1"/>
              <a:t>第三列是同一塊自製電路板，換插</a:t>
            </a:r>
            <a:r>
              <a:t> XIAO ESP32S3，改用 </a:t>
            </a:r>
            <a:r>
              <a:rPr err="1"/>
              <a:t>WiFi</a:t>
            </a:r>
            <a:r>
              <a:t> 與 </a:t>
            </a:r>
            <a:r>
              <a:rPr err="1"/>
              <a:t>BLE，跑的是開源的</a:t>
            </a:r>
            <a:r>
              <a:t> ESP-FC </a:t>
            </a:r>
            <a:r>
              <a:rPr err="1"/>
              <a:t>韌體</a:t>
            </a:r>
            <a:r>
              <a:t>。</a:t>
            </a:r>
          </a:p>
          <a:p>
            <a:endParaRPr/>
          </a:p>
          <a:p>
            <a:r>
              <a:rPr err="1"/>
              <a:t>這裡要請委員注意的是，第二列和第三列用的是同一塊電路板，只是換插不同的主控模組。這正好驗證了上一頁講的模組化設計</a:t>
            </a:r>
            <a:r>
              <a:t>——</a:t>
            </a:r>
            <a:r>
              <a:rPr err="1"/>
              <a:t>排母引出腳位之後，主控確實可以整顆更換</a:t>
            </a:r>
            <a:r>
              <a:t>。</a:t>
            </a:r>
          </a:p>
          <a:p>
            <a:endParaRPr/>
          </a:p>
          <a:p>
            <a:r>
              <a:rPr err="1"/>
              <a:t>第三列之所以不列為本研究的移植成果，是因為</a:t>
            </a:r>
            <a:r>
              <a:t> ESP32 </a:t>
            </a:r>
            <a:r>
              <a:rPr err="1"/>
              <a:t>的飛控生態已經成熟，再做一次沒有研究上的增量，所以直接採用開源方案，把力氣集中在</a:t>
            </a:r>
            <a:r>
              <a:t> nRF52840 </a:t>
            </a:r>
            <a:r>
              <a:rPr err="1"/>
              <a:t>這一顆上</a:t>
            </a:r>
            <a:r>
              <a:t>。</a:t>
            </a:r>
          </a:p>
          <a:p>
            <a:endParaRPr/>
          </a:p>
          <a:p>
            <a:r>
              <a:rPr err="1"/>
              <a:t>接下來第九頁，我將說明原廠的系統框架</a:t>
            </a:r>
            <a:r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03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ESB 是 Nordic </a:t>
            </a:r>
            <a:r>
              <a:rPr err="1"/>
              <a:t>專有的</a:t>
            </a:r>
            <a:r>
              <a:t> 2.4GHz 協</a:t>
            </a:r>
            <a:r>
              <a:rPr lang="zh-CN" altLang="en-US"/>
              <a:t>定</a:t>
            </a:r>
            <a:r>
              <a:t>,</a:t>
            </a:r>
            <a:r>
              <a:rPr lang="zh-TW" altLang="en-US"/>
              <a:t> </a:t>
            </a:r>
            <a:r>
              <a:rPr lang="en-US" altLang="zh-TW"/>
              <a:t>nRF24</a:t>
            </a:r>
            <a:r>
              <a:rPr lang="zh-CN" altLang="en-US"/>
              <a:t>系列</a:t>
            </a:r>
            <a:r>
              <a:rPr lang="en-US" altLang="zh-TW"/>
              <a:t> </a:t>
            </a:r>
            <a:r>
              <a:rPr lang="zh-TW" altLang="en-US"/>
              <a:t>有專用的硬體 </a:t>
            </a:r>
            <a:r>
              <a:rPr lang="en-US" altLang="zh-TW"/>
              <a:t>ESB </a:t>
            </a:r>
            <a:r>
              <a:rPr lang="zh-TW" altLang="en-US"/>
              <a:t>處理器，而 </a:t>
            </a:r>
            <a:r>
              <a:rPr lang="en-US" altLang="zh-TW"/>
              <a:t>nRF52840 </a:t>
            </a:r>
            <a:r>
              <a:rPr lang="zh-TW" altLang="en-US"/>
              <a:t>則是</a:t>
            </a:r>
            <a:r>
              <a:rPr lang="zh-CN" altLang="en-US"/>
              <a:t>需要</a:t>
            </a:r>
            <a:r>
              <a:rPr lang="zh-TW" altLang="en-US"/>
              <a:t>在韌體中對 </a:t>
            </a:r>
            <a:r>
              <a:rPr lang="en-US" altLang="zh-TW"/>
              <a:t>RADIO </a:t>
            </a:r>
            <a:r>
              <a:rPr lang="zh-TW" altLang="en-US"/>
              <a:t>的底層暫存器進行配置</a:t>
            </a:r>
            <a:r>
              <a:rPr lang="zh-CN" altLang="en-US"/>
              <a:t>。</a:t>
            </a:r>
            <a:endParaRPr lang="en-US" altLang="zh-TW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</a:t>
            </a:r>
            <a:r>
              <a:rPr err="1"/>
              <a:t>第十</a:t>
            </a:r>
            <a:r>
              <a:rPr lang="zh-CN" altLang="en-US"/>
              <a:t>四</a:t>
            </a:r>
            <a:r>
              <a:rPr err="1"/>
              <a:t>頁說明上位機送往飛控的封包格式</a:t>
            </a:r>
            <a:r>
              <a:t>。</a:t>
            </a:r>
            <a:endParaRPr lang="en-US"/>
          </a:p>
          <a:p>
            <a:endParaRPr/>
          </a:p>
          <a:p>
            <a:r>
              <a:rPr err="1"/>
              <a:t>下方是解鎖指令的實際例子：AA</a:t>
            </a:r>
            <a:r>
              <a:t> AF 01 01 A1 FC。AA AF 是起始碼，01 </a:t>
            </a:r>
            <a:r>
              <a:rPr err="1"/>
              <a:t>是命令封包的功能字，第二個</a:t>
            </a:r>
            <a:r>
              <a:t> 01 </a:t>
            </a:r>
            <a:r>
              <a:rPr err="1"/>
              <a:t>表示資料只有一個</a:t>
            </a:r>
            <a:r>
              <a:t> Byte，A1 </a:t>
            </a:r>
            <a:r>
              <a:rPr err="1"/>
              <a:t>是解鎖的命令碼，最後的</a:t>
            </a:r>
            <a:r>
              <a:t> FC </a:t>
            </a:r>
            <a:r>
              <a:rPr err="1"/>
              <a:t>是把前面五個</a:t>
            </a:r>
            <a:r>
              <a:t> Byte </a:t>
            </a:r>
            <a:r>
              <a:rPr err="1"/>
              <a:t>相加取低</a:t>
            </a:r>
            <a:r>
              <a:t> 8 </a:t>
            </a:r>
            <a:r>
              <a:rPr err="1"/>
              <a:t>位得到的校驗值</a:t>
            </a:r>
            <a:r>
              <a:t>。</a:t>
            </a:r>
          </a:p>
          <a:p>
            <a:endParaRPr/>
          </a:p>
          <a:p>
            <a:r>
              <a:rPr err="1"/>
              <a:t>這個封包如果走無線，就是裝在上一頁</a:t>
            </a:r>
            <a:r>
              <a:t> ESB </a:t>
            </a:r>
            <a:r>
              <a:rPr err="1"/>
              <a:t>封包的載荷裡，起始碼與校驗和都不帶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「第十</a:t>
            </a:r>
            <a:r>
              <a:rPr lang="zh-CN" altLang="en-US"/>
              <a:t>五</a:t>
            </a:r>
            <a:r>
              <a:rPr lang="zh-TW" altLang="en-US"/>
              <a:t>頁說明多機控制的架構，先看上半的指令傳遞路徑。</a:t>
            </a:r>
          </a:p>
          <a:p>
            <a:endParaRPr lang="zh-TW" altLang="en-US"/>
          </a:p>
          <a:p>
            <a:r>
              <a:rPr lang="zh-TW" altLang="en-US"/>
              <a:t>上位機，負責定位與決策。它把指令以 </a:t>
            </a:r>
            <a:r>
              <a:rPr lang="en-US" altLang="zh-TW"/>
              <a:t>ATKP </a:t>
            </a:r>
            <a:r>
              <a:rPr lang="zh-TW" altLang="en-US"/>
              <a:t>格式經 </a:t>
            </a:r>
            <a:r>
              <a:rPr lang="en-US" altLang="zh-TW"/>
              <a:t>USB </a:t>
            </a:r>
            <a:r>
              <a:rPr lang="zh-TW" altLang="en-US"/>
              <a:t>交給遙控器，遙控器不做解析，原樣廣播出去。兩架飛機都會收到同一個封包：飛機 </a:t>
            </a:r>
            <a:r>
              <a:rPr lang="en-US" altLang="zh-TW"/>
              <a:t>A </a:t>
            </a:r>
            <a:r>
              <a:rPr lang="zh-TW" altLang="en-US"/>
              <a:t>是 </a:t>
            </a:r>
            <a:r>
              <a:rPr lang="en-US" altLang="zh-TW"/>
              <a:t>ATK </a:t>
            </a:r>
            <a:r>
              <a:rPr lang="zh-TW" altLang="en-US"/>
              <a:t>原機，飛機 </a:t>
            </a:r>
            <a:r>
              <a:rPr lang="en-US" altLang="zh-TW"/>
              <a:t>B </a:t>
            </a:r>
            <a:r>
              <a:rPr lang="zh-TW" altLang="en-US"/>
              <a:t>是本研究的自製板。每架有自己的編號與私有位址。</a:t>
            </a:r>
          </a:p>
          <a:p>
            <a:endParaRPr lang="zh-TW" altLang="en-US"/>
          </a:p>
          <a:p>
            <a:r>
              <a:rPr lang="zh-TW" altLang="en-US"/>
              <a:t>右邊還有一條線：兩架同時也都發出藍牙訊號，由四個錨點接收，所以它們在被控制的同時也能被定位。</a:t>
            </a:r>
          </a:p>
          <a:p>
            <a:endParaRPr lang="zh-TW" altLang="en-US"/>
          </a:p>
          <a:p>
            <a:r>
              <a:rPr lang="zh-TW" altLang="en-US"/>
              <a:t>這裡要說明的是一個設計上的選擇。原本可以由遙控器決定發給誰，也就是逐架發送；但那樣發送次數會隨架數增加，而且各架收到指令的時間必然錯開。本研究改成一包全體同收，由飛機自己判斷要不要執行，發送次數就與架數無關，指令也同時到達。</a:t>
            </a:r>
          </a:p>
          <a:p>
            <a:endParaRPr lang="zh-TW" altLang="en-US"/>
          </a:p>
          <a:p>
            <a:r>
              <a:rPr lang="zh-TW" altLang="en-US"/>
              <a:t>下半是三種機制，都已完成實機驗證。</a:t>
            </a:r>
          </a:p>
          <a:p>
            <a:endParaRPr lang="zh-TW" altLang="en-US"/>
          </a:p>
          <a:p>
            <a:r>
              <a:rPr lang="zh-TW" altLang="en-US"/>
              <a:t>第一是廣播模式 </a:t>
            </a:r>
            <a:r>
              <a:rPr lang="en-US" altLang="zh-TW"/>
              <a:t>A</a:t>
            </a:r>
            <a:r>
              <a:rPr lang="zh-TW" altLang="en-US"/>
              <a:t>，同一封包、同一指令，封包尾端附上目標編號，選中的執行，其餘原地懸停。</a:t>
            </a:r>
          </a:p>
          <a:p>
            <a:endParaRPr lang="zh-TW" altLang="en-US"/>
          </a:p>
          <a:p>
            <a:r>
              <a:rPr lang="zh-TW" altLang="en-US"/>
              <a:t>第二是廣播模式 </a:t>
            </a:r>
            <a:r>
              <a:rPr lang="en-US" altLang="zh-TW"/>
              <a:t>B</a:t>
            </a:r>
            <a:r>
              <a:rPr lang="zh-TW" altLang="en-US"/>
              <a:t>，同一包裡放不同指令，各機取自己那一段，所以兩架可以同時做不同動作。</a:t>
            </a:r>
          </a:p>
          <a:p>
            <a:endParaRPr lang="zh-TW" altLang="en-US"/>
          </a:p>
          <a:p>
            <a:r>
              <a:rPr lang="zh-TW" altLang="en-US"/>
              <a:t>第三是狀態查詢。廣播是單向的，飛機不會回覆，遙控器看不到飛機狀態，所以每約 </a:t>
            </a:r>
            <a:r>
              <a:rPr lang="en-US" altLang="zh-TW"/>
              <a:t>130 </a:t>
            </a:r>
            <a:r>
              <a:rPr lang="zh-TW" altLang="en-US"/>
              <a:t>毫秒切回一對一查詢一次，把電量與連線狀態取回來。</a:t>
            </a:r>
          </a:p>
          <a:p>
            <a:endParaRPr lang="zh-TW" altLang="en-US"/>
          </a:p>
          <a:p>
            <a:r>
              <a:rPr lang="zh-TW" altLang="en-US"/>
              <a:t>接下來第十七頁，我將比較這三種控制方式</a:t>
            </a:r>
            <a:r>
              <a:rPr lang="en-US" altLang="zh-TW"/>
              <a:t>……</a:t>
            </a:r>
            <a:r>
              <a:rPr lang="zh-TW" altLang="en-US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「第十</a:t>
            </a:r>
            <a:r>
              <a:rPr lang="zh-CN" altLang="en-US" dirty="0"/>
              <a:t>七</a:t>
            </a:r>
            <a:r>
              <a:rPr lang="zh-TW" altLang="en-US" dirty="0"/>
              <a:t>頁說明廣播模式 </a:t>
            </a:r>
            <a:r>
              <a:rPr lang="en-US" altLang="zh-TW" dirty="0"/>
              <a:t>A</a:t>
            </a:r>
            <a:r>
              <a:rPr lang="zh-TW" altLang="en-US" dirty="0"/>
              <a:t>，指定其中一架執行。</a:t>
            </a:r>
          </a:p>
          <a:p>
            <a:endParaRPr lang="zh-TW" altLang="en-US" dirty="0"/>
          </a:p>
          <a:p>
            <a:r>
              <a:rPr lang="zh-TW" altLang="en-US" dirty="0"/>
              <a:t>上半是封包結構。這個封包沿用原廠遙控封包，格式完全不變，只在尾端多加一個位元組。從左到右：起始碼、功能欄位 </a:t>
            </a:r>
            <a:r>
              <a:rPr lang="en-US" altLang="zh-TW" dirty="0"/>
              <a:t>0x50</a:t>
            </a:r>
            <a:r>
              <a:rPr lang="zh-TW" altLang="en-US" dirty="0"/>
              <a:t>、長度、</a:t>
            </a:r>
            <a:r>
              <a:rPr lang="en-US" altLang="zh-TW" dirty="0" err="1"/>
              <a:t>remoterData_t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/>
              <a:t>27 </a:t>
            </a:r>
            <a:r>
              <a:rPr lang="zh-TW" altLang="en-US" dirty="0"/>
              <a:t>個位元組，最後是新增的目標位元組。長度欄寫 </a:t>
            </a:r>
            <a:r>
              <a:rPr lang="en-US" altLang="zh-TW" dirty="0"/>
              <a:t>1 </a:t>
            </a:r>
            <a:r>
              <a:rPr lang="zh-TW" altLang="en-US" dirty="0"/>
              <a:t>加 </a:t>
            </a:r>
            <a:r>
              <a:rPr lang="en-US" altLang="zh-TW" dirty="0"/>
              <a:t>27 </a:t>
            </a:r>
            <a:r>
              <a:rPr lang="zh-TW" altLang="en-US" dirty="0"/>
              <a:t>加 </a:t>
            </a:r>
            <a:r>
              <a:rPr lang="en-US" altLang="zh-TW" dirty="0"/>
              <a:t>1 </a:t>
            </a:r>
            <a:r>
              <a:rPr lang="zh-TW" altLang="en-US" dirty="0"/>
              <a:t>等於 </a:t>
            </a:r>
            <a:r>
              <a:rPr lang="en-US" altLang="zh-TW" dirty="0"/>
              <a:t>29</a:t>
            </a:r>
            <a:r>
              <a:rPr lang="zh-TW" altLang="en-US" dirty="0"/>
              <a:t>，比原廠多的就是尾端那一個。</a:t>
            </a:r>
          </a:p>
          <a:p>
            <a:endParaRPr lang="zh-TW" altLang="en-US" dirty="0"/>
          </a:p>
          <a:p>
            <a:r>
              <a:rPr lang="zh-TW" altLang="en-US" dirty="0"/>
              <a:t>目標位元組的值：</a:t>
            </a:r>
            <a:r>
              <a:rPr lang="en-US" altLang="zh-TW" dirty="0"/>
              <a:t>0 </a:t>
            </a:r>
            <a:r>
              <a:rPr lang="zh-TW" altLang="en-US" dirty="0"/>
              <a:t>是全體，</a:t>
            </a:r>
            <a:r>
              <a:rPr lang="en-US" altLang="zh-TW" dirty="0"/>
              <a:t>1 </a:t>
            </a:r>
            <a:r>
              <a:rPr lang="zh-TW" altLang="en-US" dirty="0"/>
              <a:t>是 </a:t>
            </a:r>
            <a:r>
              <a:rPr lang="en-US" altLang="zh-TW" dirty="0" err="1"/>
              <a:t>nRF</a:t>
            </a:r>
            <a:r>
              <a:rPr lang="zh-TW" altLang="en-US" dirty="0"/>
              <a:t> 自製機，</a:t>
            </a:r>
            <a:r>
              <a:rPr lang="en-US" altLang="zh-TW" dirty="0"/>
              <a:t>2 </a:t>
            </a:r>
            <a:r>
              <a:rPr lang="zh-TW" altLang="en-US" dirty="0"/>
              <a:t>是 </a:t>
            </a:r>
            <a:r>
              <a:rPr lang="en-US" altLang="zh-TW" dirty="0"/>
              <a:t>ATK </a:t>
            </a:r>
            <a:r>
              <a:rPr lang="zh-TW" altLang="en-US" dirty="0"/>
              <a:t>原機。飛機收到後先看長度，多出一個位元組就知道是廣播封包，接著讀尾端那個值跟自己編號比對，相符或全體就執行搖桿指令，不符就原地懸停等待。</a:t>
            </a:r>
          </a:p>
          <a:p>
            <a:endParaRPr lang="zh-TW" altLang="en-US" dirty="0"/>
          </a:p>
          <a:p>
            <a:r>
              <a:rPr lang="zh-TW" altLang="en-US" dirty="0"/>
              <a:t>下半是 </a:t>
            </a:r>
            <a:r>
              <a:rPr lang="en-US" altLang="zh-TW" dirty="0" err="1"/>
              <a:t>remoterData_t</a:t>
            </a:r>
            <a:r>
              <a:rPr lang="zh-TW" altLang="en-US" dirty="0"/>
              <a:t> 的內容，共 </a:t>
            </a:r>
            <a:r>
              <a:rPr lang="en-US" altLang="zh-TW" dirty="0"/>
              <a:t>27 </a:t>
            </a:r>
            <a:r>
              <a:rPr lang="zh-TW" altLang="en-US" dirty="0"/>
              <a:t>個位元組。姿態 </a:t>
            </a:r>
            <a:r>
              <a:rPr lang="en-US" altLang="zh-TW" dirty="0"/>
              <a:t>roll</a:t>
            </a:r>
            <a:r>
              <a:rPr lang="zh-TW" altLang="en-US" dirty="0"/>
              <a:t>、</a:t>
            </a:r>
            <a:r>
              <a:rPr lang="en-US" altLang="zh-TW" dirty="0"/>
              <a:t>pitch</a:t>
            </a:r>
            <a:r>
              <a:rPr lang="zh-TW" altLang="en-US" dirty="0"/>
              <a:t>、</a:t>
            </a:r>
            <a:r>
              <a:rPr lang="en-US" altLang="zh-TW" dirty="0"/>
              <a:t>yaw</a:t>
            </a:r>
            <a:r>
              <a:rPr lang="zh-TW" altLang="en-US" dirty="0"/>
              <a:t> 各 </a:t>
            </a:r>
            <a:r>
              <a:rPr lang="en-US" altLang="zh-TW" dirty="0"/>
              <a:t>4 </a:t>
            </a:r>
            <a:r>
              <a:rPr lang="zh-TW" altLang="en-US" dirty="0"/>
              <a:t>個位元組浮點數共 </a:t>
            </a:r>
            <a:r>
              <a:rPr lang="en-US" altLang="zh-TW" dirty="0"/>
              <a:t>12 </a:t>
            </a:r>
            <a:r>
              <a:rPr lang="zh-TW" altLang="en-US" dirty="0"/>
              <a:t>個；油門 </a:t>
            </a:r>
            <a:r>
              <a:rPr lang="en-US" altLang="zh-TW" dirty="0"/>
              <a:t>4 </a:t>
            </a:r>
            <a:r>
              <a:rPr lang="zh-TW" altLang="en-US" dirty="0"/>
              <a:t>個位元組浮點數；微調量 </a:t>
            </a:r>
            <a:r>
              <a:rPr lang="en-US" altLang="zh-TW" dirty="0" err="1"/>
              <a:t>trimRoll</a:t>
            </a:r>
            <a:r>
              <a:rPr lang="zh-TW" altLang="en-US" dirty="0"/>
              <a:t> 與 </a:t>
            </a:r>
            <a:r>
              <a:rPr lang="en-US" altLang="zh-TW" dirty="0" err="1"/>
              <a:t>trimPitch</a:t>
            </a:r>
            <a:r>
              <a:rPr lang="zh-TW" altLang="en-US" dirty="0"/>
              <a:t> 各 </a:t>
            </a:r>
            <a:r>
              <a:rPr lang="en-US" altLang="zh-TW" dirty="0"/>
              <a:t>4 </a:t>
            </a:r>
            <a:r>
              <a:rPr lang="zh-TW" altLang="en-US" dirty="0"/>
              <a:t>個共 </a:t>
            </a:r>
            <a:r>
              <a:rPr lang="en-US" altLang="zh-TW" dirty="0"/>
              <a:t>8 </a:t>
            </a:r>
            <a:r>
              <a:rPr lang="zh-TW" altLang="en-US" dirty="0"/>
              <a:t>個；控制模式 </a:t>
            </a:r>
            <a:r>
              <a:rPr lang="en-US" altLang="zh-TW" dirty="0"/>
              <a:t>1 </a:t>
            </a:r>
            <a:r>
              <a:rPr lang="zh-TW" altLang="en-US" dirty="0"/>
              <a:t>個、飛行模式與遙控鎖定各 </a:t>
            </a:r>
            <a:r>
              <a:rPr lang="en-US" altLang="zh-TW" dirty="0"/>
              <a:t>1 </a:t>
            </a:r>
            <a:r>
              <a:rPr lang="zh-TW" altLang="en-US" dirty="0"/>
              <a:t>個。</a:t>
            </a:r>
          </a:p>
          <a:p>
            <a:endParaRPr lang="zh-TW" altLang="en-US" dirty="0"/>
          </a:p>
          <a:p>
            <a:r>
              <a:rPr lang="zh-TW" altLang="en-US" dirty="0"/>
              <a:t>畫面下方是實機影片，我播放給各位委員看。</a:t>
            </a:r>
          </a:p>
          <a:p>
            <a:endParaRPr lang="zh-TW" altLang="en-US" dirty="0"/>
          </a:p>
          <a:p>
            <a:r>
              <a:rPr lang="zh-TW" altLang="en-US" dirty="0"/>
              <a:t>接下來第十九頁，我將說明廣播模式 </a:t>
            </a:r>
            <a:r>
              <a:rPr lang="en-US" altLang="zh-TW" dirty="0"/>
              <a:t>B……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21733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「第十</a:t>
            </a:r>
            <a:r>
              <a:rPr lang="zh-CN" altLang="en-US" dirty="0"/>
              <a:t>八</a:t>
            </a:r>
            <a:r>
              <a:rPr lang="zh-TW" altLang="en-US" dirty="0"/>
              <a:t>頁說明廣播模式 </a:t>
            </a:r>
            <a:r>
              <a:rPr lang="en-US" altLang="zh-TW" dirty="0"/>
              <a:t>B</a:t>
            </a:r>
            <a:r>
              <a:rPr lang="zh-TW" altLang="en-US" dirty="0"/>
              <a:t>，一個封包同時指揮多架。</a:t>
            </a:r>
          </a:p>
          <a:p>
            <a:endParaRPr lang="zh-TW" altLang="en-US" dirty="0"/>
          </a:p>
          <a:p>
            <a:r>
              <a:rPr lang="zh-TW" altLang="en-US" dirty="0"/>
              <a:t>上半是封包結構。功能欄位改成 </a:t>
            </a:r>
            <a:r>
              <a:rPr lang="en-US" altLang="zh-TW" dirty="0"/>
              <a:t>0x60</a:t>
            </a:r>
            <a:r>
              <a:rPr lang="zh-TW" altLang="en-US" dirty="0"/>
              <a:t>，長度是 </a:t>
            </a:r>
            <a:r>
              <a:rPr lang="en-US" altLang="zh-TW" dirty="0"/>
              <a:t>1 </a:t>
            </a:r>
            <a:r>
              <a:rPr lang="zh-TW" altLang="en-US" dirty="0"/>
              <a:t>加 </a:t>
            </a:r>
            <a:r>
              <a:rPr lang="en-US" altLang="zh-TW" dirty="0"/>
              <a:t>8 </a:t>
            </a:r>
            <a:r>
              <a:rPr lang="zh-TW" altLang="en-US" dirty="0"/>
              <a:t>乘以架數。第一個位元組寫架數 </a:t>
            </a:r>
            <a:r>
              <a:rPr lang="en-US" altLang="zh-TW" dirty="0"/>
              <a:t>N</a:t>
            </a:r>
            <a:r>
              <a:rPr lang="zh-TW" altLang="en-US" dirty="0"/>
              <a:t>，後面每 </a:t>
            </a:r>
            <a:r>
              <a:rPr lang="en-US" altLang="zh-TW" dirty="0"/>
              <a:t>8 </a:t>
            </a:r>
            <a:r>
              <a:rPr lang="zh-TW" altLang="en-US" dirty="0"/>
              <a:t>個位元元組是一架的完整指令。</a:t>
            </a:r>
          </a:p>
          <a:p>
            <a:endParaRPr lang="zh-TW" altLang="en-US" dirty="0"/>
          </a:p>
          <a:p>
            <a:r>
              <a:rPr lang="zh-TW" altLang="en-US" dirty="0"/>
              <a:t>飛機收到後，先讀第一個位元組知道有幾架的指令，然後以 </a:t>
            </a:r>
            <a:r>
              <a:rPr lang="en-US" altLang="zh-TW" dirty="0"/>
              <a:t>8 </a:t>
            </a:r>
            <a:r>
              <a:rPr lang="zh-TW" altLang="en-US" dirty="0"/>
              <a:t>個位元組為一段依序走訪，比對每段開頭的編號是不是自己，命中就取出使用，全部走訪完沒有自己的就忽略這個封包。</a:t>
            </a:r>
          </a:p>
          <a:p>
            <a:endParaRPr lang="zh-TW" altLang="en-US" dirty="0"/>
          </a:p>
          <a:p>
            <a:r>
              <a:rPr lang="zh-TW" altLang="en-US" dirty="0"/>
              <a:t>下半是每一段 </a:t>
            </a:r>
            <a:r>
              <a:rPr lang="en-US" altLang="zh-TW" dirty="0"/>
              <a:t>8 </a:t>
            </a:r>
            <a:r>
              <a:rPr lang="zh-TW" altLang="en-US" dirty="0"/>
              <a:t>個位元組的內容。第一個是 </a:t>
            </a:r>
            <a:r>
              <a:rPr lang="en-US" altLang="zh-TW" dirty="0"/>
              <a:t>ID</a:t>
            </a:r>
            <a:r>
              <a:rPr lang="zh-TW" altLang="en-US" dirty="0"/>
              <a:t>，跟本機編號比對不符就跳過；接著 </a:t>
            </a:r>
            <a:r>
              <a:rPr lang="en-US" altLang="zh-TW" dirty="0"/>
              <a:t>flags</a:t>
            </a:r>
            <a:r>
              <a:rPr lang="zh-TW" altLang="en-US" dirty="0"/>
              <a:t>，其中 </a:t>
            </a:r>
            <a:r>
              <a:rPr lang="en-US" altLang="zh-TW" dirty="0"/>
              <a:t>bit 0 </a:t>
            </a:r>
            <a:r>
              <a:rPr lang="zh-TW" altLang="en-US" dirty="0"/>
              <a:t>是懸停待命；然後油門 </a:t>
            </a:r>
            <a:r>
              <a:rPr lang="en-US" altLang="zh-TW" dirty="0"/>
              <a:t>2 </a:t>
            </a:r>
            <a:r>
              <a:rPr lang="zh-TW" altLang="en-US" dirty="0"/>
              <a:t>個位元組、姿態 </a:t>
            </a:r>
            <a:r>
              <a:rPr lang="en-US" altLang="zh-TW" dirty="0"/>
              <a:t>roll</a:t>
            </a:r>
            <a:r>
              <a:rPr lang="zh-TW" altLang="en-US" dirty="0"/>
              <a:t>、</a:t>
            </a:r>
            <a:r>
              <a:rPr lang="en-US" altLang="zh-TW" dirty="0"/>
              <a:t>pitch</a:t>
            </a:r>
            <a:r>
              <a:rPr lang="zh-TW" altLang="en-US" dirty="0"/>
              <a:t>、</a:t>
            </a:r>
            <a:r>
              <a:rPr lang="en-US" altLang="zh-TW" dirty="0"/>
              <a:t>yaw</a:t>
            </a:r>
            <a:r>
              <a:rPr lang="zh-TW" altLang="en-US" dirty="0"/>
              <a:t> 各 </a:t>
            </a:r>
            <a:r>
              <a:rPr lang="en-US" altLang="zh-TW" dirty="0"/>
              <a:t>1 </a:t>
            </a:r>
            <a:r>
              <a:rPr lang="zh-TW" altLang="en-US" dirty="0"/>
              <a:t>個共 </a:t>
            </a:r>
            <a:r>
              <a:rPr lang="en-US" altLang="zh-TW" dirty="0"/>
              <a:t>3 </a:t>
            </a:r>
            <a:r>
              <a:rPr lang="zh-TW" altLang="en-US" dirty="0"/>
              <a:t>個；最後一個保留未使用。</a:t>
            </a:r>
          </a:p>
          <a:p>
            <a:endParaRPr lang="zh-TW" altLang="en-US" dirty="0"/>
          </a:p>
          <a:p>
            <a:r>
              <a:rPr lang="zh-TW" altLang="en-US" dirty="0"/>
              <a:t>跟模式 </a:t>
            </a:r>
            <a:r>
              <a:rPr lang="en-US" altLang="zh-TW" dirty="0"/>
              <a:t>A </a:t>
            </a:r>
            <a:r>
              <a:rPr lang="zh-TW" altLang="en-US" dirty="0"/>
              <a:t>對照就看得出差別：模式 </a:t>
            </a:r>
            <a:r>
              <a:rPr lang="en-US" altLang="zh-TW" dirty="0"/>
              <a:t>A </a:t>
            </a:r>
            <a:r>
              <a:rPr lang="zh-TW" altLang="en-US" dirty="0"/>
              <a:t>是 </a:t>
            </a:r>
            <a:r>
              <a:rPr lang="en-US" altLang="zh-TW" dirty="0"/>
              <a:t>27 </a:t>
            </a:r>
            <a:r>
              <a:rPr lang="zh-TW" altLang="en-US" dirty="0"/>
              <a:t>個位元組的全精度浮點數，模式 </a:t>
            </a:r>
            <a:r>
              <a:rPr lang="en-US" altLang="zh-TW" dirty="0"/>
              <a:t>B </a:t>
            </a:r>
            <a:r>
              <a:rPr lang="zh-TW" altLang="en-US" dirty="0"/>
              <a:t>為了塞進多架，把每架壓到 </a:t>
            </a:r>
            <a:r>
              <a:rPr lang="en-US" altLang="zh-TW" dirty="0"/>
              <a:t>8 </a:t>
            </a:r>
            <a:r>
              <a:rPr lang="zh-TW" altLang="en-US" dirty="0"/>
              <a:t>個位元組</a:t>
            </a:r>
            <a:r>
              <a:rPr lang="en-US" altLang="zh-TW" dirty="0"/>
              <a:t>——</a:t>
            </a:r>
            <a:r>
              <a:rPr lang="zh-TW" altLang="en-US" dirty="0"/>
              <a:t>姿態從 </a:t>
            </a:r>
            <a:r>
              <a:rPr lang="en-US" altLang="zh-TW" dirty="0"/>
              <a:t>4 </a:t>
            </a:r>
            <a:r>
              <a:rPr lang="zh-TW" altLang="en-US" dirty="0"/>
              <a:t>個位元組浮點數壓成 </a:t>
            </a:r>
            <a:r>
              <a:rPr lang="en-US" altLang="zh-TW" dirty="0"/>
              <a:t>1 </a:t>
            </a:r>
            <a:r>
              <a:rPr lang="zh-TW" altLang="en-US" dirty="0"/>
              <a:t>個位元組定點值，油門從 </a:t>
            </a:r>
            <a:r>
              <a:rPr lang="en-US" altLang="zh-TW" dirty="0"/>
              <a:t>4 </a:t>
            </a:r>
            <a:r>
              <a:rPr lang="zh-TW" altLang="en-US" dirty="0"/>
              <a:t>個壓成 </a:t>
            </a:r>
            <a:r>
              <a:rPr lang="en-US" altLang="zh-TW" dirty="0"/>
              <a:t>2 </a:t>
            </a:r>
            <a:r>
              <a:rPr lang="zh-TW" altLang="en-US" dirty="0"/>
              <a:t>個。</a:t>
            </a:r>
          </a:p>
          <a:p>
            <a:endParaRPr lang="zh-TW" altLang="en-US" dirty="0"/>
          </a:p>
          <a:p>
            <a:r>
              <a:rPr lang="zh-TW" altLang="en-US" dirty="0"/>
              <a:t>可能被問：</a:t>
            </a:r>
          </a:p>
          <a:p>
            <a:endParaRPr lang="zh-TW" altLang="en-US" dirty="0"/>
          </a:p>
          <a:p>
            <a:r>
              <a:rPr lang="en-US" altLang="zh-TW" dirty="0"/>
              <a:t>Q</a:t>
            </a:r>
            <a:r>
              <a:rPr lang="zh-TW" altLang="en-US" dirty="0"/>
              <a:t>：最多幾架？</a:t>
            </a:r>
          </a:p>
          <a:p>
            <a:r>
              <a:rPr lang="en-US" altLang="zh-TW" dirty="0"/>
              <a:t>A</a:t>
            </a:r>
            <a:r>
              <a:rPr lang="zh-TW" altLang="en-US" dirty="0"/>
              <a:t>：三架。</a:t>
            </a:r>
            <a:r>
              <a:rPr lang="en-US" altLang="zh-TW" dirty="0"/>
              <a:t>ATKP</a:t>
            </a:r>
            <a:r>
              <a:rPr lang="zh-TW" altLang="en-US" dirty="0"/>
              <a:t> 載荷上限 </a:t>
            </a:r>
            <a:r>
              <a:rPr lang="en-US" altLang="zh-TW" dirty="0"/>
              <a:t>30 </a:t>
            </a:r>
            <a:r>
              <a:rPr lang="zh-TW" altLang="en-US" dirty="0"/>
              <a:t>個位元組，</a:t>
            </a:r>
            <a:r>
              <a:rPr lang="en-US" altLang="zh-TW" dirty="0"/>
              <a:t>1 </a:t>
            </a:r>
            <a:r>
              <a:rPr lang="zh-TW" altLang="en-US" dirty="0"/>
              <a:t>加 </a:t>
            </a:r>
            <a:r>
              <a:rPr lang="en-US" altLang="zh-TW" dirty="0"/>
              <a:t>8 </a:t>
            </a:r>
            <a:r>
              <a:rPr lang="zh-TW" altLang="en-US" dirty="0"/>
              <a:t>乘 </a:t>
            </a:r>
            <a:r>
              <a:rPr lang="en-US" altLang="zh-TW" dirty="0"/>
              <a:t>3 </a:t>
            </a:r>
            <a:r>
              <a:rPr lang="zh-TW" altLang="en-US" dirty="0"/>
              <a:t>等於 </a:t>
            </a:r>
            <a:r>
              <a:rPr lang="en-US" altLang="zh-TW" dirty="0"/>
              <a:t>25 </a:t>
            </a:r>
            <a:r>
              <a:rPr lang="zh-TW" altLang="en-US" dirty="0"/>
              <a:t>還在限制內；四架是 </a:t>
            </a:r>
            <a:r>
              <a:rPr lang="en-US" altLang="zh-TW" dirty="0"/>
              <a:t>33 </a:t>
            </a:r>
            <a:r>
              <a:rPr lang="zh-TW" altLang="en-US" dirty="0"/>
              <a:t>個位元組，超過上限，韌體直接拒收。</a:t>
            </a:r>
          </a:p>
          <a:p>
            <a:endParaRPr lang="zh-TW" altLang="en-US" dirty="0"/>
          </a:p>
          <a:p>
            <a:r>
              <a:rPr lang="en-US" altLang="zh-TW" dirty="0"/>
              <a:t>Q</a:t>
            </a:r>
            <a:r>
              <a:rPr lang="zh-TW" altLang="en-US" dirty="0"/>
              <a:t>：壓縮後精度夠嗎？</a:t>
            </a:r>
          </a:p>
          <a:p>
            <a:r>
              <a:rPr lang="en-US" altLang="zh-TW" dirty="0"/>
              <a:t>A</a:t>
            </a:r>
            <a:r>
              <a:rPr lang="zh-TW" altLang="en-US" dirty="0"/>
              <a:t>：依實際飛行需要縮小範圍，傾角正負 </a:t>
            </a:r>
            <a:r>
              <a:rPr lang="en-US" altLang="zh-TW" dirty="0"/>
              <a:t>30 </a:t>
            </a:r>
            <a:r>
              <a:rPr lang="zh-TW" altLang="en-US" dirty="0"/>
              <a:t>度、轉速正負 </a:t>
            </a:r>
            <a:r>
              <a:rPr lang="en-US" altLang="zh-TW" dirty="0"/>
              <a:t>200 </a:t>
            </a:r>
            <a:r>
              <a:rPr lang="zh-TW" altLang="en-US" dirty="0"/>
              <a:t>度每秒，</a:t>
            </a:r>
            <a:r>
              <a:rPr lang="en-US" altLang="zh-TW" dirty="0"/>
              <a:t>1 </a:t>
            </a:r>
            <a:r>
              <a:rPr lang="zh-TW" altLang="en-US" dirty="0"/>
              <a:t>個位元組的解析度損失遠小於機體本身的反應誤差。</a:t>
            </a:r>
          </a:p>
          <a:p>
            <a:endParaRPr lang="zh-TW" altLang="en-US" dirty="0"/>
          </a:p>
          <a:p>
            <a:r>
              <a:rPr lang="zh-TW" altLang="en-US" dirty="0"/>
              <a:t>畫面下方是實機影片，我播放給各位委員看。</a:t>
            </a:r>
          </a:p>
          <a:p>
            <a:endParaRPr lang="zh-TW" altLang="en-US" dirty="0"/>
          </a:p>
          <a:p>
            <a:r>
              <a:rPr lang="zh-TW" altLang="en-US" dirty="0"/>
              <a:t>接下來第二十頁，我將說明多機控制下的斷聯風險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86460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第一，發送端一次只能對一個位址，因為 </a:t>
            </a:r>
            <a:r>
              <a:rPr lang="en-US" altLang="zh-TW" dirty="0"/>
              <a:t>ESB </a:t>
            </a:r>
            <a:r>
              <a:rPr lang="zh-TW" altLang="en-US" dirty="0"/>
              <a:t>只有一組 </a:t>
            </a:r>
            <a:r>
              <a:rPr lang="en-US" altLang="zh-TW" dirty="0"/>
              <a:t>TX </a:t>
            </a:r>
            <a:r>
              <a:rPr lang="zh-TW" altLang="en-US" dirty="0"/>
              <a:t>位址暫存器，切換目標必須先改寫位址。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第二，架數越多輪空越久，目前一輪點名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 </a:t>
            </a:r>
            <a:r>
              <a:rPr lang="zh-TW" altLang="en-US" dirty="0"/>
              <a:t>架，架數增加時循環一圈的時間等比拉長。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第三，輪空與失聯必須分開判定，若把輪空當成失聯，飛機會降落或墜機，所以需要時間緩衝。</a:t>
            </a:r>
          </a:p>
          <a:p>
            <a:endParaRPr lang="en-US" altLang="zh-CN" dirty="0"/>
          </a:p>
          <a:p>
            <a:r>
              <a:rPr lang="zh-CN" altLang="en-US" dirty="0"/>
              <a:t>怎麽判斷無人機狀態我設置了點名機制，會在</a:t>
            </a:r>
            <a:r>
              <a:rPr lang="en-US" altLang="zh-CN" dirty="0"/>
              <a:t>130ms </a:t>
            </a:r>
            <a:r>
              <a:rPr lang="zh-CN" altLang="en-US" dirty="0"/>
              <a:t>詢問一次。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因點名是使用無人機私有位址，所以會進行位址切換。等待回應為</a:t>
            </a:r>
            <a:r>
              <a:rPr lang="en-US" altLang="zh-CN" dirty="0"/>
              <a:t>50ms</a:t>
            </a:r>
            <a:r>
              <a:rPr lang="zh-CN" altLang="en-US" dirty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4662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核心】一句話版</a:t>
            </a:r>
            <a:r>
              <a:t> 38 字≈10 秒 ｜ </a:t>
            </a:r>
            <a:r>
              <a:rPr err="1"/>
              <a:t>完整版</a:t>
            </a:r>
            <a:r>
              <a:t> 674 字≈3.1 分</a:t>
            </a:r>
          </a:p>
          <a:p>
            <a:endParaRPr/>
          </a:p>
          <a:p>
            <a:r>
              <a:t>【</a:t>
            </a:r>
            <a:r>
              <a:rPr err="1"/>
              <a:t>一句話】訊號中斷不等於一定要墜落</a:t>
            </a:r>
            <a:r>
              <a:t> — </a:t>
            </a:r>
            <a:r>
              <a:rPr err="1"/>
              <a:t>這頁同時是單機安全的核心,也是多機控制的地基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核心問題】遙控訊號中斷時,飛機該怎麼辦</a:t>
            </a:r>
            <a:r>
              <a:t>?「</a:t>
            </a:r>
            <a:r>
              <a:rPr err="1"/>
              <a:t>立刻切斷馬達」最保守,但</a:t>
            </a:r>
            <a:r>
              <a:t>**</a:t>
            </a:r>
            <a:r>
              <a:rPr err="1"/>
              <a:t>多數中斷是短暫的</a:t>
            </a:r>
            <a:r>
              <a:t>**(</a:t>
            </a:r>
            <a:r>
              <a:rPr err="1"/>
              <a:t>天線遮擋、瞬時幹擾、封包碰撞</a:t>
            </a:r>
            <a:r>
              <a:t>),</a:t>
            </a:r>
            <a:r>
              <a:rPr err="1"/>
              <a:t>直接停機等於把一次可恢復的抖動變成一次墜機</a:t>
            </a:r>
            <a:r>
              <a:t>。</a:t>
            </a:r>
          </a:p>
          <a:p>
            <a:endParaRPr/>
          </a:p>
          <a:p>
            <a:r>
              <a:t>【★ </a:t>
            </a:r>
            <a:r>
              <a:rPr err="1"/>
              <a:t>為什麼需要三種而不是一種</a:t>
            </a:r>
            <a:r>
              <a:t>】</a:t>
            </a:r>
          </a:p>
          <a:p>
            <a:r>
              <a:rPr err="1"/>
              <a:t>因為「最好的策略」取決於場景,不存在通用解</a:t>
            </a:r>
            <a:r>
              <a:t>:</a:t>
            </a:r>
          </a:p>
          <a:p>
            <a:r>
              <a:t>· **</a:t>
            </a:r>
            <a:r>
              <a:rPr err="1"/>
              <a:t>模式</a:t>
            </a:r>
            <a:r>
              <a:t> 0 </a:t>
            </a:r>
            <a:r>
              <a:rPr err="1"/>
              <a:t>斷線寬限續飛</a:t>
            </a:r>
            <a:r>
              <a:t>** — </a:t>
            </a:r>
            <a:r>
              <a:rPr err="1"/>
              <a:t>中斷後維持定高最多</a:t>
            </a:r>
            <a:r>
              <a:t> 2 </a:t>
            </a:r>
            <a:r>
              <a:rPr err="1"/>
              <a:t>秒,訊號回來即無縫續飛,超時才轉緩降。適合</a:t>
            </a:r>
            <a:r>
              <a:t>**</a:t>
            </a:r>
            <a:r>
              <a:rPr err="1"/>
              <a:t>訊號本來就會間歇中斷</a:t>
            </a:r>
            <a:r>
              <a:t>**</a:t>
            </a:r>
            <a:r>
              <a:rPr err="1"/>
              <a:t>的場合</a:t>
            </a:r>
            <a:r>
              <a:t>。</a:t>
            </a:r>
          </a:p>
          <a:p>
            <a:r>
              <a:t>· **</a:t>
            </a:r>
            <a:r>
              <a:rPr err="1"/>
              <a:t>模式</a:t>
            </a:r>
            <a:r>
              <a:t> 1 </a:t>
            </a:r>
            <a:r>
              <a:rPr err="1"/>
              <a:t>懸停等待再緩降</a:t>
            </a:r>
            <a:r>
              <a:t>** — </a:t>
            </a:r>
            <a:r>
              <a:rPr err="1"/>
              <a:t>原地懸停約</a:t>
            </a:r>
            <a:r>
              <a:t> 8 </a:t>
            </a:r>
            <a:r>
              <a:rPr err="1"/>
              <a:t>秒,留出操作者反應與接管的時間窗,超時再受控緩降。適合</a:t>
            </a:r>
            <a:r>
              <a:t>**</a:t>
            </a:r>
            <a:r>
              <a:rPr err="1"/>
              <a:t>有人監看的手動飛行</a:t>
            </a:r>
            <a:r>
              <a:t>**。</a:t>
            </a:r>
          </a:p>
          <a:p>
            <a:r>
              <a:t>· **</a:t>
            </a:r>
            <a:r>
              <a:rPr err="1"/>
              <a:t>模式</a:t>
            </a:r>
            <a:r>
              <a:t> 2 </a:t>
            </a:r>
            <a:r>
              <a:rPr err="1"/>
              <a:t>立即緩降</a:t>
            </a:r>
            <a:r>
              <a:t>** — </a:t>
            </a:r>
            <a:r>
              <a:rPr err="1"/>
              <a:t>中斷即受控緩降、觸地自動停機,不等待。適合</a:t>
            </a:r>
            <a:r>
              <a:t>**</a:t>
            </a:r>
            <a:r>
              <a:rPr err="1"/>
              <a:t>未知環境或不容許漂移</a:t>
            </a:r>
            <a:r>
              <a:t>**</a:t>
            </a:r>
            <a:r>
              <a:rPr err="1"/>
              <a:t>的場合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三者的共同點】都是</a:t>
            </a:r>
            <a:r>
              <a:t>**</a:t>
            </a:r>
            <a:r>
              <a:rPr err="1"/>
              <a:t>同一套失控保護狀態機</a:t>
            </a:r>
            <a:r>
              <a:t>**,</a:t>
            </a:r>
            <a:r>
              <a:rPr err="1"/>
              <a:t>差別只在「等多久」與「等的時候做什麼</a:t>
            </a:r>
            <a:r>
              <a:t>」。</a:t>
            </a:r>
            <a:r>
              <a:rPr err="1"/>
              <a:t>不是三份獨立程式碼,而是同一個狀態機的三組參數</a:t>
            </a:r>
            <a:r>
              <a:t> — </a:t>
            </a:r>
            <a:r>
              <a:rPr err="1"/>
              <a:t>所以未來可由上位機即時切換</a:t>
            </a:r>
            <a:r>
              <a:t>。</a:t>
            </a:r>
          </a:p>
          <a:p>
            <a:endParaRPr/>
          </a:p>
          <a:p>
            <a:r>
              <a:t>【★ </a:t>
            </a:r>
            <a:r>
              <a:rPr err="1"/>
              <a:t>關鍵銜接</a:t>
            </a:r>
            <a:r>
              <a:t> — </a:t>
            </a:r>
            <a:r>
              <a:rPr err="1"/>
              <a:t>這頁存在的真正理由</a:t>
            </a:r>
            <a:r>
              <a:t>】</a:t>
            </a:r>
          </a:p>
          <a:p>
            <a:r>
              <a:rPr err="1"/>
              <a:t>模式</a:t>
            </a:r>
            <a:r>
              <a:t> 0 </a:t>
            </a:r>
            <a:r>
              <a:rPr err="1"/>
              <a:t>的「寬限等待」正是多機廣播控制的地基。廣播模式下每台飛機</a:t>
            </a:r>
            <a:r>
              <a:t>**</a:t>
            </a:r>
            <a:r>
              <a:rPr err="1"/>
              <a:t>本來就會有短暫收不到指令的空檔</a:t>
            </a:r>
            <a:r>
              <a:t>** — </a:t>
            </a:r>
            <a:r>
              <a:rPr err="1"/>
              <a:t>點名那一下就是</a:t>
            </a:r>
            <a:r>
              <a:t>(約 0.13 秒)。</a:t>
            </a:r>
            <a:r>
              <a:rPr err="1"/>
              <a:t>若沒有寬限維持,每次輪空都會觸發失控保護,多機根本不成立</a:t>
            </a:r>
            <a:r>
              <a:t>。</a:t>
            </a:r>
          </a:p>
          <a:p>
            <a:r>
              <a:rPr err="1"/>
              <a:t>寬限維持把「輪空」重新定義為</a:t>
            </a:r>
            <a:r>
              <a:t>**</a:t>
            </a:r>
            <a:r>
              <a:rPr err="1"/>
              <a:t>正常狀態</a:t>
            </a:r>
            <a:r>
              <a:t>**,</a:t>
            </a:r>
            <a:r>
              <a:rPr err="1"/>
              <a:t>而不是異常。這是單機安全設計反過來成就多機能力的例子</a:t>
            </a:r>
            <a:r>
              <a:t>。</a:t>
            </a:r>
          </a:p>
          <a:p>
            <a:endParaRPr/>
          </a:p>
          <a:p>
            <a:r>
              <a:t>【現場播放三支實測影片】模式0.mp4、模式1.mp4、模式2.mp4</a:t>
            </a:r>
          </a:p>
          <a:p>
            <a:endParaRPr/>
          </a:p>
          <a:p>
            <a:r>
              <a:t>【</a:t>
            </a:r>
            <a:r>
              <a:rPr err="1"/>
              <a:t>備詢·不念</a:t>
            </a:r>
            <a:r>
              <a:t>】</a:t>
            </a:r>
          </a:p>
          <a:p>
            <a:r>
              <a:t>Q:2 </a:t>
            </a:r>
            <a:r>
              <a:rPr err="1"/>
              <a:t>秒的寬限怎麼定的</a:t>
            </a:r>
            <a:r>
              <a:t>?</a:t>
            </a:r>
          </a:p>
          <a:p>
            <a:r>
              <a:t>A:實測經驗值。太短會因偶發丟包誤觸發降落,太長則真失聯時遲遲不處置。2 </a:t>
            </a:r>
            <a:r>
              <a:rPr err="1"/>
              <a:t>秒是兩者的平衡點,而且遠大於點名輪空的</a:t>
            </a:r>
            <a:r>
              <a:t> 0.13 </a:t>
            </a:r>
            <a:r>
              <a:rPr err="1"/>
              <a:t>秒,留有充足餘裕</a:t>
            </a:r>
            <a:r>
              <a:t>。</a:t>
            </a:r>
          </a:p>
          <a:p>
            <a:endParaRPr/>
          </a:p>
          <a:p>
            <a:r>
              <a:t>Q:三種策略怎麼選?</a:t>
            </a:r>
          </a:p>
          <a:p>
            <a:r>
              <a:t>A:目前是編譯期選定。設計上可由上位機即時切換,這是未來工作。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延伸】一句話版</a:t>
            </a:r>
            <a:r>
              <a:t> 45 字≈12 秒 ｜ </a:t>
            </a:r>
            <a:r>
              <a:rPr err="1"/>
              <a:t>完整版</a:t>
            </a:r>
            <a:r>
              <a:t> 165 字≈0.8 分</a:t>
            </a:r>
          </a:p>
          <a:p>
            <a:endParaRPr/>
          </a:p>
          <a:p>
            <a:r>
              <a:t>【</a:t>
            </a:r>
            <a:r>
              <a:rPr err="1"/>
              <a:t>一句話】接下來進系統二:定位。從</a:t>
            </a:r>
            <a:r>
              <a:t> RSSI </a:t>
            </a:r>
            <a:r>
              <a:rPr err="1"/>
              <a:t>這個訊號本身,到九步定位引擎,再到與文獻的對照與改進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怎麼講】這一章的順序是:先給四步全貌,再依序展開硬體、位置閉環、RSSI</a:t>
            </a:r>
            <a:r>
              <a:t> </a:t>
            </a:r>
            <a:r>
              <a:rPr err="1"/>
              <a:t>的三層深入、時槽寄生信標,最後是濾波三部曲與文獻對照。這裡要先提醒委員一件事:定位是本論文的支撐貢獻,不是主貢獻</a:t>
            </a:r>
            <a:r>
              <a:t> — </a:t>
            </a:r>
            <a:r>
              <a:rPr err="1"/>
              <a:t>主軸仍在跨</a:t>
            </a:r>
            <a:r>
              <a:t> MCU </a:t>
            </a:r>
            <a:r>
              <a:rPr err="1"/>
              <a:t>的韌體重構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延伸】一句話版</a:t>
            </a:r>
            <a:r>
              <a:t> 27 字≈7 秒 ｜ </a:t>
            </a:r>
            <a:r>
              <a:rPr err="1"/>
              <a:t>完整版</a:t>
            </a:r>
            <a:r>
              <a:t> 320 字≈1.5 分</a:t>
            </a:r>
          </a:p>
          <a:p>
            <a:endParaRPr/>
          </a:p>
          <a:p>
            <a:r>
              <a:t>【</a:t>
            </a:r>
            <a:r>
              <a:rPr err="1"/>
              <a:t>一句話】先給一張全景圖,再進細節</a:t>
            </a:r>
            <a:r>
              <a:t> — </a:t>
            </a:r>
            <a:r>
              <a:rPr err="1"/>
              <a:t>定位這一大塊分四個步驟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四個步驟</a:t>
            </a:r>
            <a:r>
              <a:t>】</a:t>
            </a:r>
          </a:p>
          <a:p>
            <a:r>
              <a:t>① </a:t>
            </a:r>
            <a:r>
              <a:rPr err="1"/>
              <a:t>訊號採集</a:t>
            </a:r>
            <a:r>
              <a:t> — </a:t>
            </a:r>
            <a:r>
              <a:rPr err="1"/>
              <a:t>四個固定錨點持續廣播,信標接收各錨的訊號強度</a:t>
            </a:r>
            <a:r>
              <a:t>(RSSI)</a:t>
            </a:r>
          </a:p>
          <a:p>
            <a:r>
              <a:t>② </a:t>
            </a:r>
            <a:r>
              <a:rPr err="1"/>
              <a:t>距離換算</a:t>
            </a:r>
            <a:r>
              <a:t> — </a:t>
            </a:r>
            <a:r>
              <a:rPr err="1"/>
              <a:t>用對數距離模型把訊號強度轉為到各錨的估計距離</a:t>
            </a:r>
            <a:endParaRPr/>
          </a:p>
          <a:p>
            <a:r>
              <a:t>③ </a:t>
            </a:r>
            <a:r>
              <a:rPr err="1"/>
              <a:t>濾波處理</a:t>
            </a:r>
            <a:r>
              <a:t> — </a:t>
            </a:r>
            <a:r>
              <a:rPr err="1"/>
              <a:t>自適應</a:t>
            </a:r>
            <a:r>
              <a:t> </a:t>
            </a:r>
            <a:r>
              <a:rPr err="1"/>
              <a:t>Kalman:靜止強平滑、移動快跟手,對抗</a:t>
            </a:r>
            <a:r>
              <a:t> RSSI </a:t>
            </a:r>
            <a:r>
              <a:rPr err="1"/>
              <a:t>先天波動</a:t>
            </a:r>
            <a:endParaRPr/>
          </a:p>
          <a:p>
            <a:r>
              <a:t>④ </a:t>
            </a:r>
            <a:r>
              <a:rPr err="1"/>
              <a:t>定位解算</a:t>
            </a:r>
            <a:r>
              <a:t> — </a:t>
            </a:r>
            <a:r>
              <a:rPr err="1"/>
              <a:t>多錨距離交會出座標,上位機地圖即時顯示軌跡</a:t>
            </a:r>
            <a:endParaRPr/>
          </a:p>
          <a:p>
            <a:endParaRPr/>
          </a:p>
          <a:p>
            <a:r>
              <a:t>【</a:t>
            </a:r>
            <a:r>
              <a:rPr err="1"/>
              <a:t>接下來的展開順序】定位網路硬體</a:t>
            </a:r>
            <a:r>
              <a:t> → </a:t>
            </a:r>
            <a:r>
              <a:rPr err="1"/>
              <a:t>位置閉環</a:t>
            </a:r>
            <a:r>
              <a:t> → RSSI </a:t>
            </a:r>
            <a:r>
              <a:rPr err="1"/>
              <a:t>三層深入</a:t>
            </a:r>
            <a:r>
              <a:t> → </a:t>
            </a:r>
            <a:r>
              <a:rPr err="1"/>
              <a:t>時槽寄生信標</a:t>
            </a:r>
            <a:r>
              <a:t> → </a:t>
            </a:r>
            <a:r>
              <a:rPr err="1"/>
              <a:t>濾波三部曲</a:t>
            </a:r>
            <a:r>
              <a:t> → </a:t>
            </a:r>
            <a:r>
              <a:rPr err="1"/>
              <a:t>文獻對照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要先提醒委員一件事】定位是本論文的</a:t>
            </a:r>
            <a:r>
              <a:t>**</a:t>
            </a:r>
            <a:r>
              <a:rPr err="1"/>
              <a:t>支撐貢獻</a:t>
            </a:r>
            <a:r>
              <a:t>**,</a:t>
            </a:r>
            <a:r>
              <a:rPr err="1"/>
              <a:t>不是主貢獻</a:t>
            </a:r>
            <a:r>
              <a:t> — </a:t>
            </a:r>
            <a:r>
              <a:rPr err="1"/>
              <a:t>主軸仍在跨</a:t>
            </a:r>
            <a:r>
              <a:t> MCU </a:t>
            </a:r>
            <a:r>
              <a:rPr err="1"/>
              <a:t>的韌體重構。這樣講可以避免委員把評分重心放錯地方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36 字≈10 秒 ｜ 完整版 368 字≈1.7 分</a:t>
            </a:r>
          </a:p>
          <a:p>
            <a:endParaRPr/>
          </a:p>
          <a:p>
            <a:r>
              <a:t>【一句話】定位網路的硬體很簡單:一個閘道加四個錨點,全部用同一顆 ESP32S3。</a:t>
            </a:r>
          </a:p>
          <a:p>
            <a:endParaRPr/>
          </a:p>
          <a:p>
            <a:r>
              <a:t>【硬體組成】</a:t>
            </a:r>
          </a:p>
          <a:p>
            <a:r>
              <a:t>· **閘道 ×1** — 接收四錨的 RSSI 批次上報,經 USB 轉發至上位機。使用獨立幀格式加校驗確保傳輸可靠。</a:t>
            </a:r>
          </a:p>
          <a:p>
            <a:r>
              <a:t>· **錨點 ×4** — 固定在已知座標,以 NimBLE 被動掃描量測各飛機信標的 RSSI,再經 ESP-NOW 上報閘道。</a:t>
            </a:r>
          </a:p>
          <a:p>
            <a:endParaRPr/>
          </a:p>
          <a:p>
            <a:r>
              <a:t>【為什麼用被動掃描而非建立連線】</a:t>
            </a:r>
          </a:p>
          <a:p>
            <a:r>
              <a:t>被動掃描不需建連,因此**錨點的服務對象數量沒有上限** — 一次掃描即可收齊三台飛機的訊號。若採連線式,四個錨要各自與每台飛機建連,台數增加就會撐不住。這是多機同時定位的前提。</a:t>
            </a:r>
          </a:p>
          <a:p>
            <a:endParaRPr/>
          </a:p>
          <a:p>
            <a:r>
              <a:t>【部署要點】四個錨的天線型號與朝向必須一致。實測天線朝向差異可造成接近 20 dB 的 RSSI 落差,換算成距離是數倍的誤差 — 這比濾波演算法的影響大得多。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Q:為什麼錨點也用 ESP32S3?</a:t>
            </a:r>
          </a:p>
          <a:p>
            <a:r>
              <a:t>A:與第三台飛控平臺同型,採購與韌體維護成本低;且其 BLE 掃描效能足夠。</a:t>
            </a:r>
          </a:p>
          <a:p>
            <a:endParaRPr/>
          </a:p>
          <a:p>
            <a:r>
              <a:t>Q:四個錨怎麼決定擺位?</a:t>
            </a:r>
          </a:p>
          <a:p>
            <a:r>
              <a:t>A:盡量圍成矩形、避免共線 — 共線會使幾何精度因數(GDOP)劣化,交會出的位置誤差被放大。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51 字≈14 秒 ｜ 完整版 853 字≈3.9 分</a:t>
            </a:r>
          </a:p>
          <a:p>
            <a:endParaRPr/>
          </a:p>
          <a:p>
            <a:r>
              <a:t>【一句話】讓同一顆 RADIO 分時跑兩種協議 — ESB 收發遙控,並在通信空隙插入 BLE 廣播當定位信標。</a:t>
            </a:r>
          </a:p>
          <a:p>
            <a:endParaRPr/>
          </a:p>
          <a:p>
            <a:r>
              <a:t>【為什麼這件事可行】關鍵是遙控通信的**時間結構**。ESB 是一問一答:遙控器發一包 → 飛機回 ACK → 然後雙方都閒著,直到下一包。遙控迴圈約 100Hz,也就是每 10 毫秒一輪,而一次收發加 ACK 只佔其中不到 1 毫秒。**剩下 9 毫秒 RADIO 完全空閒** — 那個空隙足夠塞進一個 BLE 廣播封包(約 0.3 毫秒)。</a:t>
            </a:r>
          </a:p>
          <a:p>
            <a:endParaRPr/>
          </a:p>
          <a:p>
            <a:r>
              <a:t>【切換要改哪些暫存器】ESB 和 BLE 雖然都在 2.4GHz,但封包格式完全不同,切換時要重配:</a:t>
            </a:r>
          </a:p>
          <a:p>
            <a:r>
              <a:t>· 頻率 — ESB 用約定的通道,BLE 廣播用 37/38/39 三個廣播通道</a:t>
            </a:r>
          </a:p>
          <a:p>
            <a:r>
              <a:t>· 封包格式(PCNF0/PCNF1)— 長度欄位數、S1 欄位數、位址長度都不同</a:t>
            </a:r>
          </a:p>
          <a:p>
            <a:r>
              <a:t>· CRC — 多項式與初值不同</a:t>
            </a:r>
          </a:p>
          <a:p>
            <a:r>
              <a:t>· 白化(whitening)— BLE 強制啟用資料白化避免長串相同位元,ESB 不用</a:t>
            </a:r>
          </a:p>
          <a:p>
            <a:endParaRPr/>
          </a:p>
          <a:p>
            <a:r>
              <a:t>發完 BLE 再把這些全部切回 ESB。整個切換是純暫存器寫入,微秒級。</a:t>
            </a:r>
          </a:p>
          <a:p>
            <a:endParaRPr/>
          </a:p>
          <a:p>
            <a:r>
              <a:t>【★ 時序保護:為什麼「寧可少發一次信標」】切換插在 radiolinkTask 確定的收發空隙內,而且視窗時長受控。原則是:**控制安全永遠優先於定位**。如果某一輪的空隙不夠(例如遙控封包來得密),就跳過這次信標 — 定位少一個取樣點只是精度略降,但如果因為在發信標而錯過遙控封包,飛機就會進失控保護。這個優先順序不能反。</a:t>
            </a:r>
          </a:p>
          <a:p>
            <a:endParaRPr/>
          </a:p>
          <a:p>
            <a:r>
              <a:t>【誠實邊界】這是 BLE **相容廣播** — 封包格式讓 NimBLE 掃描器認得、能測 RSSI,但沒有完整跑標準 BLE 的三頻道輪替與退避流程。對定位用途足夠(我們只需要錨點能收到並測強度),但論文裡如實說明,不宣稱是標準 BLE Beacon。</a:t>
            </a:r>
          </a:p>
          <a:p>
            <a:endParaRPr/>
          </a:p>
          <a:p>
            <a:r>
              <a:t>【這個設計的價值】異構機隊裡,ATK 原機要外掛信標模組才能被定位,而 nRF 平臺用自身 RADIO 就做到了 — 不增加任何硬體、不佔板面積。這是單晶片架構帶來的額外好處。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Q:切換開銷會不會影響控制?</a:t>
            </a:r>
          </a:p>
          <a:p>
            <a:r>
              <a:t>A:微秒級的暫存器重配,而且插在確定的空隙,不影響 500Hz 控制迴圈。實測遙控手感無差異。</a:t>
            </a:r>
          </a:p>
          <a:p>
            <a:endParaRPr/>
          </a:p>
          <a:p>
            <a:r>
              <a:t>Q:為什麼不用獨立的信標模組?</a:t>
            </a:r>
          </a:p>
          <a:p>
            <a:r>
              <a:t>A:板端空間精簡是設計目標之一。用時槽寄生以單晶片完成,是更符合本研究「單晶片全能」主軸的做法。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37 字≈10 秒 ｜ 完整版 354 字≈1.6 分</a:t>
            </a:r>
          </a:p>
          <a:p>
            <a:endParaRPr/>
          </a:p>
          <a:p>
            <a:r>
              <a:t>【一句話】上一頁講「怎麼發」,這一頁講「發出去之後,一套錨點怎麼同時服務多台飛機」。</a:t>
            </a:r>
          </a:p>
          <a:p>
            <a:endParaRPr/>
          </a:p>
          <a:p>
            <a:r>
              <a:t>【關鍵在 droneId】信標內容是 FF FF 'M' 'F' droneId seq — **droneId 標明是哪一台**。三台飛機的信標格式完全統一,只差這一個字節。</a:t>
            </a:r>
          </a:p>
          <a:p>
            <a:endParaRPr/>
          </a:p>
          <a:p>
            <a:r>
              <a:t>【所以錨點不必為誰做特別處理】四個 ESP32S3 錨用 NimBLE 被動掃描,一次掃描就把三台的訊號都收齊,各自量到 RSSI,連同 droneId 一起經 ESP-NOW 上報閘道。上位機再按 droneId 分別解算、在同一張地圖上顯示整個機隊。</a:t>
            </a:r>
          </a:p>
          <a:p>
            <a:endParaRPr/>
          </a:p>
          <a:p>
            <a:r>
              <a:t>【為什麼「被動掃描」是關鍵】不建連線,所以錨點的服務對象數量沒有上限 — 這是兩機(乃至多機)能同時被定位的基礎。若採用連線式定位,四個錨要各自與每台飛機建連,台數一多就撐不住。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Q:三台飛機的信標會不會互相幹擾?</a:t>
            </a:r>
          </a:p>
          <a:p>
            <a:r>
              <a:t>A:BLE 廣播本來就是無連線的短促發送,加上各機發送時機由自己的 RADIO 空隙決定,天然錯開;錨點靠 droneId 區分來源。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31 字≈8 秒 ｜ 完整版 324 字≈1.5 分</a:t>
            </a:r>
          </a:p>
          <a:p>
            <a:endParaRPr/>
          </a:p>
          <a:p>
            <a:r>
              <a:t>【一句話】先把 RSSI 這個訊號的真面目講清楚 — 它天生就是會抖的。</a:t>
            </a:r>
          </a:p>
          <a:p>
            <a:endParaRPr/>
          </a:p>
          <a:p>
            <a:r>
              <a:t>【RSSI 是什麼】接收訊號強度,單位 dBm,是對數刻度 — 每降 10 dB 代表功率變成十分之一。室內 BLE 典型範圍是 −40 到 −90 dBm。</a:t>
            </a:r>
          </a:p>
          <a:p>
            <a:endParaRPr/>
          </a:p>
          <a:p>
            <a:r>
              <a:t>【波動的三大來源】</a:t>
            </a:r>
          </a:p>
          <a:p>
            <a:r>
              <a:t>① 多徑反射疊加 — 訊號走不同路徑到達,互相干涉</a:t>
            </a:r>
          </a:p>
          <a:p>
            <a:r>
              <a:t>② 遮擋 — 5 到 15 dB</a:t>
            </a:r>
          </a:p>
          <a:p>
            <a:r>
              <a:t>③ 天線朝向 — 接近 20 dB</a:t>
            </a:r>
          </a:p>
          <a:p>
            <a:endParaRPr/>
          </a:p>
          <a:p>
            <a:r>
              <a:t>【右圖是實測(這頁最有說服力的部分)】信標完全靜止不動,讀值仍在 ±6 dB 內跳,還有偶發的 −71 離群值。換算成距離,差距超過 2 倍。</a:t>
            </a:r>
          </a:p>
          <a:p>
            <a:endParaRPr/>
          </a:p>
          <a:p>
            <a:r>
              <a:t>【所以】必須先濾波。這不是「訊號品質不好」,而是 RSSI 的物理特性 — 下一頁講怎麼把它轉成距離,再下一頁講怎麼濾。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38 字≈10 秒 ｜ 完整版 678 字≈3.1 分</a:t>
            </a:r>
          </a:p>
          <a:p>
            <a:endParaRPr/>
          </a:p>
          <a:p>
            <a:r>
              <a:t>【一句話】對數模型不是經驗公式,是從電波物理推出來的 — 而且有一個參數設錯就整場偏。</a:t>
            </a:r>
          </a:p>
          <a:p>
            <a:endParaRPr/>
          </a:p>
          <a:p>
            <a:r>
              <a:t>【三步推導】</a:t>
            </a:r>
          </a:p>
          <a:p>
            <a:r>
              <a:t>① 電波從天線發出後在空間中呈球面擴散。能量守恆,球面積 4πd² 隨距離平方增長,所以單位元面積的功率密度 ∝ 1/d²。</a:t>
            </a:r>
          </a:p>
          <a:p>
            <a:r>
              <a:t>② RSSI 的單位 dBm 本身是對數刻度(dBm = 10·log₁₀(功率/1mW))。把 1/d² 這個冪次關係取對數,就變成「距離每增加十倍,訊號固定掉 20 dB」的線性關係。</a:t>
            </a:r>
          </a:p>
          <a:p>
            <a:r>
              <a:t>③ 但那是自由空間。室內有牆、有傢俱、有反射,衰減比自由空間快。所以把指數 2 換成一個可調的**環境衰減指數 n**。</a:t>
            </a:r>
          </a:p>
          <a:p>
            <a:endParaRPr/>
          </a:p>
          <a:p>
            <a:r>
              <a:t>【最終形式】RSSI = P₀ − 10·n·log₁₀(d)</a:t>
            </a:r>
          </a:p>
          <a:p>
            <a:r>
              <a:t>反解得 d = 10^((P₀ − RSSI) / (10n))</a:t>
            </a:r>
          </a:p>
          <a:p>
            <a:endParaRPr/>
          </a:p>
          <a:p>
            <a:r>
              <a:t>【兩個參數的意義完全不同】</a:t>
            </a:r>
          </a:p>
          <a:p>
            <a:r>
              <a:t>· **P₀** — 距離 1 米處量到的訊號強度,是這支錨點的「基準點」。它取決於天線增益、發射功率、朝向、周圍遮擋 — **每支錨都不一樣,必須逐錨標定**。共用一個 P₀ 就等於把錨之間的硬體差異全算成距離誤差。</a:t>
            </a:r>
          </a:p>
          <a:p>
            <a:r>
              <a:t>· **n** — 環境的「指紋」。自由空間是 2,典型室內 2.7~3.5,重遮擋大於 4。</a:t>
            </a:r>
          </a:p>
          <a:p>
            <a:endParaRPr/>
          </a:p>
          <a:p>
            <a:r>
              <a:t>【★ 為什麼 n 設錯救不回來】看反解式:n 在指數的分母。n 設偏 10%,距離就系統性偏差一個固定倍率,而且是**所有錨同方向偏**。濾波只能壓隨機雜訊,對這種系統性偏差完全無效 — 濾出來的是一個穩定但錯誤的位置。這正是「自適應 n」的動機:與其猜一個固定值,不如用錨與錨之間的互測(它們的距離是已知的)反算出當下環境的 n。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Q:為什麼不直接查表?</a:t>
            </a:r>
          </a:p>
          <a:p>
            <a:r>
              <a:t>A:對數模型只需要兩個參數就能覆蓋整個空間,而指紋庫(查表)需要事前在每個網格點採樣建庫,換場地就要重做。本研究要的是可快速部署的方案。</a:t>
            </a:r>
          </a:p>
          <a:p>
            <a:endParaRPr/>
          </a:p>
          <a:p>
            <a:r>
              <a:t>Q:P₀ 怎麼標定?</a:t>
            </a:r>
          </a:p>
          <a:p>
            <a:r>
              <a:t>A:上位機有逐錨標定介面 — 把信標放在距該錨 1 米處,讀當下的 RSSI 存為該錨的 P₀。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34 字≈9 秒 ｜ 完整版 417 字≈1.9 分</a:t>
            </a:r>
          </a:p>
          <a:p>
            <a:endParaRPr/>
          </a:p>
          <a:p>
            <a:r>
              <a:t>【一句話】先把問題講透,再講方法 — RSSI 有三個麻煩,而且它們互相衝突。</a:t>
            </a:r>
          </a:p>
          <a:p>
            <a:endParaRPr/>
          </a:p>
          <a:p>
            <a:r>
              <a:t>【三個麻煩】</a:t>
            </a:r>
          </a:p>
          <a:p>
            <a:r>
              <a:t>① 先天抖動 — 靜止不動,讀值仍在 ±2~3 dBm 跳。這是多徑反射造成的物理特性,消不掉。</a:t>
            </a:r>
          </a:p>
          <a:p>
            <a:r>
              <a:t>② 轉距離會放大 — RSSI 轉距離是 10 的 x 次方,指數運算。訊號域 1 dB 的小抖動,轉距離後放大成數十公分到公尺級。</a:t>
            </a:r>
          </a:p>
          <a:p>
            <a:r>
              <a:t>③ 靜止與移動的兩難 — 壓抖動要濾波「重」,跟上移動要濾波「輕」。固定參數無法兼顧。</a:t>
            </a:r>
          </a:p>
          <a:p>
            <a:endParaRPr/>
          </a:p>
          <a:p>
            <a:r>
              <a:t>【右邊的核心矛盾(這頁的重點)】</a:t>
            </a:r>
          </a:p>
          <a:p>
            <a:r>
              <a:t>靜止時 RSSI 一直抖 → 濾波太輕,圖標亂跳</a:t>
            </a:r>
          </a:p>
          <a:p>
            <a:r>
              <a:t>但濾波太重 → 又跟不上真的移動</a:t>
            </a:r>
          </a:p>
          <a:p>
            <a:endParaRPr/>
          </a:p>
          <a:p>
            <a:r>
              <a:t>【所以需要什麼】一個「會看情況」的濾波器:靜止時當它重、壓住抖動;偵測到真移動時當它輕、快速跟上。這就是下一頁自適應 Kalman 要解決的。</a:t>
            </a:r>
          </a:p>
          <a:p>
            <a:endParaRPr/>
          </a:p>
          <a:p>
            <a:r>
              <a:t>【為什麼要先講問題】因為如果直接講「我用了自適應 Kalman」,委員會問「為什麼不用一般的 Kalman」。先把兩難講清楚,方法的必要性就自然成立。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39 字≈11 秒 ｜ 完整版 655 字≈3.0 分</a:t>
            </a:r>
          </a:p>
          <a:p>
            <a:endParaRPr/>
          </a:p>
          <a:p>
            <a:r>
              <a:t>【一句話】自適應 Kalman 的核心是:用「創新」的方向性來分辨這是雜訊還是真的在動。</a:t>
            </a:r>
          </a:p>
          <a:p>
            <a:endParaRPr/>
          </a:p>
          <a:p>
            <a:r>
              <a:t>【先講基本結構】每支錨各配一個一維 Kalman 濾波器,狀態就是「這支錨量到的真實 RSSI」。每來一筆新讀值,計算**創新(innovation)= 新讀值 − 目前估計**,再用它修正估計。</a:t>
            </a:r>
          </a:p>
          <a:p>
            <a:endParaRPr/>
          </a:p>
          <a:p>
            <a:r>
              <a:t>【關鍵參數 Q 在做什麼】Q 是過程雜訊,它代表「我認為真實值本身有多容易變」。</a:t>
            </a:r>
          </a:p>
          <a:p>
            <a:r>
              <a:t>· Q 小 → 濾波器認為真值很穩定 → 傾向相信自己的估計,新讀值只能小幅修正 → 平滑但遲鈍</a:t>
            </a:r>
          </a:p>
          <a:p>
            <a:r>
              <a:t>· Q 大 → 濾波器認為真值隨時在變 → 傾向相信新讀值 → 跟手但會抖</a:t>
            </a:r>
          </a:p>
          <a:p>
            <a:endParaRPr/>
          </a:p>
          <a:p>
            <a:r>
              <a:t>【★ 怎麼分辨移動與雜訊(全頁最關鍵)】</a:t>
            </a:r>
          </a:p>
          <a:p>
            <a:r>
              <a:t>· **雜訊的創新沒有方向性**:多徑干涉造成的抖動是隨機的,創新忽正忽負,累加起來會互相抵消,長期趨近零。</a:t>
            </a:r>
          </a:p>
          <a:p>
            <a:r>
              <a:t>· **移動的創新有方向性**:機體真的靠近錨點,RSSI 就會持續變強,創新連續同號,累加起來越來越大。</a:t>
            </a:r>
          </a:p>
          <a:p>
            <a:endParaRPr/>
          </a:p>
          <a:p>
            <a:r>
              <a:t>所以判準是:**把創新累加起來看它會不會發散**。累積同向創新超過閾值 → 判定為真移動 → 臨時把 Q 放大;累積量回落 → 切回小 Q。</a:t>
            </a:r>
          </a:p>
          <a:p>
            <a:endParaRPr/>
          </a:p>
          <a:p>
            <a:r>
              <a:t>【兩個模式】</a:t>
            </a:r>
          </a:p>
          <a:p>
            <a:r>
              <a:t>· 靜止模式(小 Q):壓住 ±2~3 dBm 的先天抖動,圖標穩住</a:t>
            </a:r>
          </a:p>
          <a:p>
            <a:r>
              <a:t>· 移動模式(放大 Q):快速跟上,不滯後</a:t>
            </a:r>
          </a:p>
          <a:p>
            <a:endParaRPr/>
          </a:p>
          <a:p>
            <a:r>
              <a:t>【為什麼這比「固定三級濾波」聰明】固定三級只是預先準備三種平滑強度,還是要人去判斷現在該用哪一級。自適應的做法是讓濾波器自己從創新的統計特性判斷 — 它真正解決了「靜止要重、移動要輕」這個兩難,而不是把選擇權丟給使用者。</a:t>
            </a:r>
          </a:p>
          <a:p>
            <a:endParaRPr/>
          </a:p>
          <a:p>
            <a:r>
              <a:t>【備詢·不念】</a:t>
            </a:r>
          </a:p>
          <a:p>
            <a:r>
              <a:t>Q:閾值怎麼定?</a:t>
            </a:r>
          </a:p>
          <a:p>
            <a:r>
              <a:t>A:在 config 可調,依實測的 RSSI 抖動幅度整定 — 要大於雜訊的累積量,又要小於真移動的累積量。</a:t>
            </a:r>
          </a:p>
          <a:p>
            <a:endParaRPr/>
          </a:p>
          <a:p>
            <a:r>
              <a:t>Q:為什麼每支錨各一個濾波器?</a:t>
            </a:r>
          </a:p>
          <a:p>
            <a:r>
              <a:t>A:各錨的距離、朝向、遮擋都不同,抖動特性也不同。共用一個濾波器會把差異平均掉。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30 字≈8 秒 ｜ 完整版 418 字≈1.9 分</a:t>
            </a:r>
          </a:p>
          <a:p>
            <a:endParaRPr/>
          </a:p>
          <a:p>
            <a:r>
              <a:t>【一句話】一次真實的除錯過程 — 真實的問題、真實的診斷、真實的修復。</a:t>
            </a:r>
          </a:p>
          <a:p>
            <a:endParaRPr/>
          </a:p>
          <a:p>
            <a:r>
              <a:t>【現象(v1.14)】標定完成後,藍色的 raw 點在動,但無人機圖標卡在原位、嚴重滯後,看起來像「定住了」。</a:t>
            </a:r>
          </a:p>
          <a:p>
            <a:endParaRPr/>
          </a:p>
          <a:p>
            <a:r>
              <a:t>【根因診斷】為了壓 RSSI 抖動,我把 Kalman 的 Q 設得極小(0.001)→ 濾波過度。機體一移動,濾波後的 RSSI 要 20 多步才跟上,圖標看起來就是卡住 — **壓噪與跟手失衡**。</a:t>
            </a:r>
          </a:p>
          <a:p>
            <a:endParaRPr/>
          </a:p>
          <a:p>
            <a:r>
              <a:t>【修復(v1.14.1)】</a:t>
            </a:r>
          </a:p>
          <a:p>
            <a:r>
              <a:t>① 改成自適應 Q:偵測到真移動就放大 Q 快跟,靜止才用小 Q 強平滑</a:t>
            </a:r>
          </a:p>
          <a:p>
            <a:r>
              <a:t>② 位置層再加「連續大跳變 N 次就重播種」— 治標定搬動後追不上的問題</a:t>
            </a:r>
          </a:p>
          <a:p>
            <a:endParaRPr/>
          </a:p>
          <a:p>
            <a:r>
              <a:t>【修復效果三者兼得】靜止時抖動明顯收斂、穩態時解算穩定停在對的位置、移動時圖標跟手不卡。</a:t>
            </a:r>
          </a:p>
          <a:p>
            <a:endParaRPr/>
          </a:p>
          <a:p>
            <a:r>
              <a:t>【★ 這裡我要特別誠實(重要)】以上是除錯過程中在軟體與模擬層觀察到的**定性改善**,不是真實硬體的精度數字。真實硬體的定位精度實驗還沒做完,要等完整聯通後才能量化。</a:t>
            </a:r>
          </a:p>
          <a:p>
            <a:endParaRPr/>
          </a:p>
          <a:p>
            <a:r>
              <a:t>【備詢·不念】</a:t>
            </a:r>
          </a:p>
          <a:p>
            <a:r>
              <a:t>Q:定位精度是多少?</a:t>
            </a:r>
          </a:p>
          <a:p>
            <a:r>
              <a:t>A:誠實答 — 定位鏈路已打通,但硬體精度實驗仍在進行,我不給未經實測的數字。這比編一個數字然後被追問來源更穩。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41 字≈11 秒 ｜ 完整版 597 字≈2.7 分</a:t>
            </a:r>
          </a:p>
          <a:p>
            <a:endParaRPr/>
          </a:p>
          <a:p>
            <a:r>
              <a:t>【一句話】位置層 Kalman 在做的事:在「模型預測」與「量測結果」之間,自動決定該信誰。</a:t>
            </a:r>
          </a:p>
          <a:p>
            <a:endParaRPr/>
          </a:p>
          <a:p>
            <a:r>
              <a:t>【每一拍有兩個位置說法】</a:t>
            </a:r>
          </a:p>
          <a:p>
            <a:r>
              <a:t>· **預測** — 按上一拍的位置加速度外推:「照這個速度,現在應該在這裡」。它平滑,但如果運動模型不準就會漂。</a:t>
            </a:r>
          </a:p>
          <a:p>
            <a:r>
              <a:t>· **量測** — 這一拍三邊定位解出的座標。它貼近真實,但因為 RSSI 抖動而劇烈跳動。</a:t>
            </a:r>
          </a:p>
          <a:p>
            <a:endParaRPr/>
          </a:p>
          <a:p>
            <a:r>
              <a:t>【輸出怎麼算】輸出 = 預測 + K ×(量測 − 預測)</a:t>
            </a:r>
          </a:p>
          <a:p>
            <a:endParaRPr/>
          </a:p>
          <a:p>
            <a:r>
              <a:t>K 叫卡爾曼增益,它是自動算出來的信任比例:</a:t>
            </a:r>
          </a:p>
          <a:p>
            <a:r>
              <a:t>· 量測雜訊 R 大(訊號很吵)→ K 變小 → 更信預測</a:t>
            </a:r>
          </a:p>
          <a:p>
            <a:r>
              <a:t>· 過程雜訊 Q 大(模型不可靠)→ K 變大 → 更信量測</a:t>
            </a:r>
          </a:p>
          <a:p>
            <a:endParaRPr/>
          </a:p>
          <a:p>
            <a:r>
              <a:t>**K 不是人設的,是濾波器每一拍根據當前的不確定度自己算的** — 這是 Kalman 相對於固定權重平均的根本差別。</a:t>
            </a:r>
          </a:p>
          <a:p>
            <a:endParaRPr/>
          </a:p>
          <a:p>
            <a:r>
              <a:t>【本系統的設定】狀態向量包含位置與速度,採用勻速模型。</a:t>
            </a:r>
          </a:p>
          <a:p>
            <a:r>
              <a:t>**為什麼要帶速度**:只有位置的話,預測就是「和上一拍一樣」,每次都是事後追;帶了速度,預測才能沿著運動方向外推,跟隨才不會滯後。</a:t>
            </a:r>
          </a:p>
          <a:p>
            <a:endParaRPr/>
          </a:p>
          <a:p>
            <a:r>
              <a:t>【★ 誠實邊界(一定要講)】Kalman 救的是**跳動**,救不了**系統性偏差**。如果某支錨的 P₀ 標定錯了,或 n 設偏了,整場的解算都會朝同一個方向偏 — 而 Kalman 只會平滑地跟著偏,輸出一個「很穩定的錯誤位置」。所以標定才是根基,濾波是在標定正確的前提下改善穩定性,兩者不能互相替代。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Q:為什麼不用更高階的模型(帶加速度)?</a:t>
            </a:r>
          </a:p>
          <a:p>
            <a:r>
              <a:t>A:室內近懸停以低速運動為主,勻速模型已足夠。模型階數越高,狀態維度越多、對雜訊越敏感,反而不穩。</a:t>
            </a:r>
          </a:p>
          <a:p>
            <a:endParaRPr/>
          </a:p>
          <a:p>
            <a:r>
              <a:t>Q:兩層 Kalman(訊號域一層、位置域一層)會不會重複?</a:t>
            </a:r>
          </a:p>
          <a:p>
            <a:r>
              <a:t>A:治的是不同東西。訊號域治的是 RSSI 的輸入雜訊,位置域治的是幾何解算本身的不穩定 — 即使 RSSI 完全乾淨,四錨交會的幾何也會因為錨的分佈而放大誤差。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33 字≈9 秒 ｜ 完整版 351 字≈1.6 分</a:t>
            </a:r>
          </a:p>
          <a:p>
            <a:endParaRPr/>
          </a:p>
          <a:p>
            <a:r>
              <a:t>【一句話】九步定位引擎 — 從這頁可以看出它不是「普通的 RSSI 定位」。</a:t>
            </a:r>
          </a:p>
          <a:p>
            <a:endParaRPr/>
          </a:p>
          <a:p>
            <a:r>
              <a:t>【九步順序】</a:t>
            </a:r>
          </a:p>
          <a:p>
            <a:r>
              <a:t>信標廣播 → 四錨採集 → **自適應 Kalman 濾波(訊號域)** → 對數模型逐錨 P₀ 轉距離 → 自適應 n(錨間互測反算)→ 加權最小二乘解算 → 位置 Kalman 平滑軌跡</a:t>
            </a:r>
          </a:p>
          <a:p>
            <a:endParaRPr/>
          </a:p>
          <a:p>
            <a:r>
              <a:t>【★ 順序本身就是設計決定】注意濾波在「轉距離之前」。原因是:訊號域 1 dB 的波動,轉成距離後會被指數放大成數十公分到公尺級。**先濾再轉**,才不會把小抖動放大成大誤差。這個順序如果顛倒,後面再怎麼濾都救不回來。</a:t>
            </a:r>
          </a:p>
          <a:p>
            <a:endParaRPr/>
          </a:p>
          <a:p>
            <a:r>
              <a:t>【橙色標的部分】自適應 RSSI 濾波是本文的改進重點,接下來三頁展開:</a:t>
            </a:r>
          </a:p>
          <a:p>
            <a:r>
              <a:t>① 先看清問題(RSSI 到底難在哪)</a:t>
            </a:r>
          </a:p>
          <a:p>
            <a:r>
              <a:t>② 再講自適應 Kalman 這個方法</a:t>
            </a:r>
          </a:p>
          <a:p>
            <a:r>
              <a:t>③ 最後是一次真實除錯的故事與數據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Q:為什麼要兩層 Kalman(訊號域一層、位置域一層)?</a:t>
            </a:r>
          </a:p>
          <a:p>
            <a:r>
              <a:t>A:兩層治的是不同問題 — 訊號域治 RSSI 抖動,位置域治解算結果的跳動。前者是輸入雜訊,後者是幾何解算的不穩定。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33 字≈9 秒 ｜ 完整版 404 字≈1.8 分</a:t>
            </a:r>
          </a:p>
          <a:p>
            <a:endParaRPr/>
          </a:p>
          <a:p>
            <a:r>
              <a:t>【一句話】拿到座標之後,怎麼把它變成飛機的動作 — 這是位置閉環的四個步驟。</a:t>
            </a:r>
          </a:p>
          <a:p>
            <a:endParaRPr/>
          </a:p>
          <a:p>
            <a:r>
              <a:t>【四步】</a:t>
            </a:r>
          </a:p>
          <a:p>
            <a:r>
              <a:t>① **位置誤差** — 目標座標減去目前座標,得到還差多少。</a:t>
            </a:r>
          </a:p>
          <a:p>
            <a:r>
              <a:t>② **限速指令** — 誤差乘上增益轉為期望速度,並施加上限。不限速的話,誤差大時會要求飛機以極高速度衝過去,超出可控範圍。</a:t>
            </a:r>
          </a:p>
          <a:p>
            <a:r>
              <a:t>③ **座標轉換** — **這一步最關鍵**:誤差是在場地座標系(世界座標)算的,但飛機的 roll/pitch 是相對自身機體的。必須依當前航向把世界座標的期望速度旋轉到機體座標系,否則飛機會朝錯誤方向飛。</a:t>
            </a:r>
          </a:p>
          <a:p>
            <a:r>
              <a:t>④ **姿態指令** — 期望速度轉為 roll/pitch 目標角,交給既有的串級 PID。</a:t>
            </a:r>
          </a:p>
          <a:p>
            <a:endParaRPr/>
          </a:p>
          <a:p>
            <a:r>
              <a:t>【上位機的四項功能】即時地圖顯示、點選導航、逐錨標定介面、參數調整。</a:t>
            </a:r>
          </a:p>
          <a:p>
            <a:endParaRPr/>
          </a:p>
          <a:p>
            <a:r>
              <a:t>【★ 誠實邊界】此閉環已完成設計與實作,但完整的閉環自由飛行尚未驗證 — 目前定位精度為演示等級,直接用於閉環控制會使飛機在目標點附近震盪。</a:t>
            </a:r>
          </a:p>
          <a:p>
            <a:endParaRPr/>
          </a:p>
          <a:p>
            <a:r>
              <a:t>【備詢·不念】</a:t>
            </a:r>
          </a:p>
          <a:p>
            <a:r>
              <a:t>Q:座標轉換錯了會怎樣?</a:t>
            </a:r>
          </a:p>
          <a:p>
            <a:r>
              <a:t>A:飛機會朝偏差一個航向角的方向飛,而且誤差越大偏得越遠 — 這是位置閉環最常見的錯誤來源。</a:t>
            </a:r>
          </a:p>
          <a:p>
            <a:endParaRPr/>
          </a:p>
          <a:p>
            <a:r>
              <a:t>Q:為什麼要限速?</a:t>
            </a:r>
          </a:p>
          <a:p>
            <a:r>
              <a:t>A:位置環的輸出是速度指令,不限速時大誤差會產生超出機體能力的指令,導致姿態失控。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36 字≈10 秒 ｜ 完整版 435 字≈2.0 分</a:t>
            </a:r>
          </a:p>
          <a:p>
            <a:endParaRPr/>
          </a:p>
          <a:p>
            <a:r>
              <a:t>【一句話】三欄對照:傳統做法、對標文獻、本文方法 — 而且要把「誰的實測」講清楚。</a:t>
            </a:r>
          </a:p>
          <a:p>
            <a:endParaRPr/>
          </a:p>
          <a:p>
            <a:r>
              <a:t>【三欄】</a:t>
            </a:r>
          </a:p>
          <a:p>
            <a:r>
              <a:t>① 傳統做法:原始 RSSI 直接轉距離、三邊定位、無濾波 → 誤差 3 米以上,跳動劇烈無法閉環</a:t>
            </a:r>
          </a:p>
          <a:p>
            <a:r>
              <a:t>② 對標文獻(王琳 2025,NTUST 碩論):同級 ESP32 硬體,RSSI 濾波 + Kalman + 自適應 n + 最小二乘 → 實測 MAE 1.88 米</a:t>
            </a:r>
          </a:p>
          <a:p>
            <a:r>
              <a:t>③ 本文方法:自適應 Kalman 濾 RSSI → 對數模型逐錨 P₀ 轉距離 → 加權最小二乘 → 位置 Kalman,再加上位機地圖整合與閉環控制 → 目標 2 米內</a:t>
            </a:r>
          </a:p>
          <a:p>
            <a:endParaRPr/>
          </a:p>
          <a:p>
            <a:r>
              <a:t>【★ 必須主動區分清楚的兩件事】</a:t>
            </a:r>
          </a:p>
          <a:p>
            <a:r>
              <a:t>① 硬體不同:文獻用 ESP32 WiFi-RSSI,我用 BLE-RSSI。</a:t>
            </a:r>
          </a:p>
          <a:p>
            <a:r>
              <a:t>② **1.88m 是她的實測,是我的對標目標,不是我的成績。** 我的定位目前完成設計與實作,精度待量化。</a:t>
            </a:r>
          </a:p>
          <a:p>
            <a:endParaRPr/>
          </a:p>
          <a:p>
            <a:r>
              <a:t>【為什麼這樣講】主動說明比被問到再解釋好。委員最在意的就是「這個數字是誰的」,先講清楚反而建立可信度。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269 字≈1.2 分</a:t>
            </a:r>
          </a:p>
          <a:p>
            <a:endParaRPr/>
          </a:p>
          <a:p>
            <a:r>
              <a:t>【一句話】定位系統的實機影片,同時展示可行性與真實的波動情況。</a:t>
            </a:r>
          </a:p>
          <a:p>
            <a:endParaRPr/>
          </a:p>
          <a:p>
            <a:r>
              <a:t>【建議片段順序】</a:t>
            </a:r>
          </a:p>
          <a:p>
            <a:r>
              <a:t>① 四錨部署現場 — 讓委員看到實際的場地規模與錨點擺位</a:t>
            </a:r>
          </a:p>
          <a:p>
            <a:r>
              <a:t>② 上位機地圖顯示 — 四錨座標與飛機位置</a:t>
            </a:r>
          </a:p>
          <a:p>
            <a:r>
              <a:t>③ 手持信標移動 — 沿已知路徑走一段</a:t>
            </a:r>
          </a:p>
          <a:p>
            <a:r>
              <a:t>④ 地圖軌跡跟隨 — 觀察圖標是否跟得上</a:t>
            </a:r>
          </a:p>
          <a:p>
            <a:r>
              <a:t>⑤ 濾波前後對比 — 這段最有價值,直接看出自適應 Kalman 的效果</a:t>
            </a:r>
          </a:p>
          <a:p>
            <a:endParaRPr/>
          </a:p>
          <a:p>
            <a:r>
              <a:t>【★ 播放時要主動說的一句】請注意軌跡仍有可見的波動 — 這是 BLE-RSSI 的物理限制,文獻同級硬體也在米級。影片呈現的是**演示等級**的定位,不是精密定位。我不會宣稱它比實際更好。</a:t>
            </a:r>
          </a:p>
          <a:p>
            <a:endParaRPr/>
          </a:p>
          <a:p>
            <a:r>
              <a:t>【備詢·不念】</a:t>
            </a:r>
          </a:p>
          <a:p>
            <a:r>
              <a:t>Q:看起來還是會飄,能用嗎?</a:t>
            </a:r>
          </a:p>
          <a:p>
            <a:r>
              <a:t>A:取決於用途。用於「知道飛機大致在場地哪一區」足夠;用於精密定點則不足,那需要 UWB 或視覺定位。這條邊界我在系統邊界那頁也明確標註。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延伸】一句話版</a:t>
            </a:r>
            <a:r>
              <a:t> 23 字≈6 秒 ｜ </a:t>
            </a:r>
            <a:r>
              <a:rPr err="1"/>
              <a:t>完整版</a:t>
            </a:r>
            <a:r>
              <a:t> 368 字≈1.7 分</a:t>
            </a:r>
          </a:p>
          <a:p>
            <a:endParaRPr/>
          </a:p>
          <a:p>
            <a:r>
              <a:t>【</a:t>
            </a:r>
            <a:r>
              <a:rPr err="1"/>
              <a:t>一句話】功能矩陣直接回答一個問題:你比現有的多了什麼</a:t>
            </a:r>
            <a:r>
              <a:t>。</a:t>
            </a:r>
          </a:p>
          <a:p>
            <a:r>
              <a:t>【</a:t>
            </a:r>
            <a:r>
              <a:rPr err="1"/>
              <a:t>逐列講</a:t>
            </a:r>
            <a:r>
              <a:t>】</a:t>
            </a:r>
          </a:p>
          <a:p>
            <a:r>
              <a:t>· </a:t>
            </a:r>
            <a:r>
              <a:rPr err="1"/>
              <a:t>可換</a:t>
            </a:r>
            <a:r>
              <a:t> MCU </a:t>
            </a:r>
            <a:r>
              <a:rPr err="1"/>
              <a:t>載板</a:t>
            </a:r>
            <a:r>
              <a:t> — </a:t>
            </a:r>
            <a:r>
              <a:rPr err="1"/>
              <a:t>只有本研究有</a:t>
            </a:r>
            <a:endParaRPr/>
          </a:p>
          <a:p>
            <a:r>
              <a:t>· nRF52840 </a:t>
            </a:r>
            <a:r>
              <a:rPr err="1"/>
              <a:t>單晶片飛控</a:t>
            </a:r>
            <a:r>
              <a:t> — </a:t>
            </a:r>
            <a:r>
              <a:rPr err="1"/>
              <a:t>本文的移植成果</a:t>
            </a:r>
            <a:endParaRPr/>
          </a:p>
          <a:p>
            <a:r>
              <a:t>· ESP32S3 </a:t>
            </a:r>
            <a:r>
              <a:rPr err="1"/>
              <a:t>支援</a:t>
            </a:r>
            <a:r>
              <a:t> — </a:t>
            </a:r>
            <a:r>
              <a:rPr err="1"/>
              <a:t>本研究同板直插</a:t>
            </a:r>
            <a:r>
              <a:t>(</a:t>
            </a:r>
            <a:r>
              <a:rPr err="1"/>
              <a:t>注意這一列</a:t>
            </a:r>
            <a:r>
              <a:t> ESP-FC </a:t>
            </a:r>
            <a:r>
              <a:rPr err="1"/>
              <a:t>也有</a:t>
            </a:r>
            <a:r>
              <a:t> ✓,</a:t>
            </a:r>
            <a:r>
              <a:rPr err="1"/>
              <a:t>我沒有選擇性呈現</a:t>
            </a:r>
            <a:r>
              <a:t>)</a:t>
            </a:r>
          </a:p>
          <a:p>
            <a:r>
              <a:t>· ATKP </a:t>
            </a:r>
            <a:r>
              <a:rPr err="1"/>
              <a:t>地面站協議</a:t>
            </a:r>
            <a:r>
              <a:t> — </a:t>
            </a:r>
            <a:r>
              <a:rPr err="1"/>
              <a:t>從原廠移植保留</a:t>
            </a:r>
            <a:endParaRPr/>
          </a:p>
          <a:p>
            <a:r>
              <a:t>· BLE-RSSI </a:t>
            </a:r>
            <a:r>
              <a:rPr err="1"/>
              <a:t>室內定位</a:t>
            </a:r>
            <a:r>
              <a:t> — </a:t>
            </a:r>
            <a:r>
              <a:rPr err="1"/>
              <a:t>本研究新增</a:t>
            </a:r>
            <a:r>
              <a:t>(</a:t>
            </a:r>
            <a:r>
              <a:rPr err="1"/>
              <a:t>四錨</a:t>
            </a:r>
            <a:r>
              <a:t> + </a:t>
            </a:r>
            <a:r>
              <a:rPr err="1"/>
              <a:t>引擎</a:t>
            </a:r>
            <a:r>
              <a:t>)</a:t>
            </a:r>
          </a:p>
          <a:p>
            <a:r>
              <a:t>· </a:t>
            </a:r>
            <a:r>
              <a:rPr err="1"/>
              <a:t>單遙控多機</a:t>
            </a:r>
            <a:r>
              <a:t>(</a:t>
            </a:r>
            <a:r>
              <a:rPr err="1"/>
              <a:t>廣播架構</a:t>
            </a:r>
            <a:r>
              <a:t>) — </a:t>
            </a:r>
            <a:r>
              <a:rPr err="1"/>
              <a:t>本研究新增,三機制實測</a:t>
            </a:r>
            <a:endParaRPr/>
          </a:p>
          <a:p>
            <a:r>
              <a:t>· </a:t>
            </a:r>
            <a:r>
              <a:rPr err="1"/>
              <a:t>上位機整合</a:t>
            </a:r>
            <a:r>
              <a:t> — </a:t>
            </a:r>
            <a:r>
              <a:rPr err="1"/>
              <a:t>地圖</a:t>
            </a:r>
            <a:r>
              <a:t> + </a:t>
            </a:r>
            <a:r>
              <a:rPr err="1"/>
              <a:t>標定</a:t>
            </a:r>
            <a:r>
              <a:t> + </a:t>
            </a:r>
            <a:r>
              <a:rPr err="1"/>
              <a:t>控制一體</a:t>
            </a:r>
            <a:endParaRPr/>
          </a:p>
          <a:p>
            <a:endParaRPr/>
          </a:p>
          <a:p>
            <a:r>
              <a:t>【</a:t>
            </a:r>
            <a:r>
              <a:rPr err="1"/>
              <a:t>一句話收束】本研究</a:t>
            </a:r>
            <a:r>
              <a:t> = </a:t>
            </a:r>
            <a:r>
              <a:rPr err="1"/>
              <a:t>硬體彈性</a:t>
            </a:r>
            <a:r>
              <a:t>(</a:t>
            </a:r>
            <a:r>
              <a:rPr err="1"/>
              <a:t>可換</a:t>
            </a:r>
            <a:r>
              <a:t> MCU)+ </a:t>
            </a:r>
            <a:r>
              <a:rPr err="1"/>
              <a:t>協議傳承</a:t>
            </a:r>
            <a:r>
              <a:t>(ATKP)+ </a:t>
            </a:r>
            <a:r>
              <a:rPr err="1"/>
              <a:t>能力擴展</a:t>
            </a:r>
            <a:r>
              <a:t>(</a:t>
            </a:r>
            <a:r>
              <a:rPr err="1"/>
              <a:t>定位</a:t>
            </a:r>
            <a:r>
              <a:t>/</a:t>
            </a:r>
            <a:r>
              <a:rPr err="1"/>
              <a:t>多機</a:t>
            </a:r>
            <a:r>
              <a:t>/</a:t>
            </a:r>
            <a:r>
              <a:rPr err="1"/>
              <a:t>分級失控保護</a:t>
            </a:r>
            <a:r>
              <a:t>)</a:t>
            </a:r>
            <a:r>
              <a:rPr err="1"/>
              <a:t>的交集</a:t>
            </a:r>
            <a:r>
              <a:t>。</a:t>
            </a:r>
          </a:p>
          <a:p>
            <a:endParaRPr/>
          </a:p>
          <a:p>
            <a:r>
              <a:t>【要主動提的一點】ESP32S3 </a:t>
            </a:r>
            <a:r>
              <a:rPr err="1"/>
              <a:t>那一列</a:t>
            </a:r>
            <a:r>
              <a:t> ESP-FC </a:t>
            </a:r>
            <a:r>
              <a:rPr err="1"/>
              <a:t>是勝出的</a:t>
            </a:r>
            <a:r>
              <a:t> — </a:t>
            </a:r>
            <a:r>
              <a:rPr err="1"/>
              <a:t>我沒有刻意隱藏。誠實呈現對照,比全部打勾更可信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備詢·不念</a:t>
            </a:r>
            <a:r>
              <a:t>】</a:t>
            </a:r>
          </a:p>
          <a:p>
            <a:r>
              <a:t>Q:ESP-FC 在 ESP32S3 </a:t>
            </a:r>
            <a:r>
              <a:rPr err="1"/>
              <a:t>那一列也打勾,那你的優勢在哪</a:t>
            </a:r>
            <a:r>
              <a:t>?</a:t>
            </a:r>
          </a:p>
          <a:p>
            <a:r>
              <a:t>A:我沒有隱藏這一點。ESP-FC 是成熟的開源方案,我直接採用它當第三平臺。本研究的價值在**</a:t>
            </a:r>
            <a:r>
              <a:rPr err="1"/>
              <a:t>可換</a:t>
            </a:r>
            <a:r>
              <a:t> MCU </a:t>
            </a:r>
            <a:r>
              <a:rPr err="1"/>
              <a:t>的載板</a:t>
            </a:r>
            <a:r>
              <a:t>**與**跨 MCU </a:t>
            </a:r>
            <a:r>
              <a:rPr err="1"/>
              <a:t>的韌體重構</a:t>
            </a:r>
            <a:r>
              <a:t>** — </a:t>
            </a:r>
            <a:r>
              <a:rPr err="1"/>
              <a:t>讓不同晶片能在同一物理基底上被公平評估,這是既有方案都沒有的</a:t>
            </a:r>
            <a:r>
              <a:t>。</a:t>
            </a:r>
          </a:p>
          <a:p>
            <a:endParaRPr/>
          </a:p>
          <a:p>
            <a:r>
              <a:t>Q:原廠 MiniFly </a:t>
            </a:r>
            <a:r>
              <a:rPr err="1"/>
              <a:t>也能飛,你的差別是什麼</a:t>
            </a:r>
            <a:r>
              <a:t>?</a:t>
            </a:r>
          </a:p>
          <a:p>
            <a:r>
              <a:t>A:原廠是封閉的雙 MCU 架構,無法更換主控、無法擴展定位與多機。本研究把它重建成可自行掌握、可繼續延伸的平臺。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21 字≈6 秒 ｜ 完整版 396 字≈1.8 分</a:t>
            </a:r>
          </a:p>
          <a:p>
            <a:endParaRPr/>
          </a:p>
          <a:p>
            <a:r>
              <a:t>【一句話】每個數字都可追溯,而且不給未經實測的數字。</a:t>
            </a:r>
          </a:p>
          <a:p>
            <a:endParaRPr/>
          </a:p>
          <a:p>
            <a:r>
              <a:t>【系統一(上排)】</a:t>
            </a:r>
          </a:p>
          <a:p>
            <a:r>
              <a:t>· 7 個驅動模組完成移植 — GPIO/I2C/PWM/無線/USB/排程/感測</a:t>
            </a:r>
          </a:p>
          <a:p>
            <a:r>
              <a:t>· 3 層系統級問題解決 — 無線封包 / USB 死鎖 / 排程歸零</a:t>
            </a:r>
          </a:p>
          <a:p>
            <a:r>
              <a:t>· 2 個飛控平臺同板實證 — nRF52840 + ESP32S3 直插可換</a:t>
            </a:r>
          </a:p>
          <a:p>
            <a:endParaRPr/>
          </a:p>
          <a:p>
            <a:r>
              <a:t>【系統二(下排)】</a:t>
            </a:r>
          </a:p>
          <a:p>
            <a:r>
              <a:t>· 7 步定位處理鏈 — 自適應 KF + 對數模型 + 加權 LSQ + 位置 Kalman</a:t>
            </a:r>
          </a:p>
          <a:p>
            <a:r>
              <a:t>· 4 錨定位網路 — 閘道 + 四錨 + 上位機標定介面</a:t>
            </a:r>
          </a:p>
          <a:p>
            <a:r>
              <a:t>· &lt;2m 定位目標 — 對標王琳 2025 的 BLE 同級 MAE 1.88m</a:t>
            </a:r>
          </a:p>
          <a:p>
            <a:endParaRPr/>
          </a:p>
          <a:p>
            <a:r>
              <a:t>【★ 最後一項要主動說明】1.88m 是文獻的**實測值**,是我的**對標目標**,不是我的成績。她用 ESP32 WiFi、我用 BLE,硬體也不同。我的精度待量化。</a:t>
            </a:r>
          </a:p>
          <a:p>
            <a:endParaRPr/>
          </a:p>
          <a:p>
            <a:r>
              <a:t>【下一頁】多機控制的量化指標單獨一頁。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Q:七個驅動模組是怎麼算的?</a:t>
            </a:r>
          </a:p>
          <a:p>
            <a:r>
              <a:t>A:GPIO、I2C、PWM、無線、USB、排程、感測共七層,每層都有對應的實作與驗證。</a:t>
            </a:r>
          </a:p>
          <a:p>
            <a:endParaRPr/>
          </a:p>
          <a:p>
            <a:r>
              <a:t>Q:定位目標 &lt;2m 有把握達到嗎?</a:t>
            </a:r>
          </a:p>
          <a:p>
            <a:r>
              <a:t>A:對標文獻用同級硬體達到 1.88m,所以物理上可行。但我的精度尚未實測,不會先給承諾。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【延伸】一句話版 18 字≈5 秒 ｜ 完整版 351 字≈1.6 分</a:t>
            </a:r>
          </a:p>
          <a:p>
            <a:endParaRPr/>
          </a:p>
          <a:p>
            <a:r>
              <a:t>【一句話】把前面的設計聲明,換成可查核的數字。</a:t>
            </a:r>
          </a:p>
          <a:p>
            <a:r>
              <a:t>【六個數字】</a:t>
            </a:r>
          </a:p>
          <a:p>
            <a:r>
              <a:t>· 3 — 三種控制機制實測通過(廣播選台、多工廣播、廣播點名)</a:t>
            </a:r>
          </a:p>
          <a:p>
            <a:r>
              <a:t>· 1 — 一個包送達 N 台,帶寬 O(1);對照分時尋址的 O(N),兩台就砍半且指令必然錯開</a:t>
            </a:r>
          </a:p>
          <a:p>
            <a:r>
              <a:t>· 8 — 每台 8 字節指令段;兩台 19、三台 27 字節,都在單包內</a:t>
            </a:r>
          </a:p>
          <a:p>
            <a:r>
              <a:t>· **2 — 台同包異動實證**:同一廣播包內 ATK 手動油門、nRF 懸停,結果只有 ATK 動作</a:t>
            </a:r>
          </a:p>
          <a:p>
            <a:r>
              <a:t>· 0.13 — 秒,選中機的狀態刷新週期</a:t>
            </a:r>
          </a:p>
          <a:p>
            <a:r>
              <a:t>· 32 — 字節單包載荷上限</a:t>
            </a:r>
          </a:p>
          <a:p>
            <a:endParaRPr/>
          </a:p>
          <a:p>
            <a:r>
              <a:t>【★ 最關鍵的是「2」】它是多工廣播相對於一般廣播的唯一證據 — 一般廣播做不到。</a:t>
            </a:r>
          </a:p>
          <a:p>
            <a:endParaRPr/>
          </a:p>
          <a:p>
            <a:r>
              <a:t>【★ 「32」是誠實的邊界】它同時決定兩件事:為什麼要定點壓縮,以及單包最多 3 台的擴展上限。委員問擴展性時,這就是答案。</a:t>
            </a:r>
          </a:p>
          <a:p>
            <a:endParaRPr/>
          </a:p>
          <a:p>
            <a:r>
              <a:t>【備詢·不念】</a:t>
            </a:r>
          </a:p>
          <a:p>
            <a:r>
              <a:t>Q:0.13 秒的開銷會不會影響控制?</a:t>
            </a:r>
          </a:p>
          <a:p>
            <a:r>
              <a:t>A:飛機在線時應答約 1 毫秒,佔比不到 1%;掉線機自動降頻,最壞約 4%,實測手感無差異。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357 字≈1.6 分</a:t>
            </a:r>
          </a:p>
          <a:p>
            <a:endParaRPr/>
          </a:p>
          <a:p>
            <a:r>
              <a:t>【一句話】誠實界定四條邊界 — 而且每條都對應明確的升級路徑。</a:t>
            </a:r>
          </a:p>
          <a:p>
            <a:r>
              <a:t>【四條邊界】</a:t>
            </a:r>
          </a:p>
          <a:p>
            <a:r>
              <a:t>① 定位精度 — 演示等級,受 RSSI 物理限制,適合粗定位而非精密定點</a:t>
            </a:r>
          </a:p>
          <a:p>
            <a:r>
              <a:t>② 多機控制 — **單包載荷 32 字節 → 單包最多 3 台;雙機同時編隊飛行尚未完整演示**</a:t>
            </a:r>
          </a:p>
          <a:p>
            <a:r>
              <a:t>③ 飛行包線 — 室內近懸停為主,未做激烈機動驗證</a:t>
            </a:r>
          </a:p>
          <a:p>
            <a:r>
              <a:t>④ 環境依賴 — 換新場地需重新標定 P₀/n</a:t>
            </a:r>
          </a:p>
          <a:p>
            <a:endParaRPr/>
          </a:p>
          <a:p>
            <a:r>
              <a:t>【★ 第②條要說清楚】三個機制都已實測,但「機制通了」和「兩台一起編隊飛完一段航線」是兩件事 — 後者還沒做。我在進度頁也是這樣標的,前後一致。</a:t>
            </a:r>
          </a:p>
          <a:p>
            <a:endParaRPr/>
          </a:p>
          <a:p>
            <a:r>
              <a:t>【為什麼誠實反而加分】</a:t>
            </a:r>
          </a:p>
          <a:p>
            <a:r>
              <a:t>① RSSI 精度是物理限制,文獻同級硬體也在米級 — 不是實作缺陷</a:t>
            </a:r>
          </a:p>
          <a:p>
            <a:r>
              <a:t>② 邊界清楚 = 知道系統能做什麼、不能做什麼,這正是工程能力</a:t>
            </a:r>
          </a:p>
          <a:p>
            <a:r>
              <a:t>③ 每條邊界都對應明確的升級路徑(下頁未來工作)</a:t>
            </a:r>
          </a:p>
          <a:p>
            <a:endParaRPr/>
          </a:p>
          <a:p>
            <a:r>
              <a:t>【備詢·不念】</a:t>
            </a:r>
          </a:p>
          <a:p>
            <a:r>
              <a:t>Q:這些限制怎麼解?</a:t>
            </a:r>
          </a:p>
          <a:p>
            <a:r>
              <a:t>A:定位可換 UWB 或 BLE 6.0 通道探測;多機台數受載荷限制,可改分組多包;飛行包線需更大機架與外部定位;重標定可做自動化流程。每條都有路。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延伸】一句話版</a:t>
            </a:r>
            <a:r>
              <a:t> 28 字≈8 秒 ｜ </a:t>
            </a:r>
            <a:r>
              <a:rPr err="1"/>
              <a:t>完整版</a:t>
            </a:r>
            <a:r>
              <a:t> 457 字≈2.1 分</a:t>
            </a:r>
          </a:p>
          <a:p>
            <a:endParaRPr/>
          </a:p>
          <a:p>
            <a:r>
              <a:t>【</a:t>
            </a:r>
            <a:r>
              <a:rPr err="1"/>
              <a:t>一句話】五項工作、各自的真實狀態</a:t>
            </a:r>
            <a:r>
              <a:t> — </a:t>
            </a:r>
            <a:r>
              <a:rPr err="1"/>
              <a:t>注意兩處標籤是有意區分的</a:t>
            </a:r>
            <a:r>
              <a:t>。</a:t>
            </a:r>
          </a:p>
          <a:p>
            <a:r>
              <a:t>【</a:t>
            </a:r>
            <a:r>
              <a:rPr err="1"/>
              <a:t>逐項</a:t>
            </a:r>
            <a:r>
              <a:t>】</a:t>
            </a:r>
          </a:p>
          <a:p>
            <a:r>
              <a:t>① </a:t>
            </a:r>
            <a:r>
              <a:rPr err="1"/>
              <a:t>可換</a:t>
            </a:r>
            <a:r>
              <a:t> MCU </a:t>
            </a:r>
            <a:r>
              <a:rPr err="1"/>
              <a:t>飛控載板</a:t>
            </a:r>
            <a:r>
              <a:t> — </a:t>
            </a:r>
            <a:r>
              <a:rPr err="1"/>
              <a:t>已完成</a:t>
            </a:r>
            <a:r>
              <a:t>(</a:t>
            </a:r>
            <a:r>
              <a:rPr err="1"/>
              <a:t>自製</a:t>
            </a:r>
            <a:r>
              <a:t> PCB + 雙平臺直插實證)</a:t>
            </a:r>
          </a:p>
          <a:p>
            <a:r>
              <a:t>② 跨 MCU </a:t>
            </a:r>
            <a:r>
              <a:rPr err="1"/>
              <a:t>韌體移植</a:t>
            </a:r>
            <a:r>
              <a:t> — </a:t>
            </a:r>
            <a:r>
              <a:rPr err="1"/>
              <a:t>已完成</a:t>
            </a:r>
            <a:r>
              <a:t>(雙 </a:t>
            </a:r>
            <a:r>
              <a:rPr err="1"/>
              <a:t>MCU→單晶片</a:t>
            </a:r>
            <a:r>
              <a:t> + </a:t>
            </a:r>
            <a:r>
              <a:rPr err="1"/>
              <a:t>三層系統問題</a:t>
            </a:r>
            <a:r>
              <a:t>)</a:t>
            </a:r>
          </a:p>
          <a:p>
            <a:r>
              <a:t>③ BLE </a:t>
            </a:r>
            <a:r>
              <a:rPr err="1"/>
              <a:t>定位引擎</a:t>
            </a:r>
            <a:r>
              <a:t> — **</a:t>
            </a:r>
            <a:r>
              <a:rPr err="1"/>
              <a:t>設計完成</a:t>
            </a:r>
            <a:r>
              <a:t>**(</a:t>
            </a:r>
            <a:r>
              <a:rPr err="1"/>
              <a:t>九步處理鏈</a:t>
            </a:r>
            <a:r>
              <a:t> + </a:t>
            </a:r>
            <a:r>
              <a:rPr err="1"/>
              <a:t>文獻對照</a:t>
            </a:r>
            <a:r>
              <a:t>),</a:t>
            </a:r>
            <a:r>
              <a:rPr err="1"/>
              <a:t>精度尚待量化</a:t>
            </a:r>
            <a:endParaRPr/>
          </a:p>
          <a:p>
            <a:r>
              <a:t>④ </a:t>
            </a:r>
            <a:r>
              <a:rPr err="1"/>
              <a:t>地面站整合</a:t>
            </a:r>
            <a:r>
              <a:t> — </a:t>
            </a:r>
            <a:r>
              <a:rPr err="1"/>
              <a:t>已完成</a:t>
            </a:r>
            <a:r>
              <a:t>(</a:t>
            </a:r>
            <a:r>
              <a:rPr err="1"/>
              <a:t>地圖</a:t>
            </a:r>
            <a:r>
              <a:t> + </a:t>
            </a:r>
            <a:r>
              <a:rPr err="1"/>
              <a:t>標定</a:t>
            </a:r>
            <a:r>
              <a:t> + </a:t>
            </a:r>
            <a:r>
              <a:rPr err="1"/>
              <a:t>控制一體</a:t>
            </a:r>
            <a:r>
              <a:t>)</a:t>
            </a:r>
          </a:p>
          <a:p>
            <a:r>
              <a:t>⑤ </a:t>
            </a:r>
            <a:r>
              <a:rPr err="1"/>
              <a:t>單遙控多機</a:t>
            </a:r>
            <a:r>
              <a:t> — **</a:t>
            </a:r>
            <a:r>
              <a:rPr err="1"/>
              <a:t>實測驗證</a:t>
            </a:r>
            <a:r>
              <a:t>**(</a:t>
            </a:r>
            <a:r>
              <a:rPr err="1"/>
              <a:t>廣播定址</a:t>
            </a:r>
            <a:r>
              <a:t> + </a:t>
            </a:r>
            <a:r>
              <a:rPr err="1"/>
              <a:t>多工廣播</a:t>
            </a:r>
            <a:r>
              <a:t> + </a:t>
            </a:r>
            <a:r>
              <a:rPr err="1"/>
              <a:t>點名</a:t>
            </a:r>
            <a:r>
              <a:t>)</a:t>
            </a:r>
          </a:p>
          <a:p>
            <a:endParaRPr/>
          </a:p>
          <a:p>
            <a:r>
              <a:t>【★ </a:t>
            </a:r>
            <a:r>
              <a:rPr err="1"/>
              <a:t>第③和第⑤的標籤不同,這是刻意的</a:t>
            </a:r>
            <a:r>
              <a:t>】</a:t>
            </a:r>
          </a:p>
          <a:p>
            <a:r>
              <a:rPr err="1"/>
              <a:t>定位標「設計完成」而不是「實測驗證</a:t>
            </a:r>
            <a:r>
              <a:t>」,</a:t>
            </a:r>
            <a:r>
              <a:rPr err="1"/>
              <a:t>因為硬體精度實驗還沒做完</a:t>
            </a:r>
            <a:r>
              <a:t> — </a:t>
            </a:r>
            <a:r>
              <a:rPr err="1"/>
              <a:t>我不會把設計完成說成實測完成</a:t>
            </a:r>
            <a:r>
              <a:t>。</a:t>
            </a:r>
          </a:p>
          <a:p>
            <a:r>
              <a:rPr err="1"/>
              <a:t>多機標「實測驗證</a:t>
            </a:r>
            <a:r>
              <a:t>」,</a:t>
            </a:r>
            <a:r>
              <a:rPr err="1"/>
              <a:t>因為三個機制都有實機影片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收束的話】這份研究把一套封閉的商用飛控,拆解到暫存器層級再重建在另一顆晶片上;過程中做出了可換</a:t>
            </a:r>
            <a:r>
              <a:t> MCU 的硬體載板,也把平臺能力延伸到室內定位與多機控制。</a:t>
            </a:r>
          </a:p>
          <a:p>
            <a:endParaRPr/>
          </a:p>
          <a:p>
            <a:r>
              <a:t>它不是一個做完就結束的系統,而是一個我完全掌握、可以繼續往上加東西的平臺 — </a:t>
            </a:r>
            <a:r>
              <a:rPr err="1"/>
              <a:t>這是我認為最有價值的部分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備詢·不念</a:t>
            </a:r>
            <a:r>
              <a:t>】</a:t>
            </a:r>
          </a:p>
          <a:p>
            <a:r>
              <a:t>Q:為什麼定位標「設計完成」而多機標「實測驗證」?</a:t>
            </a:r>
          </a:p>
          <a:p>
            <a:r>
              <a:t>A:標準一致 — </a:t>
            </a:r>
            <a:r>
              <a:rPr err="1"/>
              <a:t>有實機驗證的才標實測。多機三個機制都有實機影片;定位鏈路雖已打通,但精度數字尚未量化,所以只標設計完成</a:t>
            </a:r>
            <a:r>
              <a:t>。</a:t>
            </a:r>
          </a:p>
          <a:p>
            <a:endParaRPr/>
          </a:p>
          <a:p>
            <a:r>
              <a:t>Q:五項工作哪一項最重要?</a:t>
            </a:r>
          </a:p>
          <a:p>
            <a:r>
              <a:t>A:跨 MCU 韌體移植。它是全篇的技術核心,其餘四項都建立在這個平臺之上。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</a:t>
            </a:r>
            <a:r>
              <a:rPr err="1"/>
              <a:t>核心】一句話版</a:t>
            </a:r>
            <a:r>
              <a:t> 31 字≈8 秒 ｜ </a:t>
            </a:r>
            <a:r>
              <a:rPr err="1"/>
              <a:t>完整版</a:t>
            </a:r>
            <a:r>
              <a:t> 362 字≈1.6 分</a:t>
            </a:r>
          </a:p>
          <a:p>
            <a:endParaRPr/>
          </a:p>
          <a:p>
            <a:r>
              <a:t>【</a:t>
            </a:r>
            <a:r>
              <a:rPr err="1"/>
              <a:t>一句話】三個方向的未來工作,其中一個正好證明可換</a:t>
            </a:r>
            <a:r>
              <a:t> MCU </a:t>
            </a:r>
            <a:r>
              <a:rPr err="1"/>
              <a:t>載板的價值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未來工作</a:t>
            </a:r>
            <a:r>
              <a:t>】</a:t>
            </a:r>
          </a:p>
          <a:p>
            <a:r>
              <a:t>① </a:t>
            </a:r>
            <a:r>
              <a:rPr err="1"/>
              <a:t>完成</a:t>
            </a:r>
            <a:r>
              <a:t> PC </a:t>
            </a:r>
            <a:r>
              <a:rPr err="1"/>
              <a:t>端自動編隊</a:t>
            </a:r>
            <a:r>
              <a:t> — </a:t>
            </a:r>
            <a:r>
              <a:rPr err="1"/>
              <a:t>以定位回授驅動多工廣播,這是模式</a:t>
            </a:r>
            <a:r>
              <a:t> B </a:t>
            </a:r>
            <a:r>
              <a:rPr err="1"/>
              <a:t>打通後最直接的延伸</a:t>
            </a:r>
            <a:endParaRPr/>
          </a:p>
          <a:p>
            <a:r>
              <a:t>② </a:t>
            </a:r>
            <a:r>
              <a:rPr err="1"/>
              <a:t>定位精度實測與量化</a:t>
            </a:r>
            <a:r>
              <a:t> — </a:t>
            </a:r>
            <a:r>
              <a:rPr err="1"/>
              <a:t>目前唯一的量化空缺</a:t>
            </a:r>
            <a:endParaRPr/>
          </a:p>
          <a:p>
            <a:r>
              <a:t>③ BLE 6.0 </a:t>
            </a:r>
            <a:r>
              <a:rPr err="1"/>
              <a:t>通道探測</a:t>
            </a:r>
            <a:r>
              <a:t> — </a:t>
            </a:r>
            <a:r>
              <a:rPr err="1"/>
              <a:t>這是新標準內建的高精度測距。要升級只需換一顆支援的</a:t>
            </a:r>
            <a:r>
              <a:t> MCU </a:t>
            </a:r>
            <a:r>
              <a:rPr err="1"/>
              <a:t>插上去</a:t>
            </a:r>
            <a:r>
              <a:t> ← **</a:t>
            </a:r>
            <a:r>
              <a:rPr err="1"/>
              <a:t>這正是可換</a:t>
            </a:r>
            <a:r>
              <a:t> MCU </a:t>
            </a:r>
            <a:r>
              <a:rPr err="1"/>
              <a:t>載板的優勢,呼應主貢獻二</a:t>
            </a:r>
            <a:r>
              <a:t>**</a:t>
            </a:r>
          </a:p>
          <a:p>
            <a:r>
              <a:t>④ 光流、雷射測距與平臺化</a:t>
            </a:r>
          </a:p>
          <a:p>
            <a:endParaRPr/>
          </a:p>
          <a:p>
            <a:r>
              <a:t>【</a:t>
            </a:r>
            <a:r>
              <a:rPr err="1"/>
              <a:t>結語】這份研究把一套封閉的商用飛控,拆解到暫存器層級再重建在另一顆晶片上;過程中做出了可換</a:t>
            </a:r>
            <a:r>
              <a:t> MCU 的硬體載板,也把平臺能力延伸到室內定位與多機控制。</a:t>
            </a:r>
          </a:p>
          <a:p>
            <a:endParaRPr/>
          </a:p>
          <a:p>
            <a:r>
              <a:t>它不是一個做完就結束的系統,而是一個我完全掌握、可以繼續往上加東西的平臺 — </a:t>
            </a:r>
            <a:r>
              <a:rPr err="1"/>
              <a:t>這是我認為最有價值的部分</a:t>
            </a:r>
            <a:r>
              <a:t>。</a:t>
            </a:r>
          </a:p>
          <a:p>
            <a:endParaRPr/>
          </a:p>
          <a:p>
            <a:r>
              <a:rPr err="1"/>
              <a:t>感謝教授指導,感謝各位委員,敬請指教</a:t>
            </a:r>
            <a:r>
              <a:t>。</a:t>
            </a:r>
          </a:p>
          <a:p>
            <a:endParaRPr/>
          </a:p>
          <a:p>
            <a:r>
              <a:t>【</a:t>
            </a:r>
            <a:r>
              <a:rPr err="1"/>
              <a:t>備詢·不念</a:t>
            </a:r>
            <a:r>
              <a:t>】</a:t>
            </a:r>
          </a:p>
          <a:p>
            <a:r>
              <a:t>Q:未來工作有優先順序嗎?</a:t>
            </a:r>
          </a:p>
          <a:p>
            <a:r>
              <a:t>A:第一是定位精度實測與量化,那是目前唯一的空缺;第二是 PC </a:t>
            </a:r>
            <a:r>
              <a:rPr err="1"/>
              <a:t>端自動編隊,模式</a:t>
            </a:r>
            <a:r>
              <a:t> B </a:t>
            </a:r>
            <a:r>
              <a:rPr err="1"/>
              <a:t>打通後這是最直接的延伸</a:t>
            </a:r>
            <a:r>
              <a:t>。</a:t>
            </a:r>
          </a:p>
          <a:p>
            <a:endParaRPr/>
          </a:p>
          <a:p>
            <a:r>
              <a:t>Q:BLE 6.0 </a:t>
            </a:r>
            <a:r>
              <a:rPr err="1"/>
              <a:t>通道探測要換硬體嗎</a:t>
            </a:r>
            <a:r>
              <a:t>?</a:t>
            </a:r>
          </a:p>
          <a:p>
            <a:r>
              <a:t>A:要換一顆支援的 MCU — </a:t>
            </a:r>
            <a:r>
              <a:rPr err="1"/>
              <a:t>而這正好是可換</a:t>
            </a:r>
            <a:r>
              <a:t> MCU </a:t>
            </a:r>
            <a:r>
              <a:rPr err="1"/>
              <a:t>載板的價值:只需拔插主控,不必重做整塊板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>
            <a:extLst>
              <a:ext uri="{FF2B5EF4-FFF2-40B4-BE49-F238E27FC236}">
                <a16:creationId xmlns:a16="http://schemas.microsoft.com/office/drawing/2014/main" id="{0944D55F-203A-46D5-AC4F-697D196727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644800" y="6354721"/>
            <a:ext cx="547200" cy="32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TW" altLang="en-US" sz="1200" dirty="0">
                <a:solidFill>
                  <a:srgbClr val="5A6575"/>
                </a:solidFill>
                <a:latin typeface="Noto Sans CJK TC"/>
              </a:defRPr>
            </a:lvl1pPr>
          </a:lstStyle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572AB1E0-94EC-4874-940A-D91EF5326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264" y="6354721"/>
            <a:ext cx="547200" cy="32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TW" altLang="en-US" sz="1200" smtClean="0">
                <a:solidFill>
                  <a:srgbClr val="5A6575"/>
                </a:solidFill>
                <a:latin typeface="Noto Sans CJK TC"/>
              </a:defRPr>
            </a:lvl1pPr>
          </a:lstStyle>
          <a:p>
            <a:fld id="{F221DA3A-6EA9-486D-B4E3-78B252162388}" type="slidenum">
              <a:rPr lang="en-US" altLang="zh-TW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&#27683;&#22739;&#35336;.mp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38647;&#23556;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&#20677;MPU9250.mp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&#38283;&#21855;&#20809;&#27969;.mp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&#31227;&#26893;&#39131;&#34892;.mp4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24191;&#25773;&#36873;&#21488;.mp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&#27169;&#24335;%20B.mp4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&#27169;&#24335;0.mp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27169;&#24335;2.mp4" TargetMode="External"/><Relationship Id="rId4" Type="http://schemas.openxmlformats.org/officeDocument/2006/relationships/hyperlink" Target="&#27169;&#24335;1.mp4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0A4D6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碩士學位論文口試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無人機系統整合</a:t>
            </a:r>
            <a:endParaRPr lang="en-US" sz="4000" dirty="0"/>
          </a:p>
          <a:p>
            <a:pPr marL="0" indent="0" algn="l">
              <a:lnSpc>
                <a:spcPts val="52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與控制研究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on UAV System Integration and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59436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96B70053-6733-4012-9298-F4CB4DB085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F59C5F8A-D8B5-4E84-B47D-A1F920ED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4">
            <a:extLst>
              <a:ext uri="{FF2B5EF4-FFF2-40B4-BE49-F238E27FC236}">
                <a16:creationId xmlns:a16="http://schemas.microsoft.com/office/drawing/2014/main" id="{9E99B27E-8A7C-48E5-A467-D04A3028C3C4}"/>
              </a:ext>
            </a:extLst>
          </p:cNvPr>
          <p:cNvSpPr/>
          <p:nvPr/>
        </p:nvSpPr>
        <p:spPr>
          <a:xfrm>
            <a:off x="548639" y="239547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39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5577" y="1636776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557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6514" y="168275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研究背景與動機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5577" y="2569464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5577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6514" y="261493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系統架構與硬體設計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9273" y="33284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5577" y="3502152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5577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6514" y="354711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飛控配件</a:t>
            </a: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與通訊協定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5577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页脚占位符 30">
            <a:extLst>
              <a:ext uri="{FF2B5EF4-FFF2-40B4-BE49-F238E27FC236}">
                <a16:creationId xmlns:a16="http://schemas.microsoft.com/office/drawing/2014/main" id="{9B9440DA-02A6-4543-AC14-28FEB80E04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92CB6D03-D3F1-4F47-98D0-3B72F34F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9">
            <a:extLst>
              <a:ext uri="{FF2B5EF4-FFF2-40B4-BE49-F238E27FC236}">
                <a16:creationId xmlns:a16="http://schemas.microsoft.com/office/drawing/2014/main" id="{40810534-D5EA-4C5E-B30A-02A7F737C3CB}"/>
              </a:ext>
            </a:extLst>
          </p:cNvPr>
          <p:cNvSpPr/>
          <p:nvPr/>
        </p:nvSpPr>
        <p:spPr>
          <a:xfrm>
            <a:off x="548640" y="299923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lang="zh-TW" altLang="en-US" sz="200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470C76D-AA3A-4A05-83A5-D5D57410E6FB}"/>
              </a:ext>
            </a:extLst>
          </p:cNvPr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TW" altLang="zh-TW" sz="1800" b="1" kern="1200" dirty="0">
                <a:solidFill>
                  <a:srgbClr val="0A4D6E"/>
                </a:solidFill>
                <a:effectLst/>
                <a:latin typeface="Noto Sans CJK TC"/>
                <a:ea typeface="Noto Sans CJK TC"/>
                <a:cs typeface="Noto Sans CJK TC"/>
              </a:rPr>
              <a:t>以實作一架無人機為主</a:t>
            </a:r>
            <a:endParaRPr lang="zh-TW" altLang="zh-TW" b="1" dirty="0">
              <a:effectLst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383279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3" name="Text 11"/>
          <p:cNvSpPr/>
          <p:nvPr/>
        </p:nvSpPr>
        <p:spPr>
          <a:xfrm>
            <a:off x="777240" y="338327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TW" altLang="zh-TW" sz="1800" b="1" kern="1200" dirty="0">
                <a:solidFill>
                  <a:srgbClr val="0A4D6E"/>
                </a:solidFill>
                <a:effectLst/>
                <a:latin typeface="Noto Sans CJK TC"/>
                <a:ea typeface="Noto Sans CJK TC"/>
                <a:cs typeface="Noto Sans CJK TC"/>
              </a:rPr>
              <a:t>參考商用開源無人機程式</a:t>
            </a:r>
            <a:endParaRPr lang="zh-TW" altLang="zh-TW" dirty="0">
              <a:effectLst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endParaRPr lang="en-US" sz="1400" dirty="0"/>
          </a:p>
        </p:txBody>
      </p:sp>
      <p:sp>
        <p:nvSpPr>
          <p:cNvPr id="29" name="页脚占位符 28">
            <a:extLst>
              <a:ext uri="{FF2B5EF4-FFF2-40B4-BE49-F238E27FC236}">
                <a16:creationId xmlns:a16="http://schemas.microsoft.com/office/drawing/2014/main" id="{4193970A-E8AE-48C2-B1CE-9AE6BC9C0F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C0E676E2-A4C5-4D0E-B3B8-CC7FC28D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</a:t>
            </a:fld>
            <a:endParaRPr lang="en-US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78C94FB5-ABBB-4259-9939-8D614E389915}"/>
              </a:ext>
            </a:extLst>
          </p:cNvPr>
          <p:cNvSpPr/>
          <p:nvPr/>
        </p:nvSpPr>
        <p:spPr>
          <a:xfrm>
            <a:off x="548640" y="453542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C808292E-4F0B-4B4E-976F-BDAD40C5D007}"/>
              </a:ext>
            </a:extLst>
          </p:cNvPr>
          <p:cNvSpPr/>
          <p:nvPr/>
        </p:nvSpPr>
        <p:spPr>
          <a:xfrm>
            <a:off x="777240" y="4919472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3B7999F5-9876-49F9-8291-22CED0C81BC3}"/>
              </a:ext>
            </a:extLst>
          </p:cNvPr>
          <p:cNvSpPr/>
          <p:nvPr/>
        </p:nvSpPr>
        <p:spPr>
          <a:xfrm>
            <a:off x="777240" y="4919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60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FAA9E235-D18F-4918-AA53-BF3B69C607CB}"/>
              </a:ext>
            </a:extLst>
          </p:cNvPr>
          <p:cNvSpPr/>
          <p:nvPr/>
        </p:nvSpPr>
        <p:spPr>
          <a:xfrm>
            <a:off x="160020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自行設計電路板與配置零件</a:t>
            </a:r>
            <a:endParaRPr lang="en-US" b="1" dirty="0">
              <a:solidFill>
                <a:srgbClr val="0A4D6E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2778033A-E9D5-4412-A324-1E2DA31300A1}"/>
              </a:ext>
            </a:extLst>
          </p:cNvPr>
          <p:cNvSpPr/>
          <p:nvPr/>
        </p:nvSpPr>
        <p:spPr>
          <a:xfrm>
            <a:off x="1600200" y="5138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400" dirty="0">
                <a:solidFill>
                  <a:srgbClr val="5A6575"/>
                </a:solidFill>
                <a:ea typeface="Noto Sans CJK TC" pitchFamily="34" charset="-122"/>
                <a:cs typeface="Noto Sans CJK TC" pitchFamily="34" charset="-120"/>
              </a:rPr>
              <a:t>說明使用的零件與電路配置，並比較 MPU9250、氣壓計、雷射測距與光流在飛行中的作用與限制。</a:t>
            </a: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A9E60B59-892C-46BA-A81F-206D90CF5C12}"/>
              </a:ext>
            </a:extLst>
          </p:cNvPr>
          <p:cNvSpPr/>
          <p:nvPr/>
        </p:nvSpPr>
        <p:spPr>
          <a:xfrm>
            <a:off x="1600200" y="360273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altLang="zh-TW" sz="1400" dirty="0" err="1">
                <a:solidFill>
                  <a:srgbClr val="5A6575"/>
                </a:solidFill>
              </a:rPr>
              <a:t>以公開原始碼的商用產品正點原子</a:t>
            </a:r>
            <a:r>
              <a:rPr lang="en-US" altLang="zh-TW" sz="1400" dirty="0">
                <a:solidFill>
                  <a:srgbClr val="5A6575"/>
                </a:solidFill>
              </a:rPr>
              <a:t> </a:t>
            </a:r>
            <a:r>
              <a:rPr lang="en-US" altLang="zh-TW" sz="1400" dirty="0" err="1">
                <a:solidFill>
                  <a:srgbClr val="5A6575"/>
                </a:solidFill>
              </a:rPr>
              <a:t>MiniFly，以及開源飛控韌體</a:t>
            </a:r>
            <a:r>
              <a:rPr lang="en-US" altLang="zh-TW" sz="1400" dirty="0">
                <a:solidFill>
                  <a:srgbClr val="5A6575"/>
                </a:solidFill>
              </a:rPr>
              <a:t> ESP-FC </a:t>
            </a:r>
            <a:r>
              <a:rPr lang="en-US" altLang="zh-TW" sz="1400" dirty="0" err="1">
                <a:solidFill>
                  <a:srgbClr val="5A6575"/>
                </a:solidFill>
              </a:rPr>
              <a:t>作為飛控程式的基礎</a:t>
            </a:r>
            <a:r>
              <a:rPr lang="en-US" altLang="zh-TW" sz="1400" dirty="0">
                <a:solidFill>
                  <a:srgbClr val="5A6575"/>
                </a:solidFill>
              </a:rPr>
              <a:t>。</a:t>
            </a: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1B14C17F-9371-4D0F-BDF3-C9CF9682FE69}"/>
              </a:ext>
            </a:extLst>
          </p:cNvPr>
          <p:cNvSpPr/>
          <p:nvPr/>
        </p:nvSpPr>
        <p:spPr>
          <a:xfrm>
            <a:off x="1600200" y="20665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400" dirty="0">
                <a:solidFill>
                  <a:srgbClr val="5A6575"/>
                </a:solidFill>
                <a:ea typeface="Noto Sans CJK TC" pitchFamily="34" charset="-122"/>
                <a:cs typeface="Noto Sans CJK TC" pitchFamily="34" charset="-120"/>
              </a:rPr>
              <a:t>本研究以無人機本體的實作為主，從電路板設計、零件選用到飛行測試，完成一架可以飛行的四軸無人機。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 err="1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參考的開源程式</a:t>
            </a:r>
            <a:endParaRPr lang="zh-TW" altLang="zh-TW" sz="3200" dirty="0">
              <a:effectLst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B8FE456A-51E4-454F-9227-7AE38297E1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477C44B2-D36F-49DB-9E55-A3AC1F70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4</a:t>
            </a:fld>
            <a:endParaRPr lang="en-US" dirty="0"/>
          </a:p>
        </p:txBody>
      </p:sp>
      <p:sp>
        <p:nvSpPr>
          <p:cNvPr id="34" name="card 6">
            <a:extLst>
              <a:ext uri="{FF2B5EF4-FFF2-40B4-BE49-F238E27FC236}">
                <a16:creationId xmlns:a16="http://schemas.microsoft.com/office/drawing/2014/main" id="{F8C2495E-630F-46D7-A787-19E3C807C965}"/>
              </a:ext>
            </a:extLst>
          </p:cNvPr>
          <p:cNvSpPr/>
          <p:nvPr/>
        </p:nvSpPr>
        <p:spPr>
          <a:xfrm>
            <a:off x="548640" y="1325880"/>
            <a:ext cx="37490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pill 7">
            <a:extLst>
              <a:ext uri="{FF2B5EF4-FFF2-40B4-BE49-F238E27FC236}">
                <a16:creationId xmlns:a16="http://schemas.microsoft.com/office/drawing/2014/main" id="{8596F68F-AB2B-4754-BF48-3678AA4D922A}"/>
              </a:ext>
            </a:extLst>
          </p:cNvPr>
          <p:cNvSpPr/>
          <p:nvPr/>
        </p:nvSpPr>
        <p:spPr>
          <a:xfrm>
            <a:off x="777240" y="1554480"/>
            <a:ext cx="3291840" cy="64008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700" b="1" dirty="0" err="1">
                <a:solidFill>
                  <a:srgbClr val="FFFFFF"/>
                </a:solidFill>
              </a:rPr>
              <a:t>正點原子</a:t>
            </a:r>
            <a:r>
              <a:rPr sz="1700" b="1" dirty="0">
                <a:solidFill>
                  <a:srgbClr val="FFFFFF"/>
                </a:solidFill>
              </a:rPr>
              <a:t> </a:t>
            </a:r>
            <a:r>
              <a:rPr sz="1700" b="1" dirty="0" err="1">
                <a:solidFill>
                  <a:srgbClr val="FFFFFF"/>
                </a:solidFill>
              </a:rPr>
              <a:t>MiniFly</a:t>
            </a:r>
            <a:endParaRPr sz="1700" b="1" dirty="0">
              <a:solidFill>
                <a:srgbClr val="FFFFFF"/>
              </a:solidFill>
            </a:endParaRPr>
          </a:p>
          <a:p>
            <a:pPr algn="ctr"/>
            <a:r>
              <a:rPr sz="1100" b="0" dirty="0" err="1">
                <a:solidFill>
                  <a:srgbClr val="FFFFFF"/>
                </a:solidFill>
              </a:rPr>
              <a:t>商用微型四軸</a:t>
            </a:r>
            <a:endParaRPr sz="1100" b="0" dirty="0">
              <a:solidFill>
                <a:srgbClr val="FFFFFF"/>
              </a:solidFill>
            </a:endParaRPr>
          </a:p>
        </p:txBody>
      </p:sp>
      <p:sp>
        <p:nvSpPr>
          <p:cNvPr id="44" name="body 8">
            <a:extLst>
              <a:ext uri="{FF2B5EF4-FFF2-40B4-BE49-F238E27FC236}">
                <a16:creationId xmlns:a16="http://schemas.microsoft.com/office/drawing/2014/main" id="{779966F2-5DB0-470E-BD85-125DCBC5FF25}"/>
              </a:ext>
            </a:extLst>
          </p:cNvPr>
          <p:cNvSpPr txBox="1"/>
          <p:nvPr/>
        </p:nvSpPr>
        <p:spPr>
          <a:xfrm>
            <a:off x="777240" y="2331720"/>
            <a:ext cx="3291840" cy="1097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400" b="0" dirty="0" err="1">
                <a:solidFill>
                  <a:srgbClr val="6B7A8C"/>
                </a:solidFill>
              </a:rPr>
              <a:t>公開電路圖與飛控原始碼，本研究的飛控程式以此為基礎</a:t>
            </a:r>
            <a:r>
              <a:rPr sz="14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45" name="card 9">
            <a:extLst>
              <a:ext uri="{FF2B5EF4-FFF2-40B4-BE49-F238E27FC236}">
                <a16:creationId xmlns:a16="http://schemas.microsoft.com/office/drawing/2014/main" id="{355BC36E-A46A-45BB-AF76-5AA5FAD5BF8F}"/>
              </a:ext>
            </a:extLst>
          </p:cNvPr>
          <p:cNvSpPr/>
          <p:nvPr/>
        </p:nvSpPr>
        <p:spPr>
          <a:xfrm>
            <a:off x="548640" y="3749040"/>
            <a:ext cx="374904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6" name="pill 10">
            <a:extLst>
              <a:ext uri="{FF2B5EF4-FFF2-40B4-BE49-F238E27FC236}">
                <a16:creationId xmlns:a16="http://schemas.microsoft.com/office/drawing/2014/main" id="{23152EBD-6C5A-4F4A-A921-44A41F9CFFF1}"/>
              </a:ext>
            </a:extLst>
          </p:cNvPr>
          <p:cNvSpPr/>
          <p:nvPr/>
        </p:nvSpPr>
        <p:spPr>
          <a:xfrm>
            <a:off x="777240" y="3977640"/>
            <a:ext cx="3291840" cy="640080"/>
          </a:xfrm>
          <a:prstGeom prst="roundRect">
            <a:avLst/>
          </a:prstGeom>
          <a:solidFill>
            <a:srgbClr val="E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</a:rPr>
              <a:t>ESP-FC</a:t>
            </a:r>
          </a:p>
          <a:p>
            <a:pPr algn="ctr"/>
            <a:r>
              <a:rPr sz="1100" b="0" dirty="0" err="1">
                <a:solidFill>
                  <a:srgbClr val="FFFFFF"/>
                </a:solidFill>
              </a:rPr>
              <a:t>開源飛控韌體</a:t>
            </a:r>
            <a:endParaRPr sz="1100" b="0" dirty="0">
              <a:solidFill>
                <a:srgbClr val="FFFFFF"/>
              </a:solidFill>
            </a:endParaRPr>
          </a:p>
        </p:txBody>
      </p:sp>
      <p:sp>
        <p:nvSpPr>
          <p:cNvPr id="47" name="body 11">
            <a:extLst>
              <a:ext uri="{FF2B5EF4-FFF2-40B4-BE49-F238E27FC236}">
                <a16:creationId xmlns:a16="http://schemas.microsoft.com/office/drawing/2014/main" id="{BBB6DC8F-4C5E-47F5-A9AD-DA2F5A4501E3}"/>
              </a:ext>
            </a:extLst>
          </p:cNvPr>
          <p:cNvSpPr txBox="1"/>
          <p:nvPr/>
        </p:nvSpPr>
        <p:spPr>
          <a:xfrm>
            <a:off x="777240" y="4754880"/>
            <a:ext cx="3291840" cy="1097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400" b="0" dirty="0" err="1">
                <a:solidFill>
                  <a:srgbClr val="6B7A8C"/>
                </a:solidFill>
              </a:rPr>
              <a:t>同一塊電路板改插</a:t>
            </a:r>
            <a:r>
              <a:rPr sz="1400" b="0" dirty="0">
                <a:solidFill>
                  <a:srgbClr val="6B7A8C"/>
                </a:solidFill>
              </a:rPr>
              <a:t> XIAO ESP32S3 </a:t>
            </a:r>
            <a:r>
              <a:rPr sz="1400" b="0" dirty="0" err="1">
                <a:solidFill>
                  <a:srgbClr val="6B7A8C"/>
                </a:solidFill>
              </a:rPr>
              <a:t>時使用，用於確認主控模組可以更換</a:t>
            </a:r>
            <a:r>
              <a:rPr sz="14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48" name="card 12">
            <a:extLst>
              <a:ext uri="{FF2B5EF4-FFF2-40B4-BE49-F238E27FC236}">
                <a16:creationId xmlns:a16="http://schemas.microsoft.com/office/drawing/2014/main" id="{1EE80020-6BA8-4521-8D00-F78EF8713903}"/>
              </a:ext>
            </a:extLst>
          </p:cNvPr>
          <p:cNvSpPr/>
          <p:nvPr/>
        </p:nvSpPr>
        <p:spPr>
          <a:xfrm>
            <a:off x="4526280" y="1325880"/>
            <a:ext cx="34290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9" name="pill 13">
            <a:extLst>
              <a:ext uri="{FF2B5EF4-FFF2-40B4-BE49-F238E27FC236}">
                <a16:creationId xmlns:a16="http://schemas.microsoft.com/office/drawing/2014/main" id="{4206F3A1-E683-443F-803D-A05B3E2FD0E1}"/>
              </a:ext>
            </a:extLst>
          </p:cNvPr>
          <p:cNvSpPr/>
          <p:nvPr/>
        </p:nvSpPr>
        <p:spPr>
          <a:xfrm>
            <a:off x="4709160" y="1508760"/>
            <a:ext cx="3063240" cy="5486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沿用開源程式的部分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50" name="body 14">
            <a:extLst>
              <a:ext uri="{FF2B5EF4-FFF2-40B4-BE49-F238E27FC236}">
                <a16:creationId xmlns:a16="http://schemas.microsoft.com/office/drawing/2014/main" id="{E0B49C38-623D-47FB-979F-B128DB957A58}"/>
              </a:ext>
            </a:extLst>
          </p:cNvPr>
          <p:cNvSpPr txBox="1"/>
          <p:nvPr/>
        </p:nvSpPr>
        <p:spPr>
          <a:xfrm>
            <a:off x="4754880" y="2240280"/>
            <a:ext cx="3017520" cy="29260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228600" indent="-228600" algn="l">
              <a:spcBef>
                <a:spcPts val="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FreeRTOS</a:t>
            </a:r>
            <a:r>
              <a:rPr sz="1400" b="0" dirty="0">
                <a:solidFill>
                  <a:srgbClr val="6B7A8C"/>
                </a:solidFill>
              </a:rPr>
              <a:t> </a:t>
            </a:r>
            <a:r>
              <a:rPr sz="1400" b="0" dirty="0" err="1">
                <a:solidFill>
                  <a:srgbClr val="6B7A8C"/>
                </a:solidFill>
              </a:rPr>
              <a:t>多工的飛控任務架構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姿態解算與串級</a:t>
            </a:r>
            <a:r>
              <a:rPr sz="1400" b="0" dirty="0">
                <a:solidFill>
                  <a:srgbClr val="6B7A8C"/>
                </a:solidFill>
              </a:rPr>
              <a:t> PID </a:t>
            </a:r>
            <a:r>
              <a:rPr sz="1400" b="0" dirty="0" err="1">
                <a:solidFill>
                  <a:srgbClr val="6B7A8C"/>
                </a:solidFill>
              </a:rPr>
              <a:t>控制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定高與定點的控制流程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光流模組的讀取與換算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遙控器通訊協定（ATKP</a:t>
            </a:r>
            <a:r>
              <a:rPr sz="1400" b="0" dirty="0">
                <a:solidFill>
                  <a:srgbClr val="6B7A8C"/>
                </a:solidFill>
              </a:rPr>
              <a:t>）</a:t>
            </a:r>
          </a:p>
        </p:txBody>
      </p:sp>
      <p:sp>
        <p:nvSpPr>
          <p:cNvPr id="51" name="card 15">
            <a:extLst>
              <a:ext uri="{FF2B5EF4-FFF2-40B4-BE49-F238E27FC236}">
                <a16:creationId xmlns:a16="http://schemas.microsoft.com/office/drawing/2014/main" id="{669B4279-D2C4-4B5D-9EEB-88C7B4C41021}"/>
              </a:ext>
            </a:extLst>
          </p:cNvPr>
          <p:cNvSpPr/>
          <p:nvPr/>
        </p:nvSpPr>
        <p:spPr>
          <a:xfrm>
            <a:off x="8138160" y="1325880"/>
            <a:ext cx="3429000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2" name="pill 16">
            <a:extLst>
              <a:ext uri="{FF2B5EF4-FFF2-40B4-BE49-F238E27FC236}">
                <a16:creationId xmlns:a16="http://schemas.microsoft.com/office/drawing/2014/main" id="{83CD6199-DD69-4885-95E2-69881EB526A7}"/>
              </a:ext>
            </a:extLst>
          </p:cNvPr>
          <p:cNvSpPr/>
          <p:nvPr/>
        </p:nvSpPr>
        <p:spPr>
          <a:xfrm>
            <a:off x="8321040" y="1508760"/>
            <a:ext cx="3063240" cy="548640"/>
          </a:xfrm>
          <a:prstGeom prst="round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為本平臺重新撰寫的部分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53" name="body 17">
            <a:extLst>
              <a:ext uri="{FF2B5EF4-FFF2-40B4-BE49-F238E27FC236}">
                <a16:creationId xmlns:a16="http://schemas.microsoft.com/office/drawing/2014/main" id="{17CCFFC6-EBE5-4578-9E2A-FBDBCFAA5EDB}"/>
              </a:ext>
            </a:extLst>
          </p:cNvPr>
          <p:cNvSpPr txBox="1"/>
          <p:nvPr/>
        </p:nvSpPr>
        <p:spPr>
          <a:xfrm>
            <a:off x="8366760" y="2240280"/>
            <a:ext cx="3017520" cy="29260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228600" indent="-228600" algn="l">
              <a:spcBef>
                <a:spcPts val="0"/>
              </a:spcBef>
              <a:buFont typeface="Arial"/>
              <a:buChar char="•"/>
            </a:pPr>
            <a:r>
              <a:rPr sz="1400" b="0" dirty="0">
                <a:solidFill>
                  <a:srgbClr val="6B7A8C"/>
                </a:solidFill>
              </a:rPr>
              <a:t>I²C </a:t>
            </a:r>
            <a:r>
              <a:rPr sz="1400" b="0" dirty="0" err="1">
                <a:solidFill>
                  <a:srgbClr val="6B7A8C"/>
                </a:solidFill>
              </a:rPr>
              <a:t>讀取：改用</a:t>
            </a:r>
            <a:r>
              <a:rPr sz="1400" b="0" dirty="0">
                <a:solidFill>
                  <a:srgbClr val="6B7A8C"/>
                </a:solidFill>
              </a:rPr>
              <a:t> </a:t>
            </a:r>
            <a:r>
              <a:rPr sz="1400" b="0" dirty="0" err="1">
                <a:solidFill>
                  <a:srgbClr val="6B7A8C"/>
                </a:solidFill>
              </a:rPr>
              <a:t>TWIM＋EasyDMA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無線：設定</a:t>
            </a:r>
            <a:r>
              <a:rPr sz="1400" b="0" dirty="0">
                <a:solidFill>
                  <a:srgbClr val="6B7A8C"/>
                </a:solidFill>
              </a:rPr>
              <a:t> RADIO </a:t>
            </a:r>
            <a:r>
              <a:rPr sz="1400" b="0" dirty="0" err="1">
                <a:solidFill>
                  <a:srgbClr val="6B7A8C"/>
                </a:solidFill>
              </a:rPr>
              <a:t>暫存器實作</a:t>
            </a:r>
            <a:r>
              <a:rPr sz="1400" b="0" dirty="0">
                <a:solidFill>
                  <a:srgbClr val="6B7A8C"/>
                </a:solidFill>
              </a:rPr>
              <a:t> ESB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馬達：改用硬體</a:t>
            </a:r>
            <a:r>
              <a:rPr sz="1400" b="0" dirty="0">
                <a:solidFill>
                  <a:srgbClr val="6B7A8C"/>
                </a:solidFill>
              </a:rPr>
              <a:t> PWM </a:t>
            </a:r>
            <a:r>
              <a:rPr sz="1400" b="0" dirty="0" err="1">
                <a:solidFill>
                  <a:srgbClr val="6B7A8C"/>
                </a:solidFill>
              </a:rPr>
              <a:t>輸出</a:t>
            </a:r>
            <a:endParaRPr sz="1400" b="0" dirty="0">
              <a:solidFill>
                <a:srgbClr val="6B7A8C"/>
              </a:solidFill>
            </a:endParaRP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sz="1400" b="0" dirty="0" err="1">
                <a:solidFill>
                  <a:srgbClr val="6B7A8C"/>
                </a:solidFill>
              </a:rPr>
              <a:t>開發環境：VS</a:t>
            </a:r>
            <a:r>
              <a:rPr sz="1400" b="0" dirty="0">
                <a:solidFill>
                  <a:srgbClr val="6B7A8C"/>
                </a:solidFill>
              </a:rPr>
              <a:t> </a:t>
            </a:r>
            <a:r>
              <a:rPr sz="1400" b="0" dirty="0" err="1">
                <a:solidFill>
                  <a:srgbClr val="6B7A8C"/>
                </a:solidFill>
              </a:rPr>
              <a:t>Code＋PlatformIO</a:t>
            </a:r>
            <a:endParaRPr lang="zh-TW" altLang="en-US" sz="1400" b="0" dirty="0">
              <a:solidFill>
                <a:srgbClr val="6B7A8C"/>
              </a:solidFill>
            </a:endParaRPr>
          </a:p>
        </p:txBody>
      </p:sp>
      <p:sp>
        <p:nvSpPr>
          <p:cNvPr id="54" name="card 18">
            <a:extLst>
              <a:ext uri="{FF2B5EF4-FFF2-40B4-BE49-F238E27FC236}">
                <a16:creationId xmlns:a16="http://schemas.microsoft.com/office/drawing/2014/main" id="{0C15F0B1-6B1E-4D9D-BC32-E0D1DA0C3C4E}"/>
              </a:ext>
            </a:extLst>
          </p:cNvPr>
          <p:cNvSpPr/>
          <p:nvPr/>
        </p:nvSpPr>
        <p:spPr>
          <a:xfrm>
            <a:off x="4526280" y="5440680"/>
            <a:ext cx="70408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5" name="body 19">
            <a:extLst>
              <a:ext uri="{FF2B5EF4-FFF2-40B4-BE49-F238E27FC236}">
                <a16:creationId xmlns:a16="http://schemas.microsoft.com/office/drawing/2014/main" id="{770A759C-3313-4EB0-B7C5-8EFA95DF4EDA}"/>
              </a:ext>
            </a:extLst>
          </p:cNvPr>
          <p:cNvSpPr txBox="1"/>
          <p:nvPr/>
        </p:nvSpPr>
        <p:spPr>
          <a:xfrm>
            <a:off x="4754880" y="5486400"/>
            <a:ext cx="6675120" cy="5943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50" b="0" dirty="0" err="1">
                <a:solidFill>
                  <a:srgbClr val="0A4D6E"/>
                </a:solidFill>
              </a:rPr>
              <a:t>控制演算法沿用開源程式；與硬體相關的驅動，因主控改為</a:t>
            </a:r>
            <a:r>
              <a:rPr sz="1350" b="0" dirty="0">
                <a:solidFill>
                  <a:srgbClr val="0A4D6E"/>
                </a:solidFill>
              </a:rPr>
              <a:t> nRF52840 </a:t>
            </a:r>
            <a:r>
              <a:rPr sz="1350" b="0" dirty="0" err="1">
                <a:solidFill>
                  <a:srgbClr val="0A4D6E"/>
                </a:solidFill>
              </a:rPr>
              <a:t>而全部重新撰寫</a:t>
            </a:r>
            <a:r>
              <a:rPr sz="1350" b="0" dirty="0">
                <a:solidFill>
                  <a:srgbClr val="0A4D6E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系統總架構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43" name="页脚占位符 42">
            <a:extLst>
              <a:ext uri="{FF2B5EF4-FFF2-40B4-BE49-F238E27FC236}">
                <a16:creationId xmlns:a16="http://schemas.microsoft.com/office/drawing/2014/main" id="{F3DDD18D-0273-469B-997B-6C8244ABB8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4" name="灯片编号占位符 43">
            <a:extLst>
              <a:ext uri="{FF2B5EF4-FFF2-40B4-BE49-F238E27FC236}">
                <a16:creationId xmlns:a16="http://schemas.microsoft.com/office/drawing/2014/main" id="{1BE02558-B576-41B7-9354-A7E14498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5</a:t>
            </a:fld>
            <a:endParaRPr lang="en-US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E519FD4F-2730-4133-ABFA-65E8A33D1EF7}"/>
              </a:ext>
            </a:extLst>
          </p:cNvPr>
          <p:cNvSpPr/>
          <p:nvPr/>
        </p:nvSpPr>
        <p:spPr>
          <a:xfrm>
            <a:off x="3108960" y="146304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D04BA861-1473-4907-9CE1-DAC92FC931E4}"/>
              </a:ext>
            </a:extLst>
          </p:cNvPr>
          <p:cNvSpPr/>
          <p:nvPr/>
        </p:nvSpPr>
        <p:spPr>
          <a:xfrm>
            <a:off x="310896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上位機：顯示地圖、解算位置、下達指令</a:t>
            </a:r>
            <a:endParaRPr lang="en-US" sz="14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777827B9-B507-4745-A162-CF567011B75D}"/>
              </a:ext>
            </a:extLst>
          </p:cNvPr>
          <p:cNvSpPr/>
          <p:nvPr/>
        </p:nvSpPr>
        <p:spPr>
          <a:xfrm>
            <a:off x="41148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D6C82EBB-4A71-4A51-81BB-95B0D3433ADD}"/>
              </a:ext>
            </a:extLst>
          </p:cNvPr>
          <p:cNvSpPr/>
          <p:nvPr/>
        </p:nvSpPr>
        <p:spPr>
          <a:xfrm>
            <a:off x="82296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CF965405-0687-4F7B-A51E-620DF04F325A}"/>
              </a:ext>
            </a:extLst>
          </p:cNvPr>
          <p:cNvSpPr/>
          <p:nvPr/>
        </p:nvSpPr>
        <p:spPr>
          <a:xfrm>
            <a:off x="548640" y="26974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CBB6B0C9-C230-4EB4-841E-5A7B3C0F36F8}"/>
              </a:ext>
            </a:extLst>
          </p:cNvPr>
          <p:cNvSpPr/>
          <p:nvPr/>
        </p:nvSpPr>
        <p:spPr>
          <a:xfrm>
            <a:off x="548640" y="2697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B9844815-FBEC-43AA-8831-CE409B7F32CC}"/>
              </a:ext>
            </a:extLst>
          </p:cNvPr>
          <p:cNvSpPr/>
          <p:nvPr/>
        </p:nvSpPr>
        <p:spPr>
          <a:xfrm>
            <a:off x="54864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飛控系統（系統一）</a:t>
            </a:r>
            <a:endParaRPr lang="en-US" sz="16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804AF474-F7F9-4FF4-962E-5BD30BA6443F}"/>
              </a:ext>
            </a:extLst>
          </p:cNvPr>
          <p:cNvSpPr/>
          <p:nvPr/>
        </p:nvSpPr>
        <p:spPr>
          <a:xfrm>
            <a:off x="777240" y="3337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804A3A7F-CE5F-46D8-B216-B7247EAAD141}"/>
              </a:ext>
            </a:extLst>
          </p:cNvPr>
          <p:cNvSpPr/>
          <p:nvPr/>
        </p:nvSpPr>
        <p:spPr>
          <a:xfrm>
            <a:off x="7772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遙控器（連接電腦並發送控制訊號）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3B7AEC98-A9B0-4BFA-87D2-347F2C21C253}"/>
              </a:ext>
            </a:extLst>
          </p:cNvPr>
          <p:cNvSpPr/>
          <p:nvPr/>
        </p:nvSpPr>
        <p:spPr>
          <a:xfrm>
            <a:off x="7772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2.4GHz ESB</a:t>
            </a:r>
            <a:endParaRPr lang="en-US" sz="12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A1F6A1B9-9DE5-4BCD-8035-1A4AF7F38142}"/>
              </a:ext>
            </a:extLst>
          </p:cNvPr>
          <p:cNvSpPr/>
          <p:nvPr/>
        </p:nvSpPr>
        <p:spPr>
          <a:xfrm>
            <a:off x="77724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D3F3EBFE-EA47-4A8C-91BE-521BCF659AD6}"/>
              </a:ext>
            </a:extLst>
          </p:cNvPr>
          <p:cNvSpPr/>
          <p:nvPr/>
        </p:nvSpPr>
        <p:spPr>
          <a:xfrm>
            <a:off x="77724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 A</a:t>
            </a:r>
            <a:endParaRPr lang="en-US" sz="14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原機</a:t>
            </a:r>
            <a:endParaRPr lang="en-US" sz="14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C349FC-9BD8-4165-B35C-7275B61A185C}"/>
              </a:ext>
            </a:extLst>
          </p:cNvPr>
          <p:cNvSpPr/>
          <p:nvPr/>
        </p:nvSpPr>
        <p:spPr>
          <a:xfrm>
            <a:off x="324612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7F84525C-8A73-4478-B25D-633F78148443}"/>
              </a:ext>
            </a:extLst>
          </p:cNvPr>
          <p:cNvSpPr/>
          <p:nvPr/>
        </p:nvSpPr>
        <p:spPr>
          <a:xfrm>
            <a:off x="324612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 B</a:t>
            </a:r>
            <a:endParaRPr lang="en-US" sz="14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自製板＋nRF52840</a:t>
            </a:r>
            <a:endParaRPr lang="en-US" sz="140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5030036F-B6A5-4115-A834-EE5040AB43A3}"/>
              </a:ext>
            </a:extLst>
          </p:cNvPr>
          <p:cNvSpPr/>
          <p:nvPr/>
        </p:nvSpPr>
        <p:spPr>
          <a:xfrm>
            <a:off x="5943600" y="26974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FEB595DF-E5B7-4A1D-86D7-940B3C72202C}"/>
              </a:ext>
            </a:extLst>
          </p:cNvPr>
          <p:cNvSpPr/>
          <p:nvPr/>
        </p:nvSpPr>
        <p:spPr>
          <a:xfrm>
            <a:off x="5943600" y="26974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527114FA-07B7-4B61-99CF-53E808F7DDB1}"/>
              </a:ext>
            </a:extLst>
          </p:cNvPr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定位系統（系統二）</a:t>
            </a:r>
            <a:endParaRPr lang="en-US" sz="160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22B9A12-1BD3-4745-BE8A-A6BB80DFE49E}"/>
              </a:ext>
            </a:extLst>
          </p:cNvPr>
          <p:cNvSpPr/>
          <p:nvPr/>
        </p:nvSpPr>
        <p:spPr>
          <a:xfrm>
            <a:off x="617220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822CBD48-A4EB-4A41-94C4-5893B8F1AC81}"/>
              </a:ext>
            </a:extLst>
          </p:cNvPr>
          <p:cNvSpPr/>
          <p:nvPr/>
        </p:nvSpPr>
        <p:spPr>
          <a:xfrm>
            <a:off x="6172200" y="3337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4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中繼站（連接無線網路與電腦）</a:t>
            </a:r>
            <a:endParaRPr lang="en-US" sz="140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8C3780DE-DF86-4B06-8E2E-329DCA1DC689}"/>
              </a:ext>
            </a:extLst>
          </p:cNvPr>
          <p:cNvSpPr/>
          <p:nvPr/>
        </p:nvSpPr>
        <p:spPr>
          <a:xfrm>
            <a:off x="617220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ESP-</a:t>
            </a:r>
            <a:r>
              <a:rPr lang="en-US" altLang="zh-CN" sz="12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NOW</a:t>
            </a:r>
            <a:endParaRPr lang="en-US" sz="1200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374E6964-1F3A-4AE3-8FDB-D928813167EB}"/>
              </a:ext>
            </a:extLst>
          </p:cNvPr>
          <p:cNvSpPr/>
          <p:nvPr/>
        </p:nvSpPr>
        <p:spPr>
          <a:xfrm>
            <a:off x="617220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4E6DDC8B-2E47-4A37-8093-9E81AA4B85AE}"/>
              </a:ext>
            </a:extLst>
          </p:cNvPr>
          <p:cNvSpPr/>
          <p:nvPr/>
        </p:nvSpPr>
        <p:spPr>
          <a:xfrm>
            <a:off x="617220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錨點 1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F2DECCF2-13AA-4FB9-BD5E-EE40435E46B5}"/>
              </a:ext>
            </a:extLst>
          </p:cNvPr>
          <p:cNvSpPr/>
          <p:nvPr/>
        </p:nvSpPr>
        <p:spPr>
          <a:xfrm>
            <a:off x="61722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F4B8D527-D3FD-49B6-B9BE-89FB3527BC40}"/>
              </a:ext>
            </a:extLst>
          </p:cNvPr>
          <p:cNvSpPr/>
          <p:nvPr/>
        </p:nvSpPr>
        <p:spPr>
          <a:xfrm>
            <a:off x="717804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4746CA07-A455-4804-BE12-3D73C378A1FE}"/>
              </a:ext>
            </a:extLst>
          </p:cNvPr>
          <p:cNvSpPr/>
          <p:nvPr/>
        </p:nvSpPr>
        <p:spPr>
          <a:xfrm>
            <a:off x="717804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錨點 2</a:t>
            </a:r>
            <a:endParaRPr lang="en-US" sz="1200" dirty="0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2733A3D7-A60C-451A-A0CB-56EA8F56A99F}"/>
              </a:ext>
            </a:extLst>
          </p:cNvPr>
          <p:cNvSpPr/>
          <p:nvPr/>
        </p:nvSpPr>
        <p:spPr>
          <a:xfrm>
            <a:off x="717804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E793A8D6-D4B0-4B62-B951-5E67FC8D09AB}"/>
              </a:ext>
            </a:extLst>
          </p:cNvPr>
          <p:cNvSpPr/>
          <p:nvPr/>
        </p:nvSpPr>
        <p:spPr>
          <a:xfrm>
            <a:off x="818388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C3E021E1-04D5-41F4-8FBF-2CD882DEC356}"/>
              </a:ext>
            </a:extLst>
          </p:cNvPr>
          <p:cNvSpPr/>
          <p:nvPr/>
        </p:nvSpPr>
        <p:spPr>
          <a:xfrm>
            <a:off x="818388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錨點 3</a:t>
            </a:r>
            <a:endParaRPr lang="en-US" sz="1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500BA19F-0213-49EE-A42C-04FDFA51D6C0}"/>
              </a:ext>
            </a:extLst>
          </p:cNvPr>
          <p:cNvSpPr/>
          <p:nvPr/>
        </p:nvSpPr>
        <p:spPr>
          <a:xfrm>
            <a:off x="81838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DA7E7429-6272-4586-987F-531F99B769FC}"/>
              </a:ext>
            </a:extLst>
          </p:cNvPr>
          <p:cNvSpPr/>
          <p:nvPr/>
        </p:nvSpPr>
        <p:spPr>
          <a:xfrm>
            <a:off x="918972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D0064D56-7026-4F1F-9791-68CC6F046A4A}"/>
              </a:ext>
            </a:extLst>
          </p:cNvPr>
          <p:cNvSpPr/>
          <p:nvPr/>
        </p:nvSpPr>
        <p:spPr>
          <a:xfrm>
            <a:off x="918972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錨點 4</a:t>
            </a:r>
            <a:endParaRPr lang="en-US" sz="1200" dirty="0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5FF25D1B-8A20-4390-AD3D-065A43A257BD}"/>
              </a:ext>
            </a:extLst>
          </p:cNvPr>
          <p:cNvSpPr/>
          <p:nvPr/>
        </p:nvSpPr>
        <p:spPr>
          <a:xfrm>
            <a:off x="918972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5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30F1AF0D-47F9-48DD-B58C-6453A6228E6A}"/>
              </a:ext>
            </a:extLst>
          </p:cNvPr>
          <p:cNvSpPr/>
          <p:nvPr/>
        </p:nvSpPr>
        <p:spPr>
          <a:xfrm>
            <a:off x="10401300" y="4389120"/>
            <a:ext cx="914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B3D67793-AEE8-41BF-A65F-650A08DA9ADB}"/>
              </a:ext>
            </a:extLst>
          </p:cNvPr>
          <p:cNvSpPr/>
          <p:nvPr/>
        </p:nvSpPr>
        <p:spPr>
          <a:xfrm>
            <a:off x="10401300" y="4434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 C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05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91C1134C-D99E-4DB3-8DEE-562EFC1A0A6D}"/>
              </a:ext>
            </a:extLst>
          </p:cNvPr>
          <p:cNvSpPr/>
          <p:nvPr/>
        </p:nvSpPr>
        <p:spPr>
          <a:xfrm>
            <a:off x="104013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自製板＋ESP32S3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硬體設計與韌體移植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3572E89E-5205-42EF-BA7D-38259FE951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E507A549-2236-490D-92C9-5B6F7C3E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硬體架構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66189" y="216591"/>
            <a:ext cx="2032687" cy="35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6" name="页脚占位符 25">
            <a:extLst>
              <a:ext uri="{FF2B5EF4-FFF2-40B4-BE49-F238E27FC236}">
                <a16:creationId xmlns:a16="http://schemas.microsoft.com/office/drawing/2014/main" id="{1C61C0AA-5D1E-4197-AEF8-2E253B595F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1" name="blk 6">
            <a:extLst>
              <a:ext uri="{FF2B5EF4-FFF2-40B4-BE49-F238E27FC236}">
                <a16:creationId xmlns:a16="http://schemas.microsoft.com/office/drawing/2014/main" id="{5B47A8AD-A12C-4B22-BFE2-797690EB68E0}"/>
              </a:ext>
            </a:extLst>
          </p:cNvPr>
          <p:cNvSpPr/>
          <p:nvPr/>
        </p:nvSpPr>
        <p:spPr>
          <a:xfrm>
            <a:off x="548640" y="1691640"/>
            <a:ext cx="38862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B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endParaRPr sz="1600" b="0" dirty="0">
              <a:solidFill>
                <a:srgbClr val="111111"/>
              </a:solidFill>
            </a:endParaRPr>
          </a:p>
          <a:p>
            <a:pPr algn="ctr"/>
            <a:endParaRPr sz="1600" b="0" dirty="0">
              <a:solidFill>
                <a:srgbClr val="111111"/>
              </a:solidFill>
            </a:endParaRPr>
          </a:p>
        </p:txBody>
      </p:sp>
      <p:sp>
        <p:nvSpPr>
          <p:cNvPr id="43" name="lbl 7">
            <a:extLst>
              <a:ext uri="{FF2B5EF4-FFF2-40B4-BE49-F238E27FC236}">
                <a16:creationId xmlns:a16="http://schemas.microsoft.com/office/drawing/2014/main" id="{25023EF0-0AEF-484D-AD11-6A1F44926454}"/>
              </a:ext>
            </a:extLst>
          </p:cNvPr>
          <p:cNvSpPr txBox="1"/>
          <p:nvPr/>
        </p:nvSpPr>
        <p:spPr>
          <a:xfrm>
            <a:off x="548640" y="1417320"/>
            <a:ext cx="3931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dirty="0">
                <a:solidFill>
                  <a:srgbClr val="111111"/>
                </a:solidFill>
              </a:rPr>
              <a:t>XIAO nRF52840 Sense </a:t>
            </a:r>
            <a:r>
              <a:rPr sz="1200" b="1" dirty="0" err="1">
                <a:solidFill>
                  <a:srgbClr val="111111"/>
                </a:solidFill>
              </a:rPr>
              <a:t>模組（可插拔更換</a:t>
            </a:r>
            <a:r>
              <a:rPr sz="1200" b="1" dirty="0">
                <a:solidFill>
                  <a:srgbClr val="111111"/>
                </a:solidFill>
              </a:rPr>
              <a:t>）</a:t>
            </a:r>
          </a:p>
        </p:txBody>
      </p:sp>
      <p:sp>
        <p:nvSpPr>
          <p:cNvPr id="44" name="blk 8">
            <a:extLst>
              <a:ext uri="{FF2B5EF4-FFF2-40B4-BE49-F238E27FC236}">
                <a16:creationId xmlns:a16="http://schemas.microsoft.com/office/drawing/2014/main" id="{1821362E-7C67-4390-BB8A-C061582C2756}"/>
              </a:ext>
            </a:extLst>
          </p:cNvPr>
          <p:cNvSpPr/>
          <p:nvPr/>
        </p:nvSpPr>
        <p:spPr>
          <a:xfrm>
            <a:off x="731520" y="1874520"/>
            <a:ext cx="3520440" cy="1051560"/>
          </a:xfrm>
          <a:prstGeom prst="rect">
            <a:avLst/>
          </a:prstGeom>
          <a:solidFill>
            <a:srgbClr val="7FA8E8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600" b="1" dirty="0">
                <a:solidFill>
                  <a:srgbClr val="111111"/>
                </a:solidFill>
              </a:rPr>
              <a:t>nRF52840</a:t>
            </a: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64 MHz Cortex-M4F</a:t>
            </a: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1 MB Flash｜256 KB RAM</a:t>
            </a:r>
          </a:p>
        </p:txBody>
      </p:sp>
      <p:sp>
        <p:nvSpPr>
          <p:cNvPr id="46" name="blk 9">
            <a:extLst>
              <a:ext uri="{FF2B5EF4-FFF2-40B4-BE49-F238E27FC236}">
                <a16:creationId xmlns:a16="http://schemas.microsoft.com/office/drawing/2014/main" id="{61F6D78D-0A17-4113-AE13-410BF6FDFC03}"/>
              </a:ext>
            </a:extLst>
          </p:cNvPr>
          <p:cNvSpPr/>
          <p:nvPr/>
        </p:nvSpPr>
        <p:spPr>
          <a:xfrm>
            <a:off x="731520" y="3063240"/>
            <a:ext cx="1691640" cy="73152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 err="1">
                <a:solidFill>
                  <a:srgbClr val="111111"/>
                </a:solidFill>
              </a:rPr>
              <a:t>板載晶片天線</a:t>
            </a:r>
            <a:endParaRPr sz="1400" b="1" dirty="0">
              <a:solidFill>
                <a:srgbClr val="111111"/>
              </a:solidFill>
            </a:endParaRP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ESB 2.4 GHz</a:t>
            </a:r>
          </a:p>
        </p:txBody>
      </p:sp>
      <p:sp>
        <p:nvSpPr>
          <p:cNvPr id="47" name="blk 10">
            <a:extLst>
              <a:ext uri="{FF2B5EF4-FFF2-40B4-BE49-F238E27FC236}">
                <a16:creationId xmlns:a16="http://schemas.microsoft.com/office/drawing/2014/main" id="{CAF5BC6A-11E7-4AC1-BA3F-C5BA0A1FFEBF}"/>
              </a:ext>
            </a:extLst>
          </p:cNvPr>
          <p:cNvSpPr/>
          <p:nvPr/>
        </p:nvSpPr>
        <p:spPr>
          <a:xfrm>
            <a:off x="2560320" y="3063240"/>
            <a:ext cx="1691640" cy="73152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</a:rPr>
              <a:t>LSM6DS3TR-C</a:t>
            </a:r>
          </a:p>
          <a:p>
            <a:pPr algn="ctr"/>
            <a:r>
              <a:rPr sz="1100" b="0" dirty="0" err="1">
                <a:solidFill>
                  <a:srgbClr val="111111"/>
                </a:solidFill>
              </a:rPr>
              <a:t>板載六軸（備援</a:t>
            </a:r>
            <a:r>
              <a:rPr sz="1100" b="0" dirty="0">
                <a:solidFill>
                  <a:srgbClr val="111111"/>
                </a:solidFill>
              </a:rPr>
              <a:t>）</a:t>
            </a:r>
          </a:p>
        </p:txBody>
      </p:sp>
      <p:sp>
        <p:nvSpPr>
          <p:cNvPr id="48" name="blk 11">
            <a:extLst>
              <a:ext uri="{FF2B5EF4-FFF2-40B4-BE49-F238E27FC236}">
                <a16:creationId xmlns:a16="http://schemas.microsoft.com/office/drawing/2014/main" id="{0ED869AB-870E-4741-9D72-6410CE36F776}"/>
              </a:ext>
            </a:extLst>
          </p:cNvPr>
          <p:cNvSpPr/>
          <p:nvPr/>
        </p:nvSpPr>
        <p:spPr>
          <a:xfrm>
            <a:off x="731520" y="3931920"/>
            <a:ext cx="3520440" cy="73152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</a:rPr>
              <a:t>內建充電電路（BQ25101）</a:t>
            </a:r>
          </a:p>
        </p:txBody>
      </p:sp>
      <p:sp>
        <p:nvSpPr>
          <p:cNvPr id="49" name="blk 12">
            <a:extLst>
              <a:ext uri="{FF2B5EF4-FFF2-40B4-BE49-F238E27FC236}">
                <a16:creationId xmlns:a16="http://schemas.microsoft.com/office/drawing/2014/main" id="{11F326D0-544A-481B-9E23-6017365B4D06}"/>
              </a:ext>
            </a:extLst>
          </p:cNvPr>
          <p:cNvSpPr/>
          <p:nvPr/>
        </p:nvSpPr>
        <p:spPr>
          <a:xfrm>
            <a:off x="5257800" y="1417320"/>
            <a:ext cx="2926080" cy="114300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</a:rPr>
              <a:t>GY-91　10DOF</a:t>
            </a:r>
          </a:p>
          <a:p>
            <a:pPr algn="ctr"/>
            <a:r>
              <a:rPr sz="1100" b="0" dirty="0" err="1">
                <a:solidFill>
                  <a:srgbClr val="111111"/>
                </a:solidFill>
              </a:rPr>
              <a:t>三軸加速度計、三軸陀螺儀</a:t>
            </a:r>
            <a:endParaRPr sz="1100" b="0" dirty="0">
              <a:solidFill>
                <a:srgbClr val="111111"/>
              </a:solidFill>
            </a:endParaRPr>
          </a:p>
          <a:p>
            <a:pPr algn="ctr"/>
            <a:r>
              <a:rPr sz="1100" b="0" dirty="0" err="1">
                <a:solidFill>
                  <a:srgbClr val="111111"/>
                </a:solidFill>
              </a:rPr>
              <a:t>三軸磁力計、氣壓計</a:t>
            </a:r>
            <a:endParaRPr sz="1100" b="0" dirty="0">
              <a:solidFill>
                <a:srgbClr val="111111"/>
              </a:solidFill>
            </a:endParaRPr>
          </a:p>
        </p:txBody>
      </p:sp>
      <p:sp>
        <p:nvSpPr>
          <p:cNvPr id="50" name="blk 13">
            <a:extLst>
              <a:ext uri="{FF2B5EF4-FFF2-40B4-BE49-F238E27FC236}">
                <a16:creationId xmlns:a16="http://schemas.microsoft.com/office/drawing/2014/main" id="{8C991625-36BE-4FD8-949C-5820ABDD92F0}"/>
              </a:ext>
            </a:extLst>
          </p:cNvPr>
          <p:cNvSpPr/>
          <p:nvPr/>
        </p:nvSpPr>
        <p:spPr>
          <a:xfrm>
            <a:off x="5257800" y="2697480"/>
            <a:ext cx="2926080" cy="96012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 err="1">
                <a:solidFill>
                  <a:srgbClr val="111111"/>
                </a:solidFill>
              </a:rPr>
              <a:t>光流模組</a:t>
            </a:r>
            <a:endParaRPr sz="1400" b="1" dirty="0">
              <a:solidFill>
                <a:srgbClr val="111111"/>
              </a:solidFill>
            </a:endParaRP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VL53L1X </a:t>
            </a:r>
            <a:r>
              <a:rPr sz="1100" b="0" dirty="0" err="1">
                <a:solidFill>
                  <a:srgbClr val="111111"/>
                </a:solidFill>
              </a:rPr>
              <a:t>雷射測距</a:t>
            </a:r>
            <a:endParaRPr sz="1100" b="0" dirty="0">
              <a:solidFill>
                <a:srgbClr val="111111"/>
              </a:solidFill>
            </a:endParaRP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PMW3901 </a:t>
            </a:r>
            <a:r>
              <a:rPr sz="1100" b="0" dirty="0" err="1">
                <a:solidFill>
                  <a:srgbClr val="111111"/>
                </a:solidFill>
              </a:rPr>
              <a:t>光流</a:t>
            </a:r>
            <a:endParaRPr sz="1100" b="0" dirty="0">
              <a:solidFill>
                <a:srgbClr val="111111"/>
              </a:solidFill>
            </a:endParaRPr>
          </a:p>
        </p:txBody>
      </p:sp>
      <p:sp>
        <p:nvSpPr>
          <p:cNvPr id="51" name="blk 14">
            <a:extLst>
              <a:ext uri="{FF2B5EF4-FFF2-40B4-BE49-F238E27FC236}">
                <a16:creationId xmlns:a16="http://schemas.microsoft.com/office/drawing/2014/main" id="{FD506292-BE78-4DE1-9BED-C9AA168A7914}"/>
              </a:ext>
            </a:extLst>
          </p:cNvPr>
          <p:cNvSpPr/>
          <p:nvPr/>
        </p:nvSpPr>
        <p:spPr>
          <a:xfrm>
            <a:off x="5257800" y="3794760"/>
            <a:ext cx="2926080" cy="96012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 err="1">
                <a:solidFill>
                  <a:srgbClr val="111111"/>
                </a:solidFill>
              </a:rPr>
              <a:t>馬達驅動</a:t>
            </a:r>
            <a:r>
              <a:rPr sz="1400" b="1" dirty="0">
                <a:solidFill>
                  <a:srgbClr val="111111"/>
                </a:solidFill>
              </a:rPr>
              <a:t> × 4</a:t>
            </a:r>
          </a:p>
          <a:p>
            <a:pPr algn="ctr"/>
            <a:r>
              <a:rPr sz="1100" b="0" dirty="0">
                <a:solidFill>
                  <a:srgbClr val="111111"/>
                </a:solidFill>
              </a:rPr>
              <a:t>AO3400A → 720 </a:t>
            </a:r>
            <a:r>
              <a:rPr sz="1100" b="0" dirty="0" err="1">
                <a:solidFill>
                  <a:srgbClr val="111111"/>
                </a:solidFill>
              </a:rPr>
              <a:t>空心杯馬達</a:t>
            </a:r>
            <a:endParaRPr sz="1100" b="0" dirty="0">
              <a:solidFill>
                <a:srgbClr val="111111"/>
              </a:solidFill>
            </a:endParaRPr>
          </a:p>
        </p:txBody>
      </p:sp>
      <p:sp>
        <p:nvSpPr>
          <p:cNvPr id="52" name="blk 15">
            <a:extLst>
              <a:ext uri="{FF2B5EF4-FFF2-40B4-BE49-F238E27FC236}">
                <a16:creationId xmlns:a16="http://schemas.microsoft.com/office/drawing/2014/main" id="{F8DA9AED-45FF-4491-A529-955956F3708A}"/>
              </a:ext>
            </a:extLst>
          </p:cNvPr>
          <p:cNvSpPr/>
          <p:nvPr/>
        </p:nvSpPr>
        <p:spPr>
          <a:xfrm>
            <a:off x="5257800" y="5349240"/>
            <a:ext cx="2926080" cy="77724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</a:rPr>
              <a:t>1S </a:t>
            </a:r>
            <a:r>
              <a:rPr sz="1400" b="1" dirty="0" err="1">
                <a:solidFill>
                  <a:srgbClr val="111111"/>
                </a:solidFill>
              </a:rPr>
              <a:t>鋰電池</a:t>
            </a:r>
            <a:endParaRPr sz="1400" b="1" dirty="0">
              <a:solidFill>
                <a:srgbClr val="111111"/>
              </a:solidFill>
            </a:endParaRPr>
          </a:p>
          <a:p>
            <a:pPr algn="ctr"/>
            <a:r>
              <a:rPr sz="1100" b="0" dirty="0" err="1">
                <a:solidFill>
                  <a:srgbClr val="111111"/>
                </a:solidFill>
              </a:rPr>
              <a:t>由模組內建電路充電</a:t>
            </a:r>
            <a:endParaRPr sz="1100" b="0" dirty="0">
              <a:solidFill>
                <a:srgbClr val="111111"/>
              </a:solidFill>
            </a:endParaRPr>
          </a:p>
        </p:txBody>
      </p:sp>
      <p:sp>
        <p:nvSpPr>
          <p:cNvPr id="53" name="blk 16">
            <a:extLst>
              <a:ext uri="{FF2B5EF4-FFF2-40B4-BE49-F238E27FC236}">
                <a16:creationId xmlns:a16="http://schemas.microsoft.com/office/drawing/2014/main" id="{189530B7-1D02-42E8-9AF2-0D87D505A257}"/>
              </a:ext>
            </a:extLst>
          </p:cNvPr>
          <p:cNvSpPr/>
          <p:nvPr/>
        </p:nvSpPr>
        <p:spPr>
          <a:xfrm>
            <a:off x="548640" y="5349240"/>
            <a:ext cx="2103120" cy="777240"/>
          </a:xfrm>
          <a:prstGeom prst="rect">
            <a:avLst/>
          </a:prstGeom>
          <a:solidFill>
            <a:srgbClr val="9BD3EE"/>
          </a:solidFill>
          <a:ln w="1524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 dirty="0">
                <a:solidFill>
                  <a:srgbClr val="111111"/>
                </a:solidFill>
              </a:rPr>
              <a:t>USB </a:t>
            </a:r>
            <a:r>
              <a:rPr sz="1400" b="1" dirty="0" err="1">
                <a:solidFill>
                  <a:srgbClr val="111111"/>
                </a:solidFill>
              </a:rPr>
              <a:t>介面</a:t>
            </a:r>
            <a:endParaRPr sz="1400" b="1" dirty="0">
              <a:solidFill>
                <a:srgbClr val="111111"/>
              </a:solidFill>
            </a:endParaRPr>
          </a:p>
        </p:txBody>
      </p:sp>
      <p:cxnSp>
        <p:nvCxnSpPr>
          <p:cNvPr id="54" name="cxn 17">
            <a:extLst>
              <a:ext uri="{FF2B5EF4-FFF2-40B4-BE49-F238E27FC236}">
                <a16:creationId xmlns:a16="http://schemas.microsoft.com/office/drawing/2014/main" id="{0FCCDEFB-17E5-4A12-8B31-888FA3D50343}"/>
              </a:ext>
            </a:extLst>
          </p:cNvPr>
          <p:cNvCxnSpPr/>
          <p:nvPr/>
        </p:nvCxnSpPr>
        <p:spPr>
          <a:xfrm>
            <a:off x="4434840" y="2011680"/>
            <a:ext cx="822960" cy="0"/>
          </a:xfrm>
          <a:prstGeom prst="line">
            <a:avLst/>
          </a:prstGeom>
          <a:ln w="16510">
            <a:solidFill>
              <a:srgbClr val="33333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lbl 18">
            <a:extLst>
              <a:ext uri="{FF2B5EF4-FFF2-40B4-BE49-F238E27FC236}">
                <a16:creationId xmlns:a16="http://schemas.microsoft.com/office/drawing/2014/main" id="{B139691F-5361-4957-8ED8-ADABB48808D6}"/>
              </a:ext>
            </a:extLst>
          </p:cNvPr>
          <p:cNvSpPr txBox="1"/>
          <p:nvPr/>
        </p:nvSpPr>
        <p:spPr>
          <a:xfrm>
            <a:off x="4434840" y="1783080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TWIM</a:t>
            </a:r>
          </a:p>
        </p:txBody>
      </p:sp>
      <p:cxnSp>
        <p:nvCxnSpPr>
          <p:cNvPr id="56" name="cxn 19">
            <a:extLst>
              <a:ext uri="{FF2B5EF4-FFF2-40B4-BE49-F238E27FC236}">
                <a16:creationId xmlns:a16="http://schemas.microsoft.com/office/drawing/2014/main" id="{DD3E98E8-439A-4037-95B5-42F2465D52B8}"/>
              </a:ext>
            </a:extLst>
          </p:cNvPr>
          <p:cNvCxnSpPr/>
          <p:nvPr/>
        </p:nvCxnSpPr>
        <p:spPr>
          <a:xfrm>
            <a:off x="4434840" y="3154680"/>
            <a:ext cx="822960" cy="0"/>
          </a:xfrm>
          <a:prstGeom prst="line">
            <a:avLst/>
          </a:prstGeom>
          <a:ln w="16510">
            <a:solidFill>
              <a:srgbClr val="33333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lbl 20">
            <a:extLst>
              <a:ext uri="{FF2B5EF4-FFF2-40B4-BE49-F238E27FC236}">
                <a16:creationId xmlns:a16="http://schemas.microsoft.com/office/drawing/2014/main" id="{64C3C8D6-8348-4359-A15B-A5F8E81B4123}"/>
              </a:ext>
            </a:extLst>
          </p:cNvPr>
          <p:cNvSpPr txBox="1"/>
          <p:nvPr/>
        </p:nvSpPr>
        <p:spPr>
          <a:xfrm>
            <a:off x="4434840" y="2926080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I²C＋SPI</a:t>
            </a:r>
          </a:p>
        </p:txBody>
      </p:sp>
      <p:cxnSp>
        <p:nvCxnSpPr>
          <p:cNvPr id="58" name="cxn 21">
            <a:extLst>
              <a:ext uri="{FF2B5EF4-FFF2-40B4-BE49-F238E27FC236}">
                <a16:creationId xmlns:a16="http://schemas.microsoft.com/office/drawing/2014/main" id="{78C46460-C478-43C4-84BC-3691227FE9E2}"/>
              </a:ext>
            </a:extLst>
          </p:cNvPr>
          <p:cNvCxnSpPr/>
          <p:nvPr/>
        </p:nvCxnSpPr>
        <p:spPr>
          <a:xfrm>
            <a:off x="4434840" y="4251960"/>
            <a:ext cx="822960" cy="0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lbl 22">
            <a:extLst>
              <a:ext uri="{FF2B5EF4-FFF2-40B4-BE49-F238E27FC236}">
                <a16:creationId xmlns:a16="http://schemas.microsoft.com/office/drawing/2014/main" id="{9499DC1D-6D99-4CF0-B12C-3CCE2F519651}"/>
              </a:ext>
            </a:extLst>
          </p:cNvPr>
          <p:cNvSpPr txBox="1"/>
          <p:nvPr/>
        </p:nvSpPr>
        <p:spPr>
          <a:xfrm>
            <a:off x="4434840" y="4023360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PWM×4</a:t>
            </a:r>
          </a:p>
        </p:txBody>
      </p:sp>
      <p:cxnSp>
        <p:nvCxnSpPr>
          <p:cNvPr id="60" name="cxn 23">
            <a:extLst>
              <a:ext uri="{FF2B5EF4-FFF2-40B4-BE49-F238E27FC236}">
                <a16:creationId xmlns:a16="http://schemas.microsoft.com/office/drawing/2014/main" id="{CC43947D-D28B-4964-A91D-D493D99D5D67}"/>
              </a:ext>
            </a:extLst>
          </p:cNvPr>
          <p:cNvCxnSpPr/>
          <p:nvPr/>
        </p:nvCxnSpPr>
        <p:spPr>
          <a:xfrm flipV="1">
            <a:off x="6720840" y="4754880"/>
            <a:ext cx="0" cy="594360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lbl 24">
            <a:extLst>
              <a:ext uri="{FF2B5EF4-FFF2-40B4-BE49-F238E27FC236}">
                <a16:creationId xmlns:a16="http://schemas.microsoft.com/office/drawing/2014/main" id="{40432C3C-AEF7-4465-880E-4109C874B6FC}"/>
              </a:ext>
            </a:extLst>
          </p:cNvPr>
          <p:cNvSpPr txBox="1"/>
          <p:nvPr/>
        </p:nvSpPr>
        <p:spPr>
          <a:xfrm>
            <a:off x="6812280" y="4956048"/>
            <a:ext cx="5486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VBAT</a:t>
            </a:r>
          </a:p>
        </p:txBody>
      </p:sp>
      <p:cxnSp>
        <p:nvCxnSpPr>
          <p:cNvPr id="62" name="cxn 25">
            <a:extLst>
              <a:ext uri="{FF2B5EF4-FFF2-40B4-BE49-F238E27FC236}">
                <a16:creationId xmlns:a16="http://schemas.microsoft.com/office/drawing/2014/main" id="{765CD357-6DEA-44F1-8A60-FF4C0C1EC854}"/>
              </a:ext>
            </a:extLst>
          </p:cNvPr>
          <p:cNvCxnSpPr/>
          <p:nvPr/>
        </p:nvCxnSpPr>
        <p:spPr>
          <a:xfrm flipH="1">
            <a:off x="3931920" y="5733288"/>
            <a:ext cx="1325880" cy="0"/>
          </a:xfrm>
          <a:prstGeom prst="line">
            <a:avLst/>
          </a:prstGeom>
          <a:ln w="1651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xn 26">
            <a:extLst>
              <a:ext uri="{FF2B5EF4-FFF2-40B4-BE49-F238E27FC236}">
                <a16:creationId xmlns:a16="http://schemas.microsoft.com/office/drawing/2014/main" id="{136BAB7C-4F59-437F-8A0D-258778FD3EF8}"/>
              </a:ext>
            </a:extLst>
          </p:cNvPr>
          <p:cNvCxnSpPr/>
          <p:nvPr/>
        </p:nvCxnSpPr>
        <p:spPr>
          <a:xfrm flipV="1">
            <a:off x="3931920" y="4846320"/>
            <a:ext cx="0" cy="886968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lbl 27">
            <a:extLst>
              <a:ext uri="{FF2B5EF4-FFF2-40B4-BE49-F238E27FC236}">
                <a16:creationId xmlns:a16="http://schemas.microsoft.com/office/drawing/2014/main" id="{711B1A90-7C96-41C2-A362-C86DF5B42066}"/>
              </a:ext>
            </a:extLst>
          </p:cNvPr>
          <p:cNvSpPr txBox="1"/>
          <p:nvPr/>
        </p:nvSpPr>
        <p:spPr>
          <a:xfrm>
            <a:off x="4023360" y="5440680"/>
            <a:ext cx="10972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BAT+/BAT−</a:t>
            </a:r>
          </a:p>
        </p:txBody>
      </p:sp>
      <p:cxnSp>
        <p:nvCxnSpPr>
          <p:cNvPr id="65" name="cxn 28">
            <a:extLst>
              <a:ext uri="{FF2B5EF4-FFF2-40B4-BE49-F238E27FC236}">
                <a16:creationId xmlns:a16="http://schemas.microsoft.com/office/drawing/2014/main" id="{FB808E7B-BAFE-40CF-9EAB-11F3A0C31E94}"/>
              </a:ext>
            </a:extLst>
          </p:cNvPr>
          <p:cNvCxnSpPr/>
          <p:nvPr/>
        </p:nvCxnSpPr>
        <p:spPr>
          <a:xfrm>
            <a:off x="1600200" y="4846320"/>
            <a:ext cx="0" cy="502920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bl 29">
            <a:extLst>
              <a:ext uri="{FF2B5EF4-FFF2-40B4-BE49-F238E27FC236}">
                <a16:creationId xmlns:a16="http://schemas.microsoft.com/office/drawing/2014/main" id="{06B061F9-CAA5-4D73-9B73-CA196FE387F3}"/>
              </a:ext>
            </a:extLst>
          </p:cNvPr>
          <p:cNvSpPr txBox="1"/>
          <p:nvPr/>
        </p:nvSpPr>
        <p:spPr>
          <a:xfrm>
            <a:off x="1691640" y="4983480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dirty="0">
                <a:solidFill>
                  <a:srgbClr val="111111"/>
                </a:solidFill>
              </a:rPr>
              <a:t>CDC / 5V</a:t>
            </a:r>
          </a:p>
        </p:txBody>
      </p:sp>
      <p:sp>
        <p:nvSpPr>
          <p:cNvPr id="67" name="card 30">
            <a:extLst>
              <a:ext uri="{FF2B5EF4-FFF2-40B4-BE49-F238E27FC236}">
                <a16:creationId xmlns:a16="http://schemas.microsoft.com/office/drawing/2014/main" id="{40EDB3F6-F9D2-4549-B0BA-C78C09F312E8}"/>
              </a:ext>
            </a:extLst>
          </p:cNvPr>
          <p:cNvSpPr/>
          <p:nvPr/>
        </p:nvSpPr>
        <p:spPr>
          <a:xfrm>
            <a:off x="8606069" y="189713"/>
            <a:ext cx="2854411" cy="19134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8" name="card 31">
            <a:extLst>
              <a:ext uri="{FF2B5EF4-FFF2-40B4-BE49-F238E27FC236}">
                <a16:creationId xmlns:a16="http://schemas.microsoft.com/office/drawing/2014/main" id="{73AF9FED-84BE-4D25-88DB-04A33C832EA8}"/>
              </a:ext>
            </a:extLst>
          </p:cNvPr>
          <p:cNvSpPr/>
          <p:nvPr/>
        </p:nvSpPr>
        <p:spPr>
          <a:xfrm>
            <a:off x="8606069" y="2279746"/>
            <a:ext cx="2854411" cy="1955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9" name="Picture 31" descr="image.png">
            <a:extLst>
              <a:ext uri="{FF2B5EF4-FFF2-40B4-BE49-F238E27FC236}">
                <a16:creationId xmlns:a16="http://schemas.microsoft.com/office/drawing/2014/main" id="{C085497E-93C9-4CED-950D-3DA902CE5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989" y="218486"/>
            <a:ext cx="1902941" cy="1423188"/>
          </a:xfrm>
          <a:prstGeom prst="rect">
            <a:avLst/>
          </a:prstGeom>
        </p:spPr>
      </p:pic>
      <p:sp>
        <p:nvSpPr>
          <p:cNvPr id="70" name="head 33">
            <a:extLst>
              <a:ext uri="{FF2B5EF4-FFF2-40B4-BE49-F238E27FC236}">
                <a16:creationId xmlns:a16="http://schemas.microsoft.com/office/drawing/2014/main" id="{DE8538F0-44E5-42FF-8C6F-63C558D423F1}"/>
              </a:ext>
            </a:extLst>
          </p:cNvPr>
          <p:cNvSpPr txBox="1"/>
          <p:nvPr/>
        </p:nvSpPr>
        <p:spPr>
          <a:xfrm>
            <a:off x="8606069" y="1718896"/>
            <a:ext cx="285441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dirty="0">
                <a:solidFill>
                  <a:srgbClr val="0A4D6E"/>
                </a:solidFill>
              </a:rPr>
              <a:t>XIAO nRF52840 Sense</a:t>
            </a:r>
          </a:p>
        </p:txBody>
      </p:sp>
      <p:pic>
        <p:nvPicPr>
          <p:cNvPr id="71" name="Picture 33" descr="image.jpeg">
            <a:extLst>
              <a:ext uri="{FF2B5EF4-FFF2-40B4-BE49-F238E27FC236}">
                <a16:creationId xmlns:a16="http://schemas.microsoft.com/office/drawing/2014/main" id="{B1DBB1F5-B731-4368-A314-014167B7F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429" y="2302722"/>
            <a:ext cx="1729946" cy="1377741"/>
          </a:xfrm>
          <a:prstGeom prst="rect">
            <a:avLst/>
          </a:prstGeom>
        </p:spPr>
      </p:pic>
      <p:sp>
        <p:nvSpPr>
          <p:cNvPr id="72" name="head 35">
            <a:extLst>
              <a:ext uri="{FF2B5EF4-FFF2-40B4-BE49-F238E27FC236}">
                <a16:creationId xmlns:a16="http://schemas.microsoft.com/office/drawing/2014/main" id="{0A6162BF-70D3-4F77-839A-63A7487A768A}"/>
              </a:ext>
            </a:extLst>
          </p:cNvPr>
          <p:cNvSpPr txBox="1"/>
          <p:nvPr/>
        </p:nvSpPr>
        <p:spPr>
          <a:xfrm>
            <a:off x="8606069" y="3851449"/>
            <a:ext cx="285441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dirty="0">
                <a:solidFill>
                  <a:srgbClr val="0A4D6E"/>
                </a:solidFill>
              </a:rPr>
              <a:t>GY-91</a:t>
            </a:r>
          </a:p>
        </p:txBody>
      </p:sp>
      <p:sp>
        <p:nvSpPr>
          <p:cNvPr id="73" name="card 31">
            <a:extLst>
              <a:ext uri="{FF2B5EF4-FFF2-40B4-BE49-F238E27FC236}">
                <a16:creationId xmlns:a16="http://schemas.microsoft.com/office/drawing/2014/main" id="{01587C4D-B90A-4155-8A5C-0A229E297568}"/>
              </a:ext>
            </a:extLst>
          </p:cNvPr>
          <p:cNvSpPr/>
          <p:nvPr/>
        </p:nvSpPr>
        <p:spPr>
          <a:xfrm>
            <a:off x="8638515" y="4406660"/>
            <a:ext cx="2854411" cy="1955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4" name="head 35">
            <a:extLst>
              <a:ext uri="{FF2B5EF4-FFF2-40B4-BE49-F238E27FC236}">
                <a16:creationId xmlns:a16="http://schemas.microsoft.com/office/drawing/2014/main" id="{52E70398-7BBC-4FD9-99B8-C68476E56B34}"/>
              </a:ext>
            </a:extLst>
          </p:cNvPr>
          <p:cNvSpPr txBox="1"/>
          <p:nvPr/>
        </p:nvSpPr>
        <p:spPr>
          <a:xfrm>
            <a:off x="8638515" y="5978363"/>
            <a:ext cx="285441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kumimoji="0" lang="en-US" altLang="zh-TW" sz="1300" b="1" i="0" u="none" strike="noStrike" kern="1200" cap="none" spc="0" normalizeH="0" baseline="0" noProof="0" dirty="0">
                <a:ln>
                  <a:noFill/>
                </a:ln>
                <a:solidFill>
                  <a:srgbClr val="0A4D6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t>PMW3901</a:t>
            </a:r>
            <a:endParaRPr lang="en-US" sz="1300" b="1" dirty="0">
              <a:solidFill>
                <a:srgbClr val="0A4D6E"/>
              </a:solidFill>
            </a:endParaRPr>
          </a:p>
        </p:txBody>
      </p:sp>
      <p:sp>
        <p:nvSpPr>
          <p:cNvPr id="75" name="灯片编号占位符 36">
            <a:extLst>
              <a:ext uri="{FF2B5EF4-FFF2-40B4-BE49-F238E27FC236}">
                <a16:creationId xmlns:a16="http://schemas.microsoft.com/office/drawing/2014/main" id="{357207EA-7CC9-4E6E-981C-3EFE8FD5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264" y="6354721"/>
            <a:ext cx="547200" cy="320400"/>
          </a:xfrm>
        </p:spPr>
        <p:txBody>
          <a:bodyPr/>
          <a:lstStyle/>
          <a:p>
            <a:fld id="{F221DA3A-6EA9-486D-B4E3-78B252162388}" type="slidenum">
              <a:rPr lang="en-US" altLang="zh-TW" smtClean="0"/>
              <a:pPr/>
              <a:t>7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7B76B0-307C-4793-A6FD-35C6FA57E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461" y="4657280"/>
            <a:ext cx="1958186" cy="116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6" name="页脚占位符 25">
            <a:extLst>
              <a:ext uri="{FF2B5EF4-FFF2-40B4-BE49-F238E27FC236}">
                <a16:creationId xmlns:a16="http://schemas.microsoft.com/office/drawing/2014/main" id="{1C61C0AA-5D1E-4197-AEF8-2E253B595F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75" name="灯片编号占位符 36">
            <a:extLst>
              <a:ext uri="{FF2B5EF4-FFF2-40B4-BE49-F238E27FC236}">
                <a16:creationId xmlns:a16="http://schemas.microsoft.com/office/drawing/2014/main" id="{357207EA-7CC9-4E6E-981C-3EFE8FD5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264" y="6354721"/>
            <a:ext cx="547200" cy="320400"/>
          </a:xfrm>
        </p:spPr>
        <p:txBody>
          <a:bodyPr/>
          <a:lstStyle/>
          <a:p>
            <a:fld id="{F221DA3A-6EA9-486D-B4E3-78B252162388}" type="slidenum">
              <a:rPr lang="en-US" altLang="zh-TW" smtClean="0"/>
              <a:pPr/>
              <a:t>8</a:t>
            </a:fld>
            <a:endParaRPr lang="en-US" dirty="0"/>
          </a:p>
        </p:txBody>
      </p:sp>
      <p:sp>
        <p:nvSpPr>
          <p:cNvPr id="40" name="Text 0">
            <a:extLst>
              <a:ext uri="{FF2B5EF4-FFF2-40B4-BE49-F238E27FC236}">
                <a16:creationId xmlns:a16="http://schemas.microsoft.com/office/drawing/2014/main" id="{C8F05A01-FA48-497B-8096-13786EA058F6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飛控電路板設計</a:t>
            </a:r>
            <a:endParaRPr lang="en-US" sz="3000" dirty="0"/>
          </a:p>
        </p:txBody>
      </p:sp>
      <p:sp>
        <p:nvSpPr>
          <p:cNvPr id="42" name="card 6">
            <a:extLst>
              <a:ext uri="{FF2B5EF4-FFF2-40B4-BE49-F238E27FC236}">
                <a16:creationId xmlns:a16="http://schemas.microsoft.com/office/drawing/2014/main" id="{165E649D-8502-4080-8AE2-37B255548BD3}"/>
              </a:ext>
            </a:extLst>
          </p:cNvPr>
          <p:cNvSpPr/>
          <p:nvPr/>
        </p:nvSpPr>
        <p:spPr>
          <a:xfrm>
            <a:off x="548640" y="1240221"/>
            <a:ext cx="7592298" cy="488625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45" name="Picture 6" descr="image.png">
            <a:extLst>
              <a:ext uri="{FF2B5EF4-FFF2-40B4-BE49-F238E27FC236}">
                <a16:creationId xmlns:a16="http://schemas.microsoft.com/office/drawing/2014/main" id="{1684C57D-4458-4D4A-B3B6-75866B21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1554480"/>
            <a:ext cx="3563850" cy="3931920"/>
          </a:xfrm>
          <a:prstGeom prst="rect">
            <a:avLst/>
          </a:prstGeom>
        </p:spPr>
      </p:pic>
      <p:pic>
        <p:nvPicPr>
          <p:cNvPr id="76" name="Picture 7" descr="image.png">
            <a:extLst>
              <a:ext uri="{FF2B5EF4-FFF2-40B4-BE49-F238E27FC236}">
                <a16:creationId xmlns:a16="http://schemas.microsoft.com/office/drawing/2014/main" id="{204DB05A-A080-4706-A698-6938AE14A70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9670" y="1546597"/>
            <a:ext cx="3571248" cy="3931920"/>
          </a:xfrm>
          <a:prstGeom prst="rect">
            <a:avLst/>
          </a:prstGeom>
        </p:spPr>
      </p:pic>
      <p:sp>
        <p:nvSpPr>
          <p:cNvPr id="77" name="body 9">
            <a:extLst>
              <a:ext uri="{FF2B5EF4-FFF2-40B4-BE49-F238E27FC236}">
                <a16:creationId xmlns:a16="http://schemas.microsoft.com/office/drawing/2014/main" id="{C4FD3524-F593-44AB-A747-6DDA0A060847}"/>
              </a:ext>
            </a:extLst>
          </p:cNvPr>
          <p:cNvSpPr txBox="1"/>
          <p:nvPr/>
        </p:nvSpPr>
        <p:spPr>
          <a:xfrm>
            <a:off x="777240" y="5486400"/>
            <a:ext cx="3563850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 dirty="0" err="1">
                <a:solidFill>
                  <a:srgbClr val="6B7A8C"/>
                </a:solidFill>
              </a:rPr>
              <a:t>正面</a:t>
            </a:r>
            <a:endParaRPr sz="1300" b="0" dirty="0">
              <a:solidFill>
                <a:srgbClr val="6B7A8C"/>
              </a:solidFill>
            </a:endParaRPr>
          </a:p>
        </p:txBody>
      </p:sp>
      <p:sp>
        <p:nvSpPr>
          <p:cNvPr id="78" name="body 10">
            <a:extLst>
              <a:ext uri="{FF2B5EF4-FFF2-40B4-BE49-F238E27FC236}">
                <a16:creationId xmlns:a16="http://schemas.microsoft.com/office/drawing/2014/main" id="{2AFDD0F4-8FAB-492C-891C-3CB4945C7218}"/>
              </a:ext>
            </a:extLst>
          </p:cNvPr>
          <p:cNvSpPr txBox="1"/>
          <p:nvPr/>
        </p:nvSpPr>
        <p:spPr>
          <a:xfrm>
            <a:off x="4569690" y="5486400"/>
            <a:ext cx="3571248" cy="3200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 dirty="0">
                <a:solidFill>
                  <a:srgbClr val="6B7A8C"/>
                </a:solidFill>
              </a:rPr>
              <a:t>背面（M1～M4 </a:t>
            </a:r>
            <a:r>
              <a:rPr sz="1300" b="0" dirty="0" err="1">
                <a:solidFill>
                  <a:srgbClr val="6B7A8C"/>
                </a:solidFill>
              </a:rPr>
              <a:t>馬達插座</a:t>
            </a:r>
            <a:r>
              <a:rPr sz="1300" b="0" dirty="0">
                <a:solidFill>
                  <a:srgbClr val="6B7A8C"/>
                </a:solidFill>
              </a:rPr>
              <a:t>）</a:t>
            </a:r>
          </a:p>
        </p:txBody>
      </p:sp>
      <p:sp>
        <p:nvSpPr>
          <p:cNvPr id="79" name="circ 11">
            <a:extLst>
              <a:ext uri="{FF2B5EF4-FFF2-40B4-BE49-F238E27FC236}">
                <a16:creationId xmlns:a16="http://schemas.microsoft.com/office/drawing/2014/main" id="{997455D8-B77E-41C3-BF68-82165B63523C}"/>
              </a:ext>
            </a:extLst>
          </p:cNvPr>
          <p:cNvSpPr/>
          <p:nvPr/>
        </p:nvSpPr>
        <p:spPr>
          <a:xfrm>
            <a:off x="8183880" y="2000014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0" name="circt 12">
            <a:extLst>
              <a:ext uri="{FF2B5EF4-FFF2-40B4-BE49-F238E27FC236}">
                <a16:creationId xmlns:a16="http://schemas.microsoft.com/office/drawing/2014/main" id="{8F3BFFAF-028B-4177-BD88-F534193B586C}"/>
              </a:ext>
            </a:extLst>
          </p:cNvPr>
          <p:cNvSpPr/>
          <p:nvPr/>
        </p:nvSpPr>
        <p:spPr>
          <a:xfrm>
            <a:off x="8183880" y="20000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</a:p>
        </p:txBody>
      </p:sp>
      <p:sp>
        <p:nvSpPr>
          <p:cNvPr id="81" name="head 13">
            <a:extLst>
              <a:ext uri="{FF2B5EF4-FFF2-40B4-BE49-F238E27FC236}">
                <a16:creationId xmlns:a16="http://schemas.microsoft.com/office/drawing/2014/main" id="{2DEB04CC-EE30-4DC5-BB83-371A9C723D93}"/>
              </a:ext>
            </a:extLst>
          </p:cNvPr>
          <p:cNvSpPr txBox="1"/>
          <p:nvPr/>
        </p:nvSpPr>
        <p:spPr>
          <a:xfrm>
            <a:off x="8778240" y="1981726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 err="1">
                <a:solidFill>
                  <a:srgbClr val="0A4D6E"/>
                </a:solidFill>
              </a:rPr>
              <a:t>模組可拆換</a:t>
            </a:r>
            <a:endParaRPr sz="1600" b="1" dirty="0">
              <a:solidFill>
                <a:srgbClr val="0A4D6E"/>
              </a:solidFill>
            </a:endParaRPr>
          </a:p>
        </p:txBody>
      </p:sp>
      <p:sp>
        <p:nvSpPr>
          <p:cNvPr id="82" name="body 14">
            <a:extLst>
              <a:ext uri="{FF2B5EF4-FFF2-40B4-BE49-F238E27FC236}">
                <a16:creationId xmlns:a16="http://schemas.microsoft.com/office/drawing/2014/main" id="{84CBA7D8-AF6F-47B1-853D-7E3334AEB1D8}"/>
              </a:ext>
            </a:extLst>
          </p:cNvPr>
          <p:cNvSpPr txBox="1"/>
          <p:nvPr/>
        </p:nvSpPr>
        <p:spPr>
          <a:xfrm>
            <a:off x="8778240" y="2393206"/>
            <a:ext cx="2834640" cy="7315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主控與</a:t>
            </a:r>
            <a:r>
              <a:rPr sz="1300" b="0" dirty="0">
                <a:solidFill>
                  <a:srgbClr val="6B7A8C"/>
                </a:solidFill>
              </a:rPr>
              <a:t> GY-91 </a:t>
            </a:r>
            <a:r>
              <a:rPr sz="1300" b="0" dirty="0" err="1">
                <a:solidFill>
                  <a:srgbClr val="6B7A8C"/>
                </a:solidFill>
              </a:rPr>
              <a:t>以排母連接，可單獨拆下檢查或更換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83" name="circ 15">
            <a:extLst>
              <a:ext uri="{FF2B5EF4-FFF2-40B4-BE49-F238E27FC236}">
                <a16:creationId xmlns:a16="http://schemas.microsoft.com/office/drawing/2014/main" id="{7BC89AAF-6798-414F-9A34-403077937BA6}"/>
              </a:ext>
            </a:extLst>
          </p:cNvPr>
          <p:cNvSpPr/>
          <p:nvPr/>
        </p:nvSpPr>
        <p:spPr>
          <a:xfrm>
            <a:off x="8183880" y="3188734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4" name="circt 16">
            <a:extLst>
              <a:ext uri="{FF2B5EF4-FFF2-40B4-BE49-F238E27FC236}">
                <a16:creationId xmlns:a16="http://schemas.microsoft.com/office/drawing/2014/main" id="{60614BFD-99DC-4173-A6E3-FC91B9723637}"/>
              </a:ext>
            </a:extLst>
          </p:cNvPr>
          <p:cNvSpPr/>
          <p:nvPr/>
        </p:nvSpPr>
        <p:spPr>
          <a:xfrm>
            <a:off x="8183880" y="318873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</a:p>
        </p:txBody>
      </p:sp>
      <p:sp>
        <p:nvSpPr>
          <p:cNvPr id="85" name="head 17">
            <a:extLst>
              <a:ext uri="{FF2B5EF4-FFF2-40B4-BE49-F238E27FC236}">
                <a16:creationId xmlns:a16="http://schemas.microsoft.com/office/drawing/2014/main" id="{8046E6F1-B618-44E3-BCDF-C72E35EBDD3C}"/>
              </a:ext>
            </a:extLst>
          </p:cNvPr>
          <p:cNvSpPr txBox="1"/>
          <p:nvPr/>
        </p:nvSpPr>
        <p:spPr>
          <a:xfrm>
            <a:off x="8778240" y="3170446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 err="1">
                <a:solidFill>
                  <a:srgbClr val="0A4D6E"/>
                </a:solidFill>
              </a:rPr>
              <a:t>電路板即機身</a:t>
            </a:r>
            <a:endParaRPr sz="1600" b="1" dirty="0">
              <a:solidFill>
                <a:srgbClr val="0A4D6E"/>
              </a:solidFill>
            </a:endParaRPr>
          </a:p>
        </p:txBody>
      </p:sp>
      <p:sp>
        <p:nvSpPr>
          <p:cNvPr id="86" name="body 18">
            <a:extLst>
              <a:ext uri="{FF2B5EF4-FFF2-40B4-BE49-F238E27FC236}">
                <a16:creationId xmlns:a16="http://schemas.microsoft.com/office/drawing/2014/main" id="{A7A6C7D5-6938-4612-B3A0-AE5DDFB32FAE}"/>
              </a:ext>
            </a:extLst>
          </p:cNvPr>
          <p:cNvSpPr txBox="1"/>
          <p:nvPr/>
        </p:nvSpPr>
        <p:spPr>
          <a:xfrm>
            <a:off x="8778240" y="3581926"/>
            <a:ext cx="2834640" cy="7315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雙層</a:t>
            </a:r>
            <a:r>
              <a:rPr sz="1300" b="0" dirty="0">
                <a:solidFill>
                  <a:srgbClr val="6B7A8C"/>
                </a:solidFill>
              </a:rPr>
              <a:t> PCB </a:t>
            </a:r>
            <a:r>
              <a:rPr sz="1300" b="0" dirty="0" err="1">
                <a:solidFill>
                  <a:srgbClr val="6B7A8C"/>
                </a:solidFill>
              </a:rPr>
              <a:t>同時作為機身與機臂，末端直接作為馬達座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87" name="circ 19">
            <a:extLst>
              <a:ext uri="{FF2B5EF4-FFF2-40B4-BE49-F238E27FC236}">
                <a16:creationId xmlns:a16="http://schemas.microsoft.com/office/drawing/2014/main" id="{736393E7-823A-4D53-A0CE-94FDD0D9DB64}"/>
              </a:ext>
            </a:extLst>
          </p:cNvPr>
          <p:cNvSpPr/>
          <p:nvPr/>
        </p:nvSpPr>
        <p:spPr>
          <a:xfrm>
            <a:off x="8183880" y="4377454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88" name="circt 20">
            <a:extLst>
              <a:ext uri="{FF2B5EF4-FFF2-40B4-BE49-F238E27FC236}">
                <a16:creationId xmlns:a16="http://schemas.microsoft.com/office/drawing/2014/main" id="{2F2C5A4F-1A19-4EBF-923D-662523D72F8A}"/>
              </a:ext>
            </a:extLst>
          </p:cNvPr>
          <p:cNvSpPr/>
          <p:nvPr/>
        </p:nvSpPr>
        <p:spPr>
          <a:xfrm>
            <a:off x="8183880" y="43774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</a:p>
        </p:txBody>
      </p:sp>
      <p:sp>
        <p:nvSpPr>
          <p:cNvPr id="89" name="head 21">
            <a:extLst>
              <a:ext uri="{FF2B5EF4-FFF2-40B4-BE49-F238E27FC236}">
                <a16:creationId xmlns:a16="http://schemas.microsoft.com/office/drawing/2014/main" id="{6E5B2FFC-10EF-494D-AB46-7490F9435D21}"/>
              </a:ext>
            </a:extLst>
          </p:cNvPr>
          <p:cNvSpPr txBox="1"/>
          <p:nvPr/>
        </p:nvSpPr>
        <p:spPr>
          <a:xfrm>
            <a:off x="8778240" y="4359166"/>
            <a:ext cx="28346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 err="1">
                <a:solidFill>
                  <a:srgbClr val="0A4D6E"/>
                </a:solidFill>
              </a:rPr>
              <a:t>利用模組下方空間</a:t>
            </a:r>
            <a:endParaRPr sz="1600" b="1" dirty="0">
              <a:solidFill>
                <a:srgbClr val="0A4D6E"/>
              </a:solidFill>
            </a:endParaRPr>
          </a:p>
        </p:txBody>
      </p:sp>
      <p:sp>
        <p:nvSpPr>
          <p:cNvPr id="90" name="body 22">
            <a:extLst>
              <a:ext uri="{FF2B5EF4-FFF2-40B4-BE49-F238E27FC236}">
                <a16:creationId xmlns:a16="http://schemas.microsoft.com/office/drawing/2014/main" id="{09E2A247-B79A-4140-8237-81CDFD25597D}"/>
              </a:ext>
            </a:extLst>
          </p:cNvPr>
          <p:cNvSpPr txBox="1"/>
          <p:nvPr/>
        </p:nvSpPr>
        <p:spPr>
          <a:xfrm>
            <a:off x="8778240" y="4770646"/>
            <a:ext cx="2834640" cy="7315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被動元件配置於</a:t>
            </a:r>
            <a:r>
              <a:rPr sz="1300" b="0" dirty="0">
                <a:solidFill>
                  <a:srgbClr val="6B7A8C"/>
                </a:solidFill>
              </a:rPr>
              <a:t> GY-91 </a:t>
            </a:r>
            <a:r>
              <a:rPr sz="1300" b="0" dirty="0" err="1">
                <a:solidFill>
                  <a:srgbClr val="6B7A8C"/>
                </a:solidFill>
              </a:rPr>
              <a:t>下方的空隙，主控與感測器對稱擺放以平衡重心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92" name="circt 24">
            <a:extLst>
              <a:ext uri="{FF2B5EF4-FFF2-40B4-BE49-F238E27FC236}">
                <a16:creationId xmlns:a16="http://schemas.microsoft.com/office/drawing/2014/main" id="{012AF119-41B5-42E4-9C44-FE0B4EA7A00E}"/>
              </a:ext>
            </a:extLst>
          </p:cNvPr>
          <p:cNvSpPr/>
          <p:nvPr/>
        </p:nvSpPr>
        <p:spPr>
          <a:xfrm>
            <a:off x="818388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8018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35" name="页脚占位符 34">
            <a:extLst>
              <a:ext uri="{FF2B5EF4-FFF2-40B4-BE49-F238E27FC236}">
                <a16:creationId xmlns:a16="http://schemas.microsoft.com/office/drawing/2014/main" id="{5739E2E0-9CB2-428A-88CC-B8EE988C0B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7" name="灯片编号占位符 36">
            <a:extLst>
              <a:ext uri="{FF2B5EF4-FFF2-40B4-BE49-F238E27FC236}">
                <a16:creationId xmlns:a16="http://schemas.microsoft.com/office/drawing/2014/main" id="{F06CDA85-94E6-42E1-B130-004ACFC9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9</a:t>
            </a:fld>
            <a:endParaRPr lang="en-US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1F9D7C67-C8BF-4852-8CE0-10C05BE8DA35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 err="1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馬達驅動電路</a:t>
            </a:r>
            <a:endParaRPr lang="zh-TW" altLang="zh-TW" sz="3200" dirty="0">
              <a:effectLst/>
            </a:endParaRPr>
          </a:p>
        </p:txBody>
      </p:sp>
      <p:sp>
        <p:nvSpPr>
          <p:cNvPr id="28" name="card 6">
            <a:extLst>
              <a:ext uri="{FF2B5EF4-FFF2-40B4-BE49-F238E27FC236}">
                <a16:creationId xmlns:a16="http://schemas.microsoft.com/office/drawing/2014/main" id="{570FE509-B312-48E3-B979-E7FB04F74389}"/>
              </a:ext>
            </a:extLst>
          </p:cNvPr>
          <p:cNvSpPr/>
          <p:nvPr/>
        </p:nvSpPr>
        <p:spPr>
          <a:xfrm>
            <a:off x="548640" y="1325880"/>
            <a:ext cx="38404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9" name="Picture 6" descr="image.png">
            <a:extLst>
              <a:ext uri="{FF2B5EF4-FFF2-40B4-BE49-F238E27FC236}">
                <a16:creationId xmlns:a16="http://schemas.microsoft.com/office/drawing/2014/main" id="{A167CF70-C44D-4B49-9E36-352964A71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08760"/>
            <a:ext cx="2946504" cy="4434840"/>
          </a:xfrm>
          <a:prstGeom prst="rect">
            <a:avLst/>
          </a:prstGeom>
        </p:spPr>
      </p:pic>
      <p:sp>
        <p:nvSpPr>
          <p:cNvPr id="30" name="pill 8">
            <a:extLst>
              <a:ext uri="{FF2B5EF4-FFF2-40B4-BE49-F238E27FC236}">
                <a16:creationId xmlns:a16="http://schemas.microsoft.com/office/drawing/2014/main" id="{BB7391FD-0079-4198-AD29-F2C1C4C362EC}"/>
              </a:ext>
            </a:extLst>
          </p:cNvPr>
          <p:cNvSpPr/>
          <p:nvPr/>
        </p:nvSpPr>
        <p:spPr>
          <a:xfrm>
            <a:off x="4709160" y="1371600"/>
            <a:ext cx="2011680" cy="54864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Q4  AO3400A</a:t>
            </a:r>
          </a:p>
        </p:txBody>
      </p:sp>
      <p:sp>
        <p:nvSpPr>
          <p:cNvPr id="31" name="body 9">
            <a:extLst>
              <a:ext uri="{FF2B5EF4-FFF2-40B4-BE49-F238E27FC236}">
                <a16:creationId xmlns:a16="http://schemas.microsoft.com/office/drawing/2014/main" id="{4D87C3C4-C455-4953-A9A5-C27E3DAA33CA}"/>
              </a:ext>
            </a:extLst>
          </p:cNvPr>
          <p:cNvSpPr txBox="1"/>
          <p:nvPr/>
        </p:nvSpPr>
        <p:spPr>
          <a:xfrm>
            <a:off x="6903720" y="1353312"/>
            <a:ext cx="470916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dirty="0">
                <a:solidFill>
                  <a:srgbClr val="6B7A8C"/>
                </a:solidFill>
              </a:rPr>
              <a:t>N </a:t>
            </a:r>
            <a:r>
              <a:rPr sz="1300" b="0" dirty="0" err="1">
                <a:solidFill>
                  <a:srgbClr val="6B7A8C"/>
                </a:solidFill>
              </a:rPr>
              <a:t>通道</a:t>
            </a:r>
            <a:r>
              <a:rPr sz="1300" b="0" dirty="0">
                <a:solidFill>
                  <a:srgbClr val="6B7A8C"/>
                </a:solidFill>
              </a:rPr>
              <a:t> </a:t>
            </a:r>
            <a:r>
              <a:rPr sz="1300" b="0" dirty="0" err="1">
                <a:solidFill>
                  <a:srgbClr val="6B7A8C"/>
                </a:solidFill>
              </a:rPr>
              <a:t>MOSFET，作為馬達的低側開關，由</a:t>
            </a:r>
            <a:r>
              <a:rPr sz="1300" b="0" dirty="0">
                <a:solidFill>
                  <a:srgbClr val="6B7A8C"/>
                </a:solidFill>
              </a:rPr>
              <a:t> PWM </a:t>
            </a:r>
            <a:r>
              <a:rPr sz="1300" b="0" dirty="0" err="1">
                <a:solidFill>
                  <a:srgbClr val="6B7A8C"/>
                </a:solidFill>
              </a:rPr>
              <a:t>控制導通時間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32" name="pill 10">
            <a:extLst>
              <a:ext uri="{FF2B5EF4-FFF2-40B4-BE49-F238E27FC236}">
                <a16:creationId xmlns:a16="http://schemas.microsoft.com/office/drawing/2014/main" id="{094A053B-9F8E-4BC4-AB60-1F6E2B95BDF8}"/>
              </a:ext>
            </a:extLst>
          </p:cNvPr>
          <p:cNvSpPr/>
          <p:nvPr/>
        </p:nvSpPr>
        <p:spPr>
          <a:xfrm>
            <a:off x="4709160" y="2176272"/>
            <a:ext cx="2011680" cy="54864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R12  100 Ω</a:t>
            </a:r>
          </a:p>
        </p:txBody>
      </p:sp>
      <p:sp>
        <p:nvSpPr>
          <p:cNvPr id="33" name="body 11">
            <a:extLst>
              <a:ext uri="{FF2B5EF4-FFF2-40B4-BE49-F238E27FC236}">
                <a16:creationId xmlns:a16="http://schemas.microsoft.com/office/drawing/2014/main" id="{68763381-F8CB-432C-A9A0-30A922A97906}"/>
              </a:ext>
            </a:extLst>
          </p:cNvPr>
          <p:cNvSpPr txBox="1"/>
          <p:nvPr/>
        </p:nvSpPr>
        <p:spPr>
          <a:xfrm>
            <a:off x="6903720" y="2157984"/>
            <a:ext cx="470916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閘極串聯電阻，限制切換瞬間的充放電電流，抑制振鈴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34" name="pill 12">
            <a:extLst>
              <a:ext uri="{FF2B5EF4-FFF2-40B4-BE49-F238E27FC236}">
                <a16:creationId xmlns:a16="http://schemas.microsoft.com/office/drawing/2014/main" id="{2D64D802-3F9B-4A34-A3E0-7585757E3AB2}"/>
              </a:ext>
            </a:extLst>
          </p:cNvPr>
          <p:cNvSpPr/>
          <p:nvPr/>
        </p:nvSpPr>
        <p:spPr>
          <a:xfrm>
            <a:off x="4709160" y="2980944"/>
            <a:ext cx="2011680" cy="54864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R4  10 </a:t>
            </a:r>
            <a:r>
              <a:rPr sz="1400" b="1" dirty="0" err="1">
                <a:solidFill>
                  <a:srgbClr val="FFFFFF"/>
                </a:solidFill>
              </a:rPr>
              <a:t>kΩ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36" name="body 13">
            <a:extLst>
              <a:ext uri="{FF2B5EF4-FFF2-40B4-BE49-F238E27FC236}">
                <a16:creationId xmlns:a16="http://schemas.microsoft.com/office/drawing/2014/main" id="{9A95FC45-2084-4824-A91B-80FBAAE9E053}"/>
              </a:ext>
            </a:extLst>
          </p:cNvPr>
          <p:cNvSpPr txBox="1"/>
          <p:nvPr/>
        </p:nvSpPr>
        <p:spPr>
          <a:xfrm>
            <a:off x="6903720" y="2962656"/>
            <a:ext cx="470916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閘極下拉電阻。開機時</a:t>
            </a:r>
            <a:r>
              <a:rPr sz="1300" b="0" dirty="0">
                <a:solidFill>
                  <a:srgbClr val="6B7A8C"/>
                </a:solidFill>
              </a:rPr>
              <a:t> GPIO </a:t>
            </a:r>
            <a:r>
              <a:rPr sz="1300" b="0" dirty="0" err="1">
                <a:solidFill>
                  <a:srgbClr val="6B7A8C"/>
                </a:solidFill>
              </a:rPr>
              <a:t>尚未設定，確保</a:t>
            </a:r>
            <a:r>
              <a:rPr sz="1300" b="0" dirty="0">
                <a:solidFill>
                  <a:srgbClr val="6B7A8C"/>
                </a:solidFill>
              </a:rPr>
              <a:t> MOSFET </a:t>
            </a:r>
            <a:r>
              <a:rPr sz="1300" b="0" dirty="0" err="1">
                <a:solidFill>
                  <a:srgbClr val="6B7A8C"/>
                </a:solidFill>
              </a:rPr>
              <a:t>關閉，馬達不會誤轉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38" name="pill 14">
            <a:extLst>
              <a:ext uri="{FF2B5EF4-FFF2-40B4-BE49-F238E27FC236}">
                <a16:creationId xmlns:a16="http://schemas.microsoft.com/office/drawing/2014/main" id="{2CCF497C-7341-44C5-84E6-E14BE6F83405}"/>
              </a:ext>
            </a:extLst>
          </p:cNvPr>
          <p:cNvSpPr/>
          <p:nvPr/>
        </p:nvSpPr>
        <p:spPr>
          <a:xfrm>
            <a:off x="4709160" y="3785616"/>
            <a:ext cx="2011680" cy="54864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D4  SS14</a:t>
            </a:r>
          </a:p>
        </p:txBody>
      </p:sp>
      <p:sp>
        <p:nvSpPr>
          <p:cNvPr id="60" name="body 15">
            <a:extLst>
              <a:ext uri="{FF2B5EF4-FFF2-40B4-BE49-F238E27FC236}">
                <a16:creationId xmlns:a16="http://schemas.microsoft.com/office/drawing/2014/main" id="{07DADD8F-F37C-4B89-B84B-7E8AEEB719B6}"/>
              </a:ext>
            </a:extLst>
          </p:cNvPr>
          <p:cNvSpPr txBox="1"/>
          <p:nvPr/>
        </p:nvSpPr>
        <p:spPr>
          <a:xfrm>
            <a:off x="6903720" y="3767328"/>
            <a:ext cx="470916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續流二極體。MOSFET</a:t>
            </a:r>
            <a:r>
              <a:rPr sz="1300" b="0" dirty="0">
                <a:solidFill>
                  <a:srgbClr val="6B7A8C"/>
                </a:solidFill>
              </a:rPr>
              <a:t> </a:t>
            </a:r>
            <a:r>
              <a:rPr sz="1300" b="0" dirty="0" err="1">
                <a:solidFill>
                  <a:srgbClr val="6B7A8C"/>
                </a:solidFill>
              </a:rPr>
              <a:t>關閉時，提供馬達線圈反電動勢的釋放路徑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61" name="pill 16">
            <a:extLst>
              <a:ext uri="{FF2B5EF4-FFF2-40B4-BE49-F238E27FC236}">
                <a16:creationId xmlns:a16="http://schemas.microsoft.com/office/drawing/2014/main" id="{050BB4F3-2E0C-4E56-8F6B-74996C7005D9}"/>
              </a:ext>
            </a:extLst>
          </p:cNvPr>
          <p:cNvSpPr/>
          <p:nvPr/>
        </p:nvSpPr>
        <p:spPr>
          <a:xfrm>
            <a:off x="4709160" y="4590288"/>
            <a:ext cx="2011680" cy="548640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C4  100 </a:t>
            </a:r>
            <a:r>
              <a:rPr sz="1400" b="1" dirty="0" err="1">
                <a:solidFill>
                  <a:srgbClr val="FFFFFF"/>
                </a:solidFill>
              </a:rPr>
              <a:t>nF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62" name="body 17">
            <a:extLst>
              <a:ext uri="{FF2B5EF4-FFF2-40B4-BE49-F238E27FC236}">
                <a16:creationId xmlns:a16="http://schemas.microsoft.com/office/drawing/2014/main" id="{8453FB44-B44D-44B4-98D4-3F13BE8BCEBF}"/>
              </a:ext>
            </a:extLst>
          </p:cNvPr>
          <p:cNvSpPr txBox="1"/>
          <p:nvPr/>
        </p:nvSpPr>
        <p:spPr>
          <a:xfrm>
            <a:off x="6903720" y="4572000"/>
            <a:ext cx="4709160" cy="585216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與馬達並聯，吸收開關切換產生的高頻雜訊</a:t>
            </a:r>
            <a:r>
              <a:rPr sz="1300" b="0" dirty="0">
                <a:solidFill>
                  <a:srgbClr val="6B7A8C"/>
                </a:solidFill>
              </a:rPr>
              <a:t>。</a:t>
            </a:r>
          </a:p>
        </p:txBody>
      </p:sp>
      <p:sp>
        <p:nvSpPr>
          <p:cNvPr id="63" name="pill 18">
            <a:extLst>
              <a:ext uri="{FF2B5EF4-FFF2-40B4-BE49-F238E27FC236}">
                <a16:creationId xmlns:a16="http://schemas.microsoft.com/office/drawing/2014/main" id="{0671A975-7A1A-431D-8BDC-273A63E21215}"/>
              </a:ext>
            </a:extLst>
          </p:cNvPr>
          <p:cNvSpPr/>
          <p:nvPr/>
        </p:nvSpPr>
        <p:spPr>
          <a:xfrm>
            <a:off x="4709160" y="5532120"/>
            <a:ext cx="6903720" cy="566928"/>
          </a:xfrm>
          <a:prstGeom prst="roundRect">
            <a:avLst/>
          </a:prstGeom>
          <a:solidFill>
            <a:srgbClr val="0A4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PWM </a:t>
            </a:r>
            <a:r>
              <a:rPr sz="1400" b="1" dirty="0" err="1">
                <a:solidFill>
                  <a:srgbClr val="FFFFFF"/>
                </a:solidFill>
              </a:rPr>
              <a:t>頻率</a:t>
            </a:r>
            <a:r>
              <a:rPr sz="1400" b="1" dirty="0">
                <a:solidFill>
                  <a:srgbClr val="FFFFFF"/>
                </a:solidFill>
              </a:rPr>
              <a:t> 62.5 kHz（16 MHz ÷ 256），</a:t>
            </a:r>
            <a:r>
              <a:rPr sz="1400" b="1" dirty="0" err="1">
                <a:solidFill>
                  <a:srgbClr val="FFFFFF"/>
                </a:solidFill>
              </a:rPr>
              <a:t>解析度</a:t>
            </a:r>
            <a:r>
              <a:rPr sz="1400" b="1" dirty="0">
                <a:solidFill>
                  <a:srgbClr val="FFFFFF"/>
                </a:solidFill>
              </a:rPr>
              <a:t> 8 </a:t>
            </a:r>
            <a:r>
              <a:rPr sz="1400" b="1" dirty="0" err="1">
                <a:solidFill>
                  <a:srgbClr val="FFFFFF"/>
                </a:solidFill>
              </a:rPr>
              <a:t>位元，驅動</a:t>
            </a:r>
            <a:r>
              <a:rPr sz="1400" b="1" dirty="0">
                <a:solidFill>
                  <a:srgbClr val="FFFFFF"/>
                </a:solidFill>
              </a:rPr>
              <a:t> 720 </a:t>
            </a:r>
            <a:r>
              <a:rPr sz="1400" b="1" dirty="0" err="1">
                <a:solidFill>
                  <a:srgbClr val="FFFFFF"/>
                </a:solidFill>
              </a:rPr>
              <a:t>空心杯馬達</a:t>
            </a:r>
            <a:endParaRPr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89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配件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CFFBE4F1-36CB-4580-8A2E-BCD1F10280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BDB40E5-369C-40AB-A151-17AD2FF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10</a:t>
            </a:fld>
            <a:endParaRPr lang="en-US" dirty="0"/>
          </a:p>
        </p:txBody>
      </p:sp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59F5C528-41B9-43C6-BA6C-D5F255EB4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011120"/>
              </p:ext>
            </p:extLst>
          </p:nvPr>
        </p:nvGraphicFramePr>
        <p:xfrm>
          <a:off x="548640" y="1325880"/>
          <a:ext cx="11064240" cy="4492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功能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零件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介面／接腳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在系統中的作用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主控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XIAO nRF52840 Sense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排母插座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感測讀取、姿態解算、PID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控制、無線收發、馬達輸出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九軸感測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MPU9250（GY-91）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I²C 400 kHz，D8／D10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角速度、加速度、地磁方向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氣壓計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BMP280（GY-91）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同上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相對高度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備援六軸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LSM6DS3TR-C（XIAO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板載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）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模組內部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I²C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主感測失效時維持姿態量測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雷射測距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VL53L1X（光流模組）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I²C，位址 0x29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離地高度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光流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PMW3901（光流模組）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SPI，D4～D7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水準位移與速度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馬達驅動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AO3400A、SS14、100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nF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× 4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PWM，D0～D3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控制四顆馬達轉速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馬達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720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空心杯馬達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× 4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背面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M1～M4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插座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產生升力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電源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475B"/>
                          </a:solidFill>
                        </a:rPr>
                        <a:t>20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S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鋰電池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XIAO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內建</a:t>
                      </a:r>
                      <a:r>
                        <a:rPr sz="1300" dirty="0">
                          <a:solidFill>
                            <a:srgbClr val="33475B"/>
                          </a:solidFill>
                        </a:rPr>
                        <a:t> BQ25101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充電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全機供電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0A4D6E"/>
                          </a:solidFill>
                        </a:rPr>
                        <a:t>遙控器</a:t>
                      </a:r>
                      <a:endParaRPr sz="13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ATK </a:t>
                      </a:r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遙控器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475B"/>
                          </a:solidFill>
                        </a:rPr>
                        <a:t>ESB 2.4 GHz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33475B"/>
                          </a:solidFill>
                        </a:rPr>
                        <a:t>送出飛行指令</a:t>
                      </a:r>
                      <a:endParaRPr sz="13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CFFBE4F1-36CB-4580-8A2E-BCD1F10280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BDB40E5-369C-40AB-A151-17AD2FF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11</a:t>
            </a:fld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D839938-7857-4954-966E-D1A9295F6D4B}"/>
              </a:ext>
            </a:extLst>
          </p:cNvPr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A50BE394-078B-4E8C-8BD6-214CA1C1BC7D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 err="1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氣壓計與雷射測距</a:t>
            </a:r>
            <a:endParaRPr lang="zh-TW" altLang="zh-TW" sz="3200" dirty="0">
              <a:effectLst/>
            </a:endParaRPr>
          </a:p>
        </p:txBody>
      </p:sp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61C31D4A-3849-4927-A636-453BEC6B9257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325880"/>
          <a:ext cx="11064240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項目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BMP280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氣壓計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VL53L1X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雷射測距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量測對象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大氣壓力，換算相對高度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到地面的距離，即離地高度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原理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壓阻式壓力感測，高度越高氣壓越低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發射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940 nm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雷射，量測反射光的飛行時間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官方精度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相對精度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±0.12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hPa（約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±1 m）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測距誤差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±20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mm（暗室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）、±25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mm（環境光下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量測範圍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475B"/>
                          </a:solidFill>
                        </a:rPr>
                        <a:t>300～1100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hPa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475B"/>
                          </a:solidFill>
                        </a:rPr>
                        <a:t>4 cm～4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m（長距離模式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）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主要限制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溫度影響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1.5 Pa/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K（約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12.6 cm/K），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並受槳流影響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必須看得到地面；陽光直射下最遠約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73 cm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本研究用途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雷射失效時的備援高度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定高的主要高度來源，並提供光流換算所需的高度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body 7">
            <a:extLst>
              <a:ext uri="{FF2B5EF4-FFF2-40B4-BE49-F238E27FC236}">
                <a16:creationId xmlns:a16="http://schemas.microsoft.com/office/drawing/2014/main" id="{6E306E3F-A223-40B2-8565-4EFFA6953D0E}"/>
              </a:ext>
            </a:extLst>
          </p:cNvPr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資料來源：Bosch</a:t>
            </a:r>
            <a:r>
              <a:rPr sz="1300" b="0" dirty="0">
                <a:solidFill>
                  <a:srgbClr val="6B7A8C"/>
                </a:solidFill>
              </a:rPr>
              <a:t> BMP280 </a:t>
            </a:r>
            <a:r>
              <a:rPr sz="1300" b="0" dirty="0" err="1">
                <a:solidFill>
                  <a:srgbClr val="6B7A8C"/>
                </a:solidFill>
              </a:rPr>
              <a:t>規格書（相對精度條件</a:t>
            </a:r>
            <a:r>
              <a:rPr sz="1300" b="0" dirty="0">
                <a:solidFill>
                  <a:srgbClr val="6B7A8C"/>
                </a:solidFill>
              </a:rPr>
              <a:t> 700～900 hPa、25 °C）；ST VL53L1X </a:t>
            </a:r>
            <a:r>
              <a:rPr sz="1300" b="0" dirty="0" err="1">
                <a:solidFill>
                  <a:srgbClr val="6B7A8C"/>
                </a:solidFill>
              </a:rPr>
              <a:t>規格書</a:t>
            </a:r>
            <a:r>
              <a:rPr sz="1300" b="0" dirty="0">
                <a:solidFill>
                  <a:srgbClr val="6B7A8C"/>
                </a:solidFill>
              </a:rPr>
              <a:t> DocID031281（長距離模式、量測時間 100 </a:t>
            </a:r>
            <a:r>
              <a:rPr sz="1300" b="0" dirty="0" err="1">
                <a:solidFill>
                  <a:srgbClr val="6B7A8C"/>
                </a:solidFill>
              </a:rPr>
              <a:t>ms</a:t>
            </a:r>
            <a:r>
              <a:rPr sz="1300" b="0" dirty="0">
                <a:solidFill>
                  <a:srgbClr val="6B7A8C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87481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CFFBE4F1-36CB-4580-8A2E-BCD1F10280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BDB40E5-369C-40AB-A151-17AD2FF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12</a:t>
            </a:fld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D839938-7857-4954-966E-D1A9295F6D4B}"/>
              </a:ext>
            </a:extLst>
          </p:cNvPr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A50BE394-078B-4E8C-8BD6-214CA1C1BC7D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 err="1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實機影片：氣壓計與雷射</a:t>
            </a:r>
            <a:endParaRPr lang="zh-TW" altLang="zh-TW" sz="3200" dirty="0">
              <a:effectLst/>
            </a:endParaRPr>
          </a:p>
        </p:txBody>
      </p:sp>
      <p:sp>
        <p:nvSpPr>
          <p:cNvPr id="9" name="body 6">
            <a:extLst>
              <a:ext uri="{FF2B5EF4-FFF2-40B4-BE49-F238E27FC236}">
                <a16:creationId xmlns:a16="http://schemas.microsoft.com/office/drawing/2014/main" id="{0B9C392F-9947-4EE7-A874-73B8DD336BCB}"/>
              </a:ext>
            </a:extLst>
          </p:cNvPr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 dirty="0" err="1">
                <a:solidFill>
                  <a:srgbClr val="0A4D6E"/>
                </a:solidFill>
              </a:rPr>
              <a:t>兩段影片皆開啟光流，差別只在高度的量測來源</a:t>
            </a:r>
            <a:endParaRPr sz="1400" b="1" dirty="0">
              <a:solidFill>
                <a:srgbClr val="0A4D6E"/>
              </a:solidFill>
            </a:endParaRPr>
          </a:p>
        </p:txBody>
      </p:sp>
      <p:sp>
        <p:nvSpPr>
          <p:cNvPr id="10" name="pill 7">
            <a:extLst>
              <a:ext uri="{FF2B5EF4-FFF2-40B4-BE49-F238E27FC236}">
                <a16:creationId xmlns:a16="http://schemas.microsoft.com/office/drawing/2014/main" id="{F6A6254D-0E5B-42C4-A675-F30458A1A1FE}"/>
              </a:ext>
            </a:extLst>
          </p:cNvPr>
          <p:cNvSpPr/>
          <p:nvPr/>
        </p:nvSpPr>
        <p:spPr>
          <a:xfrm>
            <a:off x="548640" y="1691640"/>
            <a:ext cx="5394960" cy="530352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</a:rPr>
              <a:t>使用氣壓計量測高度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11" name="frame 8">
            <a:extLst>
              <a:ext uri="{FF2B5EF4-FFF2-40B4-BE49-F238E27FC236}">
                <a16:creationId xmlns:a16="http://schemas.microsoft.com/office/drawing/2014/main" id="{F4A751D3-8DB5-4222-B4E9-06F4D58B3C40}"/>
              </a:ext>
            </a:extLst>
          </p:cNvPr>
          <p:cNvSpPr/>
          <p:nvPr/>
        </p:nvSpPr>
        <p:spPr>
          <a:xfrm>
            <a:off x="548640" y="2331720"/>
            <a:ext cx="5394960" cy="269748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pcirc 9">
            <a:extLst>
              <a:ext uri="{FF2B5EF4-FFF2-40B4-BE49-F238E27FC236}">
                <a16:creationId xmlns:a16="http://schemas.microsoft.com/office/drawing/2014/main" id="{3BABE205-6E57-4676-99BF-78046210A00E}"/>
              </a:ext>
            </a:extLst>
          </p:cNvPr>
          <p:cNvSpPr/>
          <p:nvPr/>
        </p:nvSpPr>
        <p:spPr>
          <a:xfrm>
            <a:off x="2841498" y="3275838"/>
            <a:ext cx="809244" cy="809244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ptri 10">
            <a:extLst>
              <a:ext uri="{FF2B5EF4-FFF2-40B4-BE49-F238E27FC236}">
                <a16:creationId xmlns:a16="http://schemas.microsoft.com/office/drawing/2014/main" id="{C6D11C33-8780-4F7E-A5AF-312407A36515}"/>
              </a:ext>
            </a:extLst>
          </p:cNvPr>
          <p:cNvSpPr/>
          <p:nvPr/>
        </p:nvSpPr>
        <p:spPr>
          <a:xfrm rot="5400000">
            <a:off x="3084271" y="3478149"/>
            <a:ext cx="372252" cy="404622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body 11">
            <a:extLst>
              <a:ext uri="{FF2B5EF4-FFF2-40B4-BE49-F238E27FC236}">
                <a16:creationId xmlns:a16="http://schemas.microsoft.com/office/drawing/2014/main" id="{C990CF64-E255-4D71-8F1D-426550E1D572}"/>
              </a:ext>
            </a:extLst>
          </p:cNvPr>
          <p:cNvSpPr txBox="1"/>
          <p:nvPr/>
        </p:nvSpPr>
        <p:spPr>
          <a:xfrm>
            <a:off x="548640" y="5102352"/>
            <a:ext cx="5394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 err="1">
                <a:solidFill>
                  <a:srgbClr val="6B7A8C"/>
                </a:solidFill>
              </a:rPr>
              <a:t>量測大氣壓力換算高度，會隨時間漂移</a:t>
            </a:r>
            <a:endParaRPr sz="1400" b="0" dirty="0">
              <a:solidFill>
                <a:srgbClr val="6B7A8C"/>
              </a:solidFill>
            </a:endParaRPr>
          </a:p>
        </p:txBody>
      </p:sp>
      <p:sp>
        <p:nvSpPr>
          <p:cNvPr id="15" name="video 12">
            <a:extLst>
              <a:ext uri="{FF2B5EF4-FFF2-40B4-BE49-F238E27FC236}">
                <a16:creationId xmlns:a16="http://schemas.microsoft.com/office/drawing/2014/main" id="{D96C4B83-7D07-41F4-91EB-EFFDBB20711C}"/>
              </a:ext>
            </a:extLst>
          </p:cNvPr>
          <p:cNvSpPr/>
          <p:nvPr/>
        </p:nvSpPr>
        <p:spPr>
          <a:xfrm>
            <a:off x="1645920" y="5559552"/>
            <a:ext cx="3200400" cy="54864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hlinkClick r:id="rId3" action="ppaction://hlinkfile"/>
              </a:rPr>
              <a:t>▶ </a:t>
            </a:r>
            <a:r>
              <a:rPr sz="1500" b="1" dirty="0" err="1">
                <a:solidFill>
                  <a:srgbClr val="FFFFFF"/>
                </a:solidFill>
                <a:hlinkClick r:id="rId3" action="ppaction://hlinkfile"/>
              </a:rPr>
              <a:t>播放影片：氣壓計</a:t>
            </a:r>
            <a:endParaRPr sz="1500" b="1" dirty="0">
              <a:solidFill>
                <a:srgbClr val="FFFFFF"/>
              </a:solidFill>
              <a:hlinkClick r:id="rId3" action="ppaction://hlinkfile"/>
            </a:endParaRPr>
          </a:p>
        </p:txBody>
      </p:sp>
      <p:sp>
        <p:nvSpPr>
          <p:cNvPr id="16" name="pill 13">
            <a:extLst>
              <a:ext uri="{FF2B5EF4-FFF2-40B4-BE49-F238E27FC236}">
                <a16:creationId xmlns:a16="http://schemas.microsoft.com/office/drawing/2014/main" id="{50D6C387-E48F-4217-9DCD-B406D4FD10D0}"/>
              </a:ext>
            </a:extLst>
          </p:cNvPr>
          <p:cNvSpPr/>
          <p:nvPr/>
        </p:nvSpPr>
        <p:spPr>
          <a:xfrm>
            <a:off x="6217920" y="1691640"/>
            <a:ext cx="5394960" cy="530352"/>
          </a:xfrm>
          <a:prstGeom prst="roundRect">
            <a:avLst/>
          </a:prstGeom>
          <a:solidFill>
            <a:srgbClr val="E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</a:rPr>
              <a:t>使用雷射量測高度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17" name="frame 14">
            <a:extLst>
              <a:ext uri="{FF2B5EF4-FFF2-40B4-BE49-F238E27FC236}">
                <a16:creationId xmlns:a16="http://schemas.microsoft.com/office/drawing/2014/main" id="{63CE2E84-AE8B-4A7A-AFD6-24B1689BBAF6}"/>
              </a:ext>
            </a:extLst>
          </p:cNvPr>
          <p:cNvSpPr/>
          <p:nvPr/>
        </p:nvSpPr>
        <p:spPr>
          <a:xfrm>
            <a:off x="6217920" y="2331720"/>
            <a:ext cx="5394960" cy="269748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pcirc 15">
            <a:extLst>
              <a:ext uri="{FF2B5EF4-FFF2-40B4-BE49-F238E27FC236}">
                <a16:creationId xmlns:a16="http://schemas.microsoft.com/office/drawing/2014/main" id="{CD178024-A185-4880-ADB3-B745ACE79C92}"/>
              </a:ext>
            </a:extLst>
          </p:cNvPr>
          <p:cNvSpPr/>
          <p:nvPr/>
        </p:nvSpPr>
        <p:spPr>
          <a:xfrm>
            <a:off x="8510778" y="3275838"/>
            <a:ext cx="809244" cy="809244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ptri 16">
            <a:extLst>
              <a:ext uri="{FF2B5EF4-FFF2-40B4-BE49-F238E27FC236}">
                <a16:creationId xmlns:a16="http://schemas.microsoft.com/office/drawing/2014/main" id="{C0D4075E-7E99-4AA7-B153-46446C8B274B}"/>
              </a:ext>
            </a:extLst>
          </p:cNvPr>
          <p:cNvSpPr/>
          <p:nvPr/>
        </p:nvSpPr>
        <p:spPr>
          <a:xfrm rot="5400000">
            <a:off x="8753551" y="3478149"/>
            <a:ext cx="372252" cy="404622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body 17">
            <a:extLst>
              <a:ext uri="{FF2B5EF4-FFF2-40B4-BE49-F238E27FC236}">
                <a16:creationId xmlns:a16="http://schemas.microsoft.com/office/drawing/2014/main" id="{7F92F7F8-0CF7-401C-990B-698138880A52}"/>
              </a:ext>
            </a:extLst>
          </p:cNvPr>
          <p:cNvSpPr txBox="1"/>
          <p:nvPr/>
        </p:nvSpPr>
        <p:spPr>
          <a:xfrm>
            <a:off x="6217920" y="5102352"/>
            <a:ext cx="539496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 err="1">
                <a:solidFill>
                  <a:srgbClr val="6B7A8C"/>
                </a:solidFill>
              </a:rPr>
              <a:t>直接量測到地面的距離</a:t>
            </a:r>
            <a:endParaRPr sz="1400" b="0" dirty="0">
              <a:solidFill>
                <a:srgbClr val="6B7A8C"/>
              </a:solidFill>
            </a:endParaRPr>
          </a:p>
        </p:txBody>
      </p:sp>
      <p:sp>
        <p:nvSpPr>
          <p:cNvPr id="22" name="video 18">
            <a:extLst>
              <a:ext uri="{FF2B5EF4-FFF2-40B4-BE49-F238E27FC236}">
                <a16:creationId xmlns:a16="http://schemas.microsoft.com/office/drawing/2014/main" id="{8C0247A7-2259-4BC6-B7F0-D8181734C3AB}"/>
              </a:ext>
            </a:extLst>
          </p:cNvPr>
          <p:cNvSpPr/>
          <p:nvPr/>
        </p:nvSpPr>
        <p:spPr>
          <a:xfrm>
            <a:off x="7315200" y="5559552"/>
            <a:ext cx="3200400" cy="54864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hlinkClick r:id="rId4" action="ppaction://hlinkfile"/>
              </a:rPr>
              <a:t>▶ </a:t>
            </a:r>
            <a:r>
              <a:rPr sz="1500" b="1" dirty="0" err="1">
                <a:solidFill>
                  <a:srgbClr val="FFFFFF"/>
                </a:solidFill>
                <a:hlinkClick r:id="rId4" action="ppaction://hlinkfile"/>
              </a:rPr>
              <a:t>播放影片：雷射</a:t>
            </a:r>
            <a:endParaRPr sz="1500" b="1" dirty="0">
              <a:solidFill>
                <a:srgbClr val="FFFFFF"/>
              </a:solidFill>
              <a:hlinkClick r:id="rId4" action="ppaction://hlinkfile"/>
            </a:endParaRPr>
          </a:p>
        </p:txBody>
      </p:sp>
    </p:spTree>
    <p:extLst>
      <p:ext uri="{BB962C8B-B14F-4D97-AF65-F5344CB8AC3E}">
        <p14:creationId xmlns:p14="http://schemas.microsoft.com/office/powerpoint/2010/main" val="1826603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CFFBE4F1-36CB-4580-8A2E-BCD1F10280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BDB40E5-369C-40AB-A151-17AD2FF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13</a:t>
            </a:fld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D839938-7857-4954-966E-D1A9295F6D4B}"/>
              </a:ext>
            </a:extLst>
          </p:cNvPr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A50BE394-078B-4E8C-8BD6-214CA1C1BC7D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MPU9250 </a:t>
            </a:r>
            <a:r>
              <a:rPr lang="zh-TW" altLang="en-US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與 </a:t>
            </a:r>
            <a:r>
              <a:rPr lang="en-US" altLang="zh-TW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PMW3901</a:t>
            </a:r>
            <a:r>
              <a:rPr lang="zh-TW" altLang="en-US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光流</a:t>
            </a:r>
            <a:endParaRPr lang="zh-TW" altLang="zh-TW" sz="3200" dirty="0">
              <a:effectLst/>
            </a:endParaRPr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EE283221-76BB-47E1-B078-C1B6C6D16B1E}"/>
              </a:ext>
            </a:extLst>
          </p:cNvPr>
          <p:cNvGraphicFramePr>
            <a:graphicFrameLocks noGrp="1"/>
          </p:cNvGraphicFramePr>
          <p:nvPr/>
        </p:nvGraphicFramePr>
        <p:xfrm>
          <a:off x="548640" y="1325880"/>
          <a:ext cx="11064240" cy="4114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項目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MPU9250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加速度計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PMW3901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光流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T="36576" marB="36576" anchor="ctr">
                    <a:solidFill>
                      <a:srgbClr val="0A4D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量測對象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機身的加速度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地面影像的移動量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求得水準位置的方式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加速度積分兩次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乘上高度得到速度，再積分一次得到位移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官方規格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雜訊密度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300 µg/√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Hz；零點誤差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±60 mg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工作距離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80 mm 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以上，視角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42°，</a:t>
                      </a:r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最大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 7.4 rad/s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誤差特性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偏差經兩次積分會持續累積，時間越長漂移越大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誤差不隨時間累積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使用條件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不受地面與光線影響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地面需有紋理且光線充足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更新率（本研究設定</a:t>
                      </a:r>
                      <a:r>
                        <a:rPr sz="1400" b="1" dirty="0">
                          <a:solidFill>
                            <a:srgbClr val="0A4D6E"/>
                          </a:solidFill>
                        </a:rPr>
                        <a:t>）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475B"/>
                          </a:solidFill>
                        </a:rPr>
                        <a:t>1 kHz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475B"/>
                          </a:solidFill>
                        </a:rPr>
                        <a:t>100 Hz</a:t>
                      </a: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介面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33475B"/>
                          </a:solidFill>
                        </a:rPr>
                        <a:t>I²C（GY-91）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SPI（獨立</a:t>
                      </a:r>
                      <a:r>
                        <a:rPr sz="1400" dirty="0">
                          <a:solidFill>
                            <a:srgbClr val="33475B"/>
                          </a:solidFill>
                        </a:rPr>
                        <a:t>）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0A4D6E"/>
                          </a:solidFill>
                        </a:rPr>
                        <a:t>本研究用途</a:t>
                      </a:r>
                      <a:endParaRPr sz="1400" b="1" dirty="0">
                        <a:solidFill>
                          <a:srgbClr val="0A4D6E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姿態解算，並補足光流兩次更新之間的運動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475B"/>
                          </a:solidFill>
                        </a:rPr>
                        <a:t>定點的水準速度與位移來源</a:t>
                      </a:r>
                      <a:endParaRPr sz="1400" dirty="0">
                        <a:solidFill>
                          <a:srgbClr val="33475B"/>
                        </a:solidFill>
                      </a:endParaRPr>
                    </a:p>
                  </a:txBody>
                  <a:tcPr marT="36576" marB="36576" anchor="ctr">
                    <a:solidFill>
                      <a:srgbClr val="F5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body 7">
            <a:extLst>
              <a:ext uri="{FF2B5EF4-FFF2-40B4-BE49-F238E27FC236}">
                <a16:creationId xmlns:a16="http://schemas.microsoft.com/office/drawing/2014/main" id="{D4113DE2-549C-4216-9EEA-C49657B88CDF}"/>
              </a:ext>
            </a:extLst>
          </p:cNvPr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algn="l"/>
            <a:r>
              <a:rPr sz="1300" b="0" dirty="0" err="1">
                <a:solidFill>
                  <a:srgbClr val="6B7A8C"/>
                </a:solidFill>
              </a:rPr>
              <a:t>資料來源：InvenSense</a:t>
            </a:r>
            <a:r>
              <a:rPr sz="1300" b="0" dirty="0">
                <a:solidFill>
                  <a:srgbClr val="6B7A8C"/>
                </a:solidFill>
              </a:rPr>
              <a:t> MPU-9250 </a:t>
            </a:r>
            <a:r>
              <a:rPr sz="1300" b="0" dirty="0" err="1">
                <a:solidFill>
                  <a:srgbClr val="6B7A8C"/>
                </a:solidFill>
              </a:rPr>
              <a:t>規格書</a:t>
            </a:r>
            <a:r>
              <a:rPr sz="1300" b="0" dirty="0">
                <a:solidFill>
                  <a:srgbClr val="6B7A8C"/>
                </a:solidFill>
              </a:rPr>
              <a:t> PS-MPU-9250A-01；PixArt PMW3901 </a:t>
            </a:r>
            <a:r>
              <a:rPr sz="1300" b="0" dirty="0" err="1">
                <a:solidFill>
                  <a:srgbClr val="6B7A8C"/>
                </a:solidFill>
              </a:rPr>
              <a:t>產品規格</a:t>
            </a:r>
            <a:endParaRPr sz="1300" b="0" dirty="0">
              <a:solidFill>
                <a:srgbClr val="6B7A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39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53" name="页脚占位符 52">
            <a:extLst>
              <a:ext uri="{FF2B5EF4-FFF2-40B4-BE49-F238E27FC236}">
                <a16:creationId xmlns:a16="http://schemas.microsoft.com/office/drawing/2014/main" id="{CFFBE4F1-36CB-4580-8A2E-BCD1F10280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BDB40E5-369C-40AB-A151-17AD2FF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14</a:t>
            </a:fld>
            <a:endParaRPr lang="en-US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FD839938-7857-4954-966E-D1A9295F6D4B}"/>
              </a:ext>
            </a:extLst>
          </p:cNvPr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A50BE394-078B-4E8C-8BD6-214CA1C1BC7D}"/>
              </a:ext>
            </a:extLst>
          </p:cNvPr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altLang="zh-TW" sz="3000" b="1" kern="1200" dirty="0" err="1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實機影片</a:t>
            </a:r>
            <a:r>
              <a:rPr lang="en-US" altLang="zh-TW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： MPU9250 </a:t>
            </a:r>
            <a:r>
              <a:rPr lang="zh-TW" altLang="en-US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與 </a:t>
            </a:r>
            <a:r>
              <a:rPr lang="en-US" altLang="zh-TW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PMW3901</a:t>
            </a:r>
            <a:r>
              <a:rPr lang="zh-TW" altLang="en-US" sz="3000" b="1" kern="1200" dirty="0">
                <a:solidFill>
                  <a:srgbClr val="0A4D6E"/>
                </a:solidFill>
                <a:effectLst/>
                <a:latin typeface="Noto Serif CJK TC"/>
                <a:ea typeface="Noto Serif CJK TC"/>
                <a:cs typeface="Noto Serif CJK TC"/>
              </a:rPr>
              <a:t>光流</a:t>
            </a:r>
            <a:endParaRPr lang="zh-TW" altLang="zh-TW" sz="3200" dirty="0">
              <a:effectLst/>
            </a:endParaRPr>
          </a:p>
        </p:txBody>
      </p:sp>
      <p:sp>
        <p:nvSpPr>
          <p:cNvPr id="11" name="body 6">
            <a:extLst>
              <a:ext uri="{FF2B5EF4-FFF2-40B4-BE49-F238E27FC236}">
                <a16:creationId xmlns:a16="http://schemas.microsoft.com/office/drawing/2014/main" id="{96C0A812-FD57-4C65-B4AE-0086212A0ABF}"/>
              </a:ext>
            </a:extLst>
          </p:cNvPr>
          <p:cNvSpPr txBox="1"/>
          <p:nvPr/>
        </p:nvSpPr>
        <p:spPr>
          <a:xfrm>
            <a:off x="563880" y="969264"/>
            <a:ext cx="1106424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dirty="0" err="1">
                <a:solidFill>
                  <a:srgbClr val="0A4D6E"/>
                </a:solidFill>
              </a:rPr>
              <a:t>兩段影片皆開啟雷射測距，差別只在是否使用光流</a:t>
            </a:r>
            <a:endParaRPr sz="1400" b="1" dirty="0">
              <a:solidFill>
                <a:srgbClr val="0A4D6E"/>
              </a:solidFill>
            </a:endParaRPr>
          </a:p>
        </p:txBody>
      </p:sp>
      <p:sp>
        <p:nvSpPr>
          <p:cNvPr id="12" name="pill 7">
            <a:extLst>
              <a:ext uri="{FF2B5EF4-FFF2-40B4-BE49-F238E27FC236}">
                <a16:creationId xmlns:a16="http://schemas.microsoft.com/office/drawing/2014/main" id="{4B06C8AA-7685-4EE6-A452-40D56E1595B2}"/>
              </a:ext>
            </a:extLst>
          </p:cNvPr>
          <p:cNvSpPr/>
          <p:nvPr/>
        </p:nvSpPr>
        <p:spPr>
          <a:xfrm>
            <a:off x="563880" y="1472184"/>
            <a:ext cx="5394960" cy="530352"/>
          </a:xfrm>
          <a:prstGeom prst="roundRect">
            <a:avLst/>
          </a:prstGeom>
          <a:solidFill>
            <a:srgbClr val="238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 err="1">
                <a:solidFill>
                  <a:srgbClr val="FFFFFF"/>
                </a:solidFill>
              </a:rPr>
              <a:t>僅使用</a:t>
            </a:r>
            <a:r>
              <a:rPr sz="1600" b="1" dirty="0">
                <a:solidFill>
                  <a:srgbClr val="FFFFFF"/>
                </a:solidFill>
              </a:rPr>
              <a:t> MPU9250</a:t>
            </a:r>
          </a:p>
        </p:txBody>
      </p:sp>
      <p:sp>
        <p:nvSpPr>
          <p:cNvPr id="13" name="frame 8">
            <a:extLst>
              <a:ext uri="{FF2B5EF4-FFF2-40B4-BE49-F238E27FC236}">
                <a16:creationId xmlns:a16="http://schemas.microsoft.com/office/drawing/2014/main" id="{D5C2AFA6-F2C2-4E3A-80D3-5E9E1772F0CA}"/>
              </a:ext>
            </a:extLst>
          </p:cNvPr>
          <p:cNvSpPr/>
          <p:nvPr/>
        </p:nvSpPr>
        <p:spPr>
          <a:xfrm>
            <a:off x="563880" y="2112264"/>
            <a:ext cx="5394960" cy="269748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4" name="pcirc 9">
            <a:extLst>
              <a:ext uri="{FF2B5EF4-FFF2-40B4-BE49-F238E27FC236}">
                <a16:creationId xmlns:a16="http://schemas.microsoft.com/office/drawing/2014/main" id="{6F03F4DB-EEAA-4C0D-A11C-28EBC3EEC909}"/>
              </a:ext>
            </a:extLst>
          </p:cNvPr>
          <p:cNvSpPr/>
          <p:nvPr/>
        </p:nvSpPr>
        <p:spPr>
          <a:xfrm>
            <a:off x="2856738" y="3056382"/>
            <a:ext cx="809244" cy="809244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5" name="ptri 10">
            <a:extLst>
              <a:ext uri="{FF2B5EF4-FFF2-40B4-BE49-F238E27FC236}">
                <a16:creationId xmlns:a16="http://schemas.microsoft.com/office/drawing/2014/main" id="{A7C4BBF5-EBF9-4FEE-BE09-B75660F2D411}"/>
              </a:ext>
            </a:extLst>
          </p:cNvPr>
          <p:cNvSpPr/>
          <p:nvPr/>
        </p:nvSpPr>
        <p:spPr>
          <a:xfrm rot="5400000">
            <a:off x="3099511" y="3258693"/>
            <a:ext cx="372252" cy="404622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16" name="body 11">
            <a:extLst>
              <a:ext uri="{FF2B5EF4-FFF2-40B4-BE49-F238E27FC236}">
                <a16:creationId xmlns:a16="http://schemas.microsoft.com/office/drawing/2014/main" id="{D3A9B2A5-E346-465C-96C8-13EC67051005}"/>
              </a:ext>
            </a:extLst>
          </p:cNvPr>
          <p:cNvSpPr txBox="1"/>
          <p:nvPr/>
        </p:nvSpPr>
        <p:spPr>
          <a:xfrm>
            <a:off x="563880" y="4932406"/>
            <a:ext cx="53949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 dirty="0" err="1">
                <a:solidFill>
                  <a:srgbClr val="6B7A8C"/>
                </a:solidFill>
              </a:rPr>
              <a:t>只量測姿態，無法得知水準位置，機身會漂移</a:t>
            </a:r>
            <a:endParaRPr sz="1400" b="0" dirty="0">
              <a:solidFill>
                <a:srgbClr val="6B7A8C"/>
              </a:solidFill>
            </a:endParaRPr>
          </a:p>
        </p:txBody>
      </p:sp>
      <p:sp>
        <p:nvSpPr>
          <p:cNvPr id="17" name="video 12">
            <a:extLst>
              <a:ext uri="{FF2B5EF4-FFF2-40B4-BE49-F238E27FC236}">
                <a16:creationId xmlns:a16="http://schemas.microsoft.com/office/drawing/2014/main" id="{AC98038F-9C21-47F8-9349-A873C68DF325}"/>
              </a:ext>
            </a:extLst>
          </p:cNvPr>
          <p:cNvSpPr/>
          <p:nvPr/>
        </p:nvSpPr>
        <p:spPr>
          <a:xfrm>
            <a:off x="1661160" y="5340096"/>
            <a:ext cx="3200400" cy="54864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FFFFFF"/>
                </a:solidFill>
                <a:hlinkClick r:id="rId3" action="ppaction://hlinkfile"/>
              </a:rPr>
              <a:t>▶ </a:t>
            </a:r>
            <a:r>
              <a:rPr sz="1500" b="1" dirty="0" err="1">
                <a:solidFill>
                  <a:srgbClr val="FFFFFF"/>
                </a:solidFill>
                <a:hlinkClick r:id="rId3" action="ppaction://hlinkfile"/>
              </a:rPr>
              <a:t>播放影片：僅</a:t>
            </a:r>
            <a:r>
              <a:rPr sz="1500" b="1" dirty="0">
                <a:solidFill>
                  <a:srgbClr val="FFFFFF"/>
                </a:solidFill>
                <a:hlinkClick r:id="rId3" action="ppaction://hlinkfile"/>
              </a:rPr>
              <a:t> MPU9250</a:t>
            </a:r>
          </a:p>
        </p:txBody>
      </p:sp>
      <p:sp>
        <p:nvSpPr>
          <p:cNvPr id="18" name="pill 13">
            <a:extLst>
              <a:ext uri="{FF2B5EF4-FFF2-40B4-BE49-F238E27FC236}">
                <a16:creationId xmlns:a16="http://schemas.microsoft.com/office/drawing/2014/main" id="{526E79CD-EE0A-4E1E-AAF9-D879C1BE7E95}"/>
              </a:ext>
            </a:extLst>
          </p:cNvPr>
          <p:cNvSpPr/>
          <p:nvPr/>
        </p:nvSpPr>
        <p:spPr>
          <a:xfrm>
            <a:off x="6233160" y="1472184"/>
            <a:ext cx="5394960" cy="530352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FFFFF"/>
                </a:solidFill>
              </a:rPr>
              <a:t>MPU9250＋光流</a:t>
            </a:r>
          </a:p>
        </p:txBody>
      </p:sp>
      <p:sp>
        <p:nvSpPr>
          <p:cNvPr id="19" name="frame 14">
            <a:extLst>
              <a:ext uri="{FF2B5EF4-FFF2-40B4-BE49-F238E27FC236}">
                <a16:creationId xmlns:a16="http://schemas.microsoft.com/office/drawing/2014/main" id="{A6EB3284-541E-4FD3-B2AB-417C789E0BB5}"/>
              </a:ext>
            </a:extLst>
          </p:cNvPr>
          <p:cNvSpPr/>
          <p:nvPr/>
        </p:nvSpPr>
        <p:spPr>
          <a:xfrm>
            <a:off x="6233160" y="2112264"/>
            <a:ext cx="5394960" cy="269748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0" name="pcirc 15">
            <a:extLst>
              <a:ext uri="{FF2B5EF4-FFF2-40B4-BE49-F238E27FC236}">
                <a16:creationId xmlns:a16="http://schemas.microsoft.com/office/drawing/2014/main" id="{133869E4-7E19-4153-878C-75E8FFF6D01E}"/>
              </a:ext>
            </a:extLst>
          </p:cNvPr>
          <p:cNvSpPr/>
          <p:nvPr/>
        </p:nvSpPr>
        <p:spPr>
          <a:xfrm>
            <a:off x="8526018" y="3056382"/>
            <a:ext cx="809244" cy="809244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2" name="ptri 16">
            <a:extLst>
              <a:ext uri="{FF2B5EF4-FFF2-40B4-BE49-F238E27FC236}">
                <a16:creationId xmlns:a16="http://schemas.microsoft.com/office/drawing/2014/main" id="{BA11FC5E-4BE9-4D9A-96E0-BBEF53C56B08}"/>
              </a:ext>
            </a:extLst>
          </p:cNvPr>
          <p:cNvSpPr/>
          <p:nvPr/>
        </p:nvSpPr>
        <p:spPr>
          <a:xfrm rot="5400000">
            <a:off x="8768791" y="3258693"/>
            <a:ext cx="372252" cy="404622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23" name="body 17">
            <a:extLst>
              <a:ext uri="{FF2B5EF4-FFF2-40B4-BE49-F238E27FC236}">
                <a16:creationId xmlns:a16="http://schemas.microsoft.com/office/drawing/2014/main" id="{A6497343-0EF1-4841-9DD9-2887C8C78794}"/>
              </a:ext>
            </a:extLst>
          </p:cNvPr>
          <p:cNvSpPr txBox="1"/>
          <p:nvPr/>
        </p:nvSpPr>
        <p:spPr>
          <a:xfrm>
            <a:off x="6233160" y="4932406"/>
            <a:ext cx="53949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 dirty="0" err="1">
                <a:solidFill>
                  <a:srgbClr val="6B7A8C"/>
                </a:solidFill>
              </a:rPr>
              <a:t>光流量測水準位移，用於修正位置</a:t>
            </a:r>
            <a:endParaRPr sz="1400" b="0" dirty="0">
              <a:solidFill>
                <a:srgbClr val="6B7A8C"/>
              </a:solidFill>
            </a:endParaRPr>
          </a:p>
        </p:txBody>
      </p:sp>
      <p:sp>
        <p:nvSpPr>
          <p:cNvPr id="24" name="video 18">
            <a:extLst>
              <a:ext uri="{FF2B5EF4-FFF2-40B4-BE49-F238E27FC236}">
                <a16:creationId xmlns:a16="http://schemas.microsoft.com/office/drawing/2014/main" id="{C46603CE-397B-41F1-9662-F8332F1E6CC5}"/>
              </a:ext>
            </a:extLst>
          </p:cNvPr>
          <p:cNvSpPr/>
          <p:nvPr/>
        </p:nvSpPr>
        <p:spPr>
          <a:xfrm>
            <a:off x="7330440" y="5340096"/>
            <a:ext cx="3200400" cy="54864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FFFFFF"/>
                </a:solidFill>
                <a:hlinkClick r:id="rId4" action="ppaction://hlinkfile"/>
              </a:rPr>
              <a:t>▶ 播放影片：MPU9250＋光流</a:t>
            </a:r>
          </a:p>
        </p:txBody>
      </p:sp>
    </p:spTree>
    <p:extLst>
      <p:ext uri="{BB962C8B-B14F-4D97-AF65-F5344CB8AC3E}">
        <p14:creationId xmlns:p14="http://schemas.microsoft.com/office/powerpoint/2010/main" val="4059520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ESB 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無線協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1219200"/>
          </a:xfrm>
          <a:prstGeom prst="roundRect">
            <a:avLst>
              <a:gd name="adj" fmla="val 533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ESB(Enhanced </a:t>
            </a:r>
            <a:r>
              <a:rPr lang="en-US" sz="16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ShockBurst</a:t>
            </a: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493776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Nordic </a:t>
            </a: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專有的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2.4GHz 協</a:t>
            </a:r>
            <a:r>
              <a:rPr lang="zh-CN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。nRF24L 系列由硬體內建,nRF5 </a:t>
            </a: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系列須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配置 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RADIO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暫存器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38" y="2827020"/>
            <a:ext cx="10881361" cy="3416125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62001" y="303836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</a:t>
            </a:r>
            <a:r>
              <a:rPr lang="en-US" sz="16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39" y="35560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8" name="Text 26"/>
          <p:cNvSpPr/>
          <p:nvPr/>
        </p:nvSpPr>
        <p:spPr>
          <a:xfrm>
            <a:off x="777239" y="35560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前導碼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5560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35560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硬體自動產生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39" y="40767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32" name="Text 30"/>
          <p:cNvSpPr/>
          <p:nvPr/>
        </p:nvSpPr>
        <p:spPr>
          <a:xfrm>
            <a:off x="777239" y="40767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23160" y="40767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0767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0x123456789A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←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必須逐bit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39" y="45974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36" name="Text 34"/>
          <p:cNvSpPr/>
          <p:nvPr/>
        </p:nvSpPr>
        <p:spPr>
          <a:xfrm>
            <a:off x="777239" y="45974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封包控制欄位</a:t>
            </a: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PCF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423160" y="45974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108960" y="45974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載荷長度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6bit ｜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封包編號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PID 2bit ｜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免回覆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NO_ACK 1bit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39" y="51181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4" name="Text 42"/>
          <p:cNvSpPr/>
          <p:nvPr/>
        </p:nvSpPr>
        <p:spPr>
          <a:xfrm>
            <a:off x="777239" y="51181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載荷</a:t>
            </a:r>
            <a:r>
              <a:rPr lang="en-US" altLang="zh-CN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Payload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423160" y="51181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0-32B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108960" y="5118100"/>
            <a:ext cx="28259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封包:MsgID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DataLen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Data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7239" y="5638800"/>
            <a:ext cx="1554480" cy="475488"/>
          </a:xfrm>
          <a:prstGeom prst="roundRect">
            <a:avLst>
              <a:gd name="adj" fmla="val 7692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48" name="Text 46"/>
          <p:cNvSpPr/>
          <p:nvPr/>
        </p:nvSpPr>
        <p:spPr>
          <a:xfrm>
            <a:off x="777239" y="56388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CRC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423160" y="563880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108960" y="56388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硬體校驗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2Byte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100" dirty="0"/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D93528D6-070B-46CB-861B-96B9B026CB76}"/>
              </a:ext>
            </a:extLst>
          </p:cNvPr>
          <p:cNvSpPr txBox="1"/>
          <p:nvPr/>
        </p:nvSpPr>
        <p:spPr>
          <a:xfrm>
            <a:off x="6218629" y="4053616"/>
            <a:ext cx="658473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146984"/>
                </a:solidFill>
                <a:latin typeface="Microsoft JhengHei"/>
              </a:rPr>
              <a:t>PCF</a:t>
            </a:r>
          </a:p>
        </p:txBody>
      </p:sp>
      <p:sp>
        <p:nvSpPr>
          <p:cNvPr id="59" name="TextBox 23">
            <a:extLst>
              <a:ext uri="{FF2B5EF4-FFF2-40B4-BE49-F238E27FC236}">
                <a16:creationId xmlns:a16="http://schemas.microsoft.com/office/drawing/2014/main" id="{D2C8E281-F6AE-4EC9-9569-735523E95C36}"/>
              </a:ext>
            </a:extLst>
          </p:cNvPr>
          <p:cNvSpPr txBox="1"/>
          <p:nvPr/>
        </p:nvSpPr>
        <p:spPr>
          <a:xfrm>
            <a:off x="7052250" y="4090120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E78937"/>
                </a:solidFill>
                <a:latin typeface="Microsoft JhengHei"/>
              </a:rPr>
              <a:t>Length</a:t>
            </a:r>
          </a:p>
        </p:txBody>
      </p:sp>
      <p:sp>
        <p:nvSpPr>
          <p:cNvPr id="60" name="TextBox 24">
            <a:extLst>
              <a:ext uri="{FF2B5EF4-FFF2-40B4-BE49-F238E27FC236}">
                <a16:creationId xmlns:a16="http://schemas.microsoft.com/office/drawing/2014/main" id="{08F8A290-2936-47B7-B37C-806FDB9FF0F0}"/>
              </a:ext>
            </a:extLst>
          </p:cNvPr>
          <p:cNvSpPr txBox="1"/>
          <p:nvPr/>
        </p:nvSpPr>
        <p:spPr>
          <a:xfrm>
            <a:off x="8085520" y="4090120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3364C"/>
                </a:solidFill>
                <a:latin typeface="Microsoft JhengHei"/>
              </a:rPr>
              <a:t>6 bit</a:t>
            </a:r>
          </a:p>
        </p:txBody>
      </p:sp>
      <p:sp>
        <p:nvSpPr>
          <p:cNvPr id="61" name="TextBox 25">
            <a:extLst>
              <a:ext uri="{FF2B5EF4-FFF2-40B4-BE49-F238E27FC236}">
                <a16:creationId xmlns:a16="http://schemas.microsoft.com/office/drawing/2014/main" id="{C8E61B83-5D58-435C-9F90-0D52ABD1A69B}"/>
              </a:ext>
            </a:extLst>
          </p:cNvPr>
          <p:cNvSpPr txBox="1"/>
          <p:nvPr/>
        </p:nvSpPr>
        <p:spPr>
          <a:xfrm>
            <a:off x="8817042" y="4104266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載荷長度</a:t>
            </a:r>
            <a:r>
              <a:rPr sz="1100" b="0" dirty="0">
                <a:solidFill>
                  <a:srgbClr val="627384"/>
                </a:solidFill>
                <a:latin typeface="Microsoft JhengHei"/>
              </a:rPr>
              <a:t> 0–32 B</a:t>
            </a:r>
          </a:p>
        </p:txBody>
      </p:sp>
      <p:sp>
        <p:nvSpPr>
          <p:cNvPr id="62" name="TextBox 26">
            <a:extLst>
              <a:ext uri="{FF2B5EF4-FFF2-40B4-BE49-F238E27FC236}">
                <a16:creationId xmlns:a16="http://schemas.microsoft.com/office/drawing/2014/main" id="{20638194-2A44-4A35-B24B-42ADA66A0D66}"/>
              </a:ext>
            </a:extLst>
          </p:cNvPr>
          <p:cNvSpPr txBox="1"/>
          <p:nvPr/>
        </p:nvSpPr>
        <p:spPr>
          <a:xfrm>
            <a:off x="7052250" y="4501600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E78937"/>
                </a:solidFill>
                <a:latin typeface="Microsoft JhengHei"/>
              </a:rPr>
              <a:t>PID</a:t>
            </a:r>
          </a:p>
        </p:txBody>
      </p:sp>
      <p:sp>
        <p:nvSpPr>
          <p:cNvPr id="63" name="TextBox 27">
            <a:extLst>
              <a:ext uri="{FF2B5EF4-FFF2-40B4-BE49-F238E27FC236}">
                <a16:creationId xmlns:a16="http://schemas.microsoft.com/office/drawing/2014/main" id="{FDC7E332-F24F-4698-9466-0E0A80AEC9C3}"/>
              </a:ext>
            </a:extLst>
          </p:cNvPr>
          <p:cNvSpPr txBox="1"/>
          <p:nvPr/>
        </p:nvSpPr>
        <p:spPr>
          <a:xfrm>
            <a:off x="8085520" y="4501600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3364C"/>
                </a:solidFill>
                <a:latin typeface="Microsoft JhengHei"/>
              </a:rPr>
              <a:t>2 bit</a:t>
            </a:r>
          </a:p>
        </p:txBody>
      </p:sp>
      <p:sp>
        <p:nvSpPr>
          <p:cNvPr id="64" name="TextBox 28">
            <a:extLst>
              <a:ext uri="{FF2B5EF4-FFF2-40B4-BE49-F238E27FC236}">
                <a16:creationId xmlns:a16="http://schemas.microsoft.com/office/drawing/2014/main" id="{D147665C-BDCA-406D-AA85-E8795842A41E}"/>
              </a:ext>
            </a:extLst>
          </p:cNvPr>
          <p:cNvSpPr txBox="1"/>
          <p:nvPr/>
        </p:nvSpPr>
        <p:spPr>
          <a:xfrm>
            <a:off x="8817042" y="4515746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分辨新包／重送</a:t>
            </a:r>
            <a:endParaRPr sz="11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65" name="TextBox 29">
            <a:extLst>
              <a:ext uri="{FF2B5EF4-FFF2-40B4-BE49-F238E27FC236}">
                <a16:creationId xmlns:a16="http://schemas.microsoft.com/office/drawing/2014/main" id="{4E0EF677-DD8A-44B1-BDE6-7AE8B8296974}"/>
              </a:ext>
            </a:extLst>
          </p:cNvPr>
          <p:cNvSpPr txBox="1"/>
          <p:nvPr/>
        </p:nvSpPr>
        <p:spPr>
          <a:xfrm>
            <a:off x="7052250" y="4913081"/>
            <a:ext cx="116863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E78937"/>
                </a:solidFill>
                <a:latin typeface="Microsoft JhengHei"/>
              </a:rPr>
              <a:t>NO_ACK</a:t>
            </a:r>
          </a:p>
        </p:txBody>
      </p:sp>
      <p:sp>
        <p:nvSpPr>
          <p:cNvPr id="66" name="TextBox 30">
            <a:extLst>
              <a:ext uri="{FF2B5EF4-FFF2-40B4-BE49-F238E27FC236}">
                <a16:creationId xmlns:a16="http://schemas.microsoft.com/office/drawing/2014/main" id="{E4602709-6D66-4820-8461-CFE312EBE5FD}"/>
              </a:ext>
            </a:extLst>
          </p:cNvPr>
          <p:cNvSpPr txBox="1"/>
          <p:nvPr/>
        </p:nvSpPr>
        <p:spPr>
          <a:xfrm>
            <a:off x="8085520" y="4913081"/>
            <a:ext cx="762153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23364C"/>
                </a:solidFill>
                <a:latin typeface="Microsoft JhengHei"/>
              </a:rPr>
              <a:t>1 bit</a:t>
            </a:r>
          </a:p>
        </p:txBody>
      </p:sp>
      <p:sp>
        <p:nvSpPr>
          <p:cNvPr id="67" name="TextBox 31">
            <a:extLst>
              <a:ext uri="{FF2B5EF4-FFF2-40B4-BE49-F238E27FC236}">
                <a16:creationId xmlns:a16="http://schemas.microsoft.com/office/drawing/2014/main" id="{75F6467C-6F23-4C42-AE27-40A43972D071}"/>
              </a:ext>
            </a:extLst>
          </p:cNvPr>
          <p:cNvSpPr txBox="1"/>
          <p:nvPr/>
        </p:nvSpPr>
        <p:spPr>
          <a:xfrm>
            <a:off x="8817042" y="4927227"/>
            <a:ext cx="2438888" cy="2640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rgbClr val="627384"/>
                </a:solidFill>
                <a:latin typeface="Microsoft JhengHei"/>
              </a:rPr>
              <a:t>1 = </a:t>
            </a:r>
            <a:r>
              <a:rPr sz="1100" b="0" dirty="0" err="1">
                <a:solidFill>
                  <a:srgbClr val="627384"/>
                </a:solidFill>
                <a:latin typeface="Microsoft JhengHei"/>
              </a:rPr>
              <a:t>不要求回覆</a:t>
            </a:r>
            <a:endParaRPr sz="11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72" name="TextBox 34">
            <a:extLst>
              <a:ext uri="{FF2B5EF4-FFF2-40B4-BE49-F238E27FC236}">
                <a16:creationId xmlns:a16="http://schemas.microsoft.com/office/drawing/2014/main" id="{5E771ED8-0C5D-4355-80FF-9872BBEC1F3C}"/>
              </a:ext>
            </a:extLst>
          </p:cNvPr>
          <p:cNvSpPr txBox="1"/>
          <p:nvPr/>
        </p:nvSpPr>
        <p:spPr>
          <a:xfrm>
            <a:off x="6231301" y="3540062"/>
            <a:ext cx="63313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700" b="1" dirty="0">
                <a:solidFill>
                  <a:srgbClr val="146984"/>
                </a:solidFill>
                <a:latin typeface="Microsoft JhengHei"/>
              </a:rPr>
              <a:t>位址</a:t>
            </a:r>
            <a:endParaRPr sz="1700" b="1" dirty="0">
              <a:solidFill>
                <a:srgbClr val="146984"/>
              </a:solidFill>
              <a:latin typeface="Microsoft JhengHei"/>
            </a:endParaRPr>
          </a:p>
        </p:txBody>
      </p:sp>
      <p:sp>
        <p:nvSpPr>
          <p:cNvPr id="73" name="TextBox 37">
            <a:extLst>
              <a:ext uri="{FF2B5EF4-FFF2-40B4-BE49-F238E27FC236}">
                <a16:creationId xmlns:a16="http://schemas.microsoft.com/office/drawing/2014/main" id="{0C76EF1F-0EC5-407A-BCE7-062D67FC4A4B}"/>
              </a:ext>
            </a:extLst>
          </p:cNvPr>
          <p:cNvSpPr txBox="1"/>
          <p:nvPr/>
        </p:nvSpPr>
        <p:spPr>
          <a:xfrm>
            <a:off x="6955872" y="3432517"/>
            <a:ext cx="434577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TW" altLang="en-US" sz="1400" b="0" dirty="0">
                <a:solidFill>
                  <a:srgbClr val="23364C"/>
                </a:solidFill>
                <a:latin typeface="Microsoft JhengHei"/>
              </a:rPr>
              <a:t>寫入位址前需位元反轉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，因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ATK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遙控器是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MSB,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本研究是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LSB</a:t>
            </a:r>
            <a:endParaRPr sz="14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8C28A9A0-080E-4A1B-8F9D-9286728583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2666B24C-0702-47C7-8B9D-E388F3BB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72" grpId="0"/>
      <p:bldP spid="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通訊協議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1968079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1" name="Text 9"/>
          <p:cNvSpPr/>
          <p:nvPr/>
        </p:nvSpPr>
        <p:spPr>
          <a:xfrm>
            <a:off x="749808" y="196807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480143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1968079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4" name="Text 12"/>
          <p:cNvSpPr/>
          <p:nvPr/>
        </p:nvSpPr>
        <p:spPr>
          <a:xfrm>
            <a:off x="2788920" y="1968079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0xAF/0</a:t>
            </a:r>
            <a:r>
              <a:rPr lang="en-US" altLang="zh-CN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xAA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9428" y="2480143"/>
            <a:ext cx="1920239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28032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7" name="Text 15"/>
          <p:cNvSpPr/>
          <p:nvPr/>
        </p:nvSpPr>
        <p:spPr>
          <a:xfrm>
            <a:off x="4828032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功能欄位</a:t>
            </a:r>
          </a:p>
        </p:txBody>
      </p:sp>
      <p:sp>
        <p:nvSpPr>
          <p:cNvPr id="18" name="Text 16"/>
          <p:cNvSpPr/>
          <p:nvPr/>
        </p:nvSpPr>
        <p:spPr>
          <a:xfrm>
            <a:off x="4828032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altLang="zh-CN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</a:rPr>
              <a:t>Msg ID</a:t>
            </a:r>
            <a:endParaRPr lang="en-US" sz="10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47104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0" name="Text 18"/>
          <p:cNvSpPr/>
          <p:nvPr/>
        </p:nvSpPr>
        <p:spPr>
          <a:xfrm>
            <a:off x="6547104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47104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資料Byte數</a:t>
            </a:r>
            <a:endParaRPr lang="en-US" sz="10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(1B)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66176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3" name="Text 21"/>
          <p:cNvSpPr/>
          <p:nvPr/>
        </p:nvSpPr>
        <p:spPr>
          <a:xfrm>
            <a:off x="8266176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66176" y="2480143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0~30 Byte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939528" y="1968079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939528" y="1968079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校驗和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85248" y="2480143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求和取低1Byte </a:t>
            </a:r>
            <a:r>
              <a:rPr lang="en-US" altLang="zh-CN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0"/>
            <a:ext cx="6680200" cy="2910840"/>
          </a:xfrm>
          <a:prstGeom prst="roundRect">
            <a:avLst>
              <a:gd name="adj" fmla="val 280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246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範例:解鎖指令</a:t>
            </a:r>
            <a:r>
              <a:rPr lang="en-US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AA AF 01 01 A1 FC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22960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1" name="Text 29"/>
          <p:cNvSpPr/>
          <p:nvPr/>
        </p:nvSpPr>
        <p:spPr>
          <a:xfrm>
            <a:off x="82296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630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023359" y="3749040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4" name="Text 32"/>
          <p:cNvSpPr/>
          <p:nvPr/>
        </p:nvSpPr>
        <p:spPr>
          <a:xfrm>
            <a:off x="4023359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63440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起始碼2:上位機 → </a:t>
            </a: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飛控、遙控器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2960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7" name="Text 35"/>
          <p:cNvSpPr/>
          <p:nvPr/>
        </p:nvSpPr>
        <p:spPr>
          <a:xfrm>
            <a:off x="822960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630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功能字:命令封包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MsgID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23359" y="4370832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0" name="Text 38"/>
          <p:cNvSpPr/>
          <p:nvPr/>
        </p:nvSpPr>
        <p:spPr>
          <a:xfrm>
            <a:off x="4023359" y="4370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63440" y="43708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長度:資料共</a:t>
            </a: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Byte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3" name="Text 41"/>
          <p:cNvSpPr/>
          <p:nvPr/>
        </p:nvSpPr>
        <p:spPr>
          <a:xfrm>
            <a:off x="822960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資料:解鎖命令碼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023359" y="4992624"/>
            <a:ext cx="548640" cy="4572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6" name="Text 44"/>
          <p:cNvSpPr/>
          <p:nvPr/>
        </p:nvSpPr>
        <p:spPr>
          <a:xfrm>
            <a:off x="4023359" y="49926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663440" y="49926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校驗:低8位=FC 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77240" y="5532120"/>
            <a:ext cx="3794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AA+AF+01+01+A1 </a:t>
            </a:r>
            <a:r>
              <a:rPr lang="en-US" sz="1600" i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相加取低</a:t>
            </a:r>
            <a:r>
              <a:rPr lang="en-US" sz="1600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8 位 = FC</a:t>
            </a:r>
            <a:endParaRPr lang="en-US" sz="16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98D7658-73BE-468E-BDAD-4B38A39D5F07}"/>
              </a:ext>
            </a:extLst>
          </p:cNvPr>
          <p:cNvGrpSpPr/>
          <p:nvPr/>
        </p:nvGrpSpPr>
        <p:grpSpPr>
          <a:xfrm>
            <a:off x="4754879" y="1585039"/>
            <a:ext cx="5157216" cy="1241567"/>
            <a:chOff x="4855464" y="1509761"/>
            <a:chExt cx="5113528" cy="1241567"/>
          </a:xfrm>
        </p:grpSpPr>
        <p:sp>
          <p:nvSpPr>
            <p:cNvPr id="49" name="Rectangle 48"/>
            <p:cNvSpPr/>
            <p:nvPr/>
          </p:nvSpPr>
          <p:spPr>
            <a:xfrm>
              <a:off x="4855464" y="1778508"/>
              <a:ext cx="5113528" cy="972820"/>
            </a:xfrm>
            <a:prstGeom prst="rect">
              <a:avLst/>
            </a:prstGeom>
            <a:noFill/>
            <a:ln w="25400">
              <a:solidFill>
                <a:srgbClr val="E893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884788" y="1509761"/>
              <a:ext cx="893379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altLang="zh-CN" sz="1600" b="1" i="1" dirty="0">
                  <a:solidFill>
                    <a:srgbClr val="E8934A"/>
                  </a:solidFill>
                </a:rPr>
                <a:t>ATKP </a:t>
              </a:r>
              <a:r>
                <a:rPr lang="zh-CN" altLang="en-US" sz="1600" b="1" i="1" dirty="0">
                  <a:solidFill>
                    <a:srgbClr val="E8934A"/>
                  </a:solidFill>
                </a:rPr>
                <a:t>封包</a:t>
              </a:r>
              <a:endParaRPr sz="1600" b="1" i="1" dirty="0">
                <a:solidFill>
                  <a:srgbClr val="E8934A"/>
                </a:solidFill>
              </a:endParaRPr>
            </a:p>
          </p:txBody>
        </p:sp>
      </p:grpSp>
      <p:sp>
        <p:nvSpPr>
          <p:cNvPr id="52" name="Rounded Rectangle 21">
            <a:extLst>
              <a:ext uri="{FF2B5EF4-FFF2-40B4-BE49-F238E27FC236}">
                <a16:creationId xmlns:a16="http://schemas.microsoft.com/office/drawing/2014/main" id="{3E2ACED0-3955-4A83-B2FB-A8698F1C95D5}"/>
              </a:ext>
            </a:extLst>
          </p:cNvPr>
          <p:cNvSpPr/>
          <p:nvPr/>
        </p:nvSpPr>
        <p:spPr>
          <a:xfrm>
            <a:off x="7269481" y="3118870"/>
            <a:ext cx="4343400" cy="29009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2">
            <a:extLst>
              <a:ext uri="{FF2B5EF4-FFF2-40B4-BE49-F238E27FC236}">
                <a16:creationId xmlns:a16="http://schemas.microsoft.com/office/drawing/2014/main" id="{2A4C84D7-B5D8-41B3-8998-C4C9E1A33D45}"/>
              </a:ext>
            </a:extLst>
          </p:cNvPr>
          <p:cNvSpPr txBox="1"/>
          <p:nvPr/>
        </p:nvSpPr>
        <p:spPr>
          <a:xfrm>
            <a:off x="7516369" y="3410875"/>
            <a:ext cx="3865626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CN" altLang="en-US" sz="1700" b="1" dirty="0">
                <a:solidFill>
                  <a:srgbClr val="183052"/>
                </a:solidFill>
                <a:latin typeface="Microsoft JhengHei"/>
              </a:rPr>
              <a:t>注意</a:t>
            </a:r>
            <a:endParaRPr sz="17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54" name="TextBox 37">
            <a:extLst>
              <a:ext uri="{FF2B5EF4-FFF2-40B4-BE49-F238E27FC236}">
                <a16:creationId xmlns:a16="http://schemas.microsoft.com/office/drawing/2014/main" id="{0C262D6B-044C-45B1-9966-26C7802DE3C1}"/>
              </a:ext>
            </a:extLst>
          </p:cNvPr>
          <p:cNvSpPr txBox="1"/>
          <p:nvPr/>
        </p:nvSpPr>
        <p:spPr>
          <a:xfrm>
            <a:off x="7516370" y="3764818"/>
            <a:ext cx="3865626" cy="10275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dirty="0">
                <a:solidFill>
                  <a:srgbClr val="23364C"/>
                </a:solidFill>
                <a:latin typeface="Microsoft JhengHei"/>
              </a:rPr>
              <a:t>ATK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中 </a:t>
            </a:r>
            <a:r>
              <a:rPr lang="en-US" altLang="zh-CN" sz="1400" b="0" dirty="0" err="1">
                <a:solidFill>
                  <a:srgbClr val="23364C"/>
                </a:solidFill>
                <a:latin typeface="Microsoft JhengHei"/>
              </a:rPr>
              <a:t>nRF</a:t>
            </a:r>
            <a:r>
              <a:rPr lang="en-US" altLang="zh-CN" sz="1400" b="0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與 </a:t>
            </a:r>
            <a:r>
              <a:rPr lang="en-US" altLang="zh-CN" sz="1400" dirty="0">
                <a:solidFill>
                  <a:srgbClr val="23364C"/>
                </a:solidFill>
                <a:latin typeface="Microsoft JhengHei"/>
              </a:rPr>
              <a:t>STM </a:t>
            </a:r>
            <a:r>
              <a:rPr lang="zh-CN" altLang="en-US" sz="1400" dirty="0">
                <a:solidFill>
                  <a:srgbClr val="23364C"/>
                </a:solidFill>
                <a:latin typeface="Microsoft JhengHei"/>
              </a:rPr>
              <a:t>之間通過</a:t>
            </a:r>
            <a:r>
              <a:rPr lang="en-US" altLang="zh-TW" sz="1400" b="0" dirty="0">
                <a:solidFill>
                  <a:srgbClr val="1B2A4A"/>
                </a:solidFill>
              </a:rPr>
              <a:t>UART</a:t>
            </a:r>
            <a:r>
              <a:rPr lang="zh-CN" altLang="en-US" sz="1400" b="0" dirty="0">
                <a:solidFill>
                  <a:srgbClr val="1B2A4A"/>
                </a:solidFill>
              </a:rPr>
              <a:t>使用該通訊協議進行溝通。</a:t>
            </a:r>
            <a:r>
              <a:rPr lang="en-US" altLang="zh-TW" sz="1400" b="0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zh-CN" altLang="en-US" sz="1400" b="0" dirty="0">
                <a:solidFill>
                  <a:srgbClr val="23364C"/>
                </a:solidFill>
                <a:latin typeface="Microsoft JhengHei"/>
              </a:rPr>
              <a:t>而本研究中只在與上位機溝通中使用。</a:t>
            </a:r>
            <a:endParaRPr sz="14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58" name="页脚占位符 57">
            <a:extLst>
              <a:ext uri="{FF2B5EF4-FFF2-40B4-BE49-F238E27FC236}">
                <a16:creationId xmlns:a16="http://schemas.microsoft.com/office/drawing/2014/main" id="{577D3836-1B51-4D5C-922A-28BCECC7E0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9" name="灯片编号占位符 58">
            <a:extLst>
              <a:ext uri="{FF2B5EF4-FFF2-40B4-BE49-F238E27FC236}">
                <a16:creationId xmlns:a16="http://schemas.microsoft.com/office/drawing/2014/main" id="{427BD6B5-472F-4A28-87C8-A9F6F7B9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16</a:t>
            </a:fld>
            <a:endParaRPr lang="en-US" dirty="0"/>
          </a:p>
        </p:txBody>
      </p:sp>
      <p:sp>
        <p:nvSpPr>
          <p:cNvPr id="60" name="Rounded Rectangle 45">
            <a:extLst>
              <a:ext uri="{FF2B5EF4-FFF2-40B4-BE49-F238E27FC236}">
                <a16:creationId xmlns:a16="http://schemas.microsoft.com/office/drawing/2014/main" id="{0D1ABF31-8191-463B-9FC6-FED2B3117F4A}"/>
              </a:ext>
            </a:extLst>
          </p:cNvPr>
          <p:cNvSpPr/>
          <p:nvPr/>
        </p:nvSpPr>
        <p:spPr>
          <a:xfrm>
            <a:off x="7640320" y="4851400"/>
            <a:ext cx="3556000" cy="60960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▶  </a:t>
            </a:r>
            <a:r>
              <a:rPr sz="1600" b="1" dirty="0" err="1">
                <a:solidFill>
                  <a:srgbClr val="FFFFFF"/>
                </a:solidFill>
                <a:hlinkClick r:id="rId3" action="ppaction://hlinkfile"/>
              </a:rPr>
              <a:t>播放影片</a:t>
            </a:r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：</a:t>
            </a:r>
            <a:r>
              <a:rPr lang="zh-CN" altLang="en-US" sz="1600" b="1" dirty="0">
                <a:solidFill>
                  <a:srgbClr val="FFFFFF"/>
                </a:solidFill>
                <a:hlinkClick r:id="rId3" action="ppaction://hlinkfile"/>
              </a:rPr>
              <a:t>移植驗證</a:t>
            </a:r>
            <a:endParaRPr sz="1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3" grpId="0"/>
      <p:bldP spid="54" grpId="0"/>
      <p:bldP spid="6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931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多機控制的架構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指令的傳遞路徑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</a:t>
            </a:r>
            <a:endParaRPr lang="en-US" sz="16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定位與決策</a:t>
            </a: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2697480"/>
            <a:ext cx="54864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3" name="Text 11"/>
          <p:cNvSpPr/>
          <p:nvPr/>
        </p:nvSpPr>
        <p:spPr>
          <a:xfrm>
            <a:off x="2580640" y="20574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05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USB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 err="1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ATKP指令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103120" cy="1188720"/>
          </a:xfrm>
          <a:prstGeom prst="roundRect">
            <a:avLst>
              <a:gd name="adj" fmla="val 461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V="1">
            <a:off x="5349240" y="2121408"/>
            <a:ext cx="640080" cy="301752"/>
          </a:xfrm>
          <a:prstGeom prst="line">
            <a:avLst/>
          </a:prstGeom>
          <a:noFill/>
          <a:ln w="25400">
            <a:solidFill>
              <a:srgbClr val="0A4D6E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7" name="Shape 15"/>
          <p:cNvSpPr/>
          <p:nvPr/>
        </p:nvSpPr>
        <p:spPr>
          <a:xfrm>
            <a:off x="5349240" y="2971800"/>
            <a:ext cx="640080" cy="274320"/>
          </a:xfrm>
          <a:prstGeom prst="line">
            <a:avLst/>
          </a:prstGeom>
          <a:noFill/>
          <a:ln w="25400">
            <a:solidFill>
              <a:srgbClr val="E8934A"/>
            </a:solidFill>
            <a:prstDash val="solid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18" name="Shape 16"/>
          <p:cNvSpPr/>
          <p:nvPr/>
        </p:nvSpPr>
        <p:spPr>
          <a:xfrm>
            <a:off x="6035040" y="173736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A4D6E"/>
            </a:solidFill>
            <a:prstDash val="solid"/>
          </a:ln>
        </p:spPr>
        <p:txBody>
          <a:bodyPr/>
          <a:lstStyle/>
          <a:p>
            <a:endParaRPr sz="3600"/>
          </a:p>
        </p:txBody>
      </p:sp>
      <p:sp>
        <p:nvSpPr>
          <p:cNvPr id="19" name="Text 17"/>
          <p:cNvSpPr/>
          <p:nvPr/>
        </p:nvSpPr>
        <p:spPr>
          <a:xfrm>
            <a:off x="6035040" y="17373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200" b="1" dirty="0">
              <a:solidFill>
                <a:srgbClr val="1A2333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1" name="Text 19"/>
          <p:cNvSpPr/>
          <p:nvPr/>
        </p:nvSpPr>
        <p:spPr>
          <a:xfrm>
            <a:off x="6035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400" b="1" dirty="0">
              <a:solidFill>
                <a:srgbClr val="1A2333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nRF自製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2121408"/>
            <a:ext cx="640080" cy="320040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23" name="Shape 21"/>
          <p:cNvSpPr/>
          <p:nvPr/>
        </p:nvSpPr>
        <p:spPr>
          <a:xfrm flipV="1">
            <a:off x="8138160" y="2770633"/>
            <a:ext cx="640080" cy="320039"/>
          </a:xfrm>
          <a:prstGeom prst="line">
            <a:avLst/>
          </a:prstGeom>
          <a:noFill/>
          <a:ln w="19050">
            <a:solidFill>
              <a:srgbClr val="00B894"/>
            </a:solidFill>
            <a:prstDash val="dash"/>
            <a:tailEnd type="triangle"/>
          </a:ln>
        </p:spPr>
        <p:txBody>
          <a:bodyPr/>
          <a:lstStyle/>
          <a:p>
            <a:endParaRPr sz="2000"/>
          </a:p>
        </p:txBody>
      </p:sp>
      <p:sp>
        <p:nvSpPr>
          <p:cNvPr id="24" name="Shape 22"/>
          <p:cNvSpPr/>
          <p:nvPr/>
        </p:nvSpPr>
        <p:spPr>
          <a:xfrm>
            <a:off x="8823960" y="224028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000"/>
          </a:p>
        </p:txBody>
      </p:sp>
      <p:sp>
        <p:nvSpPr>
          <p:cNvPr id="25" name="Text 23"/>
          <p:cNvSpPr/>
          <p:nvPr/>
        </p:nvSpPr>
        <p:spPr>
          <a:xfrm>
            <a:off x="882396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發出藍牙訊號</a:t>
            </a:r>
            <a:endParaRPr lang="en-US" sz="14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由四個錨點接收</a:t>
            </a:r>
            <a:endParaRPr lang="en-US" sz="1400" dirty="0"/>
          </a:p>
        </p:txBody>
      </p:sp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00935FB2-DCB4-400F-BAF8-3B96215BEED8}"/>
              </a:ext>
            </a:extLst>
          </p:cNvPr>
          <p:cNvSpPr/>
          <p:nvPr/>
        </p:nvSpPr>
        <p:spPr>
          <a:xfrm>
            <a:off x="550848" y="401947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06FCC066-AD2F-4278-8770-D74040E3144F}"/>
              </a:ext>
            </a:extLst>
          </p:cNvPr>
          <p:cNvSpPr/>
          <p:nvPr/>
        </p:nvSpPr>
        <p:spPr>
          <a:xfrm>
            <a:off x="550848" y="4019470"/>
            <a:ext cx="3519704" cy="45720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A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102242CE-65E7-4599-BB4C-3CFB0726D7C2}"/>
              </a:ext>
            </a:extLst>
          </p:cNvPr>
          <p:cNvSpPr txBox="1"/>
          <p:nvPr/>
        </p:nvSpPr>
        <p:spPr>
          <a:xfrm>
            <a:off x="715440" y="4602901"/>
            <a:ext cx="315286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b="1" dirty="0">
                <a:solidFill>
                  <a:srgbClr val="183052"/>
                </a:solidFill>
                <a:latin typeface="Microsoft JhengHei"/>
              </a:rPr>
              <a:t>指揮多架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3BA3824B-6A27-474D-ABBB-DE40D6082046}"/>
              </a:ext>
            </a:extLst>
          </p:cNvPr>
          <p:cNvSpPr txBox="1"/>
          <p:nvPr/>
        </p:nvSpPr>
        <p:spPr>
          <a:xfrm>
            <a:off x="752016" y="5215995"/>
            <a:ext cx="307354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同一封包</a:t>
            </a:r>
            <a:r>
              <a:rPr lang="zh-CN" altLang="en-US" sz="1200" dirty="0">
                <a:solidFill>
                  <a:srgbClr val="627384"/>
                </a:solidFill>
                <a:latin typeface="Microsoft JhengHei"/>
              </a:rPr>
              <a:t>，同一指令</a:t>
            </a:r>
            <a:endParaRPr sz="12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45" name="Rounded Rectangle 18">
            <a:extLst>
              <a:ext uri="{FF2B5EF4-FFF2-40B4-BE49-F238E27FC236}">
                <a16:creationId xmlns:a16="http://schemas.microsoft.com/office/drawing/2014/main" id="{826908FC-A0DD-4A16-A125-F67E3244BFC5}"/>
              </a:ext>
            </a:extLst>
          </p:cNvPr>
          <p:cNvSpPr/>
          <p:nvPr/>
        </p:nvSpPr>
        <p:spPr>
          <a:xfrm>
            <a:off x="4271720" y="401947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CB62C852-DE8A-4F44-A6FB-3C0C68D93773}"/>
              </a:ext>
            </a:extLst>
          </p:cNvPr>
          <p:cNvSpPr/>
          <p:nvPr/>
        </p:nvSpPr>
        <p:spPr>
          <a:xfrm>
            <a:off x="4271720" y="4019470"/>
            <a:ext cx="3519704" cy="457200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B</a:t>
            </a: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0BCF020D-F535-4659-B2F5-B5462A424878}"/>
              </a:ext>
            </a:extLst>
          </p:cNvPr>
          <p:cNvSpPr txBox="1"/>
          <p:nvPr/>
        </p:nvSpPr>
        <p:spPr>
          <a:xfrm>
            <a:off x="4436312" y="4602901"/>
            <a:ext cx="315286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b="1" dirty="0">
                <a:solidFill>
                  <a:srgbClr val="183052"/>
                </a:solidFill>
                <a:latin typeface="Microsoft JhengHei"/>
              </a:rPr>
              <a:t>指揮多架</a:t>
            </a:r>
          </a:p>
        </p:txBody>
      </p:sp>
      <p:sp>
        <p:nvSpPr>
          <p:cNvPr id="48" name="TextBox 21">
            <a:extLst>
              <a:ext uri="{FF2B5EF4-FFF2-40B4-BE49-F238E27FC236}">
                <a16:creationId xmlns:a16="http://schemas.microsoft.com/office/drawing/2014/main" id="{7C89FB75-E5F4-4F09-94E3-FDB841CB1752}"/>
              </a:ext>
            </a:extLst>
          </p:cNvPr>
          <p:cNvSpPr txBox="1"/>
          <p:nvPr/>
        </p:nvSpPr>
        <p:spPr>
          <a:xfrm>
            <a:off x="4472888" y="5215995"/>
            <a:ext cx="307354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b="0" dirty="0">
                <a:solidFill>
                  <a:srgbClr val="627384"/>
                </a:solidFill>
                <a:latin typeface="Microsoft JhengHei"/>
              </a:rPr>
              <a:t>同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一包</a:t>
            </a:r>
            <a:r>
              <a:rPr lang="zh-CN" altLang="en-US" sz="1200" b="0" dirty="0">
                <a:solidFill>
                  <a:srgbClr val="627384"/>
                </a:solidFill>
                <a:latin typeface="Microsoft JhengHei"/>
              </a:rPr>
              <a:t>不同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指令；各機取自己的段</a:t>
            </a:r>
            <a:endParaRPr sz="12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49" name="Rounded Rectangle 22">
            <a:extLst>
              <a:ext uri="{FF2B5EF4-FFF2-40B4-BE49-F238E27FC236}">
                <a16:creationId xmlns:a16="http://schemas.microsoft.com/office/drawing/2014/main" id="{A924CD6F-F369-40A9-A736-C4747B8D6E13}"/>
              </a:ext>
            </a:extLst>
          </p:cNvPr>
          <p:cNvSpPr/>
          <p:nvPr/>
        </p:nvSpPr>
        <p:spPr>
          <a:xfrm>
            <a:off x="7956016" y="4023360"/>
            <a:ext cx="3519704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Rounded Rectangle 23">
            <a:extLst>
              <a:ext uri="{FF2B5EF4-FFF2-40B4-BE49-F238E27FC236}">
                <a16:creationId xmlns:a16="http://schemas.microsoft.com/office/drawing/2014/main" id="{D4ABED9E-6061-4067-AA34-2512412B3BDE}"/>
              </a:ext>
            </a:extLst>
          </p:cNvPr>
          <p:cNvSpPr/>
          <p:nvPr/>
        </p:nvSpPr>
        <p:spPr>
          <a:xfrm>
            <a:off x="7956016" y="4023360"/>
            <a:ext cx="3519704" cy="45720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狀態查詢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:a16="http://schemas.microsoft.com/office/drawing/2014/main" id="{D728FC0B-74FF-4198-A7C9-7E36011D174C}"/>
              </a:ext>
            </a:extLst>
          </p:cNvPr>
          <p:cNvSpPr txBox="1"/>
          <p:nvPr/>
        </p:nvSpPr>
        <p:spPr>
          <a:xfrm>
            <a:off x="8120608" y="4606791"/>
            <a:ext cx="315286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b="1" dirty="0">
                <a:solidFill>
                  <a:srgbClr val="183052"/>
                </a:solidFill>
                <a:latin typeface="Microsoft JhengHei"/>
              </a:rPr>
              <a:t>輪流取得狀態</a:t>
            </a:r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32A9D13F-38BD-4B95-9946-4228CFF3FF07}"/>
              </a:ext>
            </a:extLst>
          </p:cNvPr>
          <p:cNvSpPr txBox="1"/>
          <p:nvPr/>
        </p:nvSpPr>
        <p:spPr>
          <a:xfrm>
            <a:off x="8157184" y="5219885"/>
            <a:ext cx="307354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每約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 </a:t>
            </a:r>
            <a:r>
              <a:rPr lang="en-US" sz="1200" b="0" dirty="0">
                <a:solidFill>
                  <a:srgbClr val="627384"/>
                </a:solidFill>
                <a:latin typeface="Microsoft JhengHei"/>
              </a:rPr>
              <a:t>130</a:t>
            </a:r>
            <a:r>
              <a:rPr lang="en-US" altLang="zh-CN" sz="1200" b="0" dirty="0">
                <a:solidFill>
                  <a:srgbClr val="627384"/>
                </a:solidFill>
                <a:latin typeface="Microsoft JhengHei"/>
              </a:rPr>
              <a:t>ms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 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回一對一查詢</a:t>
            </a:r>
            <a:endParaRPr sz="12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29" name="页脚占位符 28">
            <a:extLst>
              <a:ext uri="{FF2B5EF4-FFF2-40B4-BE49-F238E27FC236}">
                <a16:creationId xmlns:a16="http://schemas.microsoft.com/office/drawing/2014/main" id="{C640092C-829C-46D7-81C5-AA227E8BD4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0" name="灯片编号占位符 29">
            <a:extLst>
              <a:ext uri="{FF2B5EF4-FFF2-40B4-BE49-F238E27FC236}">
                <a16:creationId xmlns:a16="http://schemas.microsoft.com/office/drawing/2014/main" id="{6099B9F7-33A5-45AA-AD83-44CD77F7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三種控制方式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44" name="Rounded Rectangle 7">
            <a:extLst>
              <a:ext uri="{FF2B5EF4-FFF2-40B4-BE49-F238E27FC236}">
                <a16:creationId xmlns:a16="http://schemas.microsoft.com/office/drawing/2014/main" id="{E3CB8829-8ACE-472F-9CE5-A6946D4E2E2D}"/>
              </a:ext>
            </a:extLst>
          </p:cNvPr>
          <p:cNvSpPr/>
          <p:nvPr/>
        </p:nvSpPr>
        <p:spPr>
          <a:xfrm>
            <a:off x="2287805" y="1709928"/>
            <a:ext cx="2929058" cy="530352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一對一</a:t>
            </a:r>
            <a:endParaRPr sz="14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5" name="Rounded Rectangle 8">
            <a:extLst>
              <a:ext uri="{FF2B5EF4-FFF2-40B4-BE49-F238E27FC236}">
                <a16:creationId xmlns:a16="http://schemas.microsoft.com/office/drawing/2014/main" id="{7A85A126-31E7-4ED1-A12E-AB059FE8A5B7}"/>
              </a:ext>
            </a:extLst>
          </p:cNvPr>
          <p:cNvSpPr/>
          <p:nvPr/>
        </p:nvSpPr>
        <p:spPr>
          <a:xfrm>
            <a:off x="5288963" y="1709928"/>
            <a:ext cx="2929058" cy="530352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A</a:t>
            </a: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D30A9E94-1EB5-4C6F-B0EB-85BD4BD482DD}"/>
              </a:ext>
            </a:extLst>
          </p:cNvPr>
          <p:cNvSpPr/>
          <p:nvPr/>
        </p:nvSpPr>
        <p:spPr>
          <a:xfrm>
            <a:off x="8290121" y="1709928"/>
            <a:ext cx="2929058" cy="530352"/>
          </a:xfrm>
          <a:prstGeom prst="roundRect">
            <a:avLst/>
          </a:prstGeom>
          <a:solidFill>
            <a:srgbClr val="3199B4"/>
          </a:solidFill>
          <a:ln w="12700">
            <a:solidFill>
              <a:srgbClr val="319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Microsoft JhengHei"/>
              </a:rPr>
              <a:t>廣播</a:t>
            </a:r>
            <a:r>
              <a:rPr sz="1400" b="1" dirty="0">
                <a:solidFill>
                  <a:srgbClr val="FFFFFF"/>
                </a:solidFill>
                <a:latin typeface="Microsoft JhengHei"/>
              </a:rPr>
              <a:t> B</a:t>
            </a:r>
          </a:p>
        </p:txBody>
      </p:sp>
      <p:sp>
        <p:nvSpPr>
          <p:cNvPr id="47" name="Rounded Rectangle 10">
            <a:extLst>
              <a:ext uri="{FF2B5EF4-FFF2-40B4-BE49-F238E27FC236}">
                <a16:creationId xmlns:a16="http://schemas.microsoft.com/office/drawing/2014/main" id="{FFA43171-FC25-49B8-AA41-AC72782959E5}"/>
              </a:ext>
            </a:extLst>
          </p:cNvPr>
          <p:cNvSpPr/>
          <p:nvPr/>
        </p:nvSpPr>
        <p:spPr>
          <a:xfrm>
            <a:off x="593457" y="2350008"/>
            <a:ext cx="1622247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ED13D70E-FAE0-41B1-97D3-94306075B7F1}"/>
              </a:ext>
            </a:extLst>
          </p:cNvPr>
          <p:cNvSpPr txBox="1"/>
          <p:nvPr/>
        </p:nvSpPr>
        <p:spPr>
          <a:xfrm>
            <a:off x="665557" y="2513260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發送次數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A58852A1-04F3-4682-9876-7263A61A09D4}"/>
              </a:ext>
            </a:extLst>
          </p:cNvPr>
          <p:cNvSpPr/>
          <p:nvPr/>
        </p:nvSpPr>
        <p:spPr>
          <a:xfrm>
            <a:off x="2287805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615356D1-DFAF-4DE6-91A3-F57F5DBCC035}"/>
              </a:ext>
            </a:extLst>
          </p:cNvPr>
          <p:cNvSpPr txBox="1"/>
          <p:nvPr/>
        </p:nvSpPr>
        <p:spPr>
          <a:xfrm>
            <a:off x="2359904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N 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次（逐架</a:t>
            </a:r>
            <a:r>
              <a:rPr sz="1200" b="0" dirty="0">
                <a:solidFill>
                  <a:srgbClr val="23364C"/>
                </a:solidFill>
                <a:latin typeface="Microsoft JhengHei"/>
              </a:rPr>
              <a:t>）</a:t>
            </a:r>
          </a:p>
        </p:txBody>
      </p:sp>
      <p:sp>
        <p:nvSpPr>
          <p:cNvPr id="51" name="Rounded Rectangle 14">
            <a:extLst>
              <a:ext uri="{FF2B5EF4-FFF2-40B4-BE49-F238E27FC236}">
                <a16:creationId xmlns:a16="http://schemas.microsoft.com/office/drawing/2014/main" id="{239B00D6-4287-427D-A0A3-F447C6618B13}"/>
              </a:ext>
            </a:extLst>
          </p:cNvPr>
          <p:cNvSpPr/>
          <p:nvPr/>
        </p:nvSpPr>
        <p:spPr>
          <a:xfrm>
            <a:off x="5288963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FE148406-234D-41E0-A711-F781BCF2E751}"/>
              </a:ext>
            </a:extLst>
          </p:cNvPr>
          <p:cNvSpPr txBox="1"/>
          <p:nvPr/>
        </p:nvSpPr>
        <p:spPr>
          <a:xfrm>
            <a:off x="5361063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2031CBF9-877C-4968-9BE8-DCFCDB12619C}"/>
              </a:ext>
            </a:extLst>
          </p:cNvPr>
          <p:cNvSpPr/>
          <p:nvPr/>
        </p:nvSpPr>
        <p:spPr>
          <a:xfrm>
            <a:off x="8290121" y="2350008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BB745189-59C3-464E-B023-0E56ADC9E1F9}"/>
              </a:ext>
            </a:extLst>
          </p:cNvPr>
          <p:cNvSpPr txBox="1"/>
          <p:nvPr/>
        </p:nvSpPr>
        <p:spPr>
          <a:xfrm>
            <a:off x="8362221" y="2513260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次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1DCCA4A6-8806-42DD-9C57-FED4C0ED8943}"/>
              </a:ext>
            </a:extLst>
          </p:cNvPr>
          <p:cNvSpPr/>
          <p:nvPr/>
        </p:nvSpPr>
        <p:spPr>
          <a:xfrm>
            <a:off x="593457" y="3017520"/>
            <a:ext cx="1622247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19">
            <a:extLst>
              <a:ext uri="{FF2B5EF4-FFF2-40B4-BE49-F238E27FC236}">
                <a16:creationId xmlns:a16="http://schemas.microsoft.com/office/drawing/2014/main" id="{671B39FA-8BAB-4508-AE71-BBCF87694746}"/>
              </a:ext>
            </a:extLst>
          </p:cNvPr>
          <p:cNvSpPr txBox="1"/>
          <p:nvPr/>
        </p:nvSpPr>
        <p:spPr>
          <a:xfrm>
            <a:off x="665557" y="3180772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指令同步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57" name="Rounded Rectangle 20">
            <a:extLst>
              <a:ext uri="{FF2B5EF4-FFF2-40B4-BE49-F238E27FC236}">
                <a16:creationId xmlns:a16="http://schemas.microsoft.com/office/drawing/2014/main" id="{7489162F-4780-4B38-8A83-30AED294E6B1}"/>
              </a:ext>
            </a:extLst>
          </p:cNvPr>
          <p:cNvSpPr/>
          <p:nvPr/>
        </p:nvSpPr>
        <p:spPr>
          <a:xfrm>
            <a:off x="2287805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BD4E2E57-A5B9-4CCF-9F56-AC07CFA9C63D}"/>
              </a:ext>
            </a:extLst>
          </p:cNvPr>
          <p:cNvSpPr txBox="1"/>
          <p:nvPr/>
        </p:nvSpPr>
        <p:spPr>
          <a:xfrm>
            <a:off x="2359904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各架錯開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59" name="Rounded Rectangle 22">
            <a:extLst>
              <a:ext uri="{FF2B5EF4-FFF2-40B4-BE49-F238E27FC236}">
                <a16:creationId xmlns:a16="http://schemas.microsoft.com/office/drawing/2014/main" id="{54262C15-E7B9-4EAD-AEEC-8FB6B9AE62DE}"/>
              </a:ext>
            </a:extLst>
          </p:cNvPr>
          <p:cNvSpPr/>
          <p:nvPr/>
        </p:nvSpPr>
        <p:spPr>
          <a:xfrm>
            <a:off x="5288963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23">
            <a:extLst>
              <a:ext uri="{FF2B5EF4-FFF2-40B4-BE49-F238E27FC236}">
                <a16:creationId xmlns:a16="http://schemas.microsoft.com/office/drawing/2014/main" id="{EFF66070-D58E-4F48-BEA0-551A583C13DD}"/>
              </a:ext>
            </a:extLst>
          </p:cNvPr>
          <p:cNvSpPr txBox="1"/>
          <p:nvPr/>
        </p:nvSpPr>
        <p:spPr>
          <a:xfrm>
            <a:off x="5361063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同時到達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1" name="Rounded Rectangle 24">
            <a:extLst>
              <a:ext uri="{FF2B5EF4-FFF2-40B4-BE49-F238E27FC236}">
                <a16:creationId xmlns:a16="http://schemas.microsoft.com/office/drawing/2014/main" id="{5073EDF5-AC75-462D-88CB-0D77D213623E}"/>
              </a:ext>
            </a:extLst>
          </p:cNvPr>
          <p:cNvSpPr/>
          <p:nvPr/>
        </p:nvSpPr>
        <p:spPr>
          <a:xfrm>
            <a:off x="8290121" y="3017520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25">
            <a:extLst>
              <a:ext uri="{FF2B5EF4-FFF2-40B4-BE49-F238E27FC236}">
                <a16:creationId xmlns:a16="http://schemas.microsoft.com/office/drawing/2014/main" id="{6DC0BF43-863A-4740-B2C5-456F0D6E47BE}"/>
              </a:ext>
            </a:extLst>
          </p:cNvPr>
          <p:cNvSpPr txBox="1"/>
          <p:nvPr/>
        </p:nvSpPr>
        <p:spPr>
          <a:xfrm>
            <a:off x="8362221" y="3180772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同時到達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3" name="Rounded Rectangle 26">
            <a:extLst>
              <a:ext uri="{FF2B5EF4-FFF2-40B4-BE49-F238E27FC236}">
                <a16:creationId xmlns:a16="http://schemas.microsoft.com/office/drawing/2014/main" id="{74C0EBFC-F281-4248-91C6-86EDA38F7FAE}"/>
              </a:ext>
            </a:extLst>
          </p:cNvPr>
          <p:cNvSpPr/>
          <p:nvPr/>
        </p:nvSpPr>
        <p:spPr>
          <a:xfrm>
            <a:off x="593457" y="3685032"/>
            <a:ext cx="1622247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4" name="TextBox 27">
            <a:extLst>
              <a:ext uri="{FF2B5EF4-FFF2-40B4-BE49-F238E27FC236}">
                <a16:creationId xmlns:a16="http://schemas.microsoft.com/office/drawing/2014/main" id="{F20E75B1-F897-4D68-9E5A-2E08FF9E003B}"/>
              </a:ext>
            </a:extLst>
          </p:cNvPr>
          <p:cNvSpPr txBox="1"/>
          <p:nvPr/>
        </p:nvSpPr>
        <p:spPr>
          <a:xfrm>
            <a:off x="665557" y="3848284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狀態回覆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65" name="Rounded Rectangle 28">
            <a:extLst>
              <a:ext uri="{FF2B5EF4-FFF2-40B4-BE49-F238E27FC236}">
                <a16:creationId xmlns:a16="http://schemas.microsoft.com/office/drawing/2014/main" id="{2A1CCD0E-8B3E-44BE-BC94-BF3C21D59CAE}"/>
              </a:ext>
            </a:extLst>
          </p:cNvPr>
          <p:cNvSpPr/>
          <p:nvPr/>
        </p:nvSpPr>
        <p:spPr>
          <a:xfrm>
            <a:off x="2287805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6" name="TextBox 29">
            <a:extLst>
              <a:ext uri="{FF2B5EF4-FFF2-40B4-BE49-F238E27FC236}">
                <a16:creationId xmlns:a16="http://schemas.microsoft.com/office/drawing/2014/main" id="{4196EB04-806B-48D0-BDFD-290769109061}"/>
              </a:ext>
            </a:extLst>
          </p:cNvPr>
          <p:cNvSpPr txBox="1"/>
          <p:nvPr/>
        </p:nvSpPr>
        <p:spPr>
          <a:xfrm>
            <a:off x="2359904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✓ 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有,可重送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67" name="Rounded Rectangle 30">
            <a:extLst>
              <a:ext uri="{FF2B5EF4-FFF2-40B4-BE49-F238E27FC236}">
                <a16:creationId xmlns:a16="http://schemas.microsoft.com/office/drawing/2014/main" id="{A590AD31-79DB-4DD7-944F-35FFDC01CBBC}"/>
              </a:ext>
            </a:extLst>
          </p:cNvPr>
          <p:cNvSpPr/>
          <p:nvPr/>
        </p:nvSpPr>
        <p:spPr>
          <a:xfrm>
            <a:off x="5288963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8" name="TextBox 31">
            <a:extLst>
              <a:ext uri="{FF2B5EF4-FFF2-40B4-BE49-F238E27FC236}">
                <a16:creationId xmlns:a16="http://schemas.microsoft.com/office/drawing/2014/main" id="{8784467B-10D6-43E8-A8EA-AC3C1FD64D49}"/>
              </a:ext>
            </a:extLst>
          </p:cNvPr>
          <p:cNvSpPr txBox="1"/>
          <p:nvPr/>
        </p:nvSpPr>
        <p:spPr>
          <a:xfrm>
            <a:off x="5361063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✗ 無</a:t>
            </a:r>
          </a:p>
        </p:txBody>
      </p:sp>
      <p:sp>
        <p:nvSpPr>
          <p:cNvPr id="69" name="Rounded Rectangle 32">
            <a:extLst>
              <a:ext uri="{FF2B5EF4-FFF2-40B4-BE49-F238E27FC236}">
                <a16:creationId xmlns:a16="http://schemas.microsoft.com/office/drawing/2014/main" id="{144FC58C-8AB6-4367-92B8-BC061B94F853}"/>
              </a:ext>
            </a:extLst>
          </p:cNvPr>
          <p:cNvSpPr/>
          <p:nvPr/>
        </p:nvSpPr>
        <p:spPr>
          <a:xfrm>
            <a:off x="8290121" y="3685032"/>
            <a:ext cx="2929058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0" name="TextBox 33">
            <a:extLst>
              <a:ext uri="{FF2B5EF4-FFF2-40B4-BE49-F238E27FC236}">
                <a16:creationId xmlns:a16="http://schemas.microsoft.com/office/drawing/2014/main" id="{A098A78B-34ED-4F25-BA15-33FF1FAD33F9}"/>
              </a:ext>
            </a:extLst>
          </p:cNvPr>
          <p:cNvSpPr txBox="1"/>
          <p:nvPr/>
        </p:nvSpPr>
        <p:spPr>
          <a:xfrm>
            <a:off x="8362221" y="3848284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✗ 無</a:t>
            </a:r>
          </a:p>
        </p:txBody>
      </p:sp>
      <p:sp>
        <p:nvSpPr>
          <p:cNvPr id="71" name="Rounded Rectangle 34">
            <a:extLst>
              <a:ext uri="{FF2B5EF4-FFF2-40B4-BE49-F238E27FC236}">
                <a16:creationId xmlns:a16="http://schemas.microsoft.com/office/drawing/2014/main" id="{FEB25110-2A71-4025-B912-300C98A896B3}"/>
              </a:ext>
            </a:extLst>
          </p:cNvPr>
          <p:cNvSpPr/>
          <p:nvPr/>
        </p:nvSpPr>
        <p:spPr>
          <a:xfrm>
            <a:off x="593457" y="4352543"/>
            <a:ext cx="1622247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TextBox 35">
            <a:extLst>
              <a:ext uri="{FF2B5EF4-FFF2-40B4-BE49-F238E27FC236}">
                <a16:creationId xmlns:a16="http://schemas.microsoft.com/office/drawing/2014/main" id="{5A6197E7-9824-40C0-8986-B010DFA0659F}"/>
              </a:ext>
            </a:extLst>
          </p:cNvPr>
          <p:cNvSpPr txBox="1"/>
          <p:nvPr/>
        </p:nvSpPr>
        <p:spPr>
          <a:xfrm>
            <a:off x="665557" y="4515795"/>
            <a:ext cx="147804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 err="1">
                <a:solidFill>
                  <a:srgbClr val="183052"/>
                </a:solidFill>
                <a:latin typeface="Microsoft JhengHei"/>
              </a:rPr>
              <a:t>同時操控</a:t>
            </a:r>
            <a:endParaRPr sz="1200"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73" name="Rounded Rectangle 36">
            <a:extLst>
              <a:ext uri="{FF2B5EF4-FFF2-40B4-BE49-F238E27FC236}">
                <a16:creationId xmlns:a16="http://schemas.microsoft.com/office/drawing/2014/main" id="{E0FD3305-FD99-4F52-8817-D13A734FB854}"/>
              </a:ext>
            </a:extLst>
          </p:cNvPr>
          <p:cNvSpPr/>
          <p:nvPr/>
        </p:nvSpPr>
        <p:spPr>
          <a:xfrm>
            <a:off x="2287805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84A96ABE-E61B-4E20-A72E-E4CF7384F2DB}"/>
              </a:ext>
            </a:extLst>
          </p:cNvPr>
          <p:cNvSpPr txBox="1"/>
          <p:nvPr/>
        </p:nvSpPr>
        <p:spPr>
          <a:xfrm>
            <a:off x="2359904" y="4515795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23364C"/>
                </a:solidFill>
                <a:latin typeface="Microsoft JhengHei"/>
              </a:rPr>
              <a:t>1 架</a:t>
            </a:r>
          </a:p>
        </p:txBody>
      </p:sp>
      <p:sp>
        <p:nvSpPr>
          <p:cNvPr id="75" name="Rounded Rectangle 38">
            <a:extLst>
              <a:ext uri="{FF2B5EF4-FFF2-40B4-BE49-F238E27FC236}">
                <a16:creationId xmlns:a16="http://schemas.microsoft.com/office/drawing/2014/main" id="{A330B67A-42EE-445B-87B1-F6A9A6507CD8}"/>
              </a:ext>
            </a:extLst>
          </p:cNvPr>
          <p:cNvSpPr/>
          <p:nvPr/>
        </p:nvSpPr>
        <p:spPr>
          <a:xfrm>
            <a:off x="5288963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E1C02E1-D5B0-416B-A06F-09F673F08ED9}"/>
              </a:ext>
            </a:extLst>
          </p:cNvPr>
          <p:cNvSpPr txBox="1"/>
          <p:nvPr/>
        </p:nvSpPr>
        <p:spPr>
          <a:xfrm>
            <a:off x="5361063" y="4515796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23364C"/>
                </a:solidFill>
                <a:latin typeface="Microsoft JhengHei"/>
              </a:rPr>
              <a:t>多架；</a:t>
            </a:r>
            <a:r>
              <a:rPr lang="zh-TW" altLang="en-US" sz="1200" dirty="0">
                <a:solidFill>
                  <a:srgbClr val="23364C"/>
                </a:solidFill>
                <a:latin typeface="Microsoft JhengHei"/>
              </a:rPr>
              <a:t>同步</a:t>
            </a:r>
            <a:endParaRPr lang="zh-TW" altLang="en-US"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77" name="Rounded Rectangle 40">
            <a:extLst>
              <a:ext uri="{FF2B5EF4-FFF2-40B4-BE49-F238E27FC236}">
                <a16:creationId xmlns:a16="http://schemas.microsoft.com/office/drawing/2014/main" id="{FE4600E7-25B9-4FDA-BDC9-86ED1EC69B20}"/>
              </a:ext>
            </a:extLst>
          </p:cNvPr>
          <p:cNvSpPr/>
          <p:nvPr/>
        </p:nvSpPr>
        <p:spPr>
          <a:xfrm>
            <a:off x="8290121" y="4352543"/>
            <a:ext cx="2929058" cy="60350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8" name="TextBox 41">
            <a:extLst>
              <a:ext uri="{FF2B5EF4-FFF2-40B4-BE49-F238E27FC236}">
                <a16:creationId xmlns:a16="http://schemas.microsoft.com/office/drawing/2014/main" id="{25ED75BA-8434-42C4-9F3F-BCDBA7222A24}"/>
              </a:ext>
            </a:extLst>
          </p:cNvPr>
          <p:cNvSpPr txBox="1"/>
          <p:nvPr/>
        </p:nvSpPr>
        <p:spPr>
          <a:xfrm>
            <a:off x="8362221" y="4515795"/>
            <a:ext cx="278485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200" b="0" dirty="0">
                <a:solidFill>
                  <a:srgbClr val="23364C"/>
                </a:solidFill>
                <a:latin typeface="Microsoft JhengHei"/>
              </a:rPr>
              <a:t>多</a:t>
            </a:r>
            <a:r>
              <a:rPr sz="1200" b="0" dirty="0" err="1">
                <a:solidFill>
                  <a:srgbClr val="23364C"/>
                </a:solidFill>
                <a:latin typeface="Microsoft JhengHei"/>
              </a:rPr>
              <a:t>架；可不同動作</a:t>
            </a:r>
            <a:endParaRPr sz="1200" b="0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8414F0F1-A35B-4E8E-8998-24D6799A7C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0502849-8271-4C12-B226-19CC2FB0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4874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00481" y="190392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0xAF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79823" y="193383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7" name="Text 15"/>
          <p:cNvSpPr/>
          <p:nvPr/>
        </p:nvSpPr>
        <p:spPr>
          <a:xfrm>
            <a:off x="2679823" y="193383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79823" y="244589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1600" b="0" dirty="0">
                <a:solidFill>
                  <a:srgbClr val="6B7A8C"/>
                </a:solidFill>
              </a:rPr>
              <a:t>功能欄位</a:t>
            </a:r>
          </a:p>
        </p:txBody>
      </p:sp>
      <p:sp>
        <p:nvSpPr>
          <p:cNvPr id="19" name="Shape 17"/>
          <p:cNvSpPr/>
          <p:nvPr/>
        </p:nvSpPr>
        <p:spPr>
          <a:xfrm>
            <a:off x="4398895" y="193383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0" name="Text 18"/>
          <p:cNvSpPr/>
          <p:nvPr/>
        </p:nvSpPr>
        <p:spPr>
          <a:xfrm>
            <a:off x="4398895" y="193383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8895" y="244589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1+27+1</a:t>
            </a:r>
            <a:endParaRPr lang="en-US" sz="16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(=29)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17967" y="193383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6117967" y="193383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remoterData_t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17967" y="244589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 Byte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91319" y="1933830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6" name="Text 24"/>
          <p:cNvSpPr/>
          <p:nvPr/>
        </p:nvSpPr>
        <p:spPr>
          <a:xfrm>
            <a:off x="7791319" y="193383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目標位元組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37039" y="2445894"/>
            <a:ext cx="1554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0=</a:t>
            </a:r>
            <a:r>
              <a:rPr lang="en-US" sz="16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1=</a:t>
            </a:r>
            <a:r>
              <a:rPr lang="en-US" sz="16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</a:t>
            </a:r>
            <a:r>
              <a:rPr lang="en-US" sz="16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2=ATK</a:t>
            </a:r>
            <a:endParaRPr lang="en-US" sz="1600" dirty="0"/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5049BE56-5DD9-4081-830C-41C98CA93480}"/>
              </a:ext>
            </a:extLst>
          </p:cNvPr>
          <p:cNvSpPr/>
          <p:nvPr/>
        </p:nvSpPr>
        <p:spPr>
          <a:xfrm>
            <a:off x="548640" y="3032759"/>
            <a:ext cx="11064240" cy="30211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FFFF"/>
              </a:solidFill>
            </a:endParaRPr>
          </a:p>
        </p:txBody>
      </p:sp>
      <p:sp>
        <p:nvSpPr>
          <p:cNvPr id="61" name="TextBox 28">
            <a:extLst>
              <a:ext uri="{FF2B5EF4-FFF2-40B4-BE49-F238E27FC236}">
                <a16:creationId xmlns:a16="http://schemas.microsoft.com/office/drawing/2014/main" id="{62C70F1B-ED08-475F-AD1C-6D7ECC757344}"/>
              </a:ext>
            </a:extLst>
          </p:cNvPr>
          <p:cNvSpPr txBox="1"/>
          <p:nvPr/>
        </p:nvSpPr>
        <p:spPr>
          <a:xfrm>
            <a:off x="777240" y="3188652"/>
            <a:ext cx="635000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b="1" dirty="0" err="1">
                <a:solidFill>
                  <a:srgbClr val="0A4D6E"/>
                </a:solidFill>
              </a:rPr>
              <a:t>remoterData_t</a:t>
            </a:r>
            <a:r>
              <a:rPr b="1" dirty="0">
                <a:solidFill>
                  <a:srgbClr val="0A4D6E"/>
                </a:solidFill>
              </a:rPr>
              <a:t>　27 Byte</a:t>
            </a:r>
          </a:p>
        </p:txBody>
      </p:sp>
      <p:sp>
        <p:nvSpPr>
          <p:cNvPr id="62" name="Rounded Rectangle 29">
            <a:extLst>
              <a:ext uri="{FF2B5EF4-FFF2-40B4-BE49-F238E27FC236}">
                <a16:creationId xmlns:a16="http://schemas.microsoft.com/office/drawing/2014/main" id="{2C8AA37C-59CC-4874-990A-2DE381535412}"/>
              </a:ext>
            </a:extLst>
          </p:cNvPr>
          <p:cNvSpPr/>
          <p:nvPr/>
        </p:nvSpPr>
        <p:spPr>
          <a:xfrm>
            <a:off x="777240" y="3657599"/>
            <a:ext cx="2133600" cy="398987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roll / pitch / yaw</a:t>
            </a:r>
          </a:p>
        </p:txBody>
      </p:sp>
      <p:sp>
        <p:nvSpPr>
          <p:cNvPr id="63" name="TextBox 30">
            <a:extLst>
              <a:ext uri="{FF2B5EF4-FFF2-40B4-BE49-F238E27FC236}">
                <a16:creationId xmlns:a16="http://schemas.microsoft.com/office/drawing/2014/main" id="{31AE2D0C-3C5E-4D9B-ADBD-041D34FCCB0F}"/>
              </a:ext>
            </a:extLst>
          </p:cNvPr>
          <p:cNvSpPr txBox="1"/>
          <p:nvPr/>
        </p:nvSpPr>
        <p:spPr>
          <a:xfrm>
            <a:off x="3048000" y="3687622"/>
            <a:ext cx="762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12 B</a:t>
            </a:r>
          </a:p>
        </p:txBody>
      </p:sp>
      <p:sp>
        <p:nvSpPr>
          <p:cNvPr id="64" name="TextBox 31">
            <a:extLst>
              <a:ext uri="{FF2B5EF4-FFF2-40B4-BE49-F238E27FC236}">
                <a16:creationId xmlns:a16="http://schemas.microsoft.com/office/drawing/2014/main" id="{5FBE5B14-BE79-4829-A324-0A3A4BE89E1F}"/>
              </a:ext>
            </a:extLst>
          </p:cNvPr>
          <p:cNvSpPr txBox="1"/>
          <p:nvPr/>
        </p:nvSpPr>
        <p:spPr>
          <a:xfrm>
            <a:off x="3937000" y="3703010"/>
            <a:ext cx="31902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姿態,各</a:t>
            </a:r>
            <a:r>
              <a:rPr sz="1400" b="0" dirty="0">
                <a:solidFill>
                  <a:srgbClr val="1B2A4A"/>
                </a:solidFill>
              </a:rPr>
              <a:t> 4 Byte </a:t>
            </a:r>
            <a:r>
              <a:rPr lang="zh-TW" altLang="en-US" sz="1400" b="0" dirty="0">
                <a:solidFill>
                  <a:srgbClr val="1B2A4A"/>
                </a:solidFill>
              </a:rPr>
              <a:t>浮點</a:t>
            </a:r>
            <a:r>
              <a:rPr lang="zh-CN" altLang="en-US" sz="1400" b="0" dirty="0">
                <a:solidFill>
                  <a:srgbClr val="1B2A4A"/>
                </a:solidFill>
              </a:rPr>
              <a:t>數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65" name="Rounded Rectangle 32">
            <a:extLst>
              <a:ext uri="{FF2B5EF4-FFF2-40B4-BE49-F238E27FC236}">
                <a16:creationId xmlns:a16="http://schemas.microsoft.com/office/drawing/2014/main" id="{83C57ECD-1155-4E2C-9E90-B925DF7206EB}"/>
              </a:ext>
            </a:extLst>
          </p:cNvPr>
          <p:cNvSpPr/>
          <p:nvPr/>
        </p:nvSpPr>
        <p:spPr>
          <a:xfrm>
            <a:off x="777240" y="4074796"/>
            <a:ext cx="2133600" cy="398987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onsolas"/>
              </a:rPr>
              <a:t>thrust</a:t>
            </a:r>
          </a:p>
        </p:txBody>
      </p:sp>
      <p:sp>
        <p:nvSpPr>
          <p:cNvPr id="66" name="TextBox 33">
            <a:extLst>
              <a:ext uri="{FF2B5EF4-FFF2-40B4-BE49-F238E27FC236}">
                <a16:creationId xmlns:a16="http://schemas.microsoft.com/office/drawing/2014/main" id="{6864A6B0-F09E-489D-A183-3060942D85F0}"/>
              </a:ext>
            </a:extLst>
          </p:cNvPr>
          <p:cNvSpPr txBox="1"/>
          <p:nvPr/>
        </p:nvSpPr>
        <p:spPr>
          <a:xfrm>
            <a:off x="3048000" y="4111737"/>
            <a:ext cx="762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4 B</a:t>
            </a:r>
          </a:p>
        </p:txBody>
      </p:sp>
      <p:sp>
        <p:nvSpPr>
          <p:cNvPr id="67" name="TextBox 34">
            <a:extLst>
              <a:ext uri="{FF2B5EF4-FFF2-40B4-BE49-F238E27FC236}">
                <a16:creationId xmlns:a16="http://schemas.microsoft.com/office/drawing/2014/main" id="{CB25066F-4ABD-41BE-B888-9F4573A8BBBB}"/>
              </a:ext>
            </a:extLst>
          </p:cNvPr>
          <p:cNvSpPr txBox="1"/>
          <p:nvPr/>
        </p:nvSpPr>
        <p:spPr>
          <a:xfrm>
            <a:off x="3937001" y="4127125"/>
            <a:ext cx="31902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1B2A4A"/>
                </a:solidFill>
              </a:rPr>
              <a:t>油門,4 Byte </a:t>
            </a:r>
            <a:r>
              <a:rPr lang="zh-TW" altLang="en-US" sz="1400" b="0" dirty="0">
                <a:solidFill>
                  <a:srgbClr val="1B2A4A"/>
                </a:solidFill>
              </a:rPr>
              <a:t>浮點</a:t>
            </a:r>
            <a:r>
              <a:rPr lang="zh-CN" altLang="en-US" sz="1400" b="0" dirty="0">
                <a:solidFill>
                  <a:srgbClr val="1B2A4A"/>
                </a:solidFill>
              </a:rPr>
              <a:t>數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68" name="Rounded Rectangle 35">
            <a:extLst>
              <a:ext uri="{FF2B5EF4-FFF2-40B4-BE49-F238E27FC236}">
                <a16:creationId xmlns:a16="http://schemas.microsoft.com/office/drawing/2014/main" id="{11A13BFB-9B68-44AE-A776-64FB66C08E56}"/>
              </a:ext>
            </a:extLst>
          </p:cNvPr>
          <p:cNvSpPr/>
          <p:nvPr/>
        </p:nvSpPr>
        <p:spPr>
          <a:xfrm>
            <a:off x="776925" y="4497582"/>
            <a:ext cx="2133600" cy="398987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trimRoll</a:t>
            </a:r>
            <a:r>
              <a:rPr sz="1400" b="1" dirty="0">
                <a:solidFill>
                  <a:srgbClr val="FFFFFF"/>
                </a:solidFill>
              </a:rPr>
              <a:t> / </a:t>
            </a:r>
            <a:r>
              <a:rPr sz="1400" b="1" dirty="0" err="1">
                <a:solidFill>
                  <a:srgbClr val="FFFFFF"/>
                </a:solidFill>
              </a:rPr>
              <a:t>trimPitch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69" name="TextBox 36">
            <a:extLst>
              <a:ext uri="{FF2B5EF4-FFF2-40B4-BE49-F238E27FC236}">
                <a16:creationId xmlns:a16="http://schemas.microsoft.com/office/drawing/2014/main" id="{8809D641-2091-47AA-A967-68F49840B2D7}"/>
              </a:ext>
            </a:extLst>
          </p:cNvPr>
          <p:cNvSpPr txBox="1"/>
          <p:nvPr/>
        </p:nvSpPr>
        <p:spPr>
          <a:xfrm>
            <a:off x="3048001" y="4553887"/>
            <a:ext cx="762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8 B</a:t>
            </a:r>
          </a:p>
        </p:txBody>
      </p:sp>
      <p:sp>
        <p:nvSpPr>
          <p:cNvPr id="70" name="TextBox 37">
            <a:extLst>
              <a:ext uri="{FF2B5EF4-FFF2-40B4-BE49-F238E27FC236}">
                <a16:creationId xmlns:a16="http://schemas.microsoft.com/office/drawing/2014/main" id="{A816D2A6-1CFF-4E54-9524-E415C8D5FDAA}"/>
              </a:ext>
            </a:extLst>
          </p:cNvPr>
          <p:cNvSpPr txBox="1"/>
          <p:nvPr/>
        </p:nvSpPr>
        <p:spPr>
          <a:xfrm>
            <a:off x="3937001" y="4569275"/>
            <a:ext cx="31902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微調,各</a:t>
            </a:r>
            <a:r>
              <a:rPr sz="1400" b="0" dirty="0">
                <a:solidFill>
                  <a:srgbClr val="1B2A4A"/>
                </a:solidFill>
              </a:rPr>
              <a:t> 4 Byte </a:t>
            </a:r>
            <a:r>
              <a:rPr sz="1400" b="0" dirty="0" err="1">
                <a:solidFill>
                  <a:srgbClr val="1B2A4A"/>
                </a:solidFill>
              </a:rPr>
              <a:t>浮點</a:t>
            </a:r>
            <a:r>
              <a:rPr lang="zh-CN" altLang="en-US" sz="1400" dirty="0">
                <a:solidFill>
                  <a:srgbClr val="1B2A4A"/>
                </a:solidFill>
              </a:rPr>
              <a:t>數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71" name="Rounded Rectangle 38">
            <a:extLst>
              <a:ext uri="{FF2B5EF4-FFF2-40B4-BE49-F238E27FC236}">
                <a16:creationId xmlns:a16="http://schemas.microsoft.com/office/drawing/2014/main" id="{256C9383-34AC-4527-86C6-AF25AA120D61}"/>
              </a:ext>
            </a:extLst>
          </p:cNvPr>
          <p:cNvSpPr/>
          <p:nvPr/>
        </p:nvSpPr>
        <p:spPr>
          <a:xfrm>
            <a:off x="777240" y="4919694"/>
            <a:ext cx="2133600" cy="398987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Consolas"/>
              </a:rPr>
              <a:t>ctrlMode</a:t>
            </a:r>
            <a:endParaRPr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2" name="TextBox 39">
            <a:extLst>
              <a:ext uri="{FF2B5EF4-FFF2-40B4-BE49-F238E27FC236}">
                <a16:creationId xmlns:a16="http://schemas.microsoft.com/office/drawing/2014/main" id="{50B4C72D-8442-42D5-8EB1-C7BBECBD6F9B}"/>
              </a:ext>
            </a:extLst>
          </p:cNvPr>
          <p:cNvSpPr txBox="1"/>
          <p:nvPr/>
        </p:nvSpPr>
        <p:spPr>
          <a:xfrm>
            <a:off x="3048000" y="4979054"/>
            <a:ext cx="762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1 B</a:t>
            </a:r>
          </a:p>
        </p:txBody>
      </p:sp>
      <p:sp>
        <p:nvSpPr>
          <p:cNvPr id="73" name="TextBox 40">
            <a:extLst>
              <a:ext uri="{FF2B5EF4-FFF2-40B4-BE49-F238E27FC236}">
                <a16:creationId xmlns:a16="http://schemas.microsoft.com/office/drawing/2014/main" id="{3CF79F1C-5B33-4C2F-8F78-D4C3FA228F73}"/>
              </a:ext>
            </a:extLst>
          </p:cNvPr>
          <p:cNvSpPr txBox="1"/>
          <p:nvPr/>
        </p:nvSpPr>
        <p:spPr>
          <a:xfrm>
            <a:off x="3937000" y="4994442"/>
            <a:ext cx="31902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控制模式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74" name="Rounded Rectangle 41">
            <a:extLst>
              <a:ext uri="{FF2B5EF4-FFF2-40B4-BE49-F238E27FC236}">
                <a16:creationId xmlns:a16="http://schemas.microsoft.com/office/drawing/2014/main" id="{2E23CC78-70F6-44A3-B596-FCC75EE30011}"/>
              </a:ext>
            </a:extLst>
          </p:cNvPr>
          <p:cNvSpPr/>
          <p:nvPr/>
        </p:nvSpPr>
        <p:spPr>
          <a:xfrm>
            <a:off x="777240" y="5337579"/>
            <a:ext cx="2133600" cy="387346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flightMode</a:t>
            </a:r>
            <a:r>
              <a:rPr sz="1400" b="1" dirty="0">
                <a:solidFill>
                  <a:srgbClr val="FFFFFF"/>
                </a:solidFill>
              </a:rPr>
              <a:t> / </a:t>
            </a:r>
            <a:r>
              <a:rPr sz="1400" b="1" dirty="0" err="1">
                <a:solidFill>
                  <a:srgbClr val="FFFFFF"/>
                </a:solidFill>
              </a:rPr>
              <a:t>RCLock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5" name="TextBox 42">
            <a:extLst>
              <a:ext uri="{FF2B5EF4-FFF2-40B4-BE49-F238E27FC236}">
                <a16:creationId xmlns:a16="http://schemas.microsoft.com/office/drawing/2014/main" id="{82CA0E8B-640A-4C0D-8FAA-CE3AD140DAFA}"/>
              </a:ext>
            </a:extLst>
          </p:cNvPr>
          <p:cNvSpPr txBox="1"/>
          <p:nvPr/>
        </p:nvSpPr>
        <p:spPr>
          <a:xfrm>
            <a:off x="3048001" y="5385038"/>
            <a:ext cx="762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2 B</a:t>
            </a:r>
          </a:p>
        </p:txBody>
      </p:sp>
      <p:sp>
        <p:nvSpPr>
          <p:cNvPr id="76" name="TextBox 43">
            <a:extLst>
              <a:ext uri="{FF2B5EF4-FFF2-40B4-BE49-F238E27FC236}">
                <a16:creationId xmlns:a16="http://schemas.microsoft.com/office/drawing/2014/main" id="{874C731D-E4B1-4C1D-839C-F2F34C359830}"/>
              </a:ext>
            </a:extLst>
          </p:cNvPr>
          <p:cNvSpPr txBox="1"/>
          <p:nvPr/>
        </p:nvSpPr>
        <p:spPr>
          <a:xfrm>
            <a:off x="3937001" y="5400426"/>
            <a:ext cx="319024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飛行模式、遙控鎖定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78" name="Rounded Rectangle 45">
            <a:extLst>
              <a:ext uri="{FF2B5EF4-FFF2-40B4-BE49-F238E27FC236}">
                <a16:creationId xmlns:a16="http://schemas.microsoft.com/office/drawing/2014/main" id="{27A79B0F-0298-4862-B784-B42380E0DD10}"/>
              </a:ext>
            </a:extLst>
          </p:cNvPr>
          <p:cNvSpPr/>
          <p:nvPr/>
        </p:nvSpPr>
        <p:spPr>
          <a:xfrm>
            <a:off x="7640320" y="4851400"/>
            <a:ext cx="3556000" cy="60960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▶  </a:t>
            </a:r>
            <a:r>
              <a:rPr sz="1600" b="1" dirty="0" err="1">
                <a:solidFill>
                  <a:srgbClr val="FFFFFF"/>
                </a:solidFill>
                <a:hlinkClick r:id="rId3" action="ppaction://hlinkfile"/>
              </a:rPr>
              <a:t>播放影片：廣播模式</a:t>
            </a:r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 A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82" name="页脚占位符 81">
            <a:extLst>
              <a:ext uri="{FF2B5EF4-FFF2-40B4-BE49-F238E27FC236}">
                <a16:creationId xmlns:a16="http://schemas.microsoft.com/office/drawing/2014/main" id="{9ED25B4F-EE9A-4F67-89FF-5E79488606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83" name="灯片编号占位符 82">
            <a:extLst>
              <a:ext uri="{FF2B5EF4-FFF2-40B4-BE49-F238E27FC236}">
                <a16:creationId xmlns:a16="http://schemas.microsoft.com/office/drawing/2014/main" id="{D77A0913-530E-45C4-AF4D-F5D3537F7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27">
            <a:extLst>
              <a:ext uri="{FF2B5EF4-FFF2-40B4-BE49-F238E27FC236}">
                <a16:creationId xmlns:a16="http://schemas.microsoft.com/office/drawing/2014/main" id="{1484F2F6-89A8-4B4F-BBE3-F725C060F6DE}"/>
              </a:ext>
            </a:extLst>
          </p:cNvPr>
          <p:cNvSpPr/>
          <p:nvPr/>
        </p:nvSpPr>
        <p:spPr>
          <a:xfrm>
            <a:off x="548640" y="3032759"/>
            <a:ext cx="11064240" cy="30211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FFFFFF"/>
              </a:solidFill>
            </a:endParaRPr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13CBF27A-921B-4A3D-8B4D-3020F7D985EF}"/>
              </a:ext>
            </a:extLst>
          </p:cNvPr>
          <p:cNvSpPr/>
          <p:nvPr/>
        </p:nvSpPr>
        <p:spPr>
          <a:xfrm>
            <a:off x="548640" y="144874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sz="2000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廣播模式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 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5636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封包結構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60904" y="1916473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17" name="Text 15"/>
          <p:cNvSpPr/>
          <p:nvPr/>
        </p:nvSpPr>
        <p:spPr>
          <a:xfrm>
            <a:off x="2660904" y="1916473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60904" y="2428537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1600" b="0" dirty="0">
                <a:solidFill>
                  <a:srgbClr val="6B7A8C"/>
                </a:solidFill>
              </a:rPr>
              <a:t>功能欄位</a:t>
            </a:r>
          </a:p>
        </p:txBody>
      </p:sp>
      <p:sp>
        <p:nvSpPr>
          <p:cNvPr id="19" name="Shape 17"/>
          <p:cNvSpPr/>
          <p:nvPr/>
        </p:nvSpPr>
        <p:spPr>
          <a:xfrm>
            <a:off x="4379976" y="1916473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0" name="Text 18"/>
          <p:cNvSpPr/>
          <p:nvPr/>
        </p:nvSpPr>
        <p:spPr>
          <a:xfrm>
            <a:off x="4379976" y="1916473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長度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79976" y="2428537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1600" b="0" dirty="0">
                <a:solidFill>
                  <a:srgbClr val="6B7A8C"/>
                </a:solidFill>
              </a:rPr>
              <a:t>1+8×N</a:t>
            </a:r>
          </a:p>
        </p:txBody>
      </p:sp>
      <p:sp>
        <p:nvSpPr>
          <p:cNvPr id="22" name="Shape 20"/>
          <p:cNvSpPr/>
          <p:nvPr/>
        </p:nvSpPr>
        <p:spPr>
          <a:xfrm>
            <a:off x="6099048" y="1916473"/>
            <a:ext cx="1600200" cy="475488"/>
          </a:xfrm>
          <a:prstGeom prst="roundRect">
            <a:avLst>
              <a:gd name="adj" fmla="val 9615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6099048" y="1916473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架數</a:t>
            </a:r>
            <a:r>
              <a:rPr lang="en-US" sz="16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9048" y="2428537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1600" b="0" dirty="0">
                <a:solidFill>
                  <a:srgbClr val="6B7A8C"/>
                </a:solidFill>
              </a:rPr>
              <a:t>1 Byte</a:t>
            </a:r>
          </a:p>
        </p:txBody>
      </p:sp>
      <p:sp>
        <p:nvSpPr>
          <p:cNvPr id="79" name="Rounded Rectangle 45">
            <a:extLst>
              <a:ext uri="{FF2B5EF4-FFF2-40B4-BE49-F238E27FC236}">
                <a16:creationId xmlns:a16="http://schemas.microsoft.com/office/drawing/2014/main" id="{F9958EC4-058D-4B57-846C-475BC8B7279B}"/>
              </a:ext>
            </a:extLst>
          </p:cNvPr>
          <p:cNvSpPr/>
          <p:nvPr/>
        </p:nvSpPr>
        <p:spPr>
          <a:xfrm>
            <a:off x="7640320" y="4851400"/>
            <a:ext cx="3556000" cy="609600"/>
          </a:xfrm>
          <a:prstGeom prst="roundRect">
            <a:avLst/>
          </a:prstGeom>
          <a:solidFill>
            <a:srgbClr val="1BA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▶  </a:t>
            </a:r>
            <a:r>
              <a:rPr sz="1600" b="1" dirty="0" err="1">
                <a:solidFill>
                  <a:srgbClr val="FFFFFF"/>
                </a:solidFill>
                <a:hlinkClick r:id="rId3" action="ppaction://hlinkfile"/>
              </a:rPr>
              <a:t>播放影片：廣播模式</a:t>
            </a:r>
            <a:r>
              <a:rPr sz="1600" b="1" dirty="0">
                <a:solidFill>
                  <a:srgbClr val="FFFFFF"/>
                </a:solidFill>
                <a:hlinkClick r:id="rId3" action="ppaction://hlinkfile"/>
              </a:rPr>
              <a:t> </a:t>
            </a:r>
            <a:r>
              <a:rPr lang="en-US" sz="1600" b="1" dirty="0">
                <a:solidFill>
                  <a:srgbClr val="FFFFFF"/>
                </a:solidFill>
                <a:hlinkClick r:id="rId3" action="ppaction://hlinkfile"/>
              </a:rPr>
              <a:t>B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81" name="TextBox 18">
            <a:extLst>
              <a:ext uri="{FF2B5EF4-FFF2-40B4-BE49-F238E27FC236}">
                <a16:creationId xmlns:a16="http://schemas.microsoft.com/office/drawing/2014/main" id="{086D78FE-C126-4107-A8B6-A7543A541449}"/>
              </a:ext>
            </a:extLst>
          </p:cNvPr>
          <p:cNvSpPr txBox="1"/>
          <p:nvPr/>
        </p:nvSpPr>
        <p:spPr>
          <a:xfrm>
            <a:off x="777240" y="3188652"/>
            <a:ext cx="393700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b="1" dirty="0">
                <a:solidFill>
                  <a:srgbClr val="0A4D6E"/>
                </a:solidFill>
              </a:rPr>
              <a:t>Fly data</a:t>
            </a:r>
            <a:endParaRPr b="1" dirty="0">
              <a:solidFill>
                <a:srgbClr val="0A4D6E"/>
              </a:solidFill>
            </a:endParaRPr>
          </a:p>
        </p:txBody>
      </p:sp>
      <p:sp>
        <p:nvSpPr>
          <p:cNvPr id="82" name="Rounded Rectangle 19">
            <a:extLst>
              <a:ext uri="{FF2B5EF4-FFF2-40B4-BE49-F238E27FC236}">
                <a16:creationId xmlns:a16="http://schemas.microsoft.com/office/drawing/2014/main" id="{1CE39A41-64D6-4A8C-91C9-667B9B55BA49}"/>
              </a:ext>
            </a:extLst>
          </p:cNvPr>
          <p:cNvSpPr/>
          <p:nvPr/>
        </p:nvSpPr>
        <p:spPr>
          <a:xfrm>
            <a:off x="777240" y="3632200"/>
            <a:ext cx="1554480" cy="381000"/>
          </a:xfrm>
          <a:prstGeom prst="roundRect">
            <a:avLst/>
          </a:prstGeom>
          <a:solidFill>
            <a:srgbClr val="E89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3" name="TextBox 20">
            <a:extLst>
              <a:ext uri="{FF2B5EF4-FFF2-40B4-BE49-F238E27FC236}">
                <a16:creationId xmlns:a16="http://schemas.microsoft.com/office/drawing/2014/main" id="{39F224F4-88B7-43B5-9782-899C836A72F8}"/>
              </a:ext>
            </a:extLst>
          </p:cNvPr>
          <p:cNvSpPr txBox="1"/>
          <p:nvPr/>
        </p:nvSpPr>
        <p:spPr>
          <a:xfrm>
            <a:off x="2423160" y="3673942"/>
            <a:ext cx="640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1 B</a:t>
            </a: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9235A3F3-9F3A-4496-8BEC-0B8DE777C257}"/>
              </a:ext>
            </a:extLst>
          </p:cNvPr>
          <p:cNvSpPr txBox="1"/>
          <p:nvPr/>
        </p:nvSpPr>
        <p:spPr>
          <a:xfrm>
            <a:off x="3108960" y="3689330"/>
            <a:ext cx="393700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與本機編號比對,不符即跳過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85" name="Rounded Rectangle 22">
            <a:extLst>
              <a:ext uri="{FF2B5EF4-FFF2-40B4-BE49-F238E27FC236}">
                <a16:creationId xmlns:a16="http://schemas.microsoft.com/office/drawing/2014/main" id="{192FB708-7FC9-40D2-9369-B60E108ECF55}"/>
              </a:ext>
            </a:extLst>
          </p:cNvPr>
          <p:cNvSpPr/>
          <p:nvPr/>
        </p:nvSpPr>
        <p:spPr>
          <a:xfrm>
            <a:off x="777240" y="4038600"/>
            <a:ext cx="1554480" cy="381000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flags</a:t>
            </a:r>
          </a:p>
        </p:txBody>
      </p:sp>
      <p:sp>
        <p:nvSpPr>
          <p:cNvPr id="86" name="TextBox 23">
            <a:extLst>
              <a:ext uri="{FF2B5EF4-FFF2-40B4-BE49-F238E27FC236}">
                <a16:creationId xmlns:a16="http://schemas.microsoft.com/office/drawing/2014/main" id="{A2993932-A48C-4CB7-BCA8-12F26C9290CA}"/>
              </a:ext>
            </a:extLst>
          </p:cNvPr>
          <p:cNvSpPr txBox="1"/>
          <p:nvPr/>
        </p:nvSpPr>
        <p:spPr>
          <a:xfrm>
            <a:off x="2423160" y="4080342"/>
            <a:ext cx="640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1 B</a:t>
            </a:r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6A11B1F3-398F-4EA2-9530-2869F5F88EB2}"/>
              </a:ext>
            </a:extLst>
          </p:cNvPr>
          <p:cNvSpPr txBox="1"/>
          <p:nvPr/>
        </p:nvSpPr>
        <p:spPr>
          <a:xfrm>
            <a:off x="3108960" y="4095730"/>
            <a:ext cx="393700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400" b="0" dirty="0">
                <a:solidFill>
                  <a:srgbClr val="1B2A4A"/>
                </a:solidFill>
              </a:rPr>
              <a:t>B</a:t>
            </a:r>
            <a:r>
              <a:rPr sz="1400" b="0" dirty="0">
                <a:solidFill>
                  <a:srgbClr val="1B2A4A"/>
                </a:solidFill>
              </a:rPr>
              <a:t>it</a:t>
            </a:r>
            <a:r>
              <a:rPr lang="en-US" sz="1400" b="0" dirty="0">
                <a:solidFill>
                  <a:srgbClr val="1B2A4A"/>
                </a:solidFill>
              </a:rPr>
              <a:t> </a:t>
            </a:r>
            <a:r>
              <a:rPr sz="1400" b="0" dirty="0">
                <a:solidFill>
                  <a:srgbClr val="1B2A4A"/>
                </a:solidFill>
              </a:rPr>
              <a:t>0 = </a:t>
            </a:r>
            <a:r>
              <a:rPr sz="1400" b="0" dirty="0" err="1">
                <a:solidFill>
                  <a:srgbClr val="1B2A4A"/>
                </a:solidFill>
              </a:rPr>
              <a:t>懸停待命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88" name="Rounded Rectangle 25">
            <a:extLst>
              <a:ext uri="{FF2B5EF4-FFF2-40B4-BE49-F238E27FC236}">
                <a16:creationId xmlns:a16="http://schemas.microsoft.com/office/drawing/2014/main" id="{ED295DFD-7BEE-4015-A4E0-DE3B47FC4846}"/>
              </a:ext>
            </a:extLst>
          </p:cNvPr>
          <p:cNvSpPr/>
          <p:nvPr/>
        </p:nvSpPr>
        <p:spPr>
          <a:xfrm>
            <a:off x="777240" y="4445000"/>
            <a:ext cx="1554480" cy="381000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thrust</a:t>
            </a:r>
          </a:p>
        </p:txBody>
      </p:sp>
      <p:sp>
        <p:nvSpPr>
          <p:cNvPr id="89" name="TextBox 26">
            <a:extLst>
              <a:ext uri="{FF2B5EF4-FFF2-40B4-BE49-F238E27FC236}">
                <a16:creationId xmlns:a16="http://schemas.microsoft.com/office/drawing/2014/main" id="{EE2A9DAC-B178-4E31-843D-F0773BC80AF9}"/>
              </a:ext>
            </a:extLst>
          </p:cNvPr>
          <p:cNvSpPr txBox="1"/>
          <p:nvPr/>
        </p:nvSpPr>
        <p:spPr>
          <a:xfrm>
            <a:off x="2423160" y="4486742"/>
            <a:ext cx="640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2 B</a:t>
            </a:r>
          </a:p>
        </p:txBody>
      </p:sp>
      <p:sp>
        <p:nvSpPr>
          <p:cNvPr id="90" name="TextBox 27">
            <a:extLst>
              <a:ext uri="{FF2B5EF4-FFF2-40B4-BE49-F238E27FC236}">
                <a16:creationId xmlns:a16="http://schemas.microsoft.com/office/drawing/2014/main" id="{A7D4ADD9-DEB5-4142-9433-F3BC3E0C609E}"/>
              </a:ext>
            </a:extLst>
          </p:cNvPr>
          <p:cNvSpPr txBox="1"/>
          <p:nvPr/>
        </p:nvSpPr>
        <p:spPr>
          <a:xfrm>
            <a:off x="3108960" y="4502130"/>
            <a:ext cx="393700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油門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91" name="Rounded Rectangle 28">
            <a:extLst>
              <a:ext uri="{FF2B5EF4-FFF2-40B4-BE49-F238E27FC236}">
                <a16:creationId xmlns:a16="http://schemas.microsoft.com/office/drawing/2014/main" id="{0CDC0167-0223-4AC6-BCF0-ED4F18DD82A8}"/>
              </a:ext>
            </a:extLst>
          </p:cNvPr>
          <p:cNvSpPr/>
          <p:nvPr/>
        </p:nvSpPr>
        <p:spPr>
          <a:xfrm>
            <a:off x="777240" y="4851400"/>
            <a:ext cx="1554480" cy="381000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roll / pitch / yaw</a:t>
            </a:r>
          </a:p>
        </p:txBody>
      </p:sp>
      <p:sp>
        <p:nvSpPr>
          <p:cNvPr id="92" name="TextBox 29">
            <a:extLst>
              <a:ext uri="{FF2B5EF4-FFF2-40B4-BE49-F238E27FC236}">
                <a16:creationId xmlns:a16="http://schemas.microsoft.com/office/drawing/2014/main" id="{6564E37E-5D4D-4ADA-A80D-C92F7FD01FCD}"/>
              </a:ext>
            </a:extLst>
          </p:cNvPr>
          <p:cNvSpPr txBox="1"/>
          <p:nvPr/>
        </p:nvSpPr>
        <p:spPr>
          <a:xfrm>
            <a:off x="2423160" y="4893142"/>
            <a:ext cx="640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3 B</a:t>
            </a:r>
          </a:p>
        </p:txBody>
      </p:sp>
      <p:sp>
        <p:nvSpPr>
          <p:cNvPr id="93" name="TextBox 30">
            <a:extLst>
              <a:ext uri="{FF2B5EF4-FFF2-40B4-BE49-F238E27FC236}">
                <a16:creationId xmlns:a16="http://schemas.microsoft.com/office/drawing/2014/main" id="{6F09DA36-CE09-445C-A26F-E08C3C2ACDD9}"/>
              </a:ext>
            </a:extLst>
          </p:cNvPr>
          <p:cNvSpPr txBox="1"/>
          <p:nvPr/>
        </p:nvSpPr>
        <p:spPr>
          <a:xfrm>
            <a:off x="3108960" y="4908530"/>
            <a:ext cx="393700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姿態,各</a:t>
            </a:r>
            <a:r>
              <a:rPr sz="1400" b="0" dirty="0">
                <a:solidFill>
                  <a:srgbClr val="1B2A4A"/>
                </a:solidFill>
              </a:rPr>
              <a:t> 1 Byte</a:t>
            </a:r>
          </a:p>
        </p:txBody>
      </p:sp>
      <p:sp>
        <p:nvSpPr>
          <p:cNvPr id="94" name="Rounded Rectangle 31">
            <a:extLst>
              <a:ext uri="{FF2B5EF4-FFF2-40B4-BE49-F238E27FC236}">
                <a16:creationId xmlns:a16="http://schemas.microsoft.com/office/drawing/2014/main" id="{4E72659A-E45D-4D2F-83C4-B97BB04C7452}"/>
              </a:ext>
            </a:extLst>
          </p:cNvPr>
          <p:cNvSpPr/>
          <p:nvPr/>
        </p:nvSpPr>
        <p:spPr>
          <a:xfrm>
            <a:off x="777240" y="5257800"/>
            <a:ext cx="1554480" cy="381000"/>
          </a:xfrm>
          <a:prstGeom prst="roundRect">
            <a:avLst/>
          </a:prstGeom>
          <a:solidFill>
            <a:srgbClr val="5A6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</a:rPr>
              <a:t>保留</a:t>
            </a:r>
            <a:endParaRPr sz="1600" b="1" dirty="0">
              <a:solidFill>
                <a:srgbClr val="FFFFFF"/>
              </a:solidFill>
            </a:endParaRPr>
          </a:p>
        </p:txBody>
      </p:sp>
      <p:sp>
        <p:nvSpPr>
          <p:cNvPr id="95" name="TextBox 32">
            <a:extLst>
              <a:ext uri="{FF2B5EF4-FFF2-40B4-BE49-F238E27FC236}">
                <a16:creationId xmlns:a16="http://schemas.microsoft.com/office/drawing/2014/main" id="{6CAB2100-7592-470C-AB18-EF19E23C93A9}"/>
              </a:ext>
            </a:extLst>
          </p:cNvPr>
          <p:cNvSpPr txBox="1"/>
          <p:nvPr/>
        </p:nvSpPr>
        <p:spPr>
          <a:xfrm>
            <a:off x="2423160" y="5299542"/>
            <a:ext cx="640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0" dirty="0">
                <a:solidFill>
                  <a:srgbClr val="1B2A4A"/>
                </a:solidFill>
              </a:rPr>
              <a:t>1 B</a:t>
            </a:r>
          </a:p>
        </p:txBody>
      </p:sp>
      <p:sp>
        <p:nvSpPr>
          <p:cNvPr id="96" name="TextBox 33">
            <a:extLst>
              <a:ext uri="{FF2B5EF4-FFF2-40B4-BE49-F238E27FC236}">
                <a16:creationId xmlns:a16="http://schemas.microsoft.com/office/drawing/2014/main" id="{D04648C9-8984-49F1-8049-B0B3AEBDBB96}"/>
              </a:ext>
            </a:extLst>
          </p:cNvPr>
          <p:cNvSpPr txBox="1"/>
          <p:nvPr/>
        </p:nvSpPr>
        <p:spPr>
          <a:xfrm>
            <a:off x="3108960" y="5314930"/>
            <a:ext cx="393700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1B2A4A"/>
                </a:solidFill>
              </a:rPr>
              <a:t>未使用</a:t>
            </a:r>
            <a:endParaRPr sz="1400" b="0" dirty="0">
              <a:solidFill>
                <a:srgbClr val="1B2A4A"/>
              </a:solidFill>
            </a:endParaRPr>
          </a:p>
        </p:txBody>
      </p:sp>
      <p:sp>
        <p:nvSpPr>
          <p:cNvPr id="97" name="Rounded Rectangle 50">
            <a:extLst>
              <a:ext uri="{FF2B5EF4-FFF2-40B4-BE49-F238E27FC236}">
                <a16:creationId xmlns:a16="http://schemas.microsoft.com/office/drawing/2014/main" id="{1D03B969-4226-4731-B793-EDE52932E844}"/>
              </a:ext>
            </a:extLst>
          </p:cNvPr>
          <p:cNvSpPr/>
          <p:nvPr/>
        </p:nvSpPr>
        <p:spPr>
          <a:xfrm>
            <a:off x="7818120" y="1916473"/>
            <a:ext cx="1600200" cy="47548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rIns="2540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Fly data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8" name="TextBox 49">
            <a:extLst>
              <a:ext uri="{FF2B5EF4-FFF2-40B4-BE49-F238E27FC236}">
                <a16:creationId xmlns:a16="http://schemas.microsoft.com/office/drawing/2014/main" id="{59A9B17F-E525-4923-BC61-A0CF1E1E2F6D}"/>
              </a:ext>
            </a:extLst>
          </p:cNvPr>
          <p:cNvSpPr txBox="1"/>
          <p:nvPr/>
        </p:nvSpPr>
        <p:spPr>
          <a:xfrm>
            <a:off x="8196580" y="2477446"/>
            <a:ext cx="88900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600" dirty="0">
                <a:solidFill>
                  <a:srgbClr val="6B7A8C"/>
                </a:solidFill>
              </a:rPr>
              <a:t>8</a:t>
            </a:r>
            <a:r>
              <a:rPr sz="1600" b="0" dirty="0">
                <a:solidFill>
                  <a:srgbClr val="6B7A8C"/>
                </a:solidFill>
              </a:rPr>
              <a:t> Byte</a:t>
            </a:r>
          </a:p>
        </p:txBody>
      </p:sp>
      <p:sp>
        <p:nvSpPr>
          <p:cNvPr id="103" name="页脚占位符 102">
            <a:extLst>
              <a:ext uri="{FF2B5EF4-FFF2-40B4-BE49-F238E27FC236}">
                <a16:creationId xmlns:a16="http://schemas.microsoft.com/office/drawing/2014/main" id="{03E35284-23E8-437C-9E24-5B37F50EF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04" name="灯片编号占位符 103">
            <a:extLst>
              <a:ext uri="{FF2B5EF4-FFF2-40B4-BE49-F238E27FC236}">
                <a16:creationId xmlns:a16="http://schemas.microsoft.com/office/drawing/2014/main" id="{3B688F12-1D86-43BD-8FA6-1057F07B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斷聯</a:t>
            </a: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風險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5CED72D3-7509-4CCA-8BBB-C678830D055F}"/>
              </a:ext>
            </a:extLst>
          </p:cNvPr>
          <p:cNvSpPr/>
          <p:nvPr/>
        </p:nvSpPr>
        <p:spPr>
          <a:xfrm>
            <a:off x="594360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7D4AD9D9-B054-471C-B524-204701D47007}"/>
              </a:ext>
            </a:extLst>
          </p:cNvPr>
          <p:cNvSpPr/>
          <p:nvPr/>
        </p:nvSpPr>
        <p:spPr>
          <a:xfrm>
            <a:off x="758952" y="1452879"/>
            <a:ext cx="420624" cy="420624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6131A7-F089-4BC4-8007-E090B0B91D2B}"/>
              </a:ext>
            </a:extLst>
          </p:cNvPr>
          <p:cNvSpPr txBox="1"/>
          <p:nvPr/>
        </p:nvSpPr>
        <p:spPr>
          <a:xfrm>
            <a:off x="758952" y="2088274"/>
            <a:ext cx="29077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183052"/>
                </a:solidFill>
                <a:latin typeface="Microsoft JhengHei"/>
              </a:rPr>
              <a:t>發送端一對一地址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CAD69E33-B6B9-421B-AF52-DA88B246F7FC}"/>
              </a:ext>
            </a:extLst>
          </p:cNvPr>
          <p:cNvSpPr txBox="1"/>
          <p:nvPr/>
        </p:nvSpPr>
        <p:spPr>
          <a:xfrm>
            <a:off x="795528" y="2671369"/>
            <a:ext cx="28346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627384"/>
                </a:solidFill>
                <a:latin typeface="Microsoft JhengHei"/>
              </a:rPr>
              <a:t>ESB 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只有一組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 TX 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位址暫存器；切換目標需先改寫位址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20" name="Rounded Rectangle 11">
            <a:extLst>
              <a:ext uri="{FF2B5EF4-FFF2-40B4-BE49-F238E27FC236}">
                <a16:creationId xmlns:a16="http://schemas.microsoft.com/office/drawing/2014/main" id="{75BCFDB2-8D67-4A9C-ABAE-3485A32FE5AB}"/>
              </a:ext>
            </a:extLst>
          </p:cNvPr>
          <p:cNvSpPr/>
          <p:nvPr/>
        </p:nvSpPr>
        <p:spPr>
          <a:xfrm>
            <a:off x="4096512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FE86A703-ED8D-48AF-A797-2D1F511CF493}"/>
              </a:ext>
            </a:extLst>
          </p:cNvPr>
          <p:cNvSpPr/>
          <p:nvPr/>
        </p:nvSpPr>
        <p:spPr>
          <a:xfrm>
            <a:off x="4261104" y="1452879"/>
            <a:ext cx="420624" cy="420624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E8B7F78C-065F-4D6C-9DFB-3AC1E347DB54}"/>
              </a:ext>
            </a:extLst>
          </p:cNvPr>
          <p:cNvSpPr txBox="1"/>
          <p:nvPr/>
        </p:nvSpPr>
        <p:spPr>
          <a:xfrm>
            <a:off x="4261104" y="2088274"/>
            <a:ext cx="29077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183052"/>
                </a:solidFill>
                <a:latin typeface="Microsoft JhengHei"/>
              </a:rPr>
              <a:t>架數越多，輪空越久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45320FEB-F1F3-4734-88D0-3307E0C89B96}"/>
              </a:ext>
            </a:extLst>
          </p:cNvPr>
          <p:cNvSpPr txBox="1"/>
          <p:nvPr/>
        </p:nvSpPr>
        <p:spPr>
          <a:xfrm>
            <a:off x="4297680" y="2671369"/>
            <a:ext cx="28346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目前一輪點名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 2～3 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架；架數增加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，</a:t>
            </a:r>
            <a:r>
              <a:rPr lang="zh-CN" altLang="en-US" sz="1200" b="0" dirty="0">
                <a:solidFill>
                  <a:srgbClr val="627384"/>
                </a:solidFill>
                <a:latin typeface="Microsoft JhengHei"/>
              </a:rPr>
              <a:t>循環</a:t>
            </a:r>
            <a:r>
              <a:rPr sz="1200" b="0" dirty="0" err="1">
                <a:solidFill>
                  <a:srgbClr val="627384"/>
                </a:solidFill>
                <a:latin typeface="Microsoft JhengHei"/>
              </a:rPr>
              <a:t>一圈時間等比拉長</a:t>
            </a:r>
            <a:r>
              <a:rPr sz="12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24" name="Rounded Rectangle 15">
            <a:extLst>
              <a:ext uri="{FF2B5EF4-FFF2-40B4-BE49-F238E27FC236}">
                <a16:creationId xmlns:a16="http://schemas.microsoft.com/office/drawing/2014/main" id="{1619DDAE-EE99-44E7-969F-F905635B8C16}"/>
              </a:ext>
            </a:extLst>
          </p:cNvPr>
          <p:cNvSpPr/>
          <p:nvPr/>
        </p:nvSpPr>
        <p:spPr>
          <a:xfrm>
            <a:off x="7598664" y="1270000"/>
            <a:ext cx="3246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5DFAE6DF-931E-4313-9C61-5CB73B237E94}"/>
              </a:ext>
            </a:extLst>
          </p:cNvPr>
          <p:cNvSpPr/>
          <p:nvPr/>
        </p:nvSpPr>
        <p:spPr>
          <a:xfrm>
            <a:off x="7763256" y="1452879"/>
            <a:ext cx="420624" cy="420624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0113A171-E776-4EB5-9A0C-AE61D4B12F82}"/>
              </a:ext>
            </a:extLst>
          </p:cNvPr>
          <p:cNvSpPr txBox="1"/>
          <p:nvPr/>
        </p:nvSpPr>
        <p:spPr>
          <a:xfrm>
            <a:off x="7763256" y="2088274"/>
            <a:ext cx="29077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600" b="1" dirty="0">
                <a:solidFill>
                  <a:srgbClr val="183052"/>
                </a:solidFill>
                <a:latin typeface="Microsoft JhengHei"/>
              </a:rPr>
              <a:t>輪空與失聯需分開判定</a:t>
            </a:r>
          </a:p>
        </p:txBody>
      </p:sp>
      <p:sp>
        <p:nvSpPr>
          <p:cNvPr id="27" name="TextBox 18">
            <a:extLst>
              <a:ext uri="{FF2B5EF4-FFF2-40B4-BE49-F238E27FC236}">
                <a16:creationId xmlns:a16="http://schemas.microsoft.com/office/drawing/2014/main" id="{238B7720-9A22-4F33-A115-E1AF65BFCE91}"/>
              </a:ext>
            </a:extLst>
          </p:cNvPr>
          <p:cNvSpPr txBox="1"/>
          <p:nvPr/>
        </p:nvSpPr>
        <p:spPr>
          <a:xfrm>
            <a:off x="7799832" y="2671369"/>
            <a:ext cx="283464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200" b="0" dirty="0">
                <a:solidFill>
                  <a:srgbClr val="627384"/>
                </a:solidFill>
                <a:latin typeface="Microsoft JhengHei"/>
              </a:rPr>
              <a:t>若把輪空當成失聯，會降落或墜機。</a:t>
            </a:r>
            <a:endParaRPr lang="en-US" altLang="zh-CN" sz="1200" b="0" dirty="0">
              <a:solidFill>
                <a:srgbClr val="627384"/>
              </a:solidFill>
              <a:latin typeface="Microsoft JhengHei"/>
            </a:endParaRPr>
          </a:p>
          <a:p>
            <a:pPr algn="ctr"/>
            <a:r>
              <a:rPr lang="zh-CN" altLang="en-US" sz="1200" dirty="0">
                <a:solidFill>
                  <a:srgbClr val="627384"/>
                </a:solidFill>
                <a:latin typeface="Microsoft JhengHei"/>
              </a:rPr>
              <a:t>因此需要時間緩衝。</a:t>
            </a:r>
            <a:endParaRPr sz="1200" b="0" dirty="0">
              <a:solidFill>
                <a:srgbClr val="627384"/>
              </a:solidFill>
              <a:latin typeface="Microsoft JhengHei"/>
            </a:endParaRPr>
          </a:p>
        </p:txBody>
      </p:sp>
      <p:sp>
        <p:nvSpPr>
          <p:cNvPr id="28" name="Rounded Rectangle 19">
            <a:extLst>
              <a:ext uri="{FF2B5EF4-FFF2-40B4-BE49-F238E27FC236}">
                <a16:creationId xmlns:a16="http://schemas.microsoft.com/office/drawing/2014/main" id="{B1DCFB17-79AF-4153-A7EC-6696DF93C376}"/>
              </a:ext>
            </a:extLst>
          </p:cNvPr>
          <p:cNvSpPr/>
          <p:nvPr/>
        </p:nvSpPr>
        <p:spPr>
          <a:xfrm>
            <a:off x="594360" y="3721267"/>
            <a:ext cx="5102352" cy="566928"/>
          </a:xfrm>
          <a:prstGeom prst="roundRect">
            <a:avLst/>
          </a:prstGeom>
          <a:solidFill>
            <a:srgbClr val="388F6C"/>
          </a:solidFill>
          <a:ln w="12700">
            <a:solidFill>
              <a:srgbClr val="388F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短暫輪空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→ </a:t>
            </a: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保持現狀／等待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9" name="Rounded Rectangle 20">
            <a:extLst>
              <a:ext uri="{FF2B5EF4-FFF2-40B4-BE49-F238E27FC236}">
                <a16:creationId xmlns:a16="http://schemas.microsoft.com/office/drawing/2014/main" id="{4F841D72-A14C-4116-A567-16264D352160}"/>
              </a:ext>
            </a:extLst>
          </p:cNvPr>
          <p:cNvSpPr/>
          <p:nvPr/>
        </p:nvSpPr>
        <p:spPr>
          <a:xfrm>
            <a:off x="6071616" y="3703146"/>
            <a:ext cx="5102352" cy="566928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持續超時</a:t>
            </a:r>
            <a:r>
              <a:rPr sz="1600" b="1" dirty="0">
                <a:solidFill>
                  <a:srgbClr val="FFFFFF"/>
                </a:solidFill>
                <a:latin typeface="Microsoft JhengHei"/>
              </a:rPr>
              <a:t> → </a:t>
            </a:r>
            <a:r>
              <a:rPr sz="1600" b="1" dirty="0" err="1">
                <a:solidFill>
                  <a:srgbClr val="FFFFFF"/>
                </a:solidFill>
                <a:latin typeface="Microsoft JhengHei"/>
              </a:rPr>
              <a:t>才進入失聯保護</a:t>
            </a:r>
            <a:endParaRPr sz="1600" b="1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E3262C4-34C9-4A9B-8AAE-C751374889CF}"/>
              </a:ext>
            </a:extLst>
          </p:cNvPr>
          <p:cNvSpPr txBox="1"/>
          <p:nvPr/>
        </p:nvSpPr>
        <p:spPr>
          <a:xfrm>
            <a:off x="594360" y="4332129"/>
            <a:ext cx="27432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dirty="0" err="1">
                <a:solidFill>
                  <a:srgbClr val="183052"/>
                </a:solidFill>
                <a:latin typeface="Microsoft JhengHei"/>
              </a:rPr>
              <a:t>控制時序</a:t>
            </a:r>
            <a:endParaRPr b="1" dirty="0">
              <a:solidFill>
                <a:srgbClr val="183052"/>
              </a:solidFill>
              <a:latin typeface="Microsoft JhengHei"/>
            </a:endParaRP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C9464425-F0CB-4D9F-87FA-33C56284C710}"/>
              </a:ext>
            </a:extLst>
          </p:cNvPr>
          <p:cNvSpPr/>
          <p:nvPr/>
        </p:nvSpPr>
        <p:spPr>
          <a:xfrm>
            <a:off x="59436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FB3DA373-4F25-4951-AC43-AC84B5287387}"/>
              </a:ext>
            </a:extLst>
          </p:cNvPr>
          <p:cNvSpPr/>
          <p:nvPr/>
        </p:nvSpPr>
        <p:spPr>
          <a:xfrm>
            <a:off x="112471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88545F4A-843F-48C9-954C-5520AA3A888B}"/>
              </a:ext>
            </a:extLst>
          </p:cNvPr>
          <p:cNvSpPr/>
          <p:nvPr/>
        </p:nvSpPr>
        <p:spPr>
          <a:xfrm>
            <a:off x="1655064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B2BD6AA2-5552-406E-A6EB-1E7952249AA0}"/>
              </a:ext>
            </a:extLst>
          </p:cNvPr>
          <p:cNvSpPr/>
          <p:nvPr/>
        </p:nvSpPr>
        <p:spPr>
          <a:xfrm>
            <a:off x="2185416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5" name="Rounded Rectangle 11">
            <a:extLst>
              <a:ext uri="{FF2B5EF4-FFF2-40B4-BE49-F238E27FC236}">
                <a16:creationId xmlns:a16="http://schemas.microsoft.com/office/drawing/2014/main" id="{E739764B-394C-47BE-A585-37388D3611B2}"/>
              </a:ext>
            </a:extLst>
          </p:cNvPr>
          <p:cNvSpPr/>
          <p:nvPr/>
        </p:nvSpPr>
        <p:spPr>
          <a:xfrm>
            <a:off x="2715768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6" name="Rounded Rectangle 12">
            <a:extLst>
              <a:ext uri="{FF2B5EF4-FFF2-40B4-BE49-F238E27FC236}">
                <a16:creationId xmlns:a16="http://schemas.microsoft.com/office/drawing/2014/main" id="{1E739B2F-1A60-4EDA-8597-EC4757D9B9E9}"/>
              </a:ext>
            </a:extLst>
          </p:cNvPr>
          <p:cNvSpPr/>
          <p:nvPr/>
        </p:nvSpPr>
        <p:spPr>
          <a:xfrm>
            <a:off x="324612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7" name="Rounded Rectangle 13">
            <a:extLst>
              <a:ext uri="{FF2B5EF4-FFF2-40B4-BE49-F238E27FC236}">
                <a16:creationId xmlns:a16="http://schemas.microsoft.com/office/drawing/2014/main" id="{D996B50C-00EA-46A6-9CBE-657A5595DBCE}"/>
              </a:ext>
            </a:extLst>
          </p:cNvPr>
          <p:cNvSpPr/>
          <p:nvPr/>
        </p:nvSpPr>
        <p:spPr>
          <a:xfrm>
            <a:off x="377647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8" name="Rounded Rectangle 14">
            <a:extLst>
              <a:ext uri="{FF2B5EF4-FFF2-40B4-BE49-F238E27FC236}">
                <a16:creationId xmlns:a16="http://schemas.microsoft.com/office/drawing/2014/main" id="{09F03A19-2341-4C29-AFA1-D30D180301A4}"/>
              </a:ext>
            </a:extLst>
          </p:cNvPr>
          <p:cNvSpPr/>
          <p:nvPr/>
        </p:nvSpPr>
        <p:spPr>
          <a:xfrm>
            <a:off x="4306824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4F4F76C0-88D5-40F6-B4F9-95BF39FD60A9}"/>
              </a:ext>
            </a:extLst>
          </p:cNvPr>
          <p:cNvSpPr/>
          <p:nvPr/>
        </p:nvSpPr>
        <p:spPr>
          <a:xfrm>
            <a:off x="4837176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DA108FED-89A4-438B-9E25-02A9BB026033}"/>
              </a:ext>
            </a:extLst>
          </p:cNvPr>
          <p:cNvSpPr/>
          <p:nvPr/>
        </p:nvSpPr>
        <p:spPr>
          <a:xfrm>
            <a:off x="5367528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1" name="Rounded Rectangle 17">
            <a:extLst>
              <a:ext uri="{FF2B5EF4-FFF2-40B4-BE49-F238E27FC236}">
                <a16:creationId xmlns:a16="http://schemas.microsoft.com/office/drawing/2014/main" id="{AFD2FE46-28E2-41DF-9C4F-4E9B88D604C8}"/>
              </a:ext>
            </a:extLst>
          </p:cNvPr>
          <p:cNvSpPr/>
          <p:nvPr/>
        </p:nvSpPr>
        <p:spPr>
          <a:xfrm>
            <a:off x="5897880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B4FB710F-73DE-4288-84FE-A126EAFC359B}"/>
              </a:ext>
            </a:extLst>
          </p:cNvPr>
          <p:cNvSpPr/>
          <p:nvPr/>
        </p:nvSpPr>
        <p:spPr>
          <a:xfrm>
            <a:off x="6428232" y="4836835"/>
            <a:ext cx="475488" cy="502920"/>
          </a:xfrm>
          <a:prstGeom prst="roundRect">
            <a:avLst/>
          </a:prstGeom>
          <a:solidFill>
            <a:srgbClr val="146984"/>
          </a:solidFill>
          <a:ln w="12700">
            <a:solidFill>
              <a:srgbClr val="1469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43" name="Rounded Rectangle 19">
            <a:extLst>
              <a:ext uri="{FF2B5EF4-FFF2-40B4-BE49-F238E27FC236}">
                <a16:creationId xmlns:a16="http://schemas.microsoft.com/office/drawing/2014/main" id="{FB5B42E6-1D64-45D2-B946-135666A31E2B}"/>
              </a:ext>
            </a:extLst>
          </p:cNvPr>
          <p:cNvSpPr/>
          <p:nvPr/>
        </p:nvSpPr>
        <p:spPr>
          <a:xfrm>
            <a:off x="7068312" y="4836835"/>
            <a:ext cx="658368" cy="502920"/>
          </a:xfrm>
          <a:prstGeom prst="roundRect">
            <a:avLst/>
          </a:prstGeom>
          <a:solidFill>
            <a:srgbClr val="E78937"/>
          </a:solidFill>
          <a:ln w="12700">
            <a:solidFill>
              <a:srgbClr val="E7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Microsoft JhengHei"/>
              </a:rPr>
              <a:t>Q</a:t>
            </a: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BC8A4D03-DFC7-4633-B556-7F36FCD7F693}"/>
              </a:ext>
            </a:extLst>
          </p:cNvPr>
          <p:cNvSpPr txBox="1"/>
          <p:nvPr/>
        </p:nvSpPr>
        <p:spPr>
          <a:xfrm>
            <a:off x="594360" y="5432755"/>
            <a:ext cx="6492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 err="1">
                <a:solidFill>
                  <a:srgbClr val="23364C"/>
                </a:solidFill>
                <a:latin typeface="Microsoft JhengHei"/>
              </a:rPr>
              <a:t>B：廣播控制</a:t>
            </a:r>
            <a:r>
              <a:rPr sz="1400" b="1" dirty="0">
                <a:solidFill>
                  <a:srgbClr val="23364C"/>
                </a:solidFill>
                <a:latin typeface="Microsoft JhengHei"/>
              </a:rPr>
              <a:t> ×12　　</a:t>
            </a:r>
            <a:r>
              <a:rPr sz="1400" b="1" dirty="0" err="1">
                <a:solidFill>
                  <a:srgbClr val="23364C"/>
                </a:solidFill>
                <a:latin typeface="Microsoft JhengHei"/>
              </a:rPr>
              <a:t>Q：一對一點名</a:t>
            </a:r>
            <a:r>
              <a:rPr sz="1400" b="1" dirty="0">
                <a:solidFill>
                  <a:srgbClr val="23364C"/>
                </a:solidFill>
                <a:latin typeface="Microsoft JhengHei"/>
              </a:rPr>
              <a:t> ×1　　</a:t>
            </a:r>
            <a:r>
              <a:rPr sz="1400" b="1" dirty="0" err="1">
                <a:solidFill>
                  <a:srgbClr val="23364C"/>
                </a:solidFill>
                <a:latin typeface="Microsoft JhengHei"/>
              </a:rPr>
              <a:t>約每</a:t>
            </a:r>
            <a:r>
              <a:rPr sz="1400" b="1" dirty="0">
                <a:solidFill>
                  <a:srgbClr val="23364C"/>
                </a:solidFill>
                <a:latin typeface="Microsoft JhengHei"/>
              </a:rPr>
              <a:t> </a:t>
            </a:r>
            <a:r>
              <a:rPr lang="en-US" sz="1400" b="1" dirty="0">
                <a:solidFill>
                  <a:srgbClr val="23364C"/>
                </a:solidFill>
                <a:latin typeface="Microsoft JhengHei"/>
              </a:rPr>
              <a:t>130</a:t>
            </a:r>
            <a:r>
              <a:rPr lang="en-US" altLang="zh-CN" sz="1400" b="1" dirty="0">
                <a:solidFill>
                  <a:srgbClr val="23364C"/>
                </a:solidFill>
                <a:latin typeface="Microsoft JhengHei"/>
              </a:rPr>
              <a:t>ms </a:t>
            </a:r>
            <a:r>
              <a:rPr lang="zh-CN" altLang="en-US" sz="1400" b="1" dirty="0">
                <a:solidFill>
                  <a:srgbClr val="23364C"/>
                </a:solidFill>
                <a:latin typeface="Microsoft JhengHei"/>
              </a:rPr>
              <a:t>詢問</a:t>
            </a:r>
            <a:r>
              <a:rPr sz="1400" b="1" dirty="0" err="1">
                <a:solidFill>
                  <a:srgbClr val="23364C"/>
                </a:solidFill>
                <a:latin typeface="Microsoft JhengHei"/>
              </a:rPr>
              <a:t>一次</a:t>
            </a:r>
            <a:endParaRPr sz="1400" b="1" dirty="0">
              <a:solidFill>
                <a:srgbClr val="23364C"/>
              </a:solidFill>
              <a:latin typeface="Microsoft JhengHei"/>
            </a:endParaRP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9A8DCC5C-CA40-438B-A075-627ACAA27651}"/>
              </a:ext>
            </a:extLst>
          </p:cNvPr>
          <p:cNvSpPr txBox="1"/>
          <p:nvPr/>
        </p:nvSpPr>
        <p:spPr>
          <a:xfrm>
            <a:off x="594360" y="5825947"/>
            <a:ext cx="64922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zh-TW" altLang="en-US" sz="1400" b="0" dirty="0">
                <a:solidFill>
                  <a:srgbClr val="627384"/>
                </a:solidFill>
                <a:latin typeface="Microsoft JhengHei"/>
              </a:rPr>
              <a:t>查到狀態後立即切回廣播，等待上限 </a:t>
            </a:r>
            <a:r>
              <a:rPr lang="en-US" altLang="zh-TW" sz="1400" b="0" dirty="0">
                <a:solidFill>
                  <a:srgbClr val="627384"/>
                </a:solidFill>
                <a:latin typeface="Microsoft JhengHei"/>
              </a:rPr>
              <a:t>50 </a:t>
            </a:r>
            <a:r>
              <a:rPr lang="en-US" altLang="zh-TW" sz="1400" b="0" dirty="0" err="1">
                <a:solidFill>
                  <a:srgbClr val="627384"/>
                </a:solidFill>
                <a:latin typeface="Microsoft JhengHei"/>
              </a:rPr>
              <a:t>ms</a:t>
            </a:r>
            <a:r>
              <a:rPr lang="zh-TW" altLang="en-US" sz="1400" b="0" dirty="0">
                <a:solidFill>
                  <a:srgbClr val="627384"/>
                </a:solidFill>
                <a:latin typeface="Microsoft JhengHei"/>
              </a:rPr>
              <a:t>。</a:t>
            </a: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A3597805-AA21-4352-BF0F-EC8A996C7B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953C72D-84CB-4ABD-BA87-33782FDF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斷聯保護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46EF0B4-5640-41AC-88C0-95B0EE5AB4FE}"/>
              </a:ext>
            </a:extLst>
          </p:cNvPr>
          <p:cNvGrpSpPr/>
          <p:nvPr/>
        </p:nvGrpSpPr>
        <p:grpSpPr>
          <a:xfrm>
            <a:off x="635000" y="1163377"/>
            <a:ext cx="10210800" cy="1180799"/>
            <a:chOff x="635000" y="1861369"/>
            <a:chExt cx="10210800" cy="1180799"/>
          </a:xfrm>
        </p:grpSpPr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8A3883EC-7B68-4107-AC99-B0444CE16540}"/>
                </a:ext>
              </a:extLst>
            </p:cNvPr>
            <p:cNvSpPr/>
            <p:nvPr/>
          </p:nvSpPr>
          <p:spPr>
            <a:xfrm>
              <a:off x="635000" y="1905000"/>
              <a:ext cx="1905000" cy="736600"/>
            </a:xfrm>
            <a:prstGeom prst="roundRect">
              <a:avLst/>
            </a:prstGeom>
            <a:solidFill>
              <a:srgbClr val="8FD4A8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正常飛行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遙控指令連續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43" name="Rectangle 8">
              <a:extLst>
                <a:ext uri="{FF2B5EF4-FFF2-40B4-BE49-F238E27FC236}">
                  <a16:creationId xmlns:a16="http://schemas.microsoft.com/office/drawing/2014/main" id="{A0D8388B-C124-44D1-AA2A-02DF109670D8}"/>
                </a:ext>
              </a:extLst>
            </p:cNvPr>
            <p:cNvSpPr/>
            <p:nvPr/>
          </p:nvSpPr>
          <p:spPr>
            <a:xfrm>
              <a:off x="3403600" y="1905000"/>
              <a:ext cx="1905000" cy="736600"/>
            </a:xfrm>
            <a:prstGeom prst="round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偵測到中斷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逾時未收到新指令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44" name="Rectangle 9">
              <a:extLst>
                <a:ext uri="{FF2B5EF4-FFF2-40B4-BE49-F238E27FC236}">
                  <a16:creationId xmlns:a16="http://schemas.microsoft.com/office/drawing/2014/main" id="{B395D103-9E97-40A2-A250-9DB54E49C68B}"/>
                </a:ext>
              </a:extLst>
            </p:cNvPr>
            <p:cNvSpPr/>
            <p:nvPr/>
          </p:nvSpPr>
          <p:spPr>
            <a:xfrm>
              <a:off x="6172200" y="1905000"/>
              <a:ext cx="1905000" cy="736600"/>
            </a:xfrm>
            <a:prstGeom prst="roundRect">
              <a:avLst/>
            </a:prstGeom>
            <a:solidFill>
              <a:srgbClr val="F5D19B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寬限維持</a:t>
              </a:r>
              <a:endParaRPr sz="1600" b="1" dirty="0">
                <a:solidFill>
                  <a:srgbClr val="111111"/>
                </a:solidFill>
              </a:endParaRPr>
            </a:p>
          </p:txBody>
        </p:sp>
        <p:sp>
          <p:nvSpPr>
            <p:cNvPr id="45" name="Rectangle 10">
              <a:extLst>
                <a:ext uri="{FF2B5EF4-FFF2-40B4-BE49-F238E27FC236}">
                  <a16:creationId xmlns:a16="http://schemas.microsoft.com/office/drawing/2014/main" id="{E95EE396-BDAA-4575-8A93-4CAD01F1F123}"/>
                </a:ext>
              </a:extLst>
            </p:cNvPr>
            <p:cNvSpPr/>
            <p:nvPr/>
          </p:nvSpPr>
          <p:spPr>
            <a:xfrm>
              <a:off x="8940800" y="1905000"/>
              <a:ext cx="1905000" cy="736600"/>
            </a:xfrm>
            <a:prstGeom prst="roundRect">
              <a:avLst/>
            </a:prstGeom>
            <a:solidFill>
              <a:srgbClr val="F0AEA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 err="1">
                  <a:solidFill>
                    <a:srgbClr val="111111"/>
                  </a:solidFill>
                </a:rPr>
                <a:t>下降</a:t>
              </a:r>
              <a:endParaRPr sz="1600" b="1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著陸後鎖定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cxnSp>
          <p:nvCxnSpPr>
            <p:cNvPr id="46" name="Connector 11">
              <a:extLst>
                <a:ext uri="{FF2B5EF4-FFF2-40B4-BE49-F238E27FC236}">
                  <a16:creationId xmlns:a16="http://schemas.microsoft.com/office/drawing/2014/main" id="{627C74D1-1078-47F1-B8A8-78A78D1DFCA7}"/>
                </a:ext>
              </a:extLst>
            </p:cNvPr>
            <p:cNvCxnSpPr/>
            <p:nvPr/>
          </p:nvCxnSpPr>
          <p:spPr>
            <a:xfrm>
              <a:off x="25400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12">
              <a:extLst>
                <a:ext uri="{FF2B5EF4-FFF2-40B4-BE49-F238E27FC236}">
                  <a16:creationId xmlns:a16="http://schemas.microsoft.com/office/drawing/2014/main" id="{68B87A5C-7C1F-42E9-BB6E-8729A8286FFD}"/>
                </a:ext>
              </a:extLst>
            </p:cNvPr>
            <p:cNvCxnSpPr/>
            <p:nvPr/>
          </p:nvCxnSpPr>
          <p:spPr>
            <a:xfrm>
              <a:off x="53086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13">
              <a:extLst>
                <a:ext uri="{FF2B5EF4-FFF2-40B4-BE49-F238E27FC236}">
                  <a16:creationId xmlns:a16="http://schemas.microsoft.com/office/drawing/2014/main" id="{54B3AED7-97D8-4078-AA9C-B4A9A70DBC7D}"/>
                </a:ext>
              </a:extLst>
            </p:cNvPr>
            <p:cNvCxnSpPr/>
            <p:nvPr/>
          </p:nvCxnSpPr>
          <p:spPr>
            <a:xfrm>
              <a:off x="8077200" y="2273300"/>
              <a:ext cx="8636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14">
              <a:extLst>
                <a:ext uri="{FF2B5EF4-FFF2-40B4-BE49-F238E27FC236}">
                  <a16:creationId xmlns:a16="http://schemas.microsoft.com/office/drawing/2014/main" id="{D3B8EB4C-E6D5-43B4-A14C-2144F72F272C}"/>
                </a:ext>
              </a:extLst>
            </p:cNvPr>
            <p:cNvSpPr txBox="1"/>
            <p:nvPr/>
          </p:nvSpPr>
          <p:spPr>
            <a:xfrm>
              <a:off x="8221786" y="1861369"/>
              <a:ext cx="538609" cy="43088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400" dirty="0" err="1">
                  <a:solidFill>
                    <a:srgbClr val="111111"/>
                  </a:solidFill>
                </a:rPr>
                <a:t>逾時</a:t>
              </a:r>
              <a:endParaRPr lang="en-US" sz="1400" dirty="0">
                <a:solidFill>
                  <a:srgbClr val="111111"/>
                </a:solidFill>
              </a:endParaRPr>
            </a:p>
            <a:p>
              <a:pPr algn="ctr"/>
              <a:r>
                <a:rPr sz="1400" dirty="0" err="1">
                  <a:solidFill>
                    <a:srgbClr val="111111"/>
                  </a:solidFill>
                </a:rPr>
                <a:t>未恢復</a:t>
              </a:r>
              <a:endParaRPr sz="1100" dirty="0">
                <a:solidFill>
                  <a:srgbClr val="111111"/>
                </a:solidFill>
              </a:endParaRP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60C1F8CF-2DFC-4E36-9C17-D63BE909FED5}"/>
                </a:ext>
              </a:extLst>
            </p:cNvPr>
            <p:cNvSpPr txBox="1"/>
            <p:nvPr/>
          </p:nvSpPr>
          <p:spPr>
            <a:xfrm>
              <a:off x="3889998" y="2795947"/>
              <a:ext cx="856004" cy="24622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600" dirty="0" err="1">
                  <a:solidFill>
                    <a:srgbClr val="0A4D6E"/>
                  </a:solidFill>
                </a:rPr>
                <a:t>訊號恢復</a:t>
              </a:r>
              <a:r>
                <a:rPr sz="1200" dirty="0">
                  <a:solidFill>
                    <a:srgbClr val="0A4D6E"/>
                  </a:solidFill>
                </a:rPr>
                <a:t> </a:t>
              </a:r>
            </a:p>
          </p:txBody>
        </p:sp>
      </p:grp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F6BDA951-EA5E-46AE-8AFA-24C2B7275A72}"/>
              </a:ext>
            </a:extLst>
          </p:cNvPr>
          <p:cNvCxnSpPr>
            <a:cxnSpLocks/>
          </p:cNvCxnSpPr>
          <p:nvPr/>
        </p:nvCxnSpPr>
        <p:spPr>
          <a:xfrm rot="5400000">
            <a:off x="4356100" y="-824992"/>
            <a:ext cx="12700" cy="5537200"/>
          </a:xfrm>
          <a:prstGeom prst="bentConnector3">
            <a:avLst>
              <a:gd name="adj1" fmla="val 346666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EDEFA0D-DA6B-4DD6-A351-1C6EBEC25759}"/>
              </a:ext>
            </a:extLst>
          </p:cNvPr>
          <p:cNvSpPr/>
          <p:nvPr/>
        </p:nvSpPr>
        <p:spPr>
          <a:xfrm>
            <a:off x="658368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53B85354-B185-473C-B0F9-29062DDA5D3F}"/>
              </a:ext>
            </a:extLst>
          </p:cNvPr>
          <p:cNvSpPr/>
          <p:nvPr/>
        </p:nvSpPr>
        <p:spPr>
          <a:xfrm>
            <a:off x="658368" y="3063240"/>
            <a:ext cx="3246120" cy="457200"/>
          </a:xfrm>
          <a:prstGeom prst="roundRect">
            <a:avLst/>
          </a:prstGeom>
          <a:solidFill>
            <a:srgbClr val="135B7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TW" altLang="en-US" sz="1500" b="1" dirty="0">
                <a:solidFill>
                  <a:srgbClr val="FFFFFF"/>
                </a:solidFill>
                <a:latin typeface="Microsoft JhengHei"/>
              </a:rPr>
              <a:t>模式 </a:t>
            </a:r>
            <a:r>
              <a:rPr lang="en-US" altLang="zh-TW" sz="1500" b="1" dirty="0">
                <a:solidFill>
                  <a:srgbClr val="FFFFFF"/>
                </a:solidFill>
                <a:latin typeface="Microsoft JhengHei"/>
              </a:rPr>
              <a:t>0</a:t>
            </a: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12F18D8F-9259-4506-AFC3-1F5310FD9D61}"/>
              </a:ext>
            </a:extLst>
          </p:cNvPr>
          <p:cNvSpPr txBox="1"/>
          <p:nvPr/>
        </p:nvSpPr>
        <p:spPr>
          <a:xfrm>
            <a:off x="822959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維持高度</a:t>
            </a: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916A734D-3E56-4F0E-8C00-B959D043A9B0}"/>
              </a:ext>
            </a:extLst>
          </p:cNvPr>
          <p:cNvSpPr txBox="1"/>
          <p:nvPr/>
        </p:nvSpPr>
        <p:spPr>
          <a:xfrm>
            <a:off x="822959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135B78"/>
                </a:solidFill>
                <a:latin typeface="Microsoft JhengHei"/>
              </a:rPr>
              <a:t>約 </a:t>
            </a:r>
            <a:r>
              <a:rPr lang="en-US" altLang="zh-CN" sz="1300" b="1" dirty="0">
                <a:solidFill>
                  <a:srgbClr val="135B78"/>
                </a:solidFill>
                <a:latin typeface="Microsoft JhengHei"/>
              </a:rPr>
              <a:t>2 </a:t>
            </a:r>
            <a:r>
              <a:rPr lang="zh-CN" altLang="en-US" sz="1300" b="1" dirty="0">
                <a:solidFill>
                  <a:srgbClr val="135B78"/>
                </a:solidFill>
                <a:latin typeface="Microsoft JhengHei"/>
              </a:rPr>
              <a:t>秒</a:t>
            </a:r>
          </a:p>
        </p:txBody>
      </p:sp>
      <p:sp>
        <p:nvSpPr>
          <p:cNvPr id="63" name="Rounded Rectangle 23">
            <a:extLst>
              <a:ext uri="{FF2B5EF4-FFF2-40B4-BE49-F238E27FC236}">
                <a16:creationId xmlns:a16="http://schemas.microsoft.com/office/drawing/2014/main" id="{9B701ABE-26B0-4388-8681-3876DA05674F}"/>
              </a:ext>
            </a:extLst>
          </p:cNvPr>
          <p:cNvSpPr/>
          <p:nvPr/>
        </p:nvSpPr>
        <p:spPr>
          <a:xfrm>
            <a:off x="4160520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24">
            <a:extLst>
              <a:ext uri="{FF2B5EF4-FFF2-40B4-BE49-F238E27FC236}">
                <a16:creationId xmlns:a16="http://schemas.microsoft.com/office/drawing/2014/main" id="{4D4B2357-13D3-4288-B155-933D07590621}"/>
              </a:ext>
            </a:extLst>
          </p:cNvPr>
          <p:cNvSpPr/>
          <p:nvPr/>
        </p:nvSpPr>
        <p:spPr>
          <a:xfrm>
            <a:off x="4160520" y="3063240"/>
            <a:ext cx="3246120" cy="457200"/>
          </a:xfrm>
          <a:prstGeom prst="roundRect">
            <a:avLst/>
          </a:prstGeom>
          <a:solidFill>
            <a:srgbClr val="2389A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Microsoft JhengHei"/>
              </a:rPr>
              <a:t>模式</a:t>
            </a:r>
            <a:r>
              <a:rPr sz="1500" b="1" dirty="0">
                <a:solidFill>
                  <a:srgbClr val="FFFFFF"/>
                </a:solidFill>
                <a:latin typeface="Microsoft JhengHei"/>
              </a:rPr>
              <a:t> 1</a:t>
            </a:r>
          </a:p>
        </p:txBody>
      </p:sp>
      <p:sp>
        <p:nvSpPr>
          <p:cNvPr id="65" name="TextBox 25">
            <a:extLst>
              <a:ext uri="{FF2B5EF4-FFF2-40B4-BE49-F238E27FC236}">
                <a16:creationId xmlns:a16="http://schemas.microsoft.com/office/drawing/2014/main" id="{F47C470E-9E47-4320-9163-2DFF7AD8A8D0}"/>
              </a:ext>
            </a:extLst>
          </p:cNvPr>
          <p:cNvSpPr txBox="1"/>
          <p:nvPr/>
        </p:nvSpPr>
        <p:spPr>
          <a:xfrm>
            <a:off x="4325112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維持高度</a:t>
            </a:r>
          </a:p>
        </p:txBody>
      </p:sp>
      <p:sp>
        <p:nvSpPr>
          <p:cNvPr id="66" name="TextBox 26">
            <a:extLst>
              <a:ext uri="{FF2B5EF4-FFF2-40B4-BE49-F238E27FC236}">
                <a16:creationId xmlns:a16="http://schemas.microsoft.com/office/drawing/2014/main" id="{E3CE39DE-3AA6-4EBB-A5B5-E4F668DE8748}"/>
              </a:ext>
            </a:extLst>
          </p:cNvPr>
          <p:cNvSpPr txBox="1"/>
          <p:nvPr/>
        </p:nvSpPr>
        <p:spPr>
          <a:xfrm>
            <a:off x="4325112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EB8B3B"/>
                </a:solidFill>
                <a:latin typeface="Microsoft JhengHei"/>
              </a:rPr>
              <a:t>約 8 秒</a:t>
            </a:r>
          </a:p>
        </p:txBody>
      </p:sp>
      <p:sp>
        <p:nvSpPr>
          <p:cNvPr id="67" name="Rounded Rectangle 28">
            <a:extLst>
              <a:ext uri="{FF2B5EF4-FFF2-40B4-BE49-F238E27FC236}">
                <a16:creationId xmlns:a16="http://schemas.microsoft.com/office/drawing/2014/main" id="{86C1D7DC-78E8-43BC-BFF7-7F19E7E2D2E8}"/>
              </a:ext>
            </a:extLst>
          </p:cNvPr>
          <p:cNvSpPr/>
          <p:nvPr/>
        </p:nvSpPr>
        <p:spPr>
          <a:xfrm>
            <a:off x="7662671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29">
            <a:extLst>
              <a:ext uri="{FF2B5EF4-FFF2-40B4-BE49-F238E27FC236}">
                <a16:creationId xmlns:a16="http://schemas.microsoft.com/office/drawing/2014/main" id="{278037C0-D23D-48CD-B640-B8230EC1DFE9}"/>
              </a:ext>
            </a:extLst>
          </p:cNvPr>
          <p:cNvSpPr/>
          <p:nvPr/>
        </p:nvSpPr>
        <p:spPr>
          <a:xfrm>
            <a:off x="7662671" y="3063240"/>
            <a:ext cx="3246120" cy="457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Microsoft JhengHei"/>
              </a:rPr>
              <a:t>模式</a:t>
            </a:r>
            <a:r>
              <a:rPr sz="1500" b="1" dirty="0">
                <a:solidFill>
                  <a:srgbClr val="FFFFFF"/>
                </a:solidFill>
                <a:latin typeface="Microsoft JhengHei"/>
              </a:rPr>
              <a:t> 2</a:t>
            </a:r>
          </a:p>
        </p:txBody>
      </p:sp>
      <p:sp>
        <p:nvSpPr>
          <p:cNvPr id="69" name="TextBox 30">
            <a:extLst>
              <a:ext uri="{FF2B5EF4-FFF2-40B4-BE49-F238E27FC236}">
                <a16:creationId xmlns:a16="http://schemas.microsoft.com/office/drawing/2014/main" id="{21649678-1B4E-4B2E-A054-F43724EF9608}"/>
              </a:ext>
            </a:extLst>
          </p:cNvPr>
          <p:cNvSpPr txBox="1"/>
          <p:nvPr/>
        </p:nvSpPr>
        <p:spPr>
          <a:xfrm>
            <a:off x="7827263" y="3654364"/>
            <a:ext cx="2907792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1C3054"/>
                </a:solidFill>
                <a:latin typeface="Microsoft JhengHei"/>
              </a:rPr>
              <a:t>緩降</a:t>
            </a:r>
          </a:p>
        </p:txBody>
      </p:sp>
      <p:sp>
        <p:nvSpPr>
          <p:cNvPr id="70" name="TextBox 31">
            <a:extLst>
              <a:ext uri="{FF2B5EF4-FFF2-40B4-BE49-F238E27FC236}">
                <a16:creationId xmlns:a16="http://schemas.microsoft.com/office/drawing/2014/main" id="{E8330931-3865-49E6-8183-6323184D5D55}"/>
              </a:ext>
            </a:extLst>
          </p:cNvPr>
          <p:cNvSpPr txBox="1"/>
          <p:nvPr/>
        </p:nvSpPr>
        <p:spPr>
          <a:xfrm>
            <a:off x="7827263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 err="1">
                <a:solidFill>
                  <a:srgbClr val="C24C46"/>
                </a:solidFill>
                <a:latin typeface="Microsoft JhengHei"/>
              </a:rPr>
              <a:t>立即</a:t>
            </a:r>
            <a:endParaRPr sz="1300" b="1" dirty="0">
              <a:solidFill>
                <a:srgbClr val="C24C46"/>
              </a:solidFill>
              <a:latin typeface="Microsoft JhengHei"/>
            </a:endParaRPr>
          </a:p>
        </p:txBody>
      </p:sp>
      <p:sp>
        <p:nvSpPr>
          <p:cNvPr id="71" name="Shape 11">
            <a:hlinkClick r:id="rId3" action="ppaction://hlinkfile"/>
            <a:extLst>
              <a:ext uri="{FF2B5EF4-FFF2-40B4-BE49-F238E27FC236}">
                <a16:creationId xmlns:a16="http://schemas.microsoft.com/office/drawing/2014/main" id="{56A96F7D-6311-44EB-B580-63721965A6B7}"/>
              </a:ext>
            </a:extLst>
          </p:cNvPr>
          <p:cNvSpPr/>
          <p:nvPr/>
        </p:nvSpPr>
        <p:spPr>
          <a:xfrm rot="5400000">
            <a:off x="2084831" y="4498848"/>
            <a:ext cx="384048" cy="402336"/>
          </a:xfrm>
          <a:prstGeom prst="triangl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Shape 21">
            <a:hlinkClick r:id="rId4" action="ppaction://hlinkfile"/>
            <a:extLst>
              <a:ext uri="{FF2B5EF4-FFF2-40B4-BE49-F238E27FC236}">
                <a16:creationId xmlns:a16="http://schemas.microsoft.com/office/drawing/2014/main" id="{E84C2029-01DE-41D0-B4C9-FD541D31D943}"/>
              </a:ext>
            </a:extLst>
          </p:cNvPr>
          <p:cNvSpPr/>
          <p:nvPr/>
        </p:nvSpPr>
        <p:spPr>
          <a:xfrm rot="5400000">
            <a:off x="5586984" y="4498848"/>
            <a:ext cx="384048" cy="402336"/>
          </a:xfrm>
          <a:prstGeom prst="triangl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>
              <a:solidFill>
                <a:srgbClr val="2389A8"/>
              </a:solidFill>
            </a:endParaRPr>
          </a:p>
        </p:txBody>
      </p:sp>
      <p:sp>
        <p:nvSpPr>
          <p:cNvPr id="73" name="Shape 31">
            <a:hlinkClick r:id="rId5" action="ppaction://hlinkfile"/>
            <a:extLst>
              <a:ext uri="{FF2B5EF4-FFF2-40B4-BE49-F238E27FC236}">
                <a16:creationId xmlns:a16="http://schemas.microsoft.com/office/drawing/2014/main" id="{7F5B1463-4907-4047-8618-D4D58D3E1D04}"/>
              </a:ext>
            </a:extLst>
          </p:cNvPr>
          <p:cNvSpPr/>
          <p:nvPr/>
        </p:nvSpPr>
        <p:spPr>
          <a:xfrm rot="5400000">
            <a:off x="9089135" y="4498848"/>
            <a:ext cx="384048" cy="402336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A4439056-777D-450E-8D45-458109A7D1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00D2D73-C101-4C93-BF2B-30083D35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 err="1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室內定位系統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從訊號強度換算出飛機的位置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A974CE32-4239-460D-99CC-3C9C8E0620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4FBAA8FD-E340-477D-9EB2-D693B746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定位的四個步驟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95681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接收訊號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653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飛機發出藍牙訊號,四個固定位置的錨點接收並量測訊號強度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272491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305409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9626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以訊號強度與距離的關係式,推算飛機到每個錨點的距離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25880" y="382219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51560" y="415137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05993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訊號強度本身會跳動,靜止時加強平滑、移動時加快反應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491947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51560" y="5248656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515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74520" y="51572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計算座標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515721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由四個距離交會出位置,並在上位機地圖上即時顯示</a:t>
            </a:r>
            <a:endParaRPr lang="en-US" sz="1150" dirty="0"/>
          </a:p>
        </p:txBody>
      </p:sp>
      <p:sp>
        <p:nvSpPr>
          <p:cNvPr id="34" name="页脚占位符 33">
            <a:extLst>
              <a:ext uri="{FF2B5EF4-FFF2-40B4-BE49-F238E27FC236}">
                <a16:creationId xmlns:a16="http://schemas.microsoft.com/office/drawing/2014/main" id="{DEC8A1C9-1447-4B98-8B0A-B1CD2342C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5" name="灯片编号占位符 34">
            <a:extLst>
              <a:ext uri="{FF2B5EF4-FFF2-40B4-BE49-F238E27FC236}">
                <a16:creationId xmlns:a16="http://schemas.microsoft.com/office/drawing/2014/main" id="{0587518F-2A68-479F-AF63-575544D7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定位網路硬體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</a:t>
            </a: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6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一台</a:t>
            </a: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接收四個錨點回報的訊號強度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USB </a:t>
            </a:r>
            <a:r>
              <a:rPr lang="en-US" sz="12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轉送到上位機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7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7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使用獨立的封包格式並加上校驗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LED </a:t>
            </a:r>
            <a:r>
              <a:rPr lang="en-US" sz="12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顯示連線狀態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架設時四個錨點的天線型號、朝向與高度必須一致。實測朝向不同可差到近</a:t>
            </a: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20 </a:t>
            </a:r>
            <a:r>
              <a:rPr lang="en-US" sz="11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分貝,直接影響精度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</a:t>
            </a: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6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四個,位置固定且已知</a:t>
            </a: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只接收不連線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錨點只接收、不建立連線,因此可以同時服務多架飛機</a:t>
            </a:r>
            <a:endParaRPr lang="en-US" sz="1100" dirty="0"/>
          </a:p>
        </p:txBody>
      </p:sp>
      <p:sp>
        <p:nvSpPr>
          <p:cNvPr id="38" name="页脚占位符 37">
            <a:extLst>
              <a:ext uri="{FF2B5EF4-FFF2-40B4-BE49-F238E27FC236}">
                <a16:creationId xmlns:a16="http://schemas.microsoft.com/office/drawing/2014/main" id="{5CC0C587-69AA-473E-9BBF-EA23BE886D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9" name="灯片编号占位符 38">
            <a:extLst>
              <a:ext uri="{FF2B5EF4-FFF2-40B4-BE49-F238E27FC236}">
                <a16:creationId xmlns:a16="http://schemas.microsoft.com/office/drawing/2014/main" id="{1F63A581-EC89-4E79-99A8-42BFB444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以同一顆無線晶片兼發定位訊號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遙控通訊是一問一答,兩次收發之間無線晶片處於閒置。本研究利用這段空檔,讓同一顆晶片切換去發出一個藍牙訊號供錨點接收,發完再切回遙控。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無線晶片的時間分配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青色是插入的定位訊號,借用遙控的空檔發出,錨點即可收到並量測強度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切換方式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切換時重新設定頻率、封包格式與校驗方式,發完再切回遙控,全程插在確定的空檔內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43984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時間保護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若當下空檔不足就跳過這次定位訊號,不佔用接收遙控指令的時機。飛行安全優先於定位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4736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發出的是與藍牙格式相容的訊號,錨點掃描得到並可量測強度,用於定位已足夠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好處是不必另外加裝定位模組,同一顆晶片就能同時處理遙控與定位</a:t>
            </a:r>
            <a:endParaRPr lang="en-US" sz="1050" dirty="0"/>
          </a:p>
        </p:txBody>
      </p:sp>
      <p:sp>
        <p:nvSpPr>
          <p:cNvPr id="39" name="页脚占位符 38">
            <a:extLst>
              <a:ext uri="{FF2B5EF4-FFF2-40B4-BE49-F238E27FC236}">
                <a16:creationId xmlns:a16="http://schemas.microsoft.com/office/drawing/2014/main" id="{D55A978C-D8D6-405C-B391-28B3D735E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855B0AB9-D136-4AF0-8EDC-D1A8C658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多架飛機共用錨點的方式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三架飛機發出的訊號格式相同,只差一個編號,因此一套錨點就能同時服務多架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飛機發出訊號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利用遙控空檔發出藍牙訊號,內容包含一個編號,用來表示是哪一架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四個錨點接收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四個錨點各自收到這個訊號,並分別量測到的強度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" y="3730752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3986784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錨點回報給上位機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91363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錨點把「哪一架、強度多少」回報給閘道,閘道再以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USB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轉送到上位機,每秒十次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2688" y="4517136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上位機計算座標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70001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先濾除訊號雜訊,換算成距離,再由四個距離交會出座標,最後平滑軌跡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2688" y="5303520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31520" y="555955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地圖顯示與控制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486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地圖上即時顯示飛機位置,算出的座標也可回頭用來控制飛行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錨點一次掃描就能收齊三架的訊號,上位機分別計算後顯示在同一張地圖上</a:t>
            </a:r>
            <a:endParaRPr lang="en-US" sz="1000" dirty="0"/>
          </a:p>
        </p:txBody>
      </p:sp>
      <p:sp>
        <p:nvSpPr>
          <p:cNvPr id="43" name="页脚占位符 42">
            <a:extLst>
              <a:ext uri="{FF2B5EF4-FFF2-40B4-BE49-F238E27FC236}">
                <a16:creationId xmlns:a16="http://schemas.microsoft.com/office/drawing/2014/main" id="{90155EAE-9470-430B-82C9-CE242BDF0D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4" name="灯片编号占位符 43">
            <a:extLst>
              <a:ext uri="{FF2B5EF4-FFF2-40B4-BE49-F238E27FC236}">
                <a16:creationId xmlns:a16="http://schemas.microsoft.com/office/drawing/2014/main" id="{8AF9B260-DC7B-4599-A698-D19A436D9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訊號強度的波動特性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</a:t>
            </a: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(RSSI)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接收到的訊號強弱,單位是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dBm。每降低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10 </a:t>
            </a: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分貝代表功率變成十分之一。室內藍牙常見範圍約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-40(</a:t>
            </a: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很近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)到 -90(</a:t>
            </a: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很遠</a:t>
            </a: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跳動的三個原因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訊號經多條路徑到達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訊號經牆面與地面反射後,多條路徑疊在一起互相幹擾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被遮擋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700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人體或機身擋住時,強度可差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5 到 15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66944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230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230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天線朝向不同會造成明顯落差,實際數值待量測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訊號強度跳動示意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25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飛機靜止不動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265176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3248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8075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2909" y="2901696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256417" y="3343656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9926" y="2990088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83434" y="3166872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96943" y="360883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10451" y="2813304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823960" y="3255264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137469" y="3432048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450977" y="2901696"/>
            <a:ext cx="313509" cy="1149096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764486" y="405079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77994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391503" y="2990088"/>
            <a:ext cx="313509" cy="530352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705011" y="352044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583680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97189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210697" y="329793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524206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37714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151223" y="356311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464731" y="276758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78240" y="320954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091749" y="338632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405257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718766" y="400507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10032274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10345783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0659291" y="347472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0972800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629400" y="3078480"/>
            <a:ext cx="438912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01200" y="2731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中值</a:t>
            </a:r>
            <a:r>
              <a:rPr lang="en-US" sz="1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≈ -60 dBm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連續取樣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飛機完全靜止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即使飛機完全靜止,讀值仍會在數分貝內跳動,偶爾出現偏離很多的值。換算成距離後差距可達數倍,所以必須先濾波</a:t>
            </a: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69" name="页脚占位符 68">
            <a:extLst>
              <a:ext uri="{FF2B5EF4-FFF2-40B4-BE49-F238E27FC236}">
                <a16:creationId xmlns:a16="http://schemas.microsoft.com/office/drawing/2014/main" id="{FDF2EC55-FE47-427E-A645-9CD4641019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70" name="灯片编号占位符 69">
            <a:extLst>
              <a:ext uri="{FF2B5EF4-FFF2-40B4-BE49-F238E27FC236}">
                <a16:creationId xmlns:a16="http://schemas.microsoft.com/office/drawing/2014/main" id="{B68732B0-002A-4841-B0E7-0769C9BE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訊號強度與距離的換算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從物理現象推導出關係式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電波往外擴散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能量以球面往外擴散,功率與距離平方成反比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改用對數表示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訊號強度本身就是對數刻度,因此距離每增加十倍,強度就固定下降一定分貝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加入環境修正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室內有牆面與反射,衰減比自由空間快,因此用一個可調的衰減指數取代固定值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RSSI(d) = P₀ − 10·n·log₁₀(d)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反解:d</a:t>
            </a:r>
            <a:r>
              <a:rPr lang="en-US" sz="1050" dirty="0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10^((P₀−RSSI)/(10n))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兩個參數的意義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2280" y="2212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距離一公尺處的基準強度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由發射功率與天線共同決定,每個錨點都不一樣,必須各自在一公尺處實際量測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</a:t>
            </a: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反映環境特性</a:t>
            </a: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無遮擋的理想情況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n=2.7~3.5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一般室內環境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n&gt;4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遮蔽物多、隔牆多的環境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i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衰減指數若設定不準,整場距離都會偏掉,這是需要自動調整的原因</a:t>
            </a:r>
            <a:r>
              <a:rPr lang="en-US" sz="10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42" name="页脚占位符 41">
            <a:extLst>
              <a:ext uri="{FF2B5EF4-FFF2-40B4-BE49-F238E27FC236}">
                <a16:creationId xmlns:a16="http://schemas.microsoft.com/office/drawing/2014/main" id="{BE630F49-FB06-4492-A58C-EB04357A45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DA8C5940-E4E5-402C-9779-B4136CEC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(1/3):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問題說明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訊號強度的三個問題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訊號本身就會跳動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飛機停在原地不動,讀到的強度仍會在正負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2 到 3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分貝之間跳動。這是反射與環境幹擾造成的,無法消除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392424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換算距離後會被放大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強度換算成距離是指數運算,強度只差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分貝,換算後可能差到數十公分甚至一公尺以上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5422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靜止與移動的需求相反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16635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要壓住跳動就得濾得重,要跟上移動就得濾得輕,同一組固定參數無法同時滿足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固定參數無法兩者兼顧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靜止時訊號持續跳動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92240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3281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73389" y="3015487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13964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54538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95113" y="2540000"/>
            <a:ext cx="440575" cy="59436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135687" y="3134359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76262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6836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457411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89798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00800" y="3238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濾得太輕,畫面上的位置會跟著亂跳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37973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移動時需要立即反應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229100"/>
            <a:ext cx="502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濾得太重,畫面上的位置會落後、跟不上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固定參數一定會犧牲其中一邊,因此需要能依情況自動調整強度的濾波方式</a:t>
            </a: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100" dirty="0"/>
          </a:p>
        </p:txBody>
      </p:sp>
      <p:sp>
        <p:nvSpPr>
          <p:cNvPr id="41" name="页脚占位符 40">
            <a:extLst>
              <a:ext uri="{FF2B5EF4-FFF2-40B4-BE49-F238E27FC236}">
                <a16:creationId xmlns:a16="http://schemas.microsoft.com/office/drawing/2014/main" id="{0DDB6C4A-5CE8-4E14-A524-63F8458C08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2" name="灯片编号占位符 41">
            <a:extLst>
              <a:ext uri="{FF2B5EF4-FFF2-40B4-BE49-F238E27FC236}">
                <a16:creationId xmlns:a16="http://schemas.microsoft.com/office/drawing/2014/main" id="{79DDD499-9527-4840-A256-B10A72ED3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(2/3):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依情況調整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每個錨點各用一組濾波器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每收到一筆新讀值,就用「新讀值與目前估計的差」來修正估計。這個差值的變化方式,可以用來判斷飛機是否真的在移動</a:t>
            </a: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靜止時:加強平滑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差值在零附近來回擺動,代表飛機沒有真的移動。此時多倚重原本的估計,壓住跳動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7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4288535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移動時:加快反應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連續幾筆差值都偏向同一方向,代表飛機真的在動。此時改為多採信新讀值,讓位置快速跟上</a:t>
            </a:r>
            <a:r>
              <a:rPr lang="en-US" sz="1000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移動與雜訊的分辨方式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雜訊造成的差值忽正忽負,累加後互相抵消,沒有方向性</a:t>
            </a: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真的移動時差值持續同號,累加後越來越大,有明確方向</a:t>
            </a: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同方向的差值累積超過設定值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即判定為移動,濾波強度隨之切換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79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17880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可調整的參數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54456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靜止時的平滑程度、移動時的反應速度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移動判定的門檻、量測雜訊的估計值</a:t>
            </a:r>
            <a:endParaRPr lang="en-US" sz="1000" dirty="0"/>
          </a:p>
        </p:txBody>
      </p:sp>
      <p:sp>
        <p:nvSpPr>
          <p:cNvPr id="28" name="页脚占位符 27">
            <a:extLst>
              <a:ext uri="{FF2B5EF4-FFF2-40B4-BE49-F238E27FC236}">
                <a16:creationId xmlns:a16="http://schemas.microsoft.com/office/drawing/2014/main" id="{1E10F5D1-CC52-45D7-BFCE-CF966CA0B1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29" name="灯片编号占位符 28">
            <a:extLst>
              <a:ext uri="{FF2B5EF4-FFF2-40B4-BE49-F238E27FC236}">
                <a16:creationId xmlns:a16="http://schemas.microsoft.com/office/drawing/2014/main" id="{3B07CF23-D4DF-422E-A17A-296318BD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(3/3):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實際除錯過程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發生的現象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校正完成後,原始量測點持續更新,但畫面上的飛機圖示停在原地不動,明顯落後</a:t>
            </a: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25696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找出的原因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為壓住跳動把濾波參數設得太小,移動時要二十多筆資料才跟得上,看起來就像停住</a:t>
            </a:r>
            <a:r>
              <a:rPr lang="en-US" sz="10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5469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改為自動調整:移動時加快反應、靜止時加強平滑,並在連續大幅跳動數次後重新起算</a:t>
            </a: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修正後的結果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抖動顯著收斂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加強平滑後,畫面上的位置不再跳動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位置穩定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計算結果不再發散,停在正確的位置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39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838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位置跟得上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判定為移動後就加快反應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以上是除錯過程中觀察到的改善。實際硬體的定位精度數字,要等上位機與遙控器完整連通後才能量測</a:t>
            </a:r>
            <a:endParaRPr lang="en-US" sz="1000" dirty="0"/>
          </a:p>
        </p:txBody>
      </p:sp>
      <p:sp>
        <p:nvSpPr>
          <p:cNvPr id="37" name="页脚占位符 36">
            <a:extLst>
              <a:ext uri="{FF2B5EF4-FFF2-40B4-BE49-F238E27FC236}">
                <a16:creationId xmlns:a16="http://schemas.microsoft.com/office/drawing/2014/main" id="{809BF51E-24BA-4209-A198-490C4F8021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6E7F8E96-E81B-427C-B73E-61064F9E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位置的平滑處理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做法:把兩個來源加權平均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每次更新都有兩個位置來源</a:t>
            </a: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 err="1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預測值:依上一次的位置與速度推算,平滑但會逐漸偏離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量測值:這次由距離交會算出的座標,貼近真實但跳動大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</a:t>
            </a: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3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預測</a:t>
            </a: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K ×(</a:t>
            </a:r>
            <a:r>
              <a:rPr lang="en-US" sz="13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量測</a:t>
            </a: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</a:t>
            </a:r>
            <a:r>
              <a:rPr lang="en-US" sz="13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預測</a:t>
            </a: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括號中的比例會自動調整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量測越不穩就多信預測,結果較平滑;推算越不準就多信量測,跟得較緊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本系統的做法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84832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同時估計位置與速度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以等速度推算:新位置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目前位置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×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一併估計速度的原因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只平滑位置會落後;一併估計速度才能預判移動方向,跟得比較快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069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參數設定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一個代表推算的可信度,一個代表量測的可信度,依實際跳動情況設定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50292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這個方法能平滑隨機跳動,但無法修正整體偏移。錨點的基準值校正才是精度的基礎</a:t>
            </a:r>
            <a:endParaRPr lang="en-US" sz="1000" dirty="0"/>
          </a:p>
        </p:txBody>
      </p:sp>
      <p:sp>
        <p:nvSpPr>
          <p:cNvPr id="37" name="页脚占位符 36">
            <a:extLst>
              <a:ext uri="{FF2B5EF4-FFF2-40B4-BE49-F238E27FC236}">
                <a16:creationId xmlns:a16="http://schemas.microsoft.com/office/drawing/2014/main" id="{BE9C3BC7-96BB-40A4-B599-FA5A4B4929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EFCD3C40-434E-4544-A795-20C43A280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定位處理的完整流程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</a:t>
            </a: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飛機發訊號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以藍牙廣播發出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56432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56432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</a:t>
            </a: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錨點接收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四個錨點量測訊號強度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185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</a:t>
            </a: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靜止時加強平滑,移動時加快反應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89136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34856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</a:t>
            </a: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0576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依各錨的基準值換算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5016" y="3383280"/>
            <a:ext cx="0" cy="32004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3454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034540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802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</a:t>
            </a:r>
            <a:r>
              <a:rPr lang="en-US" sz="115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修正環境參數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5980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以錨點之間的已知距離反推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850892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50892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96612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</a:t>
            </a: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交會出座標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2332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由四個距離計算位置,較近的錨點權重較高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2652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67244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667244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712964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</a:t>
            </a:r>
            <a:r>
              <a:rPr lang="en-US" sz="115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平滑軌跡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58684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讓顯示的移動軌跡連續不跳動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橙色是訊號濾波,是本研究著力的部分;藍色是位置計算;綠色是環境參數的修正</a:t>
            </a:r>
            <a:endParaRPr lang="en-US" sz="1100" dirty="0"/>
          </a:p>
        </p:txBody>
      </p:sp>
      <p:sp>
        <p:nvSpPr>
          <p:cNvPr id="46" name="页脚占位符 45">
            <a:extLst>
              <a:ext uri="{FF2B5EF4-FFF2-40B4-BE49-F238E27FC236}">
                <a16:creationId xmlns:a16="http://schemas.microsoft.com/office/drawing/2014/main" id="{3137990D-59A9-41A5-961C-CD2E1F422E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7" name="灯片编号占位符 46">
            <a:extLst>
              <a:ext uri="{FF2B5EF4-FFF2-40B4-BE49-F238E27FC236}">
                <a16:creationId xmlns:a16="http://schemas.microsoft.com/office/drawing/2014/main" id="{E835BA9B-2D69-4E22-914F-6DB60ABC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以定位座標控制飛行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計算誤差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目標位置減目前位置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限制速度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換算成期望的移動速度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轉換座標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依飛機當前朝向換算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8972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送出傾角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轉為飛機的傾斜角度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定位算出的是場地上的座標,而飛機的傾斜是相對自己的方向,兩者必須依當前朝向換算,否則會飛錯方向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上位機的四項功能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即時地圖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顯示場地、錨點位置與飛機朝向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點選導航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690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選定飛機、點選目標位置,飛機自行前往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錨點校正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在距離一公尺處量測各錨的基準值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006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55480" y="4041648"/>
            <a:ext cx="2057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飛行控制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55480" y="4407408"/>
            <a:ext cx="2057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解鎖、油門與緊急停止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目前定位精度只到示範等級,因此移動速度與傾角都刻意設得保守,避免定位跳動造成劇烈動作</a:t>
            </a:r>
            <a:endParaRPr lang="en-US" sz="1050" dirty="0"/>
          </a:p>
        </p:txBody>
      </p:sp>
      <p:sp>
        <p:nvSpPr>
          <p:cNvPr id="50" name="页脚占位符 49">
            <a:extLst>
              <a:ext uri="{FF2B5EF4-FFF2-40B4-BE49-F238E27FC236}">
                <a16:creationId xmlns:a16="http://schemas.microsoft.com/office/drawing/2014/main" id="{A285484F-489B-4240-A5AA-9F5C8A01CB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51" name="灯片编号占位符 50">
            <a:extLst>
              <a:ext uri="{FF2B5EF4-FFF2-40B4-BE49-F238E27FC236}">
                <a16:creationId xmlns:a16="http://schemas.microsoft.com/office/drawing/2014/main" id="{90F264F0-A928-4114-AF3B-FD715469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定位方法的比較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</a:t>
            </a: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RSSI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直接轉距離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三邊定位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無濾波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</a:t>
            </a: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3m+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跳動劇烈,無法閉環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· NTUST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</a:t>
            </a:r>
            <a:r>
              <a:rPr lang="en-US" sz="11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WiFi</a:t>
            </a: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-RSSI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Kalman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自適應</a:t>
            </a: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最小二乘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 1.88m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她的實測值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非本研究成績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463040"/>
            <a:ext cx="3474719" cy="4023360"/>
          </a:xfrm>
          <a:prstGeom prst="roundRect">
            <a:avLst>
              <a:gd name="adj" fmla="val 207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38160" y="1463040"/>
            <a:ext cx="3474719" cy="54864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38160" y="1463040"/>
            <a:ext cx="3474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2103120"/>
            <a:ext cx="3474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訊號自動濾波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對數模型逐錨</a:t>
            </a: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P₀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加權最小二乘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en-US" sz="115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</a:t>
            </a: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Kalman + </a:t>
            </a:r>
            <a:r>
              <a:rPr lang="en-US" sz="115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10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410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r>
              <a:rPr lang="en-US" sz="14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&lt;2m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7532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+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</a:t>
            </a:r>
            <a:r>
              <a:rPr lang="en-US" sz="10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閉環</a:t>
            </a:r>
            <a:endParaRPr lang="en-US" sz="1000" dirty="0"/>
          </a:p>
        </p:txBody>
      </p:sp>
      <p:sp>
        <p:nvSpPr>
          <p:cNvPr id="44" name="页脚占位符 43">
            <a:extLst>
              <a:ext uri="{FF2B5EF4-FFF2-40B4-BE49-F238E27FC236}">
                <a16:creationId xmlns:a16="http://schemas.microsoft.com/office/drawing/2014/main" id="{B0DD087F-7A17-460C-B370-3E9E497712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5" name="灯片编号占位符 44">
            <a:extLst>
              <a:ext uri="{FF2B5EF4-FFF2-40B4-BE49-F238E27FC236}">
                <a16:creationId xmlns:a16="http://schemas.microsoft.com/office/drawing/2014/main" id="{BB44B8F3-CFAA-42FE-BD08-AFC46F52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(四):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室內定位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</a:t>
            </a:r>
            <a:r>
              <a:rPr lang="en-US" sz="1200" i="1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影片位置:此處替換為定位系統截圖</a:t>
            </a: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480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建議片段:四錨部署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上位機地圖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移動信標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軌跡跟隨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濾波前後對比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影片同時呈現可行性與實際的軌跡波動,目前精度為示範等級</a:t>
            </a:r>
            <a:endParaRPr lang="en-US" sz="1000" dirty="0"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D5D41613-E22F-4352-AE8B-B5FC1C2F6A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EB00319C-EC85-4AFB-901F-A5D14E82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系統功能的比較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</a:t>
            </a: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MiniFly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30175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8424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114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98424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0" y="1984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</a:t>
            </a: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單晶片飛控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8152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 </a:t>
            </a: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114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308152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</a:t>
            </a:r>
            <a:r>
              <a:rPr lang="en-US" sz="1050" b="1" dirty="0" err="1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同板直插</a:t>
            </a: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63016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</a:t>
            </a: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地面站協議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63016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</a:t>
            </a:r>
            <a:r>
              <a:rPr lang="en-US" sz="1050" b="1" dirty="0" err="1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移植保留</a:t>
            </a: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17880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00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</a:t>
            </a: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23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114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17880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8680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</a:t>
            </a:r>
            <a:r>
              <a:rPr lang="en-US" sz="1050" b="1" dirty="0" err="1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四錨+引擎</a:t>
            </a: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72744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008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單遙控多機</a:t>
            </a: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廣播架構</a:t>
            </a: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23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114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9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0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95360" y="472744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6868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</a:t>
            </a:r>
            <a:r>
              <a:rPr lang="en-US" sz="1050" b="1" dirty="0" err="1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三機制實測</a:t>
            </a: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023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114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調參</a:t>
            </a: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09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400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95360" y="527608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686800" y="5276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</a:t>
            </a:r>
            <a:r>
              <a:rPr lang="en-US" sz="1050" b="1" dirty="0" err="1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地圖+標定+控制</a:t>
            </a: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本研究同時具備三項:主控晶片可更換、沿用原廠協議、加入定位與多機控制</a:t>
            </a:r>
            <a:endParaRPr lang="en-US" sz="1150" dirty="0"/>
          </a:p>
        </p:txBody>
      </p:sp>
      <p:sp>
        <p:nvSpPr>
          <p:cNvPr id="74" name="页脚占位符 73">
            <a:extLst>
              <a:ext uri="{FF2B5EF4-FFF2-40B4-BE49-F238E27FC236}">
                <a16:creationId xmlns:a16="http://schemas.microsoft.com/office/drawing/2014/main" id="{F7AFEBD5-DF88-4368-9D76-0DE3E12C3E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75" name="灯片编号占位符 74">
            <a:extLst>
              <a:ext uri="{FF2B5EF4-FFF2-40B4-BE49-F238E27FC236}">
                <a16:creationId xmlns:a16="http://schemas.microsoft.com/office/drawing/2014/main" id="{EEC82386-CBCF-4846-B69D-43461A23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(一):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硬體與定位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個驅動模組完成移植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腳位、通訊、馬達、無線、USB、排程、感測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項系統層問題已解決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無線封包格式、USB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連線、排程時間單位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種主控晶片以同一塊電路板驗證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與 ESP32S3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可直接更換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個步驟的定位處理流程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訊號濾波、距離換算、座標交會、軌跡平滑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錨定位網路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閘道+四錨+上位機標定介面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&lt;2m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定位目標</a:t>
            </a: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</a:t>
            </a: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BLE同級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MAE 1.88m為對標目標,本研究精度待量化</a:t>
            </a:r>
            <a:endParaRPr lang="en-US" sz="1000" dirty="0"/>
          </a:p>
        </p:txBody>
      </p:sp>
      <p:sp>
        <p:nvSpPr>
          <p:cNvPr id="33" name="页脚占位符 32">
            <a:extLst>
              <a:ext uri="{FF2B5EF4-FFF2-40B4-BE49-F238E27FC236}">
                <a16:creationId xmlns:a16="http://schemas.microsoft.com/office/drawing/2014/main" id="{E58A9AC8-D7D7-4DFC-8F22-CE63B28BC6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95F40685-65CA-48AF-8787-A4280B2F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</a:t>
            </a: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(二):</a:t>
            </a: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多機控制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種控制方式已實機驗證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A、廣播模式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B、輪流查詢狀態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個封包送達所有飛機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若改用輪流發送,兩架的更新速率就減半,而且指令會錯開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個位元組供每一架使用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編號、旗標、油門與三軸角度;兩架共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19、三架共 27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架在同一封包下做不同動作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同一封包中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ATK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設手動、nRF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設懸停,結果只有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ATK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0.13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秒 </a:t>
            </a: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目前操控那一架的狀態更新週期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點名開銷:在線約1ms(&lt;1%),掉線降頻最壞約4%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32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位元組</a:t>
            </a: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4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單包載荷上限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決定多工需定點壓縮,亦決定單包最多3台的擴展邊界</a:t>
            </a:r>
            <a:endParaRPr lang="en-US" sz="1000" dirty="0"/>
          </a:p>
        </p:txBody>
      </p:sp>
      <p:sp>
        <p:nvSpPr>
          <p:cNvPr id="33" name="页脚占位符 32">
            <a:extLst>
              <a:ext uri="{FF2B5EF4-FFF2-40B4-BE49-F238E27FC236}">
                <a16:creationId xmlns:a16="http://schemas.microsoft.com/office/drawing/2014/main" id="{438B9E51-A31C-4F5D-82B4-C403F567C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853598B6-E77B-44B5-9947-7019556D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目前的限制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目前的限制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目前只到示範等級,受訊號強度本身的限制,適合大略定位,不適合精密定點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169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32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個位元組,因此一個封包最多容納三架;兩架同時編隊飛行尚未完整展示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飛行包線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目前以室內低速懸停為主,尚未測試較劇烈的飛行動作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環境依賴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定位需重新標定</a:t>
            </a: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P₀/n </a:t>
            </a: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於新場地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限制的成因與後續方向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訊號強度定位的精度受物理特性限制,同級硬體的文獻也在公尺等級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清楚界定系統能做什麼、不能做什麼,是後續改進的依據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9319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每條邊界皆對應明確的升級路徑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937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委員最怕誇大,最欣賞「知道自己在哪</a:t>
            </a:r>
            <a:r>
              <a:rPr lang="en-US" sz="11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</a:t>
            </a:r>
            <a:endParaRPr lang="en-US" sz="1150" dirty="0"/>
          </a:p>
        </p:txBody>
      </p:sp>
      <p:sp>
        <p:nvSpPr>
          <p:cNvPr id="40" name="页脚占位符 39">
            <a:extLst>
              <a:ext uri="{FF2B5EF4-FFF2-40B4-BE49-F238E27FC236}">
                <a16:creationId xmlns:a16="http://schemas.microsoft.com/office/drawing/2014/main" id="{F85682B7-F615-4816-A88D-33ECBD4CEA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41" name="灯片编号占位符 40">
            <a:extLst>
              <a:ext uri="{FF2B5EF4-FFF2-40B4-BE49-F238E27FC236}">
                <a16:creationId xmlns:a16="http://schemas.microsoft.com/office/drawing/2014/main" id="{17A2EC6A-81FF-4289-8E08-DAF64E21D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4D6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目前完成的工作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自行設計製作,兩種主控可直接更換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09760" y="1572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50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由兩顆晶片改為單晶片,並解決三項系統問題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254203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097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完成處理流程的設計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351129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9AA4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509760" y="35112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地圖顯示、錨點校正與飛行控制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53583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單一遙控器控制多架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358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A、廣播模式</a:t>
            </a: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15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B、輪流查詢狀態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09760" y="544982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509760" y="5449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實測驗證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36" name="页脚占位符 35">
            <a:extLst>
              <a:ext uri="{FF2B5EF4-FFF2-40B4-BE49-F238E27FC236}">
                <a16:creationId xmlns:a16="http://schemas.microsoft.com/office/drawing/2014/main" id="{F61B8A52-3596-49C2-82E7-B611371FFF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7" name="灯片编号占位符 36">
            <a:extLst>
              <a:ext uri="{FF2B5EF4-FFF2-40B4-BE49-F238E27FC236}">
                <a16:creationId xmlns:a16="http://schemas.microsoft.com/office/drawing/2014/main" id="{764EC1E7-119C-4D1E-BFB8-AAED0D52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後續工作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多機控制已完成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接著要做由上位機依定位結果自動控制兩架同時飛行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定位精度量測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完成環境參數的自動校正,並在實際場地量測誤差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改用新版藍牙測距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新版藍牙內建較精確的測距功能,換用支援的主控晶片即可提升定位精度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加入其他感測器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 err="1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加入光流與雷射測距;電路板可作為教學套件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 err="1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 err="1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本研究從自行設計電路板、移植飛控韌體,到室內定位與多機控制,建立了一套可以自行修改、也能繼續延伸的無人機平臺</a:t>
            </a:r>
            <a:r>
              <a:rPr lang="en-US" sz="1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46634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感謝指導教授悉心指導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感謝口試委員撥冗審閱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敬請各位委員指教</a:t>
            </a:r>
            <a:endParaRPr lang="en-US" sz="1900" dirty="0"/>
          </a:p>
        </p:txBody>
      </p:sp>
      <p:sp>
        <p:nvSpPr>
          <p:cNvPr id="33" name="页脚占位符 32">
            <a:extLst>
              <a:ext uri="{FF2B5EF4-FFF2-40B4-BE49-F238E27FC236}">
                <a16:creationId xmlns:a16="http://schemas.microsoft.com/office/drawing/2014/main" id="{BA25B72D-0460-42E6-A4B2-4C3F93D276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 altLang="zh-TW" dirty="0"/>
              <a:t>/20</a:t>
            </a:r>
            <a:endParaRPr lang="zh-TW" altLang="en-US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EE6E5473-CEA6-4622-B172-85C7663E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DA3A-6EA9-486D-B4E3-78B252162388}" type="slidenum">
              <a:rPr lang="en-US" altLang="zh-TW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34872</TotalTime>
  <Words>9060</Words>
  <Application>Microsoft Office PowerPoint</Application>
  <PresentationFormat>宽屏</PresentationFormat>
  <Paragraphs>1659</Paragraphs>
  <Slides>43</Slides>
  <Notes>43</Notes>
  <HiddenSlides>21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2" baseType="lpstr">
      <vt:lpstr>Google Sans Text</vt:lpstr>
      <vt:lpstr>Microsoft JhengHei</vt:lpstr>
      <vt:lpstr>Noto Sans CJK TC</vt:lpstr>
      <vt:lpstr>Noto Serif CJK TC</vt:lpstr>
      <vt:lpstr>Arial</vt:lpstr>
      <vt:lpstr>Calibri</vt:lpstr>
      <vt:lpstr>Consolas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碩士論文口試</dc:creator>
  <cp:lastModifiedBy>垦 林</cp:lastModifiedBy>
  <cp:revision>482</cp:revision>
  <dcterms:created xsi:type="dcterms:W3CDTF">2026-07-21T07:02:54Z</dcterms:created>
  <dcterms:modified xsi:type="dcterms:W3CDTF">2026-10-05T06:45:48Z</dcterms:modified>
</cp:coreProperties>
</file>