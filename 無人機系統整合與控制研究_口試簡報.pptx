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337" r:id="rId10"/>
    <p:sldId id="336" r:id="rId11"/>
    <p:sldId id="335" r:id="rId12"/>
    <p:sldId id="334" r:id="rId13"/>
    <p:sldId id="323" r:id="rId14"/>
    <p:sldId id="284" r:id="rId15"/>
    <p:sldId id="283" r:id="rId16"/>
    <p:sldId id="307" r:id="rId17"/>
    <p:sldId id="317" r:id="rId18"/>
    <p:sldId id="315" r:id="rId19"/>
    <p:sldId id="339" r:id="rId20"/>
    <p:sldId id="280" r:id="rId21"/>
    <p:sldId id="287" r:id="rId22"/>
    <p:sldId id="300" r:id="rId23"/>
    <p:sldId id="288" r:id="rId24"/>
    <p:sldId id="293" r:id="rId25"/>
    <p:sldId id="294" r:id="rId26"/>
    <p:sldId id="290" r:id="rId27"/>
    <p:sldId id="291" r:id="rId28"/>
    <p:sldId id="295" r:id="rId29"/>
    <p:sldId id="296" r:id="rId30"/>
    <p:sldId id="297" r:id="rId31"/>
    <p:sldId id="298" r:id="rId32"/>
    <p:sldId id="292" r:id="rId33"/>
    <p:sldId id="289" r:id="rId34"/>
    <p:sldId id="299" r:id="rId35"/>
    <p:sldId id="301" r:id="rId36"/>
    <p:sldId id="302" r:id="rId37"/>
    <p:sldId id="303" r:id="rId38"/>
    <p:sldId id="310" r:id="rId39"/>
    <p:sldId id="304" r:id="rId40"/>
    <p:sldId id="305" r:id="rId41"/>
    <p:sldId id="306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575"/>
    <a:srgbClr val="E6E6E6"/>
    <a:srgbClr val="C0C4CB"/>
    <a:srgbClr val="146984"/>
    <a:srgbClr val="2389A8"/>
    <a:srgbClr val="F5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60048" autoAdjust="0"/>
  </p:normalViewPr>
  <p:slideViewPr>
    <p:cSldViewPr snapToGrid="0" snapToObjects="1">
      <p:cViewPr varScale="1">
        <p:scale>
          <a:sx n="57" d="100"/>
          <a:sy n="57" d="100"/>
        </p:scale>
        <p:origin x="1434" y="3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42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8448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0 字≈0 秒 ｜ </a:t>
            </a:r>
            <a:r>
              <a:rPr dirty="0" err="1"/>
              <a:t>完整版</a:t>
            </a:r>
            <a:r>
              <a:rPr dirty="0"/>
              <a:t> 166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怎麼講】停</a:t>
            </a:r>
            <a:r>
              <a:rPr dirty="0"/>
              <a:t> 3 </a:t>
            </a:r>
            <a:r>
              <a:rPr dirty="0" err="1"/>
              <a:t>秒讓委員讀完題目,不需逐字念。自我介紹後直接進目錄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【口頭示範】各位委員早安,</a:t>
            </a:r>
            <a:r>
              <a:rPr dirty="0" err="1"/>
              <a:t>我是〔姓名</a:t>
            </a:r>
            <a:r>
              <a:rPr dirty="0"/>
              <a:t>〕,</a:t>
            </a:r>
            <a:r>
              <a:rPr dirty="0" err="1"/>
              <a:t>指導教授是〔教授</a:t>
            </a:r>
            <a:r>
              <a:rPr dirty="0"/>
              <a:t>〕。</a:t>
            </a:r>
            <a:r>
              <a:rPr dirty="0" err="1"/>
              <a:t>今天報告的題目是「無人機系統整合與控制研究</a:t>
            </a:r>
            <a:r>
              <a:t>」— 主要工作是把一套商用飛控移植到另一顆微控制器上,並在這個平臺上延伸出室內定位與多機控制。</a:t>
            </a:r>
            <a:endParaRPr dirty="0"/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提醒】封面的姓名、教授、系所、日期務必在口試前填妥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「各位口試委員、教授好，我是林寗墾。今天我要報告的題目是</a:t>
            </a:r>
            <a:r>
              <a:rPr lang="en-US" altLang="zh-TW" dirty="0"/>
              <a:t>『</a:t>
            </a:r>
            <a:r>
              <a:rPr lang="zh-TW" altLang="en-US" dirty="0"/>
              <a:t>無人機系統整合與控制研究</a:t>
            </a:r>
            <a:r>
              <a:rPr lang="en-US" altLang="zh-TW" dirty="0"/>
              <a:t>』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這是今天的簡報大綱，主要分為五個部分： 首先是</a:t>
            </a:r>
            <a:r>
              <a:rPr lang="zh-TW" altLang="en-US" b="1" dirty="0"/>
              <a:t>研究背景與動機</a:t>
            </a:r>
            <a:r>
              <a:rPr lang="zh-TW" altLang="en-US" dirty="0"/>
              <a:t>，說明室內微型無人機開發面臨的痛點。 </a:t>
            </a:r>
            <a:endParaRPr lang="en-US" altLang="zh-TW" dirty="0"/>
          </a:p>
          <a:p>
            <a:r>
              <a:rPr lang="zh-TW" altLang="en-US" dirty="0"/>
              <a:t>接著進入核心實作，我會依序介紹硬體層面的</a:t>
            </a:r>
            <a:r>
              <a:rPr lang="zh-TW" altLang="en-US" b="1" dirty="0"/>
              <a:t>自製飛控電路板</a:t>
            </a:r>
            <a:r>
              <a:rPr lang="zh-TW" altLang="en-US" dirty="0"/>
              <a:t>、韌體層面的</a:t>
            </a:r>
            <a:r>
              <a:rPr lang="zh-TW" altLang="en-US" b="1" dirty="0"/>
              <a:t>飛控韌體移植</a:t>
            </a:r>
            <a:r>
              <a:rPr lang="zh-TW" altLang="en-US" dirty="0"/>
              <a:t>，以及應用層面的 </a:t>
            </a:r>
            <a:r>
              <a:rPr lang="en-US" altLang="zh-TW" b="1" dirty="0"/>
              <a:t>BLE </a:t>
            </a:r>
            <a:r>
              <a:rPr lang="zh-TW" altLang="en-US" b="1" dirty="0"/>
              <a:t>室內定位整合</a:t>
            </a:r>
            <a:r>
              <a:rPr lang="zh-TW" altLang="en-US" dirty="0"/>
              <a:t>。 最後則是</a:t>
            </a:r>
            <a:r>
              <a:rPr lang="zh-TW" altLang="en-US" b="1" dirty="0"/>
              <a:t>結論與未來展望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首先，讓我們進入第一部分：研究背景與動機。」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effectLst/>
                <a:latin typeface="Google Sans Text"/>
              </a:rPr>
              <a:t>「各位委員，在進行室內無人機開發與實驗時，我們主要面臨三項限制：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第一，</a:t>
            </a:r>
            <a:r>
              <a:rPr lang="zh-TW" altLang="en-US" b="1" dirty="0">
                <a:effectLst/>
                <a:latin typeface="Google Sans Text"/>
              </a:rPr>
              <a:t>傳統硬體故障難以檢測與更換</a:t>
            </a:r>
            <a:r>
              <a:rPr lang="zh-TW" altLang="en-US" dirty="0">
                <a:effectLst/>
                <a:latin typeface="Google Sans Text"/>
              </a:rPr>
              <a:t>。市面上的微型飛控板大部分元件都是直接焊接固定在</a:t>
            </a:r>
            <a:r>
              <a:rPr lang="en-US" altLang="zh-TW" dirty="0">
                <a:effectLst/>
                <a:latin typeface="Google Sans Text"/>
              </a:rPr>
              <a:t>PCB</a:t>
            </a:r>
            <a:r>
              <a:rPr lang="zh-TW" altLang="en-US" dirty="0">
                <a:effectLst/>
                <a:latin typeface="Google Sans Text"/>
              </a:rPr>
              <a:t>上，一旦出現異常或硬體損壞，不僅難</a:t>
            </a:r>
            <a:r>
              <a:rPr lang="zh-CN" altLang="en-US" dirty="0">
                <a:effectLst/>
                <a:latin typeface="Google Sans Text"/>
              </a:rPr>
              <a:t>以</a:t>
            </a:r>
            <a:r>
              <a:rPr lang="zh-TW" altLang="en-US" dirty="0">
                <a:effectLst/>
                <a:latin typeface="Google Sans Text"/>
              </a:rPr>
              <a:t>單獨用儀器測量除錯，拆卸替換</a:t>
            </a:r>
            <a:r>
              <a:rPr lang="zh-CN" altLang="en-US" dirty="0">
                <a:effectLst/>
                <a:latin typeface="Google Sans Text"/>
              </a:rPr>
              <a:t>也需要較爲專業設備與手法</a:t>
            </a:r>
            <a:r>
              <a:rPr lang="zh-TW" altLang="en-US" dirty="0">
                <a:effectLst/>
                <a:latin typeface="Google Sans Text"/>
              </a:rPr>
              <a:t>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第二，</a:t>
            </a:r>
            <a:r>
              <a:rPr lang="zh-TW" altLang="en-US" b="1" dirty="0">
                <a:effectLst/>
                <a:latin typeface="Google Sans Text"/>
              </a:rPr>
              <a:t>通訊協定與射頻整合</a:t>
            </a:r>
            <a:r>
              <a:rPr lang="zh-TW" altLang="en-US" dirty="0">
                <a:effectLst/>
                <a:latin typeface="Google Sans Text"/>
              </a:rPr>
              <a:t>。 </a:t>
            </a:r>
            <a:r>
              <a:rPr lang="en-US" altLang="zh-TW" dirty="0">
                <a:effectLst/>
                <a:latin typeface="Google Sans Text"/>
              </a:rPr>
              <a:t>MiniFly </a:t>
            </a:r>
            <a:r>
              <a:rPr lang="zh-TW" altLang="en-US" dirty="0">
                <a:effectLst/>
                <a:latin typeface="Google Sans Text"/>
              </a:rPr>
              <a:t>需外接 </a:t>
            </a:r>
            <a:r>
              <a:rPr lang="en-US" altLang="zh-TW" dirty="0">
                <a:effectLst/>
                <a:latin typeface="Google Sans Text"/>
              </a:rPr>
              <a:t>RF </a:t>
            </a:r>
            <a:r>
              <a:rPr lang="zh-TW" altLang="en-US" dirty="0">
                <a:effectLst/>
                <a:latin typeface="Google Sans Text"/>
              </a:rPr>
              <a:t>模組，而常見 </a:t>
            </a:r>
            <a:r>
              <a:rPr lang="en-US" altLang="zh-TW" dirty="0">
                <a:effectLst/>
                <a:latin typeface="Google Sans Text"/>
              </a:rPr>
              <a:t>ESP </a:t>
            </a:r>
            <a:r>
              <a:rPr lang="zh-TW" altLang="en-US" dirty="0">
                <a:effectLst/>
                <a:latin typeface="Google Sans Text"/>
              </a:rPr>
              <a:t>平臺又無法原生相容原廠 </a:t>
            </a:r>
            <a:r>
              <a:rPr lang="en-US" altLang="zh-TW" dirty="0">
                <a:effectLst/>
                <a:latin typeface="Google Sans Text"/>
              </a:rPr>
              <a:t>ESB </a:t>
            </a:r>
            <a:r>
              <a:rPr lang="zh-TW" altLang="en-US" dirty="0">
                <a:effectLst/>
                <a:latin typeface="Google Sans Text"/>
              </a:rPr>
              <a:t>協定。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第三，</a:t>
            </a:r>
            <a:r>
              <a:rPr lang="zh-TW" altLang="en-US" b="1" dirty="0">
                <a:effectLst/>
                <a:latin typeface="Google Sans Text"/>
              </a:rPr>
              <a:t>室內無法使用衛星定位</a:t>
            </a:r>
            <a:r>
              <a:rPr lang="zh-TW" altLang="en-US" dirty="0">
                <a:effectLst/>
                <a:latin typeface="Google Sans Text"/>
              </a:rPr>
              <a:t>。在無 </a:t>
            </a:r>
            <a:r>
              <a:rPr lang="en-US" altLang="zh-TW" dirty="0">
                <a:effectLst/>
                <a:latin typeface="Google Sans Text"/>
              </a:rPr>
              <a:t>GNSS </a:t>
            </a:r>
            <a:r>
              <a:rPr lang="zh-TW" altLang="en-US" dirty="0">
                <a:effectLst/>
                <a:latin typeface="Google Sans Text"/>
              </a:rPr>
              <a:t>環境下，無人機必須依靠自主定位。 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本研究的做法就是</a:t>
            </a:r>
            <a:r>
              <a:rPr lang="zh-TW" altLang="en-US" b="1" dirty="0">
                <a:effectLst/>
                <a:latin typeface="Google Sans Text"/>
              </a:rPr>
              <a:t>自行設計易檢測與更換的</a:t>
            </a:r>
            <a:r>
              <a:rPr lang="en-US" altLang="zh-TW" b="1" dirty="0">
                <a:effectLst/>
                <a:latin typeface="Google Sans Text"/>
              </a:rPr>
              <a:t>PCB</a:t>
            </a:r>
            <a:r>
              <a:rPr lang="zh-TW" altLang="en-US" b="1" dirty="0">
                <a:effectLst/>
                <a:latin typeface="Google Sans Text"/>
              </a:rPr>
              <a:t>、移植韌體至 </a:t>
            </a:r>
            <a:r>
              <a:rPr lang="en-US" altLang="zh-TW" b="1" dirty="0">
                <a:effectLst/>
                <a:latin typeface="Google Sans Text"/>
              </a:rPr>
              <a:t>nRF52840</a:t>
            </a:r>
            <a:r>
              <a:rPr lang="zh-TW" altLang="en-US" b="1" dirty="0">
                <a:effectLst/>
                <a:latin typeface="Google Sans Text"/>
              </a:rPr>
              <a:t>，並整合 </a:t>
            </a:r>
            <a:r>
              <a:rPr lang="en-US" altLang="zh-TW" b="1" dirty="0">
                <a:effectLst/>
                <a:latin typeface="Google Sans Text"/>
              </a:rPr>
              <a:t>BLE </a:t>
            </a:r>
            <a:r>
              <a:rPr lang="zh-TW" altLang="en-US" b="1" dirty="0">
                <a:effectLst/>
                <a:latin typeface="Google Sans Text"/>
              </a:rPr>
              <a:t>室內定位</a:t>
            </a:r>
            <a:r>
              <a:rPr lang="zh-TW" altLang="en-US" dirty="0">
                <a:effectLst/>
                <a:latin typeface="Google Sans Text"/>
              </a:rPr>
              <a:t>，打造高擴充性的無人機實驗平</a:t>
            </a:r>
            <a:r>
              <a:rPr lang="zh-CN" altLang="en-US" dirty="0">
                <a:effectLst/>
                <a:latin typeface="Google Sans Text"/>
              </a:rPr>
              <a:t>台</a:t>
            </a:r>
            <a:r>
              <a:rPr lang="zh-TW" altLang="en-US" dirty="0">
                <a:effectLst/>
                <a:latin typeface="Google Sans Text"/>
              </a:rPr>
              <a:t>。」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「本研究的核心目標與貢獻可歸納為三個部分：</a:t>
            </a:r>
            <a:endParaRPr lang="en-US" altLang="zh-TW" dirty="0"/>
          </a:p>
          <a:p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第一是</a:t>
            </a:r>
            <a:r>
              <a:rPr lang="zh-TW" altLang="en-US" b="1" dirty="0"/>
              <a:t>自製飛控電路板</a:t>
            </a:r>
            <a:r>
              <a:rPr lang="zh-TW" altLang="en-US" dirty="0"/>
              <a:t>。</a:t>
            </a:r>
            <a:r>
              <a:rPr lang="en-US" altLang="zh-TW" dirty="0">
                <a:effectLst/>
                <a:latin typeface="Google Sans Text"/>
              </a:rPr>
              <a:t>layout</a:t>
            </a:r>
            <a:r>
              <a:rPr lang="zh-TW" altLang="en-US" dirty="0"/>
              <a:t>可拆卸的插拔式載板，降低硬體損壞時難以檢測與更換的門檻。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韌體移植</a:t>
            </a:r>
            <a:r>
              <a:rPr lang="zh-TW" altLang="en-US" dirty="0"/>
              <a:t>。我們將 </a:t>
            </a:r>
            <a:r>
              <a:rPr lang="en-US" altLang="zh-TW" dirty="0"/>
              <a:t>MiniFly </a:t>
            </a:r>
            <a:r>
              <a:rPr lang="zh-TW" altLang="en-US" dirty="0"/>
              <a:t>飛控韌體移植到 </a:t>
            </a:r>
            <a:r>
              <a:rPr lang="en-US" altLang="zh-TW" b="1" dirty="0"/>
              <a:t>nRF52840</a:t>
            </a:r>
            <a:r>
              <a:rPr lang="zh-TW" altLang="en-US" dirty="0"/>
              <a:t> 晶片上，並相容原廠的 </a:t>
            </a:r>
            <a:r>
              <a:rPr lang="en-US" altLang="zh-TW" dirty="0"/>
              <a:t>ATK ESB </a:t>
            </a:r>
            <a:r>
              <a:rPr lang="zh-TW" altLang="en-US" dirty="0"/>
              <a:t>通訊協定。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第三則是</a:t>
            </a:r>
            <a:r>
              <a:rPr lang="zh-TW" altLang="en-US" b="1" dirty="0"/>
              <a:t>整合 </a:t>
            </a:r>
            <a:r>
              <a:rPr lang="en-US" altLang="zh-TW" b="1" dirty="0"/>
              <a:t>BLE </a:t>
            </a:r>
            <a:r>
              <a:rPr lang="zh-TW" altLang="en-US" b="1" dirty="0"/>
              <a:t>室內定位</a:t>
            </a:r>
            <a:r>
              <a:rPr lang="zh-TW" altLang="en-US" dirty="0"/>
              <a:t>，補足無 </a:t>
            </a:r>
            <a:r>
              <a:rPr lang="en-US" altLang="zh-TW" dirty="0"/>
              <a:t>GNSS </a:t>
            </a:r>
            <a:r>
              <a:rPr lang="zh-TW" altLang="en-US" dirty="0"/>
              <a:t>環境下的自主定位能力。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接下來，我將依序介紹硬體電路設計、韌體移植過程與定位實作細節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</a:t>
            </a:r>
            <a:r>
              <a:rPr lang="zh-CN" altLang="en-US" dirty="0"/>
              <a:t>本</a:t>
            </a:r>
            <a:r>
              <a:rPr lang="zh-TW" altLang="en-US" dirty="0"/>
              <a:t>頁展示的是本研究的</a:t>
            </a:r>
            <a:r>
              <a:rPr lang="zh-TW" altLang="en-US" b="1" dirty="0"/>
              <a:t>系統總架構</a:t>
            </a:r>
            <a:r>
              <a:rPr lang="zh-TW" altLang="en-US" dirty="0"/>
              <a:t>，整體分為</a:t>
            </a:r>
            <a:r>
              <a:rPr lang="en-US" altLang="zh-TW" dirty="0"/>
              <a:t>『</a:t>
            </a:r>
            <a:r>
              <a:rPr lang="zh-TW" altLang="en-US" dirty="0"/>
              <a:t>控制</a:t>
            </a:r>
            <a:r>
              <a:rPr lang="en-US" altLang="zh-TW" dirty="0"/>
              <a:t>』</a:t>
            </a:r>
            <a:r>
              <a:rPr lang="zh-TW" altLang="en-US" dirty="0"/>
              <a:t>與</a:t>
            </a:r>
            <a:r>
              <a:rPr lang="en-US" altLang="zh-TW" dirty="0"/>
              <a:t>『</a:t>
            </a:r>
            <a:r>
              <a:rPr lang="zh-TW" altLang="en-US" dirty="0"/>
              <a:t>定位</a:t>
            </a:r>
            <a:r>
              <a:rPr lang="en-US" altLang="zh-TW" dirty="0"/>
              <a:t>』</a:t>
            </a:r>
            <a:r>
              <a:rPr lang="zh-TW" altLang="en-US" dirty="0"/>
              <a:t>：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首先在控制鏈路上，最上層是 </a:t>
            </a:r>
            <a:r>
              <a:rPr lang="en-US" altLang="zh-TW" b="1" dirty="0"/>
              <a:t>PC </a:t>
            </a:r>
            <a:r>
              <a:rPr lang="zh-TW" altLang="en-US" b="1" dirty="0"/>
              <a:t>上位機</a:t>
            </a:r>
            <a:r>
              <a:rPr lang="zh-TW" altLang="en-US" dirty="0"/>
              <a:t>，作為系統的運算，負責地圖顯示、定位解算與生成控制指令。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指令下傳給</a:t>
            </a:r>
            <a:r>
              <a:rPr lang="zh-CN" altLang="en-US" dirty="0"/>
              <a:t>飛控系統 </a:t>
            </a:r>
            <a:r>
              <a:rPr lang="zh-TW" altLang="en-US" dirty="0"/>
              <a:t>的 </a:t>
            </a:r>
            <a:r>
              <a:rPr lang="en-US" altLang="zh-TW" b="1" dirty="0"/>
              <a:t>ATK </a:t>
            </a:r>
            <a:r>
              <a:rPr lang="zh-TW" altLang="en-US" b="1" dirty="0"/>
              <a:t>遙控器</a:t>
            </a:r>
            <a:r>
              <a:rPr lang="zh-TW" altLang="en-US" dirty="0"/>
              <a:t>，透過 </a:t>
            </a:r>
            <a:r>
              <a:rPr lang="en-US" altLang="zh-TW" dirty="0"/>
              <a:t>2.4GHz ESB </a:t>
            </a:r>
            <a:r>
              <a:rPr lang="zh-TW" altLang="en-US" dirty="0"/>
              <a:t>協定，指令會傳送給：</a:t>
            </a:r>
            <a:r>
              <a:rPr lang="zh-TW" altLang="en-US" b="1" dirty="0"/>
              <a:t>飛機 </a:t>
            </a:r>
            <a:r>
              <a:rPr lang="en-US" altLang="zh-TW" b="1" dirty="0"/>
              <a:t>A</a:t>
            </a:r>
            <a:r>
              <a:rPr lang="zh-TW" altLang="en-US" dirty="0"/>
              <a:t> 是</a:t>
            </a:r>
            <a:r>
              <a:rPr lang="en-US" altLang="zh-CN" dirty="0"/>
              <a:t>ATK</a:t>
            </a:r>
            <a:r>
              <a:rPr lang="zh-TW" altLang="en-US" dirty="0"/>
              <a:t>原機；</a:t>
            </a:r>
            <a:r>
              <a:rPr lang="zh-TW" altLang="en-US" b="1" dirty="0"/>
              <a:t>飛機 </a:t>
            </a:r>
            <a:r>
              <a:rPr lang="en-US" altLang="zh-TW" b="1" dirty="0"/>
              <a:t>B</a:t>
            </a:r>
            <a:r>
              <a:rPr lang="zh-TW" altLang="en-US" dirty="0"/>
              <a:t> 是我們的自製載</a:t>
            </a:r>
            <a:r>
              <a:rPr lang="en-US" altLang="zh-TW" dirty="0"/>
              <a:t>+</a:t>
            </a:r>
            <a:r>
              <a:rPr lang="zh-TW" altLang="en-US" dirty="0"/>
              <a:t>上 </a:t>
            </a:r>
            <a:r>
              <a:rPr lang="en-US" altLang="zh-TW" b="1" dirty="0"/>
              <a:t>nRF52840</a:t>
            </a:r>
            <a:r>
              <a:rPr lang="zh-TW" altLang="en-US" dirty="0"/>
              <a:t>，驗證韌體移植；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則是同一塊載板</a:t>
            </a:r>
            <a:r>
              <a:rPr lang="zh-CN" altLang="en-US" dirty="0"/>
              <a:t>更</a:t>
            </a:r>
            <a:r>
              <a:rPr lang="zh-TW" altLang="en-US" dirty="0"/>
              <a:t>插 </a:t>
            </a:r>
            <a:r>
              <a:rPr lang="en-US" altLang="zh-TW" b="1" dirty="0"/>
              <a:t>ESP32S3</a:t>
            </a:r>
            <a:r>
              <a:rPr lang="zh-TW" altLang="en-US" dirty="0"/>
              <a:t>，驗證</a:t>
            </a:r>
            <a:r>
              <a:rPr lang="en-US" altLang="zh-TW" dirty="0"/>
              <a:t>PCB </a:t>
            </a:r>
            <a:r>
              <a:rPr lang="zh-CN" altLang="en-US" dirty="0"/>
              <a:t>可</a:t>
            </a:r>
            <a:r>
              <a:rPr lang="zh-TW" altLang="en-US" dirty="0"/>
              <a:t>更換</a:t>
            </a:r>
            <a:r>
              <a:rPr lang="zh-CN" altLang="en-US" dirty="0"/>
              <a:t>的</a:t>
            </a:r>
            <a:r>
              <a:rPr lang="zh-TW" altLang="en-US" dirty="0"/>
              <a:t>能力。</a:t>
            </a:r>
            <a:r>
              <a:rPr lang="zh-CN" altLang="en-US" dirty="0"/>
              <a:t>指令由上位機透過 </a:t>
            </a:r>
            <a:r>
              <a:rPr lang="en-US" altLang="zh-TW" b="1" dirty="0"/>
              <a:t>ESP32S3</a:t>
            </a:r>
            <a:r>
              <a:rPr lang="zh-CN" altLang="en-US" b="1" dirty="0"/>
              <a:t>中繼站 </a:t>
            </a:r>
            <a:r>
              <a:rPr lang="zh-TW" altLang="en-US" dirty="0"/>
              <a:t>透</a:t>
            </a:r>
            <a:r>
              <a:rPr lang="zh-CN" altLang="en-US" dirty="0"/>
              <a:t>過 </a:t>
            </a:r>
            <a:r>
              <a:rPr lang="en-US" altLang="zh-CN" dirty="0"/>
              <a:t>ESP-NOW </a:t>
            </a:r>
            <a:r>
              <a:rPr lang="zh-CN" altLang="en-US" dirty="0"/>
              <a:t>協定傳輸給 ：</a:t>
            </a:r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</a:t>
            </a:r>
            <a:endParaRPr lang="en-US" altLang="zh-TW" b="1" dirty="0"/>
          </a:p>
          <a:p>
            <a:endParaRPr lang="zh-TW" altLang="en-US" dirty="0"/>
          </a:p>
          <a:p>
            <a:r>
              <a:rPr lang="zh-TW" altLang="en-US" dirty="0"/>
              <a:t>最後是</a:t>
            </a:r>
            <a:r>
              <a:rPr lang="zh-TW" altLang="en-US" b="1" dirty="0"/>
              <a:t>定位</a:t>
            </a:r>
            <a:r>
              <a:rPr lang="zh-TW" altLang="en-US" dirty="0"/>
              <a:t>：三架飛機在飛行時都會廣播 </a:t>
            </a:r>
            <a:r>
              <a:rPr lang="en-US" altLang="zh-TW" dirty="0"/>
              <a:t>BLE </a:t>
            </a:r>
            <a:r>
              <a:rPr lang="zh-TW" altLang="en-US" dirty="0"/>
              <a:t>，由場地周圍的 </a:t>
            </a:r>
            <a:r>
              <a:rPr lang="en-US" altLang="zh-TW" b="1" dirty="0"/>
              <a:t>4 </a:t>
            </a:r>
            <a:r>
              <a:rPr lang="zh-TW" altLang="en-US" b="1" dirty="0"/>
              <a:t>個 </a:t>
            </a:r>
            <a:r>
              <a:rPr lang="en-US" altLang="zh-TW" b="1" dirty="0"/>
              <a:t>ESP32 </a:t>
            </a:r>
            <a:r>
              <a:rPr lang="zh-TW" altLang="en-US" b="1" dirty="0"/>
              <a:t>錨點</a:t>
            </a:r>
            <a:r>
              <a:rPr lang="zh-TW" altLang="en-US" dirty="0"/>
              <a:t>進行</a:t>
            </a:r>
            <a:r>
              <a:rPr lang="zh-CN" altLang="en-US" dirty="0"/>
              <a:t>接收</a:t>
            </a:r>
            <a:r>
              <a:rPr lang="zh-TW" altLang="en-US" dirty="0"/>
              <a:t>，再透過 </a:t>
            </a:r>
            <a:r>
              <a:rPr lang="en-US" altLang="zh-TW" b="1" dirty="0"/>
              <a:t>ESP</a:t>
            </a:r>
            <a:r>
              <a:rPr lang="zh-CN" altLang="en-US" b="1" dirty="0"/>
              <a:t>中繼站 </a:t>
            </a:r>
            <a:r>
              <a:rPr lang="zh-TW" altLang="en-US" dirty="0"/>
              <a:t>將</a:t>
            </a:r>
            <a:r>
              <a:rPr lang="en-US" altLang="zh-CN" dirty="0"/>
              <a:t>RSSI</a:t>
            </a:r>
            <a:r>
              <a:rPr lang="zh-TW" altLang="en-US" dirty="0"/>
              <a:t>數據傳回 </a:t>
            </a:r>
            <a:r>
              <a:rPr lang="en-US" altLang="zh-TW" dirty="0"/>
              <a:t>PC </a:t>
            </a:r>
            <a:r>
              <a:rPr lang="zh-TW" altLang="en-US" dirty="0"/>
              <a:t>上位機進行計算。</a:t>
            </a:r>
          </a:p>
          <a:p>
            <a:r>
              <a:rPr lang="zh-TW" altLang="en-US" dirty="0"/>
              <a:t>這套架構成功建立了兼具多機控制與室內定位能力的實驗平臺。」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「第</a:t>
            </a:r>
            <a:r>
              <a:rPr lang="zh-CN" altLang="en-US" dirty="0"/>
              <a:t>七</a:t>
            </a:r>
            <a:r>
              <a:rPr lang="zh-TW" altLang="en-US" dirty="0"/>
              <a:t>頁展示的是我們自製飛控板的四項硬體設計重點：</a:t>
            </a:r>
          </a:p>
          <a:p>
            <a:r>
              <a:rPr lang="zh-TW" altLang="en-US" dirty="0"/>
              <a:t>第一是</a:t>
            </a:r>
            <a:r>
              <a:rPr lang="zh-TW" altLang="en-US" b="1" dirty="0"/>
              <a:t>模組化設計</a:t>
            </a:r>
            <a:r>
              <a:rPr lang="zh-TW" altLang="en-US" dirty="0"/>
              <a:t>，</a:t>
            </a:r>
            <a:r>
              <a:rPr lang="en-US" altLang="zh-CN" dirty="0"/>
              <a:t>MCU</a:t>
            </a:r>
            <a:r>
              <a:rPr lang="zh-TW" altLang="en-US" dirty="0"/>
              <a:t>和 </a:t>
            </a:r>
            <a:r>
              <a:rPr lang="en-US" altLang="zh-TW" dirty="0"/>
              <a:t>GY-91 </a:t>
            </a:r>
            <a:r>
              <a:rPr lang="zh-TW" altLang="en-US" dirty="0"/>
              <a:t>感測器都採用排母連接，方便獨立拆裝與</a:t>
            </a:r>
            <a:r>
              <a:rPr lang="zh-CN" altLang="en-US" dirty="0"/>
              <a:t>檢</a:t>
            </a:r>
            <a:r>
              <a:rPr lang="zh-TW" altLang="en-US" dirty="0"/>
              <a:t>測。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CN" altLang="en-US" b="1" dirty="0"/>
              <a:t>板框</a:t>
            </a:r>
            <a:r>
              <a:rPr lang="zh-TW" altLang="en-US" b="1" dirty="0"/>
              <a:t>一體化</a:t>
            </a:r>
            <a:r>
              <a:rPr lang="zh-TW" altLang="en-US" dirty="0"/>
              <a:t>，直接用 </a:t>
            </a:r>
            <a:r>
              <a:rPr lang="en-US" altLang="zh-TW" dirty="0"/>
              <a:t>PCB </a:t>
            </a:r>
            <a:r>
              <a:rPr lang="zh-TW" altLang="en-US" dirty="0"/>
              <a:t>當作機身結構與馬達座，實現輕量化。</a:t>
            </a:r>
          </a:p>
          <a:p>
            <a:endParaRPr lang="en-US" altLang="zh-TW" dirty="0"/>
          </a:p>
          <a:p>
            <a:r>
              <a:rPr lang="zh-TW" altLang="en-US" dirty="0"/>
              <a:t>第</a:t>
            </a:r>
            <a:r>
              <a:rPr lang="zh-CN" altLang="en-US" dirty="0"/>
              <a:t>三</a:t>
            </a:r>
            <a:r>
              <a:rPr lang="zh-TW" altLang="en-US" dirty="0"/>
              <a:t>是</a:t>
            </a:r>
            <a:r>
              <a:rPr lang="zh-TW" altLang="en-US" b="1" dirty="0"/>
              <a:t>重心平衡與空間利用</a:t>
            </a:r>
            <a:r>
              <a:rPr lang="zh-TW" altLang="en-US" dirty="0"/>
              <a:t>，</a:t>
            </a:r>
            <a:r>
              <a:rPr lang="zh-CN" altLang="en-US" dirty="0"/>
              <a:t>母排</a:t>
            </a:r>
            <a:r>
              <a:rPr lang="zh-TW" altLang="en-US" dirty="0"/>
              <a:t>架下方空隙</a:t>
            </a:r>
            <a:r>
              <a:rPr lang="zh-CN" altLang="en-US" dirty="0"/>
              <a:t>放</a:t>
            </a:r>
            <a:r>
              <a:rPr lang="zh-TW" altLang="en-US" dirty="0"/>
              <a:t>置元件</a:t>
            </a:r>
            <a:r>
              <a:rPr lang="zh-CN" altLang="en-US" dirty="0"/>
              <a:t>，可使用較大顆元件容易更換和維護，提升高利用率</a:t>
            </a:r>
            <a:r>
              <a:rPr lang="zh-TW" altLang="en-US" dirty="0"/>
              <a:t>，並對稱擺放模組，確保整體重心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較平衡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</a:t>
            </a:r>
            <a:r>
              <a:rPr lang="zh-CN" altLang="en-US" dirty="0"/>
              <a:t>四</a:t>
            </a:r>
            <a:r>
              <a:rPr lang="zh-TW" altLang="en-US" dirty="0"/>
              <a:t>是</a:t>
            </a:r>
            <a:r>
              <a:rPr lang="zh-TW" altLang="en-US" b="1" dirty="0"/>
              <a:t>降低電磁幹擾</a:t>
            </a:r>
            <a:r>
              <a:rPr lang="zh-TW" altLang="en-US" dirty="0"/>
              <a:t>。將馬達插座配置於背面，</a:t>
            </a:r>
            <a:r>
              <a:rPr lang="en-US" altLang="zh-TW" dirty="0"/>
              <a:t>PCB </a:t>
            </a:r>
            <a:r>
              <a:rPr lang="zh-TW" altLang="en-US" dirty="0"/>
              <a:t>厚度與母</a:t>
            </a:r>
            <a:r>
              <a:rPr lang="zh-CN" altLang="en-US" dirty="0"/>
              <a:t>排</a:t>
            </a:r>
            <a:r>
              <a:rPr lang="zh-TW" altLang="en-US" dirty="0"/>
              <a:t>高度拉開距離，降低高電流切換的電磁； 於馬達採用 </a:t>
            </a:r>
            <a:r>
              <a:rPr lang="en-US" altLang="zh-TW" dirty="0"/>
              <a:t>N-MOSFET </a:t>
            </a:r>
            <a:r>
              <a:rPr lang="zh-TW" altLang="en-US" dirty="0"/>
              <a:t>驅動，並於馬達兩端並聯 </a:t>
            </a:r>
            <a:r>
              <a:rPr lang="en-US" altLang="zh-TW" dirty="0"/>
              <a:t>SS14 </a:t>
            </a:r>
            <a:r>
              <a:rPr lang="zh-TW" altLang="en-US" dirty="0"/>
              <a:t>續流二極體。當 </a:t>
            </a:r>
            <a:r>
              <a:rPr lang="en-US" altLang="zh-TW" dirty="0"/>
              <a:t>MOSFET </a:t>
            </a:r>
            <a:r>
              <a:rPr lang="zh-TW" altLang="en-US" dirty="0"/>
              <a:t>切換關閉時，馬達會產生反電動勢，二極體能提供電流迴路，防止汲極</a:t>
            </a:r>
            <a:r>
              <a:rPr lang="zh-CN" altLang="en-US" dirty="0"/>
              <a:t>（</a:t>
            </a:r>
            <a:r>
              <a:rPr lang="en-US" altLang="zh-TW" dirty="0"/>
              <a:t>Drain </a:t>
            </a:r>
            <a:r>
              <a:rPr lang="zh-CN" altLang="en-US" dirty="0"/>
              <a:t>）</a:t>
            </a:r>
            <a:r>
              <a:rPr lang="zh-TW" altLang="en-US" dirty="0"/>
              <a:t>腳位產生高壓擊穿 </a:t>
            </a:r>
            <a:r>
              <a:rPr lang="en-US" altLang="zh-TW" dirty="0"/>
              <a:t>MOSFET</a:t>
            </a:r>
            <a:r>
              <a:rPr lang="zh-TW" altLang="en-US" dirty="0"/>
              <a:t>；同時搭配 </a:t>
            </a:r>
            <a:r>
              <a:rPr lang="en-US" altLang="zh-TW" dirty="0"/>
              <a:t>100 </a:t>
            </a:r>
            <a:r>
              <a:rPr lang="en-US" altLang="zh-TW" dirty="0" err="1"/>
              <a:t>nF</a:t>
            </a:r>
            <a:r>
              <a:rPr lang="en-US" altLang="zh-TW" dirty="0"/>
              <a:t> </a:t>
            </a:r>
            <a:r>
              <a:rPr lang="zh-TW" altLang="en-US" dirty="0"/>
              <a:t>去耦電容濾除高頻切換雜訊，避免幹擾經由電源與接地路徑耦合至 </a:t>
            </a:r>
            <a:r>
              <a:rPr lang="en-US" altLang="zh-TW" dirty="0"/>
              <a:t>IMU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dirty="0"/>
          </a:p>
          <a:p>
            <a:r>
              <a:rPr dirty="0" err="1"/>
              <a:t>接下來第八頁，我將說明本研究使用的三個飛控平臺</a:t>
            </a:r>
            <a:r>
              <a:rPr dirty="0"/>
              <a:t>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「</a:t>
            </a:r>
            <a:r>
              <a:rPr dirty="0" err="1"/>
              <a:t>第八頁是本研究實際使用的三個飛控平臺對照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第一列是</a:t>
            </a:r>
            <a:r>
              <a:rPr dirty="0"/>
              <a:t> ATK-</a:t>
            </a:r>
            <a:r>
              <a:rPr dirty="0" err="1"/>
              <a:t>MiniFly</a:t>
            </a:r>
            <a:r>
              <a:rPr dirty="0"/>
              <a:t> </a:t>
            </a:r>
            <a:r>
              <a:rPr dirty="0" err="1"/>
              <a:t>原機。主控是</a:t>
            </a:r>
            <a:r>
              <a:rPr dirty="0"/>
              <a:t> STM32F411，96 MHz 的 Cortex-M4，無線另外掛一顆 nRF51822 </a:t>
            </a:r>
            <a:r>
              <a:rPr dirty="0" err="1"/>
              <a:t>加上</a:t>
            </a:r>
            <a:r>
              <a:rPr dirty="0"/>
              <a:t> RFX2401C </a:t>
            </a:r>
            <a:r>
              <a:rPr dirty="0" err="1"/>
              <a:t>功率放大晶片，跑的是原廠韌體。它在本研究裡有兩個角色：一是韌體移植的來源，二是後面多機控制的其中一架受控機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第二列是自製電路板插上</a:t>
            </a:r>
            <a:r>
              <a:rPr dirty="0"/>
              <a:t> XIAO nRF52840。這顆是 64 MHz 的 Cortex-M4，帶浮點運算單元，並且內建 RADIO </a:t>
            </a:r>
            <a:r>
              <a:rPr dirty="0" err="1"/>
              <a:t>無線電，所以主控與無線合併在同一顆晶片上，不需要外掛射頻晶片。韌體是本研究移植的版本，這一列是本研究的主要對象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第三列是同一塊自製電路板，換插</a:t>
            </a:r>
            <a:r>
              <a:rPr dirty="0"/>
              <a:t> XIAO ESP32S3，改用 </a:t>
            </a:r>
            <a:r>
              <a:rPr dirty="0" err="1"/>
              <a:t>WiFi</a:t>
            </a:r>
            <a:r>
              <a:rPr dirty="0"/>
              <a:t> 與 </a:t>
            </a:r>
            <a:r>
              <a:rPr dirty="0" err="1"/>
              <a:t>BLE，跑的是開源的</a:t>
            </a:r>
            <a:r>
              <a:rPr dirty="0"/>
              <a:t> ESP-FC </a:t>
            </a:r>
            <a:r>
              <a:rPr dirty="0" err="1"/>
              <a:t>韌體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這裡要請委員注意的是，第二列和第三列用的是同一塊電路板，只是換插不同的主控模組。這正好驗證了上一頁講的模組化設計</a:t>
            </a:r>
            <a:r>
              <a:rPr dirty="0"/>
              <a:t>——</a:t>
            </a:r>
            <a:r>
              <a:rPr dirty="0" err="1"/>
              <a:t>排母引出腳位之後，主控確實可以整顆更換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第三列之所以不列為本研究的移植成果，是因為</a:t>
            </a:r>
            <a:r>
              <a:rPr dirty="0"/>
              <a:t> ESP32 </a:t>
            </a:r>
            <a:r>
              <a:rPr dirty="0" err="1"/>
              <a:t>的飛控生態已經成熟，再做一次沒有研究上的增量，所以直接採用開源方案，把力氣集中在</a:t>
            </a:r>
            <a:r>
              <a:rPr dirty="0"/>
              <a:t> nRF52840 </a:t>
            </a:r>
            <a:r>
              <a:rPr dirty="0" err="1"/>
              <a:t>這一顆上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接下來第九頁，我將說明原廠的系統框架</a:t>
            </a:r>
            <a:r>
              <a:rPr dirty="0"/>
              <a:t>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「第九頁是</a:t>
            </a:r>
            <a:r>
              <a:rPr lang="zh-CN" altLang="en-US" dirty="0"/>
              <a:t>本研究硬體</a:t>
            </a:r>
            <a:r>
              <a:rPr lang="zh-TW" altLang="en-US" dirty="0"/>
              <a:t>框架，</a:t>
            </a:r>
            <a:r>
              <a:rPr lang="zh-CN" altLang="en-US" dirty="0"/>
              <a:t>與</a:t>
            </a:r>
            <a:r>
              <a:rPr lang="zh-TW" altLang="en-US" dirty="0"/>
              <a:t>原廠</a:t>
            </a:r>
            <a:r>
              <a:rPr lang="en-US" altLang="zh-CN" dirty="0" err="1"/>
              <a:t>atk-minifly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TW" altLang="en-US" dirty="0"/>
              <a:t>從圖上可以看到，原廠採用的是雙 </a:t>
            </a:r>
            <a:r>
              <a:rPr lang="en-US" altLang="zh-TW" dirty="0"/>
              <a:t>MCU </a:t>
            </a:r>
            <a:r>
              <a:rPr lang="zh-TW" altLang="en-US" dirty="0"/>
              <a:t>架構。左邊這顆 </a:t>
            </a:r>
            <a:r>
              <a:rPr lang="en-US" altLang="zh-TW" dirty="0"/>
              <a:t>NRF51822 </a:t>
            </a:r>
            <a:r>
              <a:rPr lang="zh-TW" altLang="en-US" dirty="0"/>
              <a:t>是 </a:t>
            </a:r>
            <a:r>
              <a:rPr lang="en-US" altLang="zh-TW" dirty="0"/>
              <a:t>Cortex-M0</a:t>
            </a:r>
            <a:r>
              <a:rPr lang="zh-TW" altLang="en-US" dirty="0"/>
              <a:t>，負責無線通訊與電源管理， </a:t>
            </a:r>
            <a:r>
              <a:rPr lang="en-US" altLang="zh-TW" dirty="0"/>
              <a:t>STM32F411 </a:t>
            </a:r>
            <a:r>
              <a:rPr lang="zh-TW" altLang="en-US" dirty="0"/>
              <a:t>是 </a:t>
            </a:r>
            <a:r>
              <a:rPr lang="en-US" altLang="zh-TW" dirty="0"/>
              <a:t>Cortex-M4</a:t>
            </a:r>
            <a:r>
              <a:rPr lang="zh-TW" altLang="en-US" dirty="0"/>
              <a:t>，負責感測器讀取、資料融合、</a:t>
            </a:r>
            <a:r>
              <a:rPr lang="en-US" altLang="zh-TW" dirty="0"/>
              <a:t>PID </a:t>
            </a:r>
            <a:r>
              <a:rPr lang="zh-TW" altLang="en-US" dirty="0"/>
              <a:t>控制與馬達輸出。兩顆晶片之間以 </a:t>
            </a:r>
            <a:r>
              <a:rPr lang="en-US" altLang="zh-TW" dirty="0"/>
              <a:t>UART </a:t>
            </a:r>
            <a:r>
              <a:rPr lang="zh-TW" altLang="en-US" dirty="0"/>
              <a:t>相連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TW" dirty="0"/>
          </a:p>
          <a:p>
            <a:r>
              <a:rPr lang="en-US" altLang="zh-TW" dirty="0"/>
              <a:t>nRF52840 </a:t>
            </a:r>
            <a:r>
              <a:rPr lang="zh-TW" altLang="en-US" dirty="0"/>
              <a:t>擁有 </a:t>
            </a:r>
            <a:r>
              <a:rPr lang="en-US" altLang="zh-TW" dirty="0"/>
              <a:t>ARM Cortex-M4 </a:t>
            </a:r>
            <a:r>
              <a:rPr lang="zh-CN" altLang="en-US" dirty="0"/>
              <a:t>則整合了倆顆</a:t>
            </a:r>
            <a:r>
              <a:rPr lang="en-US" altLang="zh-CN" dirty="0"/>
              <a:t>MCU </a:t>
            </a:r>
            <a:r>
              <a:rPr lang="zh-CN" altLang="en-US" dirty="0"/>
              <a:t>的功能，</a:t>
            </a:r>
            <a:r>
              <a:rPr lang="zh-TW" altLang="en-US" dirty="0"/>
              <a:t>無線通訊與電源管理</a:t>
            </a:r>
            <a:r>
              <a:rPr lang="zh-CN" altLang="en-US" dirty="0"/>
              <a:t>，</a:t>
            </a:r>
            <a:r>
              <a:rPr lang="zh-TW" altLang="en-US" dirty="0"/>
              <a:t>感測器讀取、資料融合、</a:t>
            </a:r>
            <a:r>
              <a:rPr lang="en-US" altLang="zh-TW" dirty="0"/>
              <a:t>PID </a:t>
            </a:r>
            <a:r>
              <a:rPr lang="zh-TW" altLang="en-US" dirty="0"/>
              <a:t>控制與馬達輸出</a:t>
            </a:r>
            <a:endParaRPr lang="en-US" altLang="zh-TW" dirty="0"/>
          </a:p>
          <a:p>
            <a:endParaRPr lang="zh-TW" altLang="en-US" dirty="0"/>
          </a:p>
          <a:p>
            <a:r>
              <a:rPr lang="zh-CN" altLang="en-US" dirty="0"/>
              <a:t>都使用 </a:t>
            </a:r>
            <a:r>
              <a:rPr lang="zh-TW" altLang="en-US" dirty="0"/>
              <a:t>十</a:t>
            </a:r>
            <a:r>
              <a:rPr lang="en-US" altLang="zh-CN" dirty="0"/>
              <a:t>IMU </a:t>
            </a:r>
            <a:r>
              <a:rPr lang="zh-TW" altLang="en-US" dirty="0"/>
              <a:t>，包含三軸加速度計、三軸陀螺儀、三軸磁力計與氣壓計，</a:t>
            </a:r>
            <a:r>
              <a:rPr lang="zh-CN" altLang="en-US" dirty="0"/>
              <a:t>一個</a:t>
            </a:r>
            <a:r>
              <a:rPr lang="zh-TW" altLang="en-US" dirty="0"/>
              <a:t>透過 </a:t>
            </a:r>
            <a:r>
              <a:rPr lang="en-US" altLang="zh-TW" dirty="0"/>
              <a:t>IIC </a:t>
            </a:r>
            <a:r>
              <a:rPr lang="zh-TW" altLang="en-US" dirty="0"/>
              <a:t>匯流排連到主控。</a:t>
            </a:r>
            <a:r>
              <a:rPr lang="zh-CN" altLang="en-US" dirty="0"/>
              <a:t>一個是使用</a:t>
            </a:r>
            <a:r>
              <a:rPr lang="en-US" altLang="zh-CN" dirty="0"/>
              <a:t>TWIM</a:t>
            </a:r>
            <a:r>
              <a:rPr lang="zh-CN" altLang="en-US" dirty="0"/>
              <a:t>。</a:t>
            </a:r>
            <a:endParaRPr lang="zh-TW" altLang="en-US" dirty="0"/>
          </a:p>
          <a:p>
            <a:endParaRPr lang="zh-TW" altLang="en-US" dirty="0"/>
          </a:p>
          <a:p>
            <a:r>
              <a:rPr lang="zh-TW" altLang="en-US" dirty="0"/>
              <a:t>電源部分</a:t>
            </a:r>
            <a:r>
              <a:rPr lang="en-US" altLang="zh-CN" dirty="0" err="1"/>
              <a:t>atk</a:t>
            </a:r>
            <a:r>
              <a:rPr lang="en-US" altLang="zh-CN" dirty="0"/>
              <a:t> </a:t>
            </a:r>
            <a:r>
              <a:rPr lang="zh-CN" altLang="en-US" dirty="0"/>
              <a:t>是外置</a:t>
            </a:r>
            <a:r>
              <a:rPr lang="zh-TW" altLang="en-US" dirty="0"/>
              <a:t>電源管理、充電電路與 </a:t>
            </a:r>
            <a:r>
              <a:rPr lang="en-US" altLang="zh-TW" dirty="0"/>
              <a:t>USB </a:t>
            </a:r>
            <a:r>
              <a:rPr lang="zh-CN" altLang="en-US" dirty="0"/>
              <a:t>接口</a:t>
            </a:r>
            <a:r>
              <a:rPr lang="zh-TW" altLang="en-US" dirty="0"/>
              <a:t>。</a:t>
            </a:r>
            <a:r>
              <a:rPr lang="zh-CN" altLang="en-US" dirty="0"/>
              <a:t>本研究則使用内部充電電路。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98163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「第十頁說明控制晶片，分成上下兩塊看。</a:t>
            </a:r>
          </a:p>
          <a:p>
            <a:endParaRPr lang="zh-TW" altLang="en-US" dirty="0"/>
          </a:p>
          <a:p>
            <a:r>
              <a:rPr lang="zh-TW" altLang="en-US" dirty="0"/>
              <a:t>原廠用兩顆分工：</a:t>
            </a:r>
            <a:r>
              <a:rPr lang="en-US" altLang="zh-TW" dirty="0"/>
              <a:t>nRF51822 </a:t>
            </a:r>
            <a:r>
              <a:rPr lang="zh-TW" altLang="en-US" dirty="0"/>
              <a:t>是 </a:t>
            </a:r>
            <a:r>
              <a:rPr lang="en-US" altLang="zh-TW" dirty="0"/>
              <a:t>Cortex-M0</a:t>
            </a:r>
            <a:r>
              <a:rPr lang="zh-TW" altLang="en-US" dirty="0"/>
              <a:t>，</a:t>
            </a:r>
            <a:r>
              <a:rPr lang="en-US" altLang="zh-TW" dirty="0"/>
              <a:t>16 MHz</a:t>
            </a:r>
            <a:r>
              <a:rPr lang="zh-TW" altLang="en-US" dirty="0"/>
              <a:t>，負責無線通訊與電源管理；</a:t>
            </a:r>
            <a:r>
              <a:rPr lang="en-US" altLang="zh-TW" dirty="0"/>
              <a:t>STM32F411 </a:t>
            </a:r>
            <a:r>
              <a:rPr lang="zh-TW" altLang="en-US" dirty="0"/>
              <a:t>是 </a:t>
            </a:r>
            <a:r>
              <a:rPr lang="en-US" altLang="zh-TW" dirty="0"/>
              <a:t>Cortex-M4</a:t>
            </a:r>
            <a:r>
              <a:rPr lang="zh-TW" altLang="en-US" dirty="0"/>
              <a:t>，</a:t>
            </a:r>
            <a:r>
              <a:rPr lang="en-US" altLang="zh-TW" dirty="0"/>
              <a:t>96 MHz</a:t>
            </a:r>
            <a:r>
              <a:rPr lang="zh-TW" altLang="en-US" dirty="0"/>
              <a:t>，負責感測、融合、</a:t>
            </a:r>
            <a:r>
              <a:rPr lang="en-US" altLang="zh-TW" dirty="0"/>
              <a:t>PID</a:t>
            </a:r>
            <a:r>
              <a:rPr lang="zh-TW" altLang="en-US" dirty="0"/>
              <a:t> 與馬達。兩顆之間以 </a:t>
            </a:r>
            <a:r>
              <a:rPr lang="en-US" altLang="zh-TW" dirty="0"/>
              <a:t>UART </a:t>
            </a:r>
            <a:r>
              <a:rPr lang="zh-TW" altLang="en-US" dirty="0"/>
              <a:t>相連，遙控指令要先進 </a:t>
            </a:r>
            <a:r>
              <a:rPr lang="en-US" altLang="zh-TW" dirty="0"/>
              <a:t>nRF51822 </a:t>
            </a:r>
            <a:r>
              <a:rPr lang="zh-TW" altLang="en-US" dirty="0"/>
              <a:t>再轉發給 </a:t>
            </a:r>
            <a:r>
              <a:rPr lang="en-US" altLang="zh-TW" dirty="0"/>
              <a:t>STM32</a:t>
            </a:r>
            <a:r>
              <a:rPr lang="zh-TW" altLang="en-US" dirty="0"/>
              <a:t>，走 </a:t>
            </a:r>
            <a:r>
              <a:rPr lang="en-US" altLang="zh-TW" dirty="0"/>
              <a:t>ATKP </a:t>
            </a:r>
            <a:r>
              <a:rPr lang="zh-TW" altLang="en-US" dirty="0"/>
              <a:t>協定。因為是兩顆晶片，韌體也分成兩份，要各自燒錄。</a:t>
            </a:r>
          </a:p>
          <a:p>
            <a:endParaRPr lang="zh-TW" altLang="en-US" dirty="0"/>
          </a:p>
          <a:p>
            <a:r>
              <a:rPr lang="zh-TW" altLang="en-US" dirty="0"/>
              <a:t>本研究改用一顆 </a:t>
            </a:r>
            <a:r>
              <a:rPr lang="en-US" altLang="zh-TW" dirty="0"/>
              <a:t>nRF52840</a:t>
            </a:r>
            <a:r>
              <a:rPr lang="zh-TW" altLang="en-US" dirty="0"/>
              <a:t>，</a:t>
            </a:r>
            <a:r>
              <a:rPr lang="en-US" altLang="zh-TW" dirty="0"/>
              <a:t>Cortex-M4 </a:t>
            </a:r>
            <a:r>
              <a:rPr lang="zh-TW" altLang="en-US" dirty="0"/>
              <a:t>含浮點運算單元，</a:t>
            </a:r>
            <a:r>
              <a:rPr lang="en-US" altLang="zh-TW" dirty="0"/>
              <a:t>64 MHz</a:t>
            </a:r>
            <a:r>
              <a:rPr lang="zh-TW" altLang="en-US" dirty="0"/>
              <a:t>，</a:t>
            </a:r>
            <a:r>
              <a:rPr lang="en-US" altLang="zh-TW" dirty="0"/>
              <a:t>1 MB Flash</a:t>
            </a:r>
            <a:r>
              <a:rPr lang="zh-TW" altLang="en-US" dirty="0"/>
              <a:t>、</a:t>
            </a:r>
            <a:r>
              <a:rPr lang="en-US" altLang="zh-TW" dirty="0"/>
              <a:t>256 KB RAM</a:t>
            </a:r>
            <a:r>
              <a:rPr lang="zh-TW" altLang="en-US" dirty="0"/>
              <a:t>。右邊三格是它同時承擔的工作：</a:t>
            </a:r>
            <a:r>
              <a:rPr lang="en-US" altLang="zh-TW" dirty="0"/>
              <a:t>RADIO</a:t>
            </a:r>
            <a:r>
              <a:rPr lang="zh-TW" altLang="en-US" dirty="0"/>
              <a:t> 收發、感測融合與 </a:t>
            </a:r>
            <a:r>
              <a:rPr lang="en-US" altLang="zh-TW" dirty="0"/>
              <a:t>PID</a:t>
            </a:r>
            <a:r>
              <a:rPr lang="zh-TW" altLang="en-US" dirty="0"/>
              <a:t>、馬達與 </a:t>
            </a:r>
            <a:r>
              <a:rPr lang="en-US" altLang="zh-TW" dirty="0"/>
              <a:t>USB</a:t>
            </a:r>
            <a:r>
              <a:rPr lang="zh-TW" altLang="en-US" dirty="0"/>
              <a:t>。沒有跨晶片通訊，資料在同一顆晶片內流動，燒錄一次就好。</a:t>
            </a:r>
          </a:p>
          <a:p>
            <a:endParaRPr lang="zh-TW" altLang="en-US" dirty="0"/>
          </a:p>
          <a:p>
            <a:r>
              <a:rPr lang="zh-TW" altLang="en-US" dirty="0"/>
              <a:t>下半左邊是開發與燒錄。原廠用 </a:t>
            </a:r>
            <a:r>
              <a:rPr lang="en-US" altLang="zh-TW" dirty="0"/>
              <a:t>Keil MDK</a:t>
            </a:r>
            <a:r>
              <a:rPr lang="zh-TW" altLang="en-US" dirty="0"/>
              <a:t>，燒錄有兩種：接 </a:t>
            </a:r>
            <a:r>
              <a:rPr lang="en-US" altLang="zh-TW" dirty="0"/>
              <a:t>DAP </a:t>
            </a:r>
            <a:r>
              <a:rPr lang="zh-TW" altLang="en-US" dirty="0"/>
              <a:t>調試器，但因為有兩顆晶片，燒 </a:t>
            </a:r>
            <a:r>
              <a:rPr lang="en-US" altLang="zh-TW" dirty="0"/>
              <a:t>STM32 </a:t>
            </a:r>
            <a:r>
              <a:rPr lang="zh-TW" altLang="en-US" dirty="0"/>
              <a:t>和燒 </a:t>
            </a:r>
            <a:r>
              <a:rPr lang="en-US" altLang="zh-TW" dirty="0"/>
              <a:t>NRF51822 </a:t>
            </a:r>
            <a:r>
              <a:rPr lang="zh-TW" altLang="en-US" dirty="0"/>
              <a:t>要把開關切到不同位置；或者走 </a:t>
            </a:r>
            <a:r>
              <a:rPr lang="en-US" altLang="zh-TW" dirty="0"/>
              <a:t>USB </a:t>
            </a:r>
            <a:r>
              <a:rPr lang="zh-TW" altLang="en-US" dirty="0"/>
              <a:t>固件升級，只能升級 </a:t>
            </a:r>
            <a:r>
              <a:rPr lang="en-US" altLang="zh-TW" dirty="0"/>
              <a:t>STM32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TW" altLang="en-US" dirty="0"/>
              <a:t>本研究用 </a:t>
            </a:r>
            <a:r>
              <a:rPr lang="en-US" altLang="zh-TW" dirty="0"/>
              <a:t>VS Code </a:t>
            </a:r>
            <a:r>
              <a:rPr lang="zh-TW" altLang="en-US" dirty="0"/>
              <a:t>加 </a:t>
            </a:r>
            <a:r>
              <a:rPr lang="en-US" altLang="zh-TW" dirty="0" err="1"/>
              <a:t>PlatformIO</a:t>
            </a:r>
            <a:r>
              <a:rPr lang="zh-TW" altLang="en-US" dirty="0"/>
              <a:t>，跑 </a:t>
            </a:r>
            <a:r>
              <a:rPr lang="en-US" altLang="zh-TW" dirty="0"/>
              <a:t>Arduino </a:t>
            </a:r>
            <a:r>
              <a:rPr lang="zh-TW" altLang="en-US" dirty="0"/>
              <a:t>框架，因為 </a:t>
            </a:r>
            <a:r>
              <a:rPr lang="en-US" altLang="zh-TW" dirty="0"/>
              <a:t>XIAO </a:t>
            </a:r>
            <a:r>
              <a:rPr lang="zh-TW" altLang="en-US" dirty="0"/>
              <a:t>的官方 </a:t>
            </a:r>
            <a:r>
              <a:rPr lang="en-US" altLang="zh-TW" dirty="0"/>
              <a:t>BSP </a:t>
            </a:r>
            <a:r>
              <a:rPr lang="zh-TW" altLang="en-US" dirty="0"/>
              <a:t>就是以這個框架為基礎。燒錄只要雙擊 </a:t>
            </a:r>
            <a:r>
              <a:rPr lang="en-US" altLang="zh-TW" dirty="0"/>
              <a:t>RESET </a:t>
            </a:r>
            <a:r>
              <a:rPr lang="zh-TW" altLang="en-US" dirty="0"/>
              <a:t>進 </a:t>
            </a:r>
            <a:r>
              <a:rPr lang="en-US" altLang="zh-TW" dirty="0"/>
              <a:t>Bootloader</a:t>
            </a:r>
            <a:r>
              <a:rPr lang="zh-TW" altLang="en-US" dirty="0"/>
              <a:t>，由 </a:t>
            </a:r>
            <a:r>
              <a:rPr lang="en-US" altLang="zh-TW" dirty="0"/>
              <a:t>USB </a:t>
            </a:r>
            <a:r>
              <a:rPr lang="zh-TW" altLang="en-US" dirty="0"/>
              <a:t>直接上傳，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下半右邊是電源。原廠載板上有 </a:t>
            </a:r>
            <a:r>
              <a:rPr lang="en-US" altLang="zh-TW" dirty="0"/>
              <a:t>TP4059 </a:t>
            </a:r>
            <a:r>
              <a:rPr lang="zh-TW" altLang="en-US" dirty="0"/>
              <a:t>充電晶片、</a:t>
            </a:r>
            <a:r>
              <a:rPr lang="en-US" altLang="zh-TW" dirty="0"/>
              <a:t>500 mA</a:t>
            </a:r>
            <a:r>
              <a:rPr lang="zh-TW" altLang="en-US" dirty="0"/>
              <a:t>，還有兩顆 </a:t>
            </a:r>
            <a:r>
              <a:rPr lang="en-US" altLang="zh-TW" dirty="0"/>
              <a:t>XC6204B302 </a:t>
            </a:r>
            <a:r>
              <a:rPr lang="zh-TW" altLang="en-US" dirty="0"/>
              <a:t>穩壓晶片分別供電</a:t>
            </a:r>
            <a:r>
              <a:rPr lang="zh-TW" altLang="en-US" sz="1800" b="0" i="0" u="none" strike="noStrike" baseline="0" dirty="0">
                <a:latin typeface="宋体" panose="02010600030101010101" pitchFamily="2" charset="-122"/>
                <a:ea typeface="宋体" panose="02010600030101010101" pitchFamily="2" charset="-122"/>
              </a:rPr>
              <a:t>输出</a:t>
            </a:r>
            <a:r>
              <a:rPr lang="en-US" altLang="zh-TW" sz="1800" b="0" i="0" u="none" strike="noStrike" baseline="0" dirty="0">
                <a:latin typeface="Times New Roman" panose="02020603050405020304" pitchFamily="18" charset="0"/>
                <a:ea typeface="宋体" panose="02010600030101010101" pitchFamily="2" charset="-122"/>
              </a:rPr>
              <a:t>3.0V</a:t>
            </a:r>
            <a:r>
              <a:rPr lang="zh-TW" altLang="en-US" dirty="0"/>
              <a:t>。本研究載板上這些都沒有，充電由模組內建的 </a:t>
            </a:r>
            <a:r>
              <a:rPr lang="en-US" altLang="zh-TW" dirty="0"/>
              <a:t>BQ25101 </a:t>
            </a:r>
            <a:r>
              <a:rPr lang="zh-TW" altLang="en-US" dirty="0"/>
              <a:t>完成，載板只剩濾波電容。</a:t>
            </a:r>
          </a:p>
          <a:p>
            <a:endParaRPr lang="zh-TW" altLang="en-US" dirty="0"/>
          </a:p>
          <a:p>
            <a:r>
              <a:rPr lang="zh-TW" altLang="en-US" dirty="0"/>
              <a:t>接下來第十一頁，我將說明慣性感測的移植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7697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「第十一頁說明慣性感測，一樣分上下兩塊。</a:t>
            </a:r>
          </a:p>
          <a:p>
            <a:endParaRPr lang="zh-TW" altLang="en-US" dirty="0"/>
          </a:p>
          <a:p>
            <a:r>
              <a:rPr lang="zh-TW" altLang="en-US" dirty="0"/>
              <a:t>上半左邊是原廠。九軸是 </a:t>
            </a:r>
            <a:r>
              <a:rPr lang="en-US" altLang="zh-TW" dirty="0"/>
              <a:t>MPU9250</a:t>
            </a:r>
            <a:r>
              <a:rPr lang="zh-TW" altLang="en-US" dirty="0"/>
              <a:t>，掛在主控的硬體 </a:t>
            </a:r>
            <a:r>
              <a:rPr lang="en-US" altLang="zh-TW" dirty="0"/>
              <a:t>IIC1</a:t>
            </a:r>
            <a:r>
              <a:rPr lang="zh-TW" altLang="en-US" dirty="0"/>
              <a:t>，也就是 </a:t>
            </a:r>
            <a:r>
              <a:rPr lang="en-US" altLang="zh-TW" dirty="0"/>
              <a:t>PB8 </a:t>
            </a:r>
            <a:r>
              <a:rPr lang="zh-TW" altLang="en-US" dirty="0"/>
              <a:t>與 </a:t>
            </a:r>
            <a:r>
              <a:rPr lang="en-US" altLang="zh-TW" dirty="0"/>
              <a:t>PB9 </a:t>
            </a:r>
            <a:r>
              <a:rPr lang="zh-TW" altLang="en-US" dirty="0"/>
              <a:t>這兩支腳，位址 </a:t>
            </a:r>
            <a:r>
              <a:rPr lang="en-US" altLang="zh-TW" dirty="0"/>
              <a:t>0xD2</a:t>
            </a:r>
            <a:r>
              <a:rPr lang="zh-TW" altLang="en-US" dirty="0"/>
              <a:t>；氣壓計串接在九軸的輔助 </a:t>
            </a:r>
            <a:r>
              <a:rPr lang="en-US" altLang="zh-TW" dirty="0"/>
              <a:t>IIC </a:t>
            </a:r>
            <a:r>
              <a:rPr lang="zh-TW" altLang="en-US" dirty="0"/>
              <a:t>之下，位址 </a:t>
            </a:r>
            <a:r>
              <a:rPr lang="en-US" altLang="zh-TW" dirty="0"/>
              <a:t>0xEC</a:t>
            </a:r>
            <a:r>
              <a:rPr lang="zh-TW" altLang="en-US" dirty="0"/>
              <a:t>。原廠接在硬體 </a:t>
            </a:r>
            <a:r>
              <a:rPr lang="en-US" altLang="zh-TW" dirty="0"/>
              <a:t>IIC </a:t>
            </a:r>
            <a:r>
              <a:rPr lang="zh-TW" altLang="en-US" dirty="0"/>
              <a:t>腳位上，實際採用的是模擬 </a:t>
            </a:r>
            <a:r>
              <a:rPr lang="en-US" altLang="zh-TW" dirty="0"/>
              <a:t>IIC </a:t>
            </a:r>
            <a:r>
              <a:rPr lang="zh-TW" altLang="en-US" dirty="0"/>
              <a:t>的通信方式。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讀取方式是硬體 </a:t>
            </a:r>
            <a:r>
              <a:rPr lang="en-US" altLang="zh-TW" dirty="0"/>
              <a:t>DMA </a:t>
            </a:r>
            <a:r>
              <a:rPr lang="zh-TW" altLang="en-US" dirty="0"/>
              <a:t>搬運，再以中斷加信號量等待完成</a:t>
            </a:r>
            <a:r>
              <a:rPr lang="en-US" altLang="zh-TW" dirty="0"/>
              <a:t>(</a:t>
            </a:r>
            <a:r>
              <a:rPr lang="zh-CN" altLang="en-US" dirty="0"/>
              <a:t>等待</a:t>
            </a:r>
            <a:r>
              <a:rPr lang="en-US" altLang="zh-CN" dirty="0" err="1"/>
              <a:t>freertos</a:t>
            </a:r>
            <a:r>
              <a:rPr lang="zh-CN" altLang="en-US" dirty="0"/>
              <a:t>支援</a:t>
            </a:r>
            <a:r>
              <a:rPr lang="en-US" altLang="zh-TW" dirty="0"/>
              <a:t>)</a:t>
            </a:r>
            <a:r>
              <a:rPr lang="zh-TW" altLang="en-US" dirty="0"/>
              <a:t>。感測器</a:t>
            </a:r>
            <a:r>
              <a:rPr lang="zh-CN" altLang="en-US" dirty="0"/>
              <a:t>焊接固定</a:t>
            </a:r>
            <a:endParaRPr lang="en-US" altLang="zh-TW" dirty="0"/>
          </a:p>
          <a:p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上半右邊是本研究。九軸與氣壓計改用 </a:t>
            </a:r>
            <a:r>
              <a:rPr lang="en-US" altLang="zh-TW" dirty="0"/>
              <a:t>GY-91 </a:t>
            </a:r>
            <a:r>
              <a:rPr lang="zh-TW" altLang="en-US" dirty="0"/>
              <a:t>模組，以排針座連接，可以插拔更換。讀取改成 </a:t>
            </a:r>
            <a:r>
              <a:rPr lang="en-US" altLang="zh-TW" dirty="0"/>
              <a:t>TWIM </a:t>
            </a:r>
            <a:r>
              <a:rPr lang="zh-TW" altLang="en-US" dirty="0"/>
              <a:t>加 </a:t>
            </a:r>
            <a:r>
              <a:rPr lang="en-US" altLang="zh-TW" dirty="0" err="1"/>
              <a:t>EasyDMA</a:t>
            </a:r>
            <a:r>
              <a:rPr lang="zh-TW" altLang="en-US" dirty="0"/>
              <a:t>，設定 </a:t>
            </a:r>
            <a:r>
              <a:rPr lang="en-US" altLang="zh-TW" dirty="0"/>
              <a:t>RXD.PTR </a:t>
            </a:r>
            <a:r>
              <a:rPr lang="zh-TW" altLang="en-US" dirty="0"/>
              <a:t>與 </a:t>
            </a:r>
            <a:r>
              <a:rPr lang="en-US" altLang="zh-TW" dirty="0"/>
              <a:t>MAXCNT</a:t>
            </a:r>
            <a:r>
              <a:rPr lang="zh-TW" altLang="en-US" dirty="0"/>
              <a:t>之後由硬體搬資料。開機時會自動探測，</a:t>
            </a:r>
            <a:r>
              <a:rPr lang="en-US" altLang="zh-TW" dirty="0"/>
              <a:t>IIC</a:t>
            </a:r>
            <a:r>
              <a:rPr lang="zh-TW" altLang="en-US" dirty="0"/>
              <a:t> 位址。</a:t>
            </a:r>
          </a:p>
          <a:p>
            <a:r>
              <a:rPr lang="en-US" altLang="zh-TW" dirty="0"/>
              <a:t>XIAO</a:t>
            </a:r>
            <a:r>
              <a:rPr lang="zh-TW" altLang="en-US" dirty="0"/>
              <a:t> 模組本身板載一顆 </a:t>
            </a:r>
            <a:r>
              <a:rPr lang="en-US" altLang="zh-TW" dirty="0"/>
              <a:t>LSM6DS3 </a:t>
            </a:r>
            <a:r>
              <a:rPr lang="zh-TW" altLang="en-US" dirty="0"/>
              <a:t>六軸，當主感測失效時會自動接手，維持基本的姿態量測。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（</a:t>
            </a:r>
            <a:r>
              <a:rPr lang="en-US" altLang="zh-TW" dirty="0"/>
              <a:t>Nordic </a:t>
            </a:r>
            <a:r>
              <a:rPr lang="zh-TW" altLang="en-US" dirty="0"/>
              <a:t>芯片上的 </a:t>
            </a:r>
            <a:r>
              <a:rPr lang="en-US" altLang="zh-TW" dirty="0"/>
              <a:t>I2C </a:t>
            </a:r>
            <a:r>
              <a:rPr lang="zh-TW" altLang="en-US" dirty="0"/>
              <a:t>主机（</a:t>
            </a:r>
            <a:r>
              <a:rPr lang="en-US" altLang="zh-TW" dirty="0"/>
              <a:t>Master</a:t>
            </a:r>
            <a:r>
              <a:rPr lang="zh-TW" altLang="en-US" dirty="0"/>
              <a:t>）硬件控制器。）</a:t>
            </a:r>
            <a:r>
              <a:rPr lang="en-US" altLang="zh-TW" dirty="0"/>
              <a:t>(</a:t>
            </a:r>
            <a:r>
              <a:rPr lang="zh-CN" altLang="en-US" dirty="0"/>
              <a:t>直接读写系统内存（</a:t>
            </a:r>
            <a:r>
              <a:rPr lang="en-US" altLang="zh-CN" dirty="0"/>
              <a:t>RAM</a:t>
            </a:r>
            <a:r>
              <a:rPr lang="zh-CN" altLang="en-US" dirty="0"/>
              <a:t>），在传输数据时完全不需要 </a:t>
            </a:r>
            <a:r>
              <a:rPr lang="en-US" altLang="zh-CN" dirty="0"/>
              <a:t>CPU </a:t>
            </a:r>
            <a:r>
              <a:rPr lang="zh-CN" altLang="en-US" dirty="0"/>
              <a:t>的参与。</a:t>
            </a:r>
            <a:r>
              <a:rPr lang="en-US" altLang="zh-TW" dirty="0"/>
              <a:t>)</a:t>
            </a:r>
            <a:r>
              <a:rPr lang="zh-CN" altLang="en-US" dirty="0"/>
              <a:t>（</a:t>
            </a:r>
            <a:r>
              <a:rPr lang="en-US" altLang="zh-TW" dirty="0"/>
              <a:t>RXD.PTR </a:t>
            </a:r>
            <a:r>
              <a:rPr lang="zh-CN" altLang="en-US" dirty="0"/>
              <a:t>）接收缓冲区在 </a:t>
            </a:r>
            <a:r>
              <a:rPr lang="en-US" altLang="zh-CN" dirty="0"/>
              <a:t>RAM </a:t>
            </a:r>
            <a:r>
              <a:rPr lang="zh-CN" altLang="en-US" dirty="0"/>
              <a:t>中的起始内存地址，</a:t>
            </a:r>
            <a:r>
              <a:rPr lang="en-US" altLang="zh-TW" dirty="0"/>
              <a:t>MAXCNT </a:t>
            </a:r>
            <a:r>
              <a:rPr lang="zh-CN" altLang="en-US" dirty="0"/>
              <a:t>（</a:t>
            </a:r>
            <a:r>
              <a:rPr lang="en-US" altLang="zh-CN" dirty="0"/>
              <a:t>RAM </a:t>
            </a:r>
            <a:r>
              <a:rPr lang="zh-CN" altLang="en-US" dirty="0"/>
              <a:t>中为 </a:t>
            </a:r>
            <a:r>
              <a:rPr lang="en-US" altLang="zh-CN" dirty="0"/>
              <a:t>DMA </a:t>
            </a:r>
            <a:r>
              <a:rPr lang="zh-CN" altLang="en-US" dirty="0"/>
              <a:t>传输分配的最大字节数）</a:t>
            </a:r>
            <a:endParaRPr lang="en-US" altLang="zh-TW" dirty="0"/>
          </a:p>
          <a:p>
            <a:endParaRPr lang="zh-TW" altLang="en-US" dirty="0"/>
          </a:p>
          <a:p>
            <a:r>
              <a:rPr lang="en-US" altLang="zh-TW" dirty="0"/>
              <a:t>GY-91 </a:t>
            </a:r>
            <a:r>
              <a:rPr lang="zh-TW" altLang="en-US" dirty="0"/>
              <a:t>讀進來，經過 </a:t>
            </a:r>
            <a:r>
              <a:rPr lang="en-US" altLang="zh-TW" dirty="0"/>
              <a:t>TWIM </a:t>
            </a:r>
            <a:r>
              <a:rPr lang="zh-TW" altLang="en-US" dirty="0"/>
              <a:t>與 </a:t>
            </a:r>
            <a:r>
              <a:rPr lang="en-US" altLang="zh-TW" dirty="0" err="1"/>
              <a:t>EasyDMA</a:t>
            </a:r>
            <a:r>
              <a:rPr lang="zh-TW" altLang="en-US" dirty="0"/>
              <a:t> 由硬體搬運，交給 </a:t>
            </a:r>
            <a:r>
              <a:rPr lang="en-US" altLang="zh-TW" dirty="0"/>
              <a:t>nRF52840 </a:t>
            </a:r>
            <a:r>
              <a:rPr lang="zh-TW" altLang="en-US" dirty="0"/>
              <a:t>做姿態融合；右邊的 </a:t>
            </a:r>
            <a:r>
              <a:rPr lang="en-US" altLang="zh-TW" dirty="0"/>
              <a:t>LSM6DS3 </a:t>
            </a:r>
            <a:r>
              <a:rPr lang="zh-TW" altLang="en-US" dirty="0"/>
              <a:t>則是在主感測失效時接手。</a:t>
            </a:r>
            <a:r>
              <a:rPr lang="en-US" altLang="zh-TW" dirty="0"/>
              <a:t>CPU</a:t>
            </a:r>
            <a:r>
              <a:rPr lang="zh-TW" altLang="en-US" dirty="0"/>
              <a:t> 只需要設定 </a:t>
            </a:r>
            <a:r>
              <a:rPr lang="en-US" altLang="zh-TW" dirty="0"/>
              <a:t>RXD.PTR </a:t>
            </a:r>
            <a:r>
              <a:rPr lang="zh-TW" altLang="en-US" dirty="0"/>
              <a:t>與 </a:t>
            </a:r>
            <a:r>
              <a:rPr lang="en-US" altLang="zh-TW" dirty="0"/>
              <a:t>MAXCNT </a:t>
            </a:r>
            <a:r>
              <a:rPr lang="zh-TW" altLang="en-US" dirty="0"/>
              <a:t>這兩個暫存器，之後由 </a:t>
            </a:r>
            <a:r>
              <a:rPr lang="en-US" altLang="zh-TW" dirty="0" err="1"/>
              <a:t>EasyDMA</a:t>
            </a:r>
            <a:r>
              <a:rPr lang="zh-TW" altLang="en-US" dirty="0"/>
              <a:t> 自行把資料搬進記憶體，不需要逐個讀</a:t>
            </a:r>
            <a:r>
              <a:rPr lang="zh-CN" altLang="en-US" dirty="0"/>
              <a:t>取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CN" altLang="en-US" dirty="0"/>
              <a:t>硬體</a:t>
            </a:r>
            <a:r>
              <a:rPr lang="zh-TW" altLang="en-US" dirty="0"/>
              <a:t>搬運期間以輪詢等待，不使用中斷；搬完、出錯或逾時時退出，其中出錯與逾時會執行復原程序。另外因兩顆感測器共用同一條匯流排，程式用 </a:t>
            </a:r>
            <a:r>
              <a:rPr lang="en-US" altLang="zh-TW" dirty="0" err="1"/>
              <a:t>FreeRTOS</a:t>
            </a:r>
            <a:r>
              <a:rPr lang="zh-TW" altLang="en-US" dirty="0"/>
              <a:t> 的 </a:t>
            </a:r>
            <a:r>
              <a:rPr lang="en-US" altLang="zh-TW" dirty="0"/>
              <a:t>mutex </a:t>
            </a:r>
            <a:r>
              <a:rPr lang="zh-TW" altLang="en-US" dirty="0"/>
              <a:t>保護，確保同一時間只有一個任務在存取。</a:t>
            </a:r>
          </a:p>
          <a:p>
            <a:endParaRPr lang="zh-TW" altLang="en-US" dirty="0"/>
          </a:p>
          <a:p>
            <a:r>
              <a:rPr lang="zh-TW" altLang="en-US" dirty="0"/>
              <a:t>接下來第十二頁，我將說明無線通訊的移植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687836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「第十二頁說明無線通訊的移植，分成上下兩塊。</a:t>
            </a:r>
          </a:p>
          <a:p>
            <a:endParaRPr lang="zh-TW" altLang="en-US" dirty="0"/>
          </a:p>
          <a:p>
            <a:r>
              <a:rPr lang="zh-TW" altLang="en-US" dirty="0"/>
              <a:t>原廠這一段有兩層：遙控器發出的訊號先由 </a:t>
            </a:r>
            <a:r>
              <a:rPr lang="en-US" altLang="zh-TW" dirty="0"/>
              <a:t>NRF51822 </a:t>
            </a:r>
            <a:r>
              <a:rPr lang="zh-TW" altLang="en-US" dirty="0"/>
              <a:t>加上 </a:t>
            </a:r>
            <a:r>
              <a:rPr lang="en-US" altLang="zh-TW" dirty="0"/>
              <a:t>RFX2401C </a:t>
            </a:r>
            <a:r>
              <a:rPr lang="zh-TW" altLang="en-US" dirty="0"/>
              <a:t>功率放大晶片接收，</a:t>
            </a:r>
            <a:r>
              <a:rPr lang="en-US" altLang="zh-TW" dirty="0"/>
              <a:t>NRF51822 </a:t>
            </a:r>
            <a:r>
              <a:rPr lang="zh-TW" altLang="en-US" dirty="0"/>
              <a:t>解析之後再經 </a:t>
            </a:r>
            <a:r>
              <a:rPr lang="en-US" altLang="zh-TW" dirty="0"/>
              <a:t>UART </a:t>
            </a:r>
            <a:r>
              <a:rPr lang="zh-TW" altLang="en-US" dirty="0"/>
              <a:t>轉發給 </a:t>
            </a:r>
            <a:r>
              <a:rPr lang="en-US" altLang="zh-TW" dirty="0"/>
              <a:t>STM32F411</a:t>
            </a:r>
            <a:r>
              <a:rPr lang="zh-TW" altLang="en-US" dirty="0"/>
              <a:t>，由 </a:t>
            </a:r>
            <a:r>
              <a:rPr lang="en-US" altLang="zh-TW" dirty="0" err="1"/>
              <a:t>radiolink</a:t>
            </a:r>
            <a:r>
              <a:rPr lang="zh-TW" altLang="en-US" dirty="0"/>
              <a:t> 這個任務解析，所以指令要經過兩段才會到飛控。本研究因為主控本身內建 </a:t>
            </a:r>
            <a:r>
              <a:rPr lang="en-US" altLang="zh-TW" dirty="0"/>
              <a:t>RADIO</a:t>
            </a:r>
            <a:r>
              <a:rPr lang="zh-TW" altLang="en-US" dirty="0"/>
              <a:t>，遙控器訊號直接由 </a:t>
            </a:r>
            <a:r>
              <a:rPr lang="en-US" altLang="zh-TW" dirty="0"/>
              <a:t>nRF52840 </a:t>
            </a:r>
            <a:r>
              <a:rPr lang="zh-TW" altLang="en-US" dirty="0"/>
              <a:t>接收</a:t>
            </a:r>
            <a:r>
              <a:rPr lang="zh-CN" altLang="en-US" dirty="0"/>
              <a:t>后處理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TW" altLang="en-US" dirty="0"/>
              <a:t>射頻與速率。原廠外掛 </a:t>
            </a:r>
            <a:r>
              <a:rPr lang="en-US" altLang="zh-TW" dirty="0"/>
              <a:t>RFX2401C </a:t>
            </a:r>
            <a:r>
              <a:rPr lang="zh-TW" altLang="en-US" dirty="0"/>
              <a:t>功率放大晶片，速率 </a:t>
            </a:r>
            <a:r>
              <a:rPr lang="en-US" altLang="zh-TW" dirty="0"/>
              <a:t>250 Kbps</a:t>
            </a:r>
            <a:r>
              <a:rPr lang="zh-TW" altLang="en-US" dirty="0"/>
              <a:t>。本研究沒有外掛射頻晶片，用內建 </a:t>
            </a:r>
            <a:r>
              <a:rPr lang="en-US" altLang="zh-TW" dirty="0"/>
              <a:t>RADIO</a:t>
            </a:r>
            <a:r>
              <a:rPr lang="zh-TW" altLang="en-US" dirty="0"/>
              <a:t>；</a:t>
            </a:r>
            <a:r>
              <a:rPr lang="zh-CN" altLang="en-US" dirty="0"/>
              <a:t>但</a:t>
            </a:r>
            <a:r>
              <a:rPr lang="en-US" altLang="zh-TW" dirty="0"/>
              <a:t>nRF52840 </a:t>
            </a:r>
            <a:r>
              <a:rPr lang="zh-TW" altLang="en-US" dirty="0"/>
              <a:t>硬體不支援 </a:t>
            </a:r>
            <a:r>
              <a:rPr lang="en-US" altLang="zh-TW" dirty="0"/>
              <a:t>250 Kbps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TW" altLang="en-US" dirty="0"/>
              <a:t>驅動。原廠用的是 </a:t>
            </a:r>
            <a:r>
              <a:rPr lang="en-US" altLang="zh-TW" dirty="0"/>
              <a:t>Nordic </a:t>
            </a:r>
            <a:r>
              <a:rPr lang="zh-TW" altLang="en-US" dirty="0"/>
              <a:t>自家的 </a:t>
            </a:r>
            <a:r>
              <a:rPr lang="en-US" altLang="zh-TW" dirty="0"/>
              <a:t>nRF51822</a:t>
            </a:r>
            <a:r>
              <a:rPr lang="zh-TW" altLang="en-US" dirty="0"/>
              <a:t>，可以直接沿用 </a:t>
            </a:r>
            <a:r>
              <a:rPr lang="en-US" altLang="zh-TW" dirty="0"/>
              <a:t>nRF5 SDK </a:t>
            </a:r>
            <a:r>
              <a:rPr lang="zh-TW" altLang="en-US" dirty="0"/>
              <a:t>裡現成的 </a:t>
            </a:r>
            <a:r>
              <a:rPr lang="en-US" altLang="zh-TW" dirty="0"/>
              <a:t>ESB </a:t>
            </a:r>
            <a:r>
              <a:rPr lang="zh-TW" altLang="en-US" dirty="0"/>
              <a:t>函式庫，</a:t>
            </a:r>
            <a:r>
              <a:rPr lang="en-US" altLang="zh-TW" dirty="0"/>
              <a:t>STM32 </a:t>
            </a:r>
            <a:r>
              <a:rPr lang="zh-TW" altLang="en-US" dirty="0"/>
              <a:t>那端只需解析 </a:t>
            </a:r>
            <a:r>
              <a:rPr lang="en-US" altLang="zh-TW" dirty="0"/>
              <a:t>UART </a:t>
            </a:r>
            <a:r>
              <a:rPr lang="zh-TW" altLang="en-US" dirty="0"/>
              <a:t>位元組流。而 </a:t>
            </a:r>
            <a:r>
              <a:rPr lang="en-US" altLang="zh-TW" dirty="0"/>
              <a:t>XIAO </a:t>
            </a:r>
            <a:r>
              <a:rPr lang="zh-TW" altLang="en-US" dirty="0"/>
              <a:t>的官方 </a:t>
            </a:r>
            <a:r>
              <a:rPr lang="en-US" altLang="zh-TW" dirty="0"/>
              <a:t>BSP </a:t>
            </a:r>
            <a:r>
              <a:rPr lang="zh-TW" altLang="en-US" dirty="0"/>
              <a:t>是 </a:t>
            </a:r>
            <a:r>
              <a:rPr lang="en-US" altLang="zh-TW" dirty="0"/>
              <a:t>Arduino </a:t>
            </a:r>
            <a:r>
              <a:rPr lang="zh-TW" altLang="en-US" dirty="0"/>
              <a:t>框架，</a:t>
            </a:r>
            <a:r>
              <a:rPr lang="zh-CN" altLang="en-US" dirty="0"/>
              <a:t>不含</a:t>
            </a:r>
            <a:r>
              <a:rPr lang="zh-TW" altLang="en-US" dirty="0"/>
              <a:t> </a:t>
            </a:r>
            <a:r>
              <a:rPr lang="en-US" altLang="zh-TW" dirty="0"/>
              <a:t>nRF5 SDK </a:t>
            </a:r>
            <a:r>
              <a:rPr lang="zh-CN" altLang="en-US" dirty="0"/>
              <a:t>的 </a:t>
            </a:r>
            <a:r>
              <a:rPr lang="en-US" altLang="zh-TW" dirty="0"/>
              <a:t>ESB </a:t>
            </a:r>
            <a:r>
              <a:rPr lang="zh-TW" altLang="en-US" dirty="0"/>
              <a:t>函式庫</a:t>
            </a:r>
            <a:r>
              <a:rPr lang="zh-CN" altLang="en-US" dirty="0"/>
              <a:t>，需</a:t>
            </a:r>
            <a:r>
              <a:rPr lang="zh-TW" altLang="en-US" dirty="0"/>
              <a:t>設定 </a:t>
            </a:r>
            <a:r>
              <a:rPr lang="en-US" altLang="zh-TW" dirty="0"/>
              <a:t>RADIO </a:t>
            </a:r>
            <a:r>
              <a:rPr lang="zh-TW" altLang="en-US" dirty="0"/>
              <a:t>暫存器，包括頻率、封包格式、</a:t>
            </a:r>
            <a:r>
              <a:rPr lang="en-US" altLang="zh-TW" dirty="0"/>
              <a:t>CRC</a:t>
            </a:r>
            <a:r>
              <a:rPr lang="zh-TW" altLang="en-US" dirty="0"/>
              <a:t> ，都要跟遙控器端對齊，否則收不到封包。細節在下一頁展開。</a:t>
            </a:r>
          </a:p>
          <a:p>
            <a:endParaRPr lang="zh-TW" altLang="en-US" dirty="0"/>
          </a:p>
          <a:p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6678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ESB 是 Nordic </a:t>
            </a:r>
            <a:r>
              <a:rPr dirty="0" err="1"/>
              <a:t>專有的</a:t>
            </a:r>
            <a:r>
              <a:rPr dirty="0"/>
              <a:t> 2.4GHz 協</a:t>
            </a:r>
            <a:r>
              <a:rPr lang="zh-CN" altLang="en-US" dirty="0"/>
              <a:t>定</a:t>
            </a:r>
            <a:r>
              <a:rPr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nRF24</a:t>
            </a:r>
            <a:r>
              <a:rPr lang="zh-CN" altLang="en-US" dirty="0"/>
              <a:t>系列</a:t>
            </a:r>
            <a:r>
              <a:rPr lang="en-US" altLang="zh-TW" dirty="0"/>
              <a:t> </a:t>
            </a:r>
            <a:r>
              <a:rPr lang="zh-TW" altLang="en-US" dirty="0"/>
              <a:t>有專用的硬體 </a:t>
            </a:r>
            <a:r>
              <a:rPr lang="en-US" altLang="zh-TW" dirty="0"/>
              <a:t>ESB </a:t>
            </a:r>
            <a:r>
              <a:rPr lang="zh-TW" altLang="en-US" dirty="0"/>
              <a:t>處理器，而 </a:t>
            </a:r>
            <a:r>
              <a:rPr lang="en-US" altLang="zh-TW" dirty="0"/>
              <a:t>nRF52840 </a:t>
            </a:r>
            <a:r>
              <a:rPr lang="zh-TW" altLang="en-US" dirty="0"/>
              <a:t>則是</a:t>
            </a:r>
            <a:r>
              <a:rPr lang="zh-CN" altLang="en-US" dirty="0"/>
              <a:t>需要</a:t>
            </a:r>
            <a:r>
              <a:rPr lang="zh-TW" altLang="en-US" dirty="0"/>
              <a:t>在韌體中對 </a:t>
            </a:r>
            <a:r>
              <a:rPr lang="en-US" altLang="zh-TW" dirty="0"/>
              <a:t>RADIO </a:t>
            </a:r>
            <a:r>
              <a:rPr lang="zh-TW" altLang="en-US" dirty="0"/>
              <a:t>的底層暫存器進行配置</a:t>
            </a:r>
            <a:r>
              <a:rPr lang="zh-CN" altLang="en-US" dirty="0"/>
              <a:t>。</a:t>
            </a:r>
            <a:endParaRPr lang="en-US" altLang="zh-TW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「</a:t>
            </a:r>
            <a:r>
              <a:rPr dirty="0" err="1"/>
              <a:t>第十</a:t>
            </a:r>
            <a:r>
              <a:rPr lang="zh-CN" altLang="en-US" dirty="0"/>
              <a:t>四</a:t>
            </a:r>
            <a:r>
              <a:rPr dirty="0" err="1"/>
              <a:t>頁說明上位機送往飛控的封包格式</a:t>
            </a:r>
            <a:r>
              <a:rPr dirty="0"/>
              <a:t>。</a:t>
            </a:r>
            <a:endParaRPr lang="en-US" dirty="0"/>
          </a:p>
          <a:p>
            <a:endParaRPr dirty="0"/>
          </a:p>
          <a:p>
            <a:r>
              <a:rPr dirty="0" err="1"/>
              <a:t>下方是解鎖指令的實際例子：AA</a:t>
            </a:r>
            <a:r>
              <a:rPr dirty="0"/>
              <a:t> AF 01 01 A1 FC。AA AF 是起始碼，01 </a:t>
            </a:r>
            <a:r>
              <a:rPr dirty="0" err="1"/>
              <a:t>是命令封包的功能字，第二個</a:t>
            </a:r>
            <a:r>
              <a:rPr dirty="0"/>
              <a:t> 01 </a:t>
            </a:r>
            <a:r>
              <a:rPr dirty="0" err="1"/>
              <a:t>表示資料只有一個</a:t>
            </a:r>
            <a:r>
              <a:rPr dirty="0"/>
              <a:t> Byte，A1 </a:t>
            </a:r>
            <a:r>
              <a:rPr dirty="0" err="1"/>
              <a:t>是解鎖的命令碼，最後的</a:t>
            </a:r>
            <a:r>
              <a:rPr dirty="0"/>
              <a:t> FC </a:t>
            </a:r>
            <a:r>
              <a:rPr dirty="0" err="1"/>
              <a:t>是把前面五個</a:t>
            </a:r>
            <a:r>
              <a:rPr dirty="0"/>
              <a:t> Byte </a:t>
            </a:r>
            <a:r>
              <a:rPr dirty="0" err="1"/>
              <a:t>相加取低</a:t>
            </a:r>
            <a:r>
              <a:rPr dirty="0"/>
              <a:t> 8 </a:t>
            </a:r>
            <a:r>
              <a:rPr dirty="0" err="1"/>
              <a:t>位得到的校驗值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這個封包如果走無線，就是裝在上一頁</a:t>
            </a:r>
            <a:r>
              <a:rPr dirty="0"/>
              <a:t> ESB </a:t>
            </a:r>
            <a:r>
              <a:rPr dirty="0" err="1"/>
              <a:t>封包的載荷裡，起始碼與校驗和都不帶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「第十</a:t>
            </a:r>
            <a:r>
              <a:rPr lang="zh-CN" altLang="en-US" dirty="0"/>
              <a:t>五</a:t>
            </a:r>
            <a:r>
              <a:rPr lang="zh-TW" altLang="en-US" dirty="0"/>
              <a:t>頁說明多機控制的架構，先看上半的指令傳遞路徑。</a:t>
            </a:r>
          </a:p>
          <a:p>
            <a:endParaRPr lang="zh-TW" altLang="en-US" dirty="0"/>
          </a:p>
          <a:p>
            <a:r>
              <a:rPr lang="zh-TW" altLang="en-US" dirty="0"/>
              <a:t>上位機，負責定位與決策。它把指令以 </a:t>
            </a:r>
            <a:r>
              <a:rPr lang="en-US" altLang="zh-TW" dirty="0"/>
              <a:t>ATKP </a:t>
            </a:r>
            <a:r>
              <a:rPr lang="zh-TW" altLang="en-US" dirty="0"/>
              <a:t>格式經 </a:t>
            </a:r>
            <a:r>
              <a:rPr lang="en-US" altLang="zh-TW" dirty="0"/>
              <a:t>USB </a:t>
            </a:r>
            <a:r>
              <a:rPr lang="zh-TW" altLang="en-US" dirty="0"/>
              <a:t>交給遙控器，遙控器不做解析，原樣廣播出去。兩架飛機都會收到同一個封包：飛機 </a:t>
            </a:r>
            <a:r>
              <a:rPr lang="en-US" altLang="zh-TW" dirty="0"/>
              <a:t>A </a:t>
            </a:r>
            <a:r>
              <a:rPr lang="zh-TW" altLang="en-US" dirty="0"/>
              <a:t>是 </a:t>
            </a:r>
            <a:r>
              <a:rPr lang="en-US" altLang="zh-TW" dirty="0"/>
              <a:t>ATK </a:t>
            </a:r>
            <a:r>
              <a:rPr lang="zh-TW" altLang="en-US" dirty="0"/>
              <a:t>原機，飛機 </a:t>
            </a:r>
            <a:r>
              <a:rPr lang="en-US" altLang="zh-TW" dirty="0"/>
              <a:t>B </a:t>
            </a:r>
            <a:r>
              <a:rPr lang="zh-TW" altLang="en-US" dirty="0"/>
              <a:t>是本研究的自製板。每架有自己的編號與私有位址。</a:t>
            </a:r>
          </a:p>
          <a:p>
            <a:endParaRPr lang="zh-TW" altLang="en-US" dirty="0"/>
          </a:p>
          <a:p>
            <a:r>
              <a:rPr lang="zh-TW" altLang="en-US" dirty="0"/>
              <a:t>右邊還有一條線：兩架同時也都發出藍牙訊號，由四個錨點接收，所以它們在被控制的同時也能被定位。</a:t>
            </a:r>
          </a:p>
          <a:p>
            <a:endParaRPr lang="zh-TW" altLang="en-US" dirty="0"/>
          </a:p>
          <a:p>
            <a:r>
              <a:rPr lang="zh-TW" altLang="en-US" dirty="0"/>
              <a:t>這裡要說明的是一個設計上的選擇。原本可以由遙控器決定發給誰，也就是逐架發送；但那樣發送次數會隨架數增加，而且各架收到指令的時間必然錯開。本研究改成一包全體同收，由飛機自己判斷要不要執行，發送次數就與架數無關，指令也同時到達。</a:t>
            </a:r>
          </a:p>
          <a:p>
            <a:endParaRPr lang="zh-TW" altLang="en-US" dirty="0"/>
          </a:p>
          <a:p>
            <a:r>
              <a:rPr lang="zh-TW" altLang="en-US" dirty="0"/>
              <a:t>下半是三種機制，都已完成實機驗證。</a:t>
            </a:r>
          </a:p>
          <a:p>
            <a:endParaRPr lang="zh-TW" altLang="en-US" dirty="0"/>
          </a:p>
          <a:p>
            <a:r>
              <a:rPr lang="zh-TW" altLang="en-US" dirty="0"/>
              <a:t>第一是廣播模式 </a:t>
            </a:r>
            <a:r>
              <a:rPr lang="en-US" altLang="zh-TW" dirty="0"/>
              <a:t>A</a:t>
            </a:r>
            <a:r>
              <a:rPr lang="zh-TW" altLang="en-US" dirty="0"/>
              <a:t>，同一封包、同一指令，封包尾端附上目標編號，選中的執行，其餘原地懸停。</a:t>
            </a:r>
          </a:p>
          <a:p>
            <a:endParaRPr lang="zh-TW" altLang="en-US" dirty="0"/>
          </a:p>
          <a:p>
            <a:r>
              <a:rPr lang="zh-TW" altLang="en-US" dirty="0"/>
              <a:t>第二是廣播模式 </a:t>
            </a:r>
            <a:r>
              <a:rPr lang="en-US" altLang="zh-TW" dirty="0"/>
              <a:t>B</a:t>
            </a:r>
            <a:r>
              <a:rPr lang="zh-TW" altLang="en-US" dirty="0"/>
              <a:t>，同一包裡放不同指令，各機取自己那一段，所以兩架可以同時做不同動作。</a:t>
            </a:r>
          </a:p>
          <a:p>
            <a:endParaRPr lang="zh-TW" altLang="en-US" dirty="0"/>
          </a:p>
          <a:p>
            <a:r>
              <a:rPr lang="zh-TW" altLang="en-US" dirty="0"/>
              <a:t>第三是狀態查詢。廣播是單向的，飛機不會回覆，遙控器看不到飛機狀態，所以每約 </a:t>
            </a:r>
            <a:r>
              <a:rPr lang="en-US" altLang="zh-TW" dirty="0"/>
              <a:t>130 </a:t>
            </a:r>
            <a:r>
              <a:rPr lang="zh-TW" altLang="en-US" dirty="0"/>
              <a:t>毫秒切回一對一查詢一次，把電量與連線狀態取回來。</a:t>
            </a:r>
          </a:p>
          <a:p>
            <a:endParaRPr lang="zh-TW" altLang="en-US" dirty="0"/>
          </a:p>
          <a:p>
            <a:r>
              <a:rPr lang="zh-TW" altLang="en-US" dirty="0"/>
              <a:t>接下來第十七頁，我將比較這三種控制方式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「第十</a:t>
            </a:r>
            <a:r>
              <a:rPr lang="zh-CN" altLang="en-US" dirty="0"/>
              <a:t>七</a:t>
            </a:r>
            <a:r>
              <a:rPr lang="zh-TW" altLang="en-US" dirty="0"/>
              <a:t>頁說明廣播模式 </a:t>
            </a:r>
            <a:r>
              <a:rPr lang="en-US" altLang="zh-TW" dirty="0"/>
              <a:t>A</a:t>
            </a:r>
            <a:r>
              <a:rPr lang="zh-TW" altLang="en-US" dirty="0"/>
              <a:t>，指定其中一架執行。</a:t>
            </a:r>
          </a:p>
          <a:p>
            <a:endParaRPr lang="zh-TW" altLang="en-US" dirty="0"/>
          </a:p>
          <a:p>
            <a:r>
              <a:rPr lang="zh-TW" altLang="en-US" dirty="0"/>
              <a:t>上半是封包結構。這個封包沿用原廠遙控封包，格式完全不變，只在尾端多加一個位元組。從左到右：起始碼、功能欄位 </a:t>
            </a:r>
            <a:r>
              <a:rPr lang="en-US" altLang="zh-TW" dirty="0"/>
              <a:t>0x50</a:t>
            </a:r>
            <a:r>
              <a:rPr lang="zh-TW" altLang="en-US" dirty="0"/>
              <a:t>、長度、</a:t>
            </a:r>
            <a:r>
              <a:rPr lang="en-US" altLang="zh-TW" dirty="0" err="1"/>
              <a:t>remoterData_t</a:t>
            </a:r>
            <a:r>
              <a:rPr lang="en-US" altLang="zh-TW" dirty="0"/>
              <a:t> </a:t>
            </a:r>
            <a:r>
              <a:rPr lang="zh-TW" altLang="en-US" dirty="0"/>
              <a:t>的 </a:t>
            </a:r>
            <a:r>
              <a:rPr lang="en-US" altLang="zh-TW" dirty="0"/>
              <a:t>27 </a:t>
            </a:r>
            <a:r>
              <a:rPr lang="zh-TW" altLang="en-US" dirty="0"/>
              <a:t>個位元組，最後是新增的目標位元組。長度欄寫 </a:t>
            </a:r>
            <a:r>
              <a:rPr lang="en-US" altLang="zh-TW" dirty="0"/>
              <a:t>1 </a:t>
            </a:r>
            <a:r>
              <a:rPr lang="zh-TW" altLang="en-US" dirty="0"/>
              <a:t>加 </a:t>
            </a:r>
            <a:r>
              <a:rPr lang="en-US" altLang="zh-TW" dirty="0"/>
              <a:t>27 </a:t>
            </a:r>
            <a:r>
              <a:rPr lang="zh-TW" altLang="en-US" dirty="0"/>
              <a:t>加 </a:t>
            </a:r>
            <a:r>
              <a:rPr lang="en-US" altLang="zh-TW" dirty="0"/>
              <a:t>1 </a:t>
            </a:r>
            <a:r>
              <a:rPr lang="zh-TW" altLang="en-US" dirty="0"/>
              <a:t>等於 </a:t>
            </a:r>
            <a:r>
              <a:rPr lang="en-US" altLang="zh-TW" dirty="0"/>
              <a:t>29</a:t>
            </a:r>
            <a:r>
              <a:rPr lang="zh-TW" altLang="en-US" dirty="0"/>
              <a:t>，比原廠多的就是尾端那一個。</a:t>
            </a:r>
          </a:p>
          <a:p>
            <a:endParaRPr lang="zh-TW" altLang="en-US" dirty="0"/>
          </a:p>
          <a:p>
            <a:r>
              <a:rPr lang="zh-TW" altLang="en-US" dirty="0"/>
              <a:t>目標位元組的值：</a:t>
            </a:r>
            <a:r>
              <a:rPr lang="en-US" altLang="zh-TW" dirty="0"/>
              <a:t>0 </a:t>
            </a:r>
            <a:r>
              <a:rPr lang="zh-TW" altLang="en-US" dirty="0"/>
              <a:t>是全體，</a:t>
            </a:r>
            <a:r>
              <a:rPr lang="en-US" altLang="zh-TW" dirty="0"/>
              <a:t>1 </a:t>
            </a:r>
            <a:r>
              <a:rPr lang="zh-TW" altLang="en-US" dirty="0"/>
              <a:t>是 </a:t>
            </a:r>
            <a:r>
              <a:rPr lang="en-US" altLang="zh-TW" dirty="0" err="1"/>
              <a:t>nRF</a:t>
            </a:r>
            <a:r>
              <a:rPr lang="zh-TW" altLang="en-US" dirty="0"/>
              <a:t> 自製機，</a:t>
            </a:r>
            <a:r>
              <a:rPr lang="en-US" altLang="zh-TW" dirty="0"/>
              <a:t>2 </a:t>
            </a:r>
            <a:r>
              <a:rPr lang="zh-TW" altLang="en-US" dirty="0"/>
              <a:t>是 </a:t>
            </a:r>
            <a:r>
              <a:rPr lang="en-US" altLang="zh-TW" dirty="0"/>
              <a:t>ATK </a:t>
            </a:r>
            <a:r>
              <a:rPr lang="zh-TW" altLang="en-US" dirty="0"/>
              <a:t>原機。飛機收到後先看長度，多出一個位元組就知道是廣播封包，接著讀尾端那個值跟自己編號比對，相符或全體就執行搖桿指令，不符就原地懸停等待。</a:t>
            </a:r>
          </a:p>
          <a:p>
            <a:endParaRPr lang="zh-TW" altLang="en-US" dirty="0"/>
          </a:p>
          <a:p>
            <a:r>
              <a:rPr lang="zh-TW" altLang="en-US" dirty="0"/>
              <a:t>下半是 </a:t>
            </a:r>
            <a:r>
              <a:rPr lang="en-US" altLang="zh-TW" dirty="0" err="1"/>
              <a:t>remoterData_t</a:t>
            </a:r>
            <a:r>
              <a:rPr lang="zh-TW" altLang="en-US" dirty="0"/>
              <a:t> 的內容，共 </a:t>
            </a:r>
            <a:r>
              <a:rPr lang="en-US" altLang="zh-TW" dirty="0"/>
              <a:t>27 </a:t>
            </a:r>
            <a:r>
              <a:rPr lang="zh-TW" altLang="en-US" dirty="0"/>
              <a:t>個位元組。姿態 </a:t>
            </a:r>
            <a:r>
              <a:rPr lang="en-US" altLang="zh-TW" dirty="0"/>
              <a:t>roll</a:t>
            </a:r>
            <a:r>
              <a:rPr lang="zh-TW" altLang="en-US" dirty="0"/>
              <a:t>、</a:t>
            </a:r>
            <a:r>
              <a:rPr lang="en-US" altLang="zh-TW" dirty="0"/>
              <a:t>pitch</a:t>
            </a:r>
            <a:r>
              <a:rPr lang="zh-TW" altLang="en-US" dirty="0"/>
              <a:t>、</a:t>
            </a:r>
            <a:r>
              <a:rPr lang="en-US" altLang="zh-TW" dirty="0"/>
              <a:t>yaw</a:t>
            </a:r>
            <a:r>
              <a:rPr lang="zh-TW" altLang="en-US" dirty="0"/>
              <a:t> 各 </a:t>
            </a:r>
            <a:r>
              <a:rPr lang="en-US" altLang="zh-TW" dirty="0"/>
              <a:t>4 </a:t>
            </a:r>
            <a:r>
              <a:rPr lang="zh-TW" altLang="en-US" dirty="0"/>
              <a:t>個位元組浮點數共 </a:t>
            </a:r>
            <a:r>
              <a:rPr lang="en-US" altLang="zh-TW" dirty="0"/>
              <a:t>12 </a:t>
            </a:r>
            <a:r>
              <a:rPr lang="zh-TW" altLang="en-US" dirty="0"/>
              <a:t>個；油門 </a:t>
            </a:r>
            <a:r>
              <a:rPr lang="en-US" altLang="zh-TW" dirty="0"/>
              <a:t>4 </a:t>
            </a:r>
            <a:r>
              <a:rPr lang="zh-TW" altLang="en-US" dirty="0"/>
              <a:t>個位元組浮點數；微調量 </a:t>
            </a:r>
            <a:r>
              <a:rPr lang="en-US" altLang="zh-TW" dirty="0" err="1"/>
              <a:t>trimRoll</a:t>
            </a:r>
            <a:r>
              <a:rPr lang="zh-TW" altLang="en-US" dirty="0"/>
              <a:t> 與 </a:t>
            </a:r>
            <a:r>
              <a:rPr lang="en-US" altLang="zh-TW" dirty="0" err="1"/>
              <a:t>trimPitch</a:t>
            </a:r>
            <a:r>
              <a:rPr lang="zh-TW" altLang="en-US" dirty="0"/>
              <a:t> 各 </a:t>
            </a:r>
            <a:r>
              <a:rPr lang="en-US" altLang="zh-TW" dirty="0"/>
              <a:t>4 </a:t>
            </a:r>
            <a:r>
              <a:rPr lang="zh-TW" altLang="en-US" dirty="0"/>
              <a:t>個共 </a:t>
            </a:r>
            <a:r>
              <a:rPr lang="en-US" altLang="zh-TW" dirty="0"/>
              <a:t>8 </a:t>
            </a:r>
            <a:r>
              <a:rPr lang="zh-TW" altLang="en-US" dirty="0"/>
              <a:t>個；控制模式 </a:t>
            </a:r>
            <a:r>
              <a:rPr lang="en-US" altLang="zh-TW" dirty="0"/>
              <a:t>1 </a:t>
            </a:r>
            <a:r>
              <a:rPr lang="zh-TW" altLang="en-US" dirty="0"/>
              <a:t>個、飛行模式與遙控鎖定各 </a:t>
            </a:r>
            <a:r>
              <a:rPr lang="en-US" altLang="zh-TW" dirty="0"/>
              <a:t>1 </a:t>
            </a:r>
            <a:r>
              <a:rPr lang="zh-TW" altLang="en-US" dirty="0"/>
              <a:t>個。</a:t>
            </a:r>
          </a:p>
          <a:p>
            <a:endParaRPr lang="zh-TW" altLang="en-US" dirty="0"/>
          </a:p>
          <a:p>
            <a:r>
              <a:rPr lang="zh-TW" altLang="en-US" dirty="0"/>
              <a:t>畫面下方是實機影片，我播放給各位委員看。</a:t>
            </a:r>
          </a:p>
          <a:p>
            <a:endParaRPr lang="zh-TW" altLang="en-US" dirty="0"/>
          </a:p>
          <a:p>
            <a:r>
              <a:rPr lang="zh-TW" altLang="en-US" dirty="0"/>
              <a:t>接下來第十九頁，我將說明廣播模式 </a:t>
            </a:r>
            <a:r>
              <a:rPr lang="en-US" altLang="zh-TW" dirty="0"/>
              <a:t>B……</a:t>
            </a:r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217330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「第十</a:t>
            </a:r>
            <a:r>
              <a:rPr lang="zh-CN" altLang="en-US" dirty="0"/>
              <a:t>八</a:t>
            </a:r>
            <a:r>
              <a:rPr lang="zh-TW" altLang="en-US" dirty="0"/>
              <a:t>頁說明廣播模式 </a:t>
            </a:r>
            <a:r>
              <a:rPr lang="en-US" altLang="zh-TW" dirty="0"/>
              <a:t>B</a:t>
            </a:r>
            <a:r>
              <a:rPr lang="zh-TW" altLang="en-US" dirty="0"/>
              <a:t>，一個封包同時指揮多架。</a:t>
            </a:r>
          </a:p>
          <a:p>
            <a:endParaRPr lang="zh-TW" altLang="en-US" dirty="0"/>
          </a:p>
          <a:p>
            <a:r>
              <a:rPr lang="zh-TW" altLang="en-US" dirty="0"/>
              <a:t>上半是封包結構。功能欄位改成 </a:t>
            </a:r>
            <a:r>
              <a:rPr lang="en-US" altLang="zh-TW" dirty="0"/>
              <a:t>0x60</a:t>
            </a:r>
            <a:r>
              <a:rPr lang="zh-TW" altLang="en-US" dirty="0"/>
              <a:t>，長度是 </a:t>
            </a:r>
            <a:r>
              <a:rPr lang="en-US" altLang="zh-TW" dirty="0"/>
              <a:t>1 </a:t>
            </a:r>
            <a:r>
              <a:rPr lang="zh-TW" altLang="en-US" dirty="0"/>
              <a:t>加 </a:t>
            </a:r>
            <a:r>
              <a:rPr lang="en-US" altLang="zh-TW" dirty="0"/>
              <a:t>8 </a:t>
            </a:r>
            <a:r>
              <a:rPr lang="zh-TW" altLang="en-US" dirty="0"/>
              <a:t>乘以架數。第一個位元組寫架數 </a:t>
            </a:r>
            <a:r>
              <a:rPr lang="en-US" altLang="zh-TW" dirty="0"/>
              <a:t>N</a:t>
            </a:r>
            <a:r>
              <a:rPr lang="zh-TW" altLang="en-US" dirty="0"/>
              <a:t>，後面每 </a:t>
            </a:r>
            <a:r>
              <a:rPr lang="en-US" altLang="zh-TW" dirty="0"/>
              <a:t>8 </a:t>
            </a:r>
            <a:r>
              <a:rPr lang="zh-TW" altLang="en-US" dirty="0"/>
              <a:t>個位元組是一架的完整指令。</a:t>
            </a:r>
          </a:p>
          <a:p>
            <a:endParaRPr lang="zh-TW" altLang="en-US" dirty="0"/>
          </a:p>
          <a:p>
            <a:r>
              <a:rPr lang="zh-TW" altLang="en-US" dirty="0"/>
              <a:t>飛機收到後，先讀第一個位元組知道有幾架的指令，然後以 </a:t>
            </a:r>
            <a:r>
              <a:rPr lang="en-US" altLang="zh-TW" dirty="0"/>
              <a:t>8 </a:t>
            </a:r>
            <a:r>
              <a:rPr lang="zh-TW" altLang="en-US" dirty="0"/>
              <a:t>個位元組為一段依序走訪，比對每段開頭的編號是不是自己，命中就取出使用，全部走訪完沒有自己的就忽略這個封包。</a:t>
            </a:r>
          </a:p>
          <a:p>
            <a:endParaRPr lang="zh-TW" altLang="en-US" dirty="0"/>
          </a:p>
          <a:p>
            <a:r>
              <a:rPr lang="zh-TW" altLang="en-US" dirty="0"/>
              <a:t>下半是每一段 </a:t>
            </a:r>
            <a:r>
              <a:rPr lang="en-US" altLang="zh-TW" dirty="0"/>
              <a:t>8 </a:t>
            </a:r>
            <a:r>
              <a:rPr lang="zh-TW" altLang="en-US" dirty="0"/>
              <a:t>個位元組的內容。第一個是 </a:t>
            </a:r>
            <a:r>
              <a:rPr lang="en-US" altLang="zh-TW" dirty="0"/>
              <a:t>ID</a:t>
            </a:r>
            <a:r>
              <a:rPr lang="zh-TW" altLang="en-US" dirty="0"/>
              <a:t>，跟本機編號比對不符就跳過；接著 </a:t>
            </a:r>
            <a:r>
              <a:rPr lang="en-US" altLang="zh-TW" dirty="0"/>
              <a:t>flags</a:t>
            </a:r>
            <a:r>
              <a:rPr lang="zh-TW" altLang="en-US" dirty="0"/>
              <a:t>，其中 </a:t>
            </a:r>
            <a:r>
              <a:rPr lang="en-US" altLang="zh-TW" dirty="0"/>
              <a:t>bit 0 </a:t>
            </a:r>
            <a:r>
              <a:rPr lang="zh-TW" altLang="en-US" dirty="0"/>
              <a:t>是懸停待命；然後油門 </a:t>
            </a:r>
            <a:r>
              <a:rPr lang="en-US" altLang="zh-TW" dirty="0"/>
              <a:t>2 </a:t>
            </a:r>
            <a:r>
              <a:rPr lang="zh-TW" altLang="en-US" dirty="0"/>
              <a:t>個位元組、姿態 </a:t>
            </a:r>
            <a:r>
              <a:rPr lang="en-US" altLang="zh-TW" dirty="0"/>
              <a:t>roll</a:t>
            </a:r>
            <a:r>
              <a:rPr lang="zh-TW" altLang="en-US" dirty="0"/>
              <a:t>、</a:t>
            </a:r>
            <a:r>
              <a:rPr lang="en-US" altLang="zh-TW" dirty="0"/>
              <a:t>pitch</a:t>
            </a:r>
            <a:r>
              <a:rPr lang="zh-TW" altLang="en-US" dirty="0"/>
              <a:t>、</a:t>
            </a:r>
            <a:r>
              <a:rPr lang="en-US" altLang="zh-TW" dirty="0"/>
              <a:t>yaw</a:t>
            </a:r>
            <a:r>
              <a:rPr lang="zh-TW" altLang="en-US" dirty="0"/>
              <a:t> 各 </a:t>
            </a:r>
            <a:r>
              <a:rPr lang="en-US" altLang="zh-TW" dirty="0"/>
              <a:t>1 </a:t>
            </a:r>
            <a:r>
              <a:rPr lang="zh-TW" altLang="en-US" dirty="0"/>
              <a:t>個共 </a:t>
            </a:r>
            <a:r>
              <a:rPr lang="en-US" altLang="zh-TW" dirty="0"/>
              <a:t>3 </a:t>
            </a:r>
            <a:r>
              <a:rPr lang="zh-TW" altLang="en-US" dirty="0"/>
              <a:t>個；最後一個保留未使用。</a:t>
            </a:r>
          </a:p>
          <a:p>
            <a:endParaRPr lang="zh-TW" altLang="en-US" dirty="0"/>
          </a:p>
          <a:p>
            <a:r>
              <a:rPr lang="zh-TW" altLang="en-US" dirty="0"/>
              <a:t>跟模式 </a:t>
            </a:r>
            <a:r>
              <a:rPr lang="en-US" altLang="zh-TW" dirty="0"/>
              <a:t>A </a:t>
            </a:r>
            <a:r>
              <a:rPr lang="zh-TW" altLang="en-US" dirty="0"/>
              <a:t>對照就看得出差別：模式 </a:t>
            </a:r>
            <a:r>
              <a:rPr lang="en-US" altLang="zh-TW" dirty="0"/>
              <a:t>A </a:t>
            </a:r>
            <a:r>
              <a:rPr lang="zh-TW" altLang="en-US" dirty="0"/>
              <a:t>是 </a:t>
            </a:r>
            <a:r>
              <a:rPr lang="en-US" altLang="zh-TW" dirty="0"/>
              <a:t>27 </a:t>
            </a:r>
            <a:r>
              <a:rPr lang="zh-TW" altLang="en-US" dirty="0"/>
              <a:t>個位元組的全精度浮點數，模式 </a:t>
            </a:r>
            <a:r>
              <a:rPr lang="en-US" altLang="zh-TW" dirty="0"/>
              <a:t>B </a:t>
            </a:r>
            <a:r>
              <a:rPr lang="zh-TW" altLang="en-US" dirty="0"/>
              <a:t>為了塞進多架，把每架壓到 </a:t>
            </a:r>
            <a:r>
              <a:rPr lang="en-US" altLang="zh-TW" dirty="0"/>
              <a:t>8 </a:t>
            </a:r>
            <a:r>
              <a:rPr lang="zh-TW" altLang="en-US" dirty="0"/>
              <a:t>個位元組</a:t>
            </a:r>
            <a:r>
              <a:rPr lang="en-US" altLang="zh-TW" dirty="0"/>
              <a:t>——</a:t>
            </a:r>
            <a:r>
              <a:rPr lang="zh-TW" altLang="en-US" dirty="0"/>
              <a:t>姿態從 </a:t>
            </a:r>
            <a:r>
              <a:rPr lang="en-US" altLang="zh-TW" dirty="0"/>
              <a:t>4 </a:t>
            </a:r>
            <a:r>
              <a:rPr lang="zh-TW" altLang="en-US" dirty="0"/>
              <a:t>個位元組浮點數壓成 </a:t>
            </a:r>
            <a:r>
              <a:rPr lang="en-US" altLang="zh-TW" dirty="0"/>
              <a:t>1 </a:t>
            </a:r>
            <a:r>
              <a:rPr lang="zh-TW" altLang="en-US" dirty="0"/>
              <a:t>個位元組定點值，油門從 </a:t>
            </a:r>
            <a:r>
              <a:rPr lang="en-US" altLang="zh-TW" dirty="0"/>
              <a:t>4 </a:t>
            </a:r>
            <a:r>
              <a:rPr lang="zh-TW" altLang="en-US" dirty="0"/>
              <a:t>個壓成 </a:t>
            </a:r>
            <a:r>
              <a:rPr lang="en-US" altLang="zh-TW" dirty="0"/>
              <a:t>2 </a:t>
            </a:r>
            <a:r>
              <a:rPr lang="zh-TW" altLang="en-US" dirty="0"/>
              <a:t>個。</a:t>
            </a:r>
          </a:p>
          <a:p>
            <a:endParaRPr lang="zh-TW" altLang="en-US" dirty="0"/>
          </a:p>
          <a:p>
            <a:r>
              <a:rPr lang="zh-TW" altLang="en-US" dirty="0"/>
              <a:t>可能被問：</a:t>
            </a:r>
          </a:p>
          <a:p>
            <a:endParaRPr lang="zh-TW" altLang="en-US" dirty="0"/>
          </a:p>
          <a:p>
            <a:r>
              <a:rPr lang="en-US" altLang="zh-TW" dirty="0"/>
              <a:t>Q</a:t>
            </a:r>
            <a:r>
              <a:rPr lang="zh-TW" altLang="en-US" dirty="0"/>
              <a:t>：最多幾架？</a:t>
            </a:r>
          </a:p>
          <a:p>
            <a:r>
              <a:rPr lang="en-US" altLang="zh-TW" dirty="0"/>
              <a:t>A</a:t>
            </a:r>
            <a:r>
              <a:rPr lang="zh-TW" altLang="en-US" dirty="0"/>
              <a:t>：三架。</a:t>
            </a:r>
            <a:r>
              <a:rPr lang="en-US" altLang="zh-TW" dirty="0"/>
              <a:t>ATKP</a:t>
            </a:r>
            <a:r>
              <a:rPr lang="zh-TW" altLang="en-US" dirty="0"/>
              <a:t> 載荷上限 </a:t>
            </a:r>
            <a:r>
              <a:rPr lang="en-US" altLang="zh-TW" dirty="0"/>
              <a:t>30 </a:t>
            </a:r>
            <a:r>
              <a:rPr lang="zh-TW" altLang="en-US" dirty="0"/>
              <a:t>個位元組，</a:t>
            </a:r>
            <a:r>
              <a:rPr lang="en-US" altLang="zh-TW" dirty="0"/>
              <a:t>1 </a:t>
            </a:r>
            <a:r>
              <a:rPr lang="zh-TW" altLang="en-US" dirty="0"/>
              <a:t>加 </a:t>
            </a:r>
            <a:r>
              <a:rPr lang="en-US" altLang="zh-TW" dirty="0"/>
              <a:t>8 </a:t>
            </a:r>
            <a:r>
              <a:rPr lang="zh-TW" altLang="en-US" dirty="0"/>
              <a:t>乘 </a:t>
            </a:r>
            <a:r>
              <a:rPr lang="en-US" altLang="zh-TW" dirty="0"/>
              <a:t>3 </a:t>
            </a:r>
            <a:r>
              <a:rPr lang="zh-TW" altLang="en-US" dirty="0"/>
              <a:t>等於 </a:t>
            </a:r>
            <a:r>
              <a:rPr lang="en-US" altLang="zh-TW" dirty="0"/>
              <a:t>25 </a:t>
            </a:r>
            <a:r>
              <a:rPr lang="zh-TW" altLang="en-US" dirty="0"/>
              <a:t>還在限制內；四架是 </a:t>
            </a:r>
            <a:r>
              <a:rPr lang="en-US" altLang="zh-TW" dirty="0"/>
              <a:t>33 </a:t>
            </a:r>
            <a:r>
              <a:rPr lang="zh-TW" altLang="en-US" dirty="0"/>
              <a:t>個位元組，超過上限，韌體直接拒收。</a:t>
            </a:r>
          </a:p>
          <a:p>
            <a:endParaRPr lang="zh-TW" altLang="en-US" dirty="0"/>
          </a:p>
          <a:p>
            <a:r>
              <a:rPr lang="en-US" altLang="zh-TW" dirty="0"/>
              <a:t>Q</a:t>
            </a:r>
            <a:r>
              <a:rPr lang="zh-TW" altLang="en-US" dirty="0"/>
              <a:t>：壓縮後精度夠嗎？</a:t>
            </a:r>
          </a:p>
          <a:p>
            <a:r>
              <a:rPr lang="en-US" altLang="zh-TW" dirty="0"/>
              <a:t>A</a:t>
            </a:r>
            <a:r>
              <a:rPr lang="zh-TW" altLang="en-US" dirty="0"/>
              <a:t>：依實際飛行需要縮小範圍，傾角正負 </a:t>
            </a:r>
            <a:r>
              <a:rPr lang="en-US" altLang="zh-TW" dirty="0"/>
              <a:t>30 </a:t>
            </a:r>
            <a:r>
              <a:rPr lang="zh-TW" altLang="en-US" dirty="0"/>
              <a:t>度、轉速正負 </a:t>
            </a:r>
            <a:r>
              <a:rPr lang="en-US" altLang="zh-TW" dirty="0"/>
              <a:t>200 </a:t>
            </a:r>
            <a:r>
              <a:rPr lang="zh-TW" altLang="en-US" dirty="0"/>
              <a:t>度每秒，</a:t>
            </a:r>
            <a:r>
              <a:rPr lang="en-US" altLang="zh-TW" dirty="0"/>
              <a:t>1 </a:t>
            </a:r>
            <a:r>
              <a:rPr lang="zh-TW" altLang="en-US" dirty="0"/>
              <a:t>個位元組的解析度損失遠小於機體本身的反應誤差。</a:t>
            </a:r>
          </a:p>
          <a:p>
            <a:endParaRPr lang="zh-TW" altLang="en-US" dirty="0"/>
          </a:p>
          <a:p>
            <a:r>
              <a:rPr lang="zh-TW" altLang="en-US" dirty="0"/>
              <a:t>畫面下方是實機影片，我播放給各位委員看。</a:t>
            </a:r>
          </a:p>
          <a:p>
            <a:endParaRPr lang="zh-TW" altLang="en-US" dirty="0"/>
          </a:p>
          <a:p>
            <a:r>
              <a:rPr lang="zh-TW" altLang="en-US" dirty="0"/>
              <a:t>接下來第二十頁，我將說明多機控制下的斷聯風險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286460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第一，發送端一次只能對一個位址，因為 </a:t>
            </a:r>
            <a:r>
              <a:rPr lang="en-US" altLang="zh-TW" dirty="0"/>
              <a:t>ESB </a:t>
            </a:r>
            <a:r>
              <a:rPr lang="zh-TW" altLang="en-US" dirty="0"/>
              <a:t>只有一組 </a:t>
            </a:r>
            <a:r>
              <a:rPr lang="en-US" altLang="zh-TW" dirty="0"/>
              <a:t>TX </a:t>
            </a:r>
            <a:r>
              <a:rPr lang="zh-TW" altLang="en-US" dirty="0"/>
              <a:t>位址暫存器，切換目標必須先改寫位址。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第二，架數越多輪空越久，目前一輪點名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 </a:t>
            </a:r>
            <a:r>
              <a:rPr lang="zh-TW" altLang="en-US" dirty="0"/>
              <a:t>架，架數增加時循環一圈的時間等比拉長。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第三，輪空與失聯必須分開判定，若把輪空當成失聯，飛機會降落或墜機，所以需要時間緩衝。</a:t>
            </a:r>
          </a:p>
          <a:p>
            <a:endParaRPr lang="en-US" altLang="zh-CN" dirty="0"/>
          </a:p>
          <a:p>
            <a:r>
              <a:rPr lang="zh-CN" altLang="en-US" dirty="0"/>
              <a:t>怎麽判斷無人機狀態我設置了點名機制，會在</a:t>
            </a:r>
            <a:r>
              <a:rPr lang="en-US" altLang="zh-CN" dirty="0"/>
              <a:t>130ms </a:t>
            </a:r>
            <a:r>
              <a:rPr lang="zh-CN" altLang="en-US" dirty="0"/>
              <a:t>詢問一次。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因點名是使用無人機私有地址，所以會進行地址切換。等待回應為</a:t>
            </a:r>
            <a:r>
              <a:rPr lang="en-US" altLang="zh-CN" dirty="0"/>
              <a:t>50ms</a:t>
            </a:r>
            <a:r>
              <a:rPr lang="zh-CN" altLang="en-US" dirty="0"/>
              <a:t>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46625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38 字≈10 秒 ｜ </a:t>
            </a:r>
            <a:r>
              <a:rPr dirty="0" err="1"/>
              <a:t>完整版</a:t>
            </a:r>
            <a:r>
              <a:rPr dirty="0"/>
              <a:t> 674 字≈3.1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一句話】訊號中斷不等於一定要墜落</a:t>
            </a:r>
            <a:r>
              <a:rPr dirty="0"/>
              <a:t> — </a:t>
            </a:r>
            <a:r>
              <a:rPr dirty="0" err="1"/>
              <a:t>這頁同時是單機安全的核心,也是多機控制的地基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核心問題】遙控訊號中斷時,飛機該怎麼辦</a:t>
            </a:r>
            <a:r>
              <a:rPr dirty="0"/>
              <a:t>?「</a:t>
            </a:r>
            <a:r>
              <a:rPr dirty="0" err="1"/>
              <a:t>立刻切斷馬達」最保守,但</a:t>
            </a:r>
            <a:r>
              <a:rPr dirty="0"/>
              <a:t>**</a:t>
            </a:r>
            <a:r>
              <a:rPr dirty="0" err="1"/>
              <a:t>多數中斷是短暫的</a:t>
            </a:r>
            <a:r>
              <a:rPr dirty="0"/>
              <a:t>**(</a:t>
            </a:r>
            <a:r>
              <a:rPr dirty="0" err="1"/>
              <a:t>天線遮擋、瞬時幹擾、封包碰撞</a:t>
            </a:r>
            <a:r>
              <a:rPr dirty="0"/>
              <a:t>),</a:t>
            </a:r>
            <a:r>
              <a:rPr dirty="0" err="1"/>
              <a:t>直接停機等於把一次可恢復的抖動變成一次墜機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為什麼需要三種而不是一種</a:t>
            </a:r>
            <a:r>
              <a:rPr dirty="0"/>
              <a:t>】</a:t>
            </a:r>
          </a:p>
          <a:p>
            <a:r>
              <a:rPr dirty="0" err="1"/>
              <a:t>因為「最好的策略」取決於場景,不存在通用解</a:t>
            </a:r>
            <a:r>
              <a:rPr dirty="0"/>
              <a:t>:</a:t>
            </a:r>
          </a:p>
          <a:p>
            <a:r>
              <a:rPr dirty="0"/>
              <a:t>· **</a:t>
            </a:r>
            <a:r>
              <a:rPr dirty="0" err="1"/>
              <a:t>模式</a:t>
            </a:r>
            <a:r>
              <a:rPr dirty="0"/>
              <a:t> 0 </a:t>
            </a:r>
            <a:r>
              <a:rPr dirty="0" err="1"/>
              <a:t>斷線寬限續飛</a:t>
            </a:r>
            <a:r>
              <a:rPr dirty="0"/>
              <a:t>** — </a:t>
            </a:r>
            <a:r>
              <a:rPr dirty="0" err="1"/>
              <a:t>中斷後維持定高最多</a:t>
            </a:r>
            <a:r>
              <a:rPr dirty="0"/>
              <a:t> 2 </a:t>
            </a:r>
            <a:r>
              <a:rPr dirty="0" err="1"/>
              <a:t>秒,訊號回來即無縫續飛,超時才轉緩降。適合</a:t>
            </a:r>
            <a:r>
              <a:rPr dirty="0"/>
              <a:t>**</a:t>
            </a:r>
            <a:r>
              <a:rPr dirty="0" err="1"/>
              <a:t>訊號本來就會間歇中斷</a:t>
            </a:r>
            <a:r>
              <a:rPr dirty="0"/>
              <a:t>**</a:t>
            </a:r>
            <a:r>
              <a:rPr dirty="0" err="1"/>
              <a:t>的場合</a:t>
            </a:r>
            <a:r>
              <a:rPr dirty="0"/>
              <a:t>。</a:t>
            </a:r>
          </a:p>
          <a:p>
            <a:r>
              <a:rPr dirty="0"/>
              <a:t>· **</a:t>
            </a:r>
            <a:r>
              <a:rPr dirty="0" err="1"/>
              <a:t>模式</a:t>
            </a:r>
            <a:r>
              <a:rPr dirty="0"/>
              <a:t> 1 </a:t>
            </a:r>
            <a:r>
              <a:rPr dirty="0" err="1"/>
              <a:t>懸停等待再緩降</a:t>
            </a:r>
            <a:r>
              <a:rPr dirty="0"/>
              <a:t>** — </a:t>
            </a:r>
            <a:r>
              <a:rPr dirty="0" err="1"/>
              <a:t>原地懸停約</a:t>
            </a:r>
            <a:r>
              <a:rPr dirty="0"/>
              <a:t> 8 </a:t>
            </a:r>
            <a:r>
              <a:rPr dirty="0" err="1"/>
              <a:t>秒,留出操作者反應與接管的時間窗,超時再受控緩降。適合</a:t>
            </a:r>
            <a:r>
              <a:rPr dirty="0"/>
              <a:t>**</a:t>
            </a:r>
            <a:r>
              <a:rPr dirty="0" err="1"/>
              <a:t>有人監看的手動飛行</a:t>
            </a:r>
            <a:r>
              <a:rPr dirty="0"/>
              <a:t>**。</a:t>
            </a:r>
          </a:p>
          <a:p>
            <a:r>
              <a:rPr dirty="0"/>
              <a:t>· **</a:t>
            </a:r>
            <a:r>
              <a:rPr dirty="0" err="1"/>
              <a:t>模式</a:t>
            </a:r>
            <a:r>
              <a:rPr dirty="0"/>
              <a:t> 2 </a:t>
            </a:r>
            <a:r>
              <a:rPr dirty="0" err="1"/>
              <a:t>立即緩降</a:t>
            </a:r>
            <a:r>
              <a:rPr dirty="0"/>
              <a:t>** — </a:t>
            </a:r>
            <a:r>
              <a:rPr dirty="0" err="1"/>
              <a:t>中斷即受控緩降、觸地自動停機,不等待。適合</a:t>
            </a:r>
            <a:r>
              <a:rPr dirty="0"/>
              <a:t>**</a:t>
            </a:r>
            <a:r>
              <a:rPr dirty="0" err="1"/>
              <a:t>未知環境或不容許漂移</a:t>
            </a:r>
            <a:r>
              <a:rPr dirty="0"/>
              <a:t>**</a:t>
            </a:r>
            <a:r>
              <a:rPr dirty="0" err="1"/>
              <a:t>的場合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三者的共同點】都是</a:t>
            </a:r>
            <a:r>
              <a:rPr dirty="0"/>
              <a:t>**</a:t>
            </a:r>
            <a:r>
              <a:rPr dirty="0" err="1"/>
              <a:t>同一套失控保護狀態機</a:t>
            </a:r>
            <a:r>
              <a:rPr dirty="0"/>
              <a:t>**,</a:t>
            </a:r>
            <a:r>
              <a:rPr dirty="0" err="1"/>
              <a:t>差別只在「等多久」與「等的時候做什麼</a:t>
            </a:r>
            <a:r>
              <a:rPr dirty="0"/>
              <a:t>」。</a:t>
            </a:r>
            <a:r>
              <a:rPr dirty="0" err="1"/>
              <a:t>不是三份獨立程式碼,而是同一個狀態機的三組參數</a:t>
            </a:r>
            <a:r>
              <a:rPr dirty="0"/>
              <a:t> — </a:t>
            </a:r>
            <a:r>
              <a:rPr dirty="0" err="1"/>
              <a:t>所以未來可由上位機即時切換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關鍵銜接</a:t>
            </a:r>
            <a:r>
              <a:rPr dirty="0"/>
              <a:t> — </a:t>
            </a:r>
            <a:r>
              <a:rPr dirty="0" err="1"/>
              <a:t>這頁存在的真正理由</a:t>
            </a:r>
            <a:r>
              <a:rPr dirty="0"/>
              <a:t>】</a:t>
            </a:r>
          </a:p>
          <a:p>
            <a:r>
              <a:rPr dirty="0" err="1"/>
              <a:t>模式</a:t>
            </a:r>
            <a:r>
              <a:rPr dirty="0"/>
              <a:t> 0 </a:t>
            </a:r>
            <a:r>
              <a:rPr dirty="0" err="1"/>
              <a:t>的「寬限等待」正是多機廣播控制的地基。廣播模式下每台飛機</a:t>
            </a:r>
            <a:r>
              <a:rPr dirty="0"/>
              <a:t>**</a:t>
            </a:r>
            <a:r>
              <a:rPr dirty="0" err="1"/>
              <a:t>本來就會有短暫收不到指令的空檔</a:t>
            </a:r>
            <a:r>
              <a:rPr dirty="0"/>
              <a:t>** — </a:t>
            </a:r>
            <a:r>
              <a:rPr dirty="0" err="1"/>
              <a:t>點名那一下就是</a:t>
            </a:r>
            <a:r>
              <a:rPr dirty="0"/>
              <a:t>(約 0.13 秒)。</a:t>
            </a:r>
            <a:r>
              <a:rPr dirty="0" err="1"/>
              <a:t>若沒有寬限維持,每次輪空都會觸發失控保護,多機根本不成立</a:t>
            </a:r>
            <a:r>
              <a:rPr dirty="0"/>
              <a:t>。</a:t>
            </a:r>
          </a:p>
          <a:p>
            <a:r>
              <a:rPr dirty="0" err="1"/>
              <a:t>寬限維持把「輪空」重新定義為</a:t>
            </a:r>
            <a:r>
              <a:rPr dirty="0"/>
              <a:t>**</a:t>
            </a:r>
            <a:r>
              <a:rPr dirty="0" err="1"/>
              <a:t>正常狀態</a:t>
            </a:r>
            <a:r>
              <a:rPr dirty="0"/>
              <a:t>**,</a:t>
            </a:r>
            <a:r>
              <a:rPr dirty="0" err="1"/>
              <a:t>而不是異常。這是單機安全設計反過來成就多機能力的例子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【現場播放三支實測影片】模式0.mp4、模式1.mp4、模式2.mp4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Q:2 </a:t>
            </a:r>
            <a:r>
              <a:rPr dirty="0" err="1"/>
              <a:t>秒的寬限怎麼定的</a:t>
            </a:r>
            <a:r>
              <a:rPr dirty="0"/>
              <a:t>?</a:t>
            </a:r>
          </a:p>
          <a:p>
            <a:r>
              <a:rPr dirty="0"/>
              <a:t>A:實測經驗值。太短會因偶發丟包誤觸發降落,太長則真失聯時遲遲不處置。2 </a:t>
            </a:r>
            <a:r>
              <a:rPr dirty="0" err="1"/>
              <a:t>秒是兩者的平衡點,而且遠大於點名輪空的</a:t>
            </a:r>
            <a:r>
              <a:rPr dirty="0"/>
              <a:t> 0.13 </a:t>
            </a:r>
            <a:r>
              <a:rPr dirty="0" err="1"/>
              <a:t>秒,留有充足餘裕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Q:三種策略怎麼選?</a:t>
            </a:r>
          </a:p>
          <a:p>
            <a:r>
              <a:rPr dirty="0"/>
              <a:t>A:目前是編譯期選定。設計上可由上位機即時切換,這是未來工作。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45 字≈12 秒 ｜ </a:t>
            </a:r>
            <a:r>
              <a:rPr dirty="0" err="1"/>
              <a:t>完整版</a:t>
            </a:r>
            <a:r>
              <a:rPr dirty="0"/>
              <a:t> 165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一句話】接下來進系統二:定位。從</a:t>
            </a:r>
            <a:r>
              <a:rPr dirty="0"/>
              <a:t> RSSI </a:t>
            </a:r>
            <a:r>
              <a:rPr dirty="0" err="1"/>
              <a:t>這個訊號本身,到九步定位引擎,再到與文獻的對照與改進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怎麼講】這一章的順序是:先給四步全貌,再依序展開硬體、位置閉環、RSSI</a:t>
            </a:r>
            <a:r>
              <a:rPr dirty="0"/>
              <a:t> </a:t>
            </a:r>
            <a:r>
              <a:rPr dirty="0" err="1"/>
              <a:t>的三層深入、時槽寄生信標,最後是濾波三部曲與文獻對照。這裡要先提醒委員一件事:定位是本論文的支撐貢獻,不是主貢獻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27 字≈7 秒 ｜ </a:t>
            </a:r>
            <a:r>
              <a:rPr dirty="0" err="1"/>
              <a:t>完整版</a:t>
            </a:r>
            <a:r>
              <a:rPr dirty="0"/>
              <a:t> 320 字≈1.5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一句話】先給一張全景圖,再進細節</a:t>
            </a:r>
            <a:r>
              <a:rPr dirty="0"/>
              <a:t> — </a:t>
            </a:r>
            <a:r>
              <a:rPr dirty="0" err="1"/>
              <a:t>定位這一大塊分四個步驟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四個步驟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訊號採集</a:t>
            </a:r>
            <a:r>
              <a:rPr dirty="0"/>
              <a:t> — </a:t>
            </a:r>
            <a:r>
              <a:rPr dirty="0" err="1"/>
              <a:t>四個固定錨點持續廣播,信標接收各錨的訊號強度</a:t>
            </a:r>
            <a:r>
              <a:rPr dirty="0"/>
              <a:t>(RSSI)</a:t>
            </a:r>
          </a:p>
          <a:p>
            <a:r>
              <a:rPr dirty="0"/>
              <a:t>② </a:t>
            </a:r>
            <a:r>
              <a:rPr dirty="0" err="1"/>
              <a:t>距離換算</a:t>
            </a:r>
            <a:r>
              <a:rPr dirty="0"/>
              <a:t> — </a:t>
            </a:r>
            <a:r>
              <a:rPr dirty="0" err="1"/>
              <a:t>用對數距離模型把訊號強度轉為到各錨的估計距離</a:t>
            </a:r>
            <a:endParaRPr dirty="0"/>
          </a:p>
          <a:p>
            <a:r>
              <a:rPr dirty="0"/>
              <a:t>③ </a:t>
            </a:r>
            <a:r>
              <a:rPr dirty="0" err="1"/>
              <a:t>濾波處理</a:t>
            </a:r>
            <a:r>
              <a:rPr dirty="0"/>
              <a:t> — </a:t>
            </a:r>
            <a:r>
              <a:rPr dirty="0" err="1"/>
              <a:t>自適應</a:t>
            </a:r>
            <a:r>
              <a:rPr dirty="0"/>
              <a:t> </a:t>
            </a:r>
            <a:r>
              <a:rPr dirty="0" err="1"/>
              <a:t>Kalman:靜止強平滑、移動快跟手,對抗</a:t>
            </a:r>
            <a:r>
              <a:rPr dirty="0"/>
              <a:t> RSSI </a:t>
            </a:r>
            <a:r>
              <a:rPr dirty="0" err="1"/>
              <a:t>先天波動</a:t>
            </a:r>
            <a:endParaRPr dirty="0"/>
          </a:p>
          <a:p>
            <a:r>
              <a:rPr dirty="0"/>
              <a:t>④ </a:t>
            </a:r>
            <a:r>
              <a:rPr dirty="0" err="1"/>
              <a:t>定位解算</a:t>
            </a:r>
            <a:r>
              <a:rPr dirty="0"/>
              <a:t> — </a:t>
            </a:r>
            <a:r>
              <a:rPr dirty="0" err="1"/>
              <a:t>多錨距離交會出座標,上位機地圖即時顯示軌跡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接下來的展開順序】定位網路硬體</a:t>
            </a:r>
            <a:r>
              <a:rPr dirty="0"/>
              <a:t> → </a:t>
            </a:r>
            <a:r>
              <a:rPr dirty="0" err="1"/>
              <a:t>位置閉環</a:t>
            </a:r>
            <a:r>
              <a:rPr dirty="0"/>
              <a:t> → RSSI </a:t>
            </a:r>
            <a:r>
              <a:rPr dirty="0" err="1"/>
              <a:t>三層深入</a:t>
            </a:r>
            <a:r>
              <a:rPr dirty="0"/>
              <a:t> → </a:t>
            </a:r>
            <a:r>
              <a:rPr dirty="0" err="1"/>
              <a:t>時槽寄生信標</a:t>
            </a:r>
            <a:r>
              <a:rPr dirty="0"/>
              <a:t> → </a:t>
            </a:r>
            <a:r>
              <a:rPr dirty="0" err="1"/>
              <a:t>濾波三部曲</a:t>
            </a:r>
            <a:r>
              <a:rPr dirty="0"/>
              <a:t> → </a:t>
            </a:r>
            <a:r>
              <a:rPr dirty="0" err="1"/>
              <a:t>文獻對照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要先提醒委員一件事】定位是本論文的</a:t>
            </a:r>
            <a:r>
              <a:rPr dirty="0"/>
              <a:t>**</a:t>
            </a:r>
            <a:r>
              <a:rPr dirty="0" err="1"/>
              <a:t>支撐貢獻</a:t>
            </a:r>
            <a:r>
              <a:rPr dirty="0"/>
              <a:t>**,</a:t>
            </a:r>
            <a:r>
              <a:rPr dirty="0" err="1"/>
              <a:t>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的韌體重構。這樣講可以避免委員把評分重心放錯地方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368 字≈1.7 分</a:t>
            </a:r>
          </a:p>
          <a:p>
            <a:endParaRPr/>
          </a:p>
          <a:p>
            <a:r>
              <a:t>【一句話】定位網路的硬體很簡單:一個閘道加四個錨點,全部用同一顆 ESP32S3。</a:t>
            </a:r>
          </a:p>
          <a:p>
            <a:endParaRPr/>
          </a:p>
          <a:p>
            <a:r>
              <a:t>【硬體組成】</a:t>
            </a:r>
          </a:p>
          <a:p>
            <a:r>
              <a:t>· **閘道 ×1** — 接收四錨的 RSSI 批次上報,經 USB 轉發至上位機。使用獨立幀格式加校驗確保傳輸可靠。</a:t>
            </a:r>
          </a:p>
          <a:p>
            <a:r>
              <a:t>· **錨點 ×4** — 固定在已知座標,以 NimBLE 被動掃描量測各飛機信標的 RSSI,再經 ESP-NOW 上報閘道。</a:t>
            </a:r>
          </a:p>
          <a:p>
            <a:endParaRPr/>
          </a:p>
          <a:p>
            <a:r>
              <a:t>【為什麼用被動掃描而非建立連線】</a:t>
            </a:r>
          </a:p>
          <a:p>
            <a:r>
              <a:t>被動掃描不需建連,因此**錨點的服務對象數量沒有上限** — 一次掃描即可收齊三台飛機的訊號。若採連線式,四個錨要各自與每台飛機建連,台數增加就會撐不住。這是多機同時定位的前提。</a:t>
            </a:r>
          </a:p>
          <a:p>
            <a:endParaRPr/>
          </a:p>
          <a:p>
            <a:r>
              <a:t>【部署要點】四個錨的天線型號與朝向必須一致。實測天線朝向差異可造成接近 20 dB 的 RSSI 落差,換算成距離是數倍的誤差 — 這比濾波演算法的影響大得多。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Q:為什麼錨點也用 ESP32S3?</a:t>
            </a:r>
          </a:p>
          <a:p>
            <a:r>
              <a:t>A:與第三台飛控平臺同型,採購與韌體維護成本低;且其 BLE 掃描效能足夠。</a:t>
            </a:r>
          </a:p>
          <a:p>
            <a:endParaRPr/>
          </a:p>
          <a:p>
            <a:r>
              <a:t>Q:四個錨怎麼決定擺位?</a:t>
            </a:r>
          </a:p>
          <a:p>
            <a:r>
              <a:t>A:盡量圍成矩形、避免共線 — 共線會使幾何精度因數(GDOP)劣化,交會出的位置誤差被放大。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51 字≈14 秒 ｜ 完整版 853 字≈3.9 分</a:t>
            </a:r>
          </a:p>
          <a:p>
            <a:endParaRPr/>
          </a:p>
          <a:p>
            <a:r>
              <a:t>【一句話】讓同一顆 RADIO 分時跑兩種協議 — ESB 收發遙控,並在通信空隙插入 BLE 廣播當定位信標。</a:t>
            </a:r>
          </a:p>
          <a:p>
            <a:endParaRPr/>
          </a:p>
          <a:p>
            <a:r>
              <a:t>【為什麼這件事可行】關鍵是遙控通信的**時間結構**。ESB 是一問一答:遙控器發一包 → 飛機回 ACK → 然後雙方都閒著,直到下一包。遙控迴圈約 100Hz,也就是每 10 毫秒一輪,而一次收發加 ACK 只佔其中不到 1 毫秒。**剩下 9 毫秒 RADIO 完全空閒** — 那個空隙足夠塞進一個 BLE 廣播封包(約 0.3 毫秒)。</a:t>
            </a:r>
          </a:p>
          <a:p>
            <a:endParaRPr/>
          </a:p>
          <a:p>
            <a:r>
              <a:t>【切換要改哪些暫存器】ESB 和 BLE 雖然都在 2.4GHz,但封包格式完全不同,切換時要重配:</a:t>
            </a:r>
          </a:p>
          <a:p>
            <a:r>
              <a:t>· 頻率 — ESB 用約定的通道,BLE 廣播用 37/38/39 三個廣播通道</a:t>
            </a:r>
          </a:p>
          <a:p>
            <a:r>
              <a:t>· 封包格式(PCNF0/PCNF1)— 長度欄位數、S1 欄位數、位址長度都不同</a:t>
            </a:r>
          </a:p>
          <a:p>
            <a:r>
              <a:t>· CRC — 多項式與初值不同</a:t>
            </a:r>
          </a:p>
          <a:p>
            <a:r>
              <a:t>· 白化(whitening)— BLE 強制啟用資料白化避免長串相同位元,ESB 不用</a:t>
            </a:r>
          </a:p>
          <a:p>
            <a:endParaRPr/>
          </a:p>
          <a:p>
            <a:r>
              <a:t>發完 BLE 再把這些全部切回 ESB。整個切換是純暫存器寫入,微秒級。</a:t>
            </a:r>
          </a:p>
          <a:p>
            <a:endParaRPr/>
          </a:p>
          <a:p>
            <a:r>
              <a:t>【★ 時序保護:為什麼「寧可少發一次信標」】切換插在 radiolinkTask 確定的收發空隙內,而且視窗時長受控。原則是:**控制安全永遠優先於定位**。如果某一輪的空隙不夠(例如遙控封包來得密),就跳過這次信標 — 定位少一個取樣點只是精度略降,但如果因為在發信標而錯過遙控封包,飛機就會進失控保護。這個優先順序不能反。</a:t>
            </a:r>
          </a:p>
          <a:p>
            <a:endParaRPr/>
          </a:p>
          <a:p>
            <a:r>
              <a:t>【誠實邊界】這是 BLE **相容廣播** — 封包格式讓 NimBLE 掃描器認得、能測 RSSI,但沒有完整跑標準 BLE 的三頻道輪替與退避流程。對定位用途足夠(我們只需要錨點能收到並測強度),但論文裡如實說明,不宣稱是標準 BLE Beacon。</a:t>
            </a:r>
          </a:p>
          <a:p>
            <a:endParaRPr/>
          </a:p>
          <a:p>
            <a:r>
              <a:t>【這個設計的價值】異構機隊裡,ATK 原機要外掛信標模組才能被定位,而 nRF 平臺用自身 RADIO 就做到了 — 不增加任何硬體、不佔板面積。這是單晶片架構帶來的額外好處。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Q:切換開銷會不會影響控制?</a:t>
            </a:r>
          </a:p>
          <a:p>
            <a:r>
              <a:t>A:微秒級的暫存器重配,而且插在確定的空隙,不影響 500Hz 控制迴圈。實測遙控手感無差異。</a:t>
            </a:r>
          </a:p>
          <a:p>
            <a:endParaRPr/>
          </a:p>
          <a:p>
            <a:r>
              <a:t>Q:為什麼不用獨立的信標模組?</a:t>
            </a:r>
          </a:p>
          <a:p>
            <a:r>
              <a:t>A:板端空間精簡是設計目標之一。用時槽寄生以單晶片完成,是更符合本研究「單晶片全能」主軸的做法。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37 字≈10 秒 ｜ 完整版 354 字≈1.6 分</a:t>
            </a:r>
          </a:p>
          <a:p>
            <a:endParaRPr/>
          </a:p>
          <a:p>
            <a:r>
              <a:t>【一句話】上一頁講「怎麼發」,這一頁講「發出去之後,一套錨點怎麼同時服務多台飛機」。</a:t>
            </a:r>
          </a:p>
          <a:p>
            <a:endParaRPr/>
          </a:p>
          <a:p>
            <a:r>
              <a:t>【關鍵在 droneId】信標內容是 FF FF 'M' 'F' droneId seq — **droneId 標明是哪一台**。三台飛機的信標格式完全統一,只差這一個字節。</a:t>
            </a:r>
          </a:p>
          <a:p>
            <a:endParaRPr/>
          </a:p>
          <a:p>
            <a:r>
              <a:t>【所以錨點不必為誰做特別處理】四個 ESP32S3 錨用 NimBLE 被動掃描,一次掃描就把三台的訊號都收齊,各自量到 RSSI,連同 droneId 一起經 ESP-NOW 上報閘道。上位機再按 droneId 分別解算、在同一張地圖上顯示整個機隊。</a:t>
            </a:r>
          </a:p>
          <a:p>
            <a:endParaRPr/>
          </a:p>
          <a:p>
            <a:r>
              <a:t>【為什麼「被動掃描」是關鍵】不建連線,所以錨點的服務對象數量沒有上限 — 這是兩機(乃至多機)能同時被定位的基礎。若採用連線式定位,四個錨要各自與每台飛機建連,台數一多就撐不住。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Q:三台飛機的信標會不會互相幹擾?</a:t>
            </a:r>
          </a:p>
          <a:p>
            <a:r>
              <a:t>A:BLE 廣播本來就是無連線的短促發送,加上各機發送時機由自己的 RADIO 空隙決定,天然錯開;錨點靠 droneId 區分來源。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31 字≈8 秒 ｜ 完整版 324 字≈1.5 分</a:t>
            </a:r>
          </a:p>
          <a:p>
            <a:endParaRPr/>
          </a:p>
          <a:p>
            <a:r>
              <a:t>【一句話】先把 RSSI 這個訊號的真面目講清楚 — 它天生就是會抖的。</a:t>
            </a:r>
          </a:p>
          <a:p>
            <a:endParaRPr/>
          </a:p>
          <a:p>
            <a:r>
              <a:t>【RSSI 是什麼】接收訊號強度,單位 dBm,是對數刻度 — 每降 10 dB 代表功率變成十分之一。室內 BLE 典型範圍是 −40 到 −90 dBm。</a:t>
            </a:r>
          </a:p>
          <a:p>
            <a:endParaRPr/>
          </a:p>
          <a:p>
            <a:r>
              <a:t>【波動的三大來源】</a:t>
            </a:r>
          </a:p>
          <a:p>
            <a:r>
              <a:t>① 多徑反射疊加 — 訊號走不同路徑到達,互相干涉</a:t>
            </a:r>
          </a:p>
          <a:p>
            <a:r>
              <a:t>② 遮擋 — 5 到 15 dB</a:t>
            </a:r>
          </a:p>
          <a:p>
            <a:r>
              <a:t>③ 天線朝向 — 接近 20 dB</a:t>
            </a:r>
          </a:p>
          <a:p>
            <a:endParaRPr/>
          </a:p>
          <a:p>
            <a:r>
              <a:t>【右圖是實測(這頁最有說服力的部分)】信標完全靜止不動,讀值仍在 ±6 dB 內跳,還有偶發的 −71 離群值。換算成距離,差距超過 2 倍。</a:t>
            </a:r>
          </a:p>
          <a:p>
            <a:endParaRPr/>
          </a:p>
          <a:p>
            <a:r>
              <a:t>【所以】必須先濾波。這不是「訊號品質不好」,而是 RSSI 的物理特性 — 下一頁講怎麼把它轉成距離,再下一頁講怎麼濾。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678 字≈3.1 分</a:t>
            </a:r>
          </a:p>
          <a:p>
            <a:endParaRPr/>
          </a:p>
          <a:p>
            <a:r>
              <a:t>【一句話】對數模型不是經驗公式,是從電波物理推出來的 — 而且有一個參數設錯就整場偏。</a:t>
            </a:r>
          </a:p>
          <a:p>
            <a:endParaRPr/>
          </a:p>
          <a:p>
            <a:r>
              <a:t>【三步推導】</a:t>
            </a:r>
          </a:p>
          <a:p>
            <a:r>
              <a:t>① 電波從天線發出後在空間中呈球面擴散。能量守恆,球面積 4πd² 隨距離平方增長,所以單位元面積的功率密度 ∝ 1/d²。</a:t>
            </a:r>
          </a:p>
          <a:p>
            <a:r>
              <a:t>② RSSI 的單位 dBm 本身是對數刻度(dBm = 10·log₁₀(功率/1mW))。把 1/d² 這個冪次關係取對數,就變成「距離每增加十倍,訊號固定掉 20 dB」的線性關係。</a:t>
            </a:r>
          </a:p>
          <a:p>
            <a:r>
              <a:t>③ 但那是自由空間。室內有牆、有傢俱、有反射,衰減比自由空間快。所以把指數 2 換成一個可調的**環境衰減指數 n**。</a:t>
            </a:r>
          </a:p>
          <a:p>
            <a:endParaRPr/>
          </a:p>
          <a:p>
            <a:r>
              <a:t>【最終形式】RSSI = P₀ − 10·n·log₁₀(d)</a:t>
            </a:r>
          </a:p>
          <a:p>
            <a:r>
              <a:t>反解得 d = 10^((P₀ − RSSI) / (10n))</a:t>
            </a:r>
          </a:p>
          <a:p>
            <a:endParaRPr/>
          </a:p>
          <a:p>
            <a:r>
              <a:t>【兩個參數的意義完全不同】</a:t>
            </a:r>
          </a:p>
          <a:p>
            <a:r>
              <a:t>· **P₀** — 距離 1 米處量到的訊號強度,是這支錨點的「基準點」。它取決於天線增益、發射功率、朝向、周圍遮擋 — **每支錨都不一樣,必須逐錨標定**。共用一個 P₀ 就等於把錨之間的硬體差異全算成距離誤差。</a:t>
            </a:r>
          </a:p>
          <a:p>
            <a:r>
              <a:t>· **n** — 環境的「指紋」。自由空間是 2,典型室內 2.7~3.5,重遮擋大於 4。</a:t>
            </a:r>
          </a:p>
          <a:p>
            <a:endParaRPr/>
          </a:p>
          <a:p>
            <a:r>
              <a:t>【★ 為什麼 n 設錯救不回來】看反解式:n 在指數的分母。n 設偏 10%,距離就系統性偏差一個固定倍率,而且是**所有錨同方向偏**。濾波只能壓隨機雜訊,對這種系統性偏差完全無效 — 濾出來的是一個穩定但錯誤的位置。這正是「自適應 n」的動機:與其猜一個固定值,不如用錨與錨之間的互測(它們的距離是已知的)反算出當下環境的 n。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Q:為什麼不直接查表?</a:t>
            </a:r>
          </a:p>
          <a:p>
            <a:r>
              <a:t>A:對數模型只需要兩個參數就能覆蓋整個空間,而指紋庫(查表)需要事前在每個網格點採樣建庫,換場地就要重做。本研究要的是可快速部署的方案。</a:t>
            </a:r>
          </a:p>
          <a:p>
            <a:endParaRPr/>
          </a:p>
          <a:p>
            <a:r>
              <a:t>Q:P₀ 怎麼標定?</a:t>
            </a:r>
          </a:p>
          <a:p>
            <a:r>
              <a:t>A:上位機有逐錨標定介面 — 把信標放在距該錨 1 米處,讀當下的 RSSI 存為該錨的 P₀。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417 字≈1.9 分</a:t>
            </a:r>
          </a:p>
          <a:p>
            <a:endParaRPr/>
          </a:p>
          <a:p>
            <a:r>
              <a:t>【一句話】先把問題講透,再講方法 — RSSI 有三個麻煩,而且它們互相衝突。</a:t>
            </a:r>
          </a:p>
          <a:p>
            <a:endParaRPr/>
          </a:p>
          <a:p>
            <a:r>
              <a:t>【三個麻煩】</a:t>
            </a:r>
          </a:p>
          <a:p>
            <a:r>
              <a:t>① 先天抖動 — 靜止不動,讀值仍在 ±2~3 dBm 跳。這是多徑反射造成的物理特性,消不掉。</a:t>
            </a:r>
          </a:p>
          <a:p>
            <a:r>
              <a:t>② 轉距離會放大 — RSSI 轉距離是 10 的 x 次方,指數運算。訊號域 1 dB 的小抖動,轉距離後放大成數十公分到公尺級。</a:t>
            </a:r>
          </a:p>
          <a:p>
            <a:r>
              <a:t>③ 靜止與移動的兩難 — 壓抖動要濾波「重」,跟上移動要濾波「輕」。固定參數無法兼顧。</a:t>
            </a:r>
          </a:p>
          <a:p>
            <a:endParaRPr/>
          </a:p>
          <a:p>
            <a:r>
              <a:t>【右邊的核心矛盾(這頁的重點)】</a:t>
            </a:r>
          </a:p>
          <a:p>
            <a:r>
              <a:t>靜止時 RSSI 一直抖 → 濾波太輕,圖標亂跳</a:t>
            </a:r>
          </a:p>
          <a:p>
            <a:r>
              <a:t>但濾波太重 → 又跟不上真的移動</a:t>
            </a:r>
          </a:p>
          <a:p>
            <a:endParaRPr/>
          </a:p>
          <a:p>
            <a:r>
              <a:t>【所以需要什麼】一個「會看情況」的濾波器:靜止時當它重、壓住抖動;偵測到真移動時當它輕、快速跟上。這就是下一頁自適應 Kalman 要解決的。</a:t>
            </a:r>
          </a:p>
          <a:p>
            <a:endParaRPr/>
          </a:p>
          <a:p>
            <a:r>
              <a:t>【為什麼要先講問題】因為如果直接講「我用了自適應 Kalman」,委員會問「為什麼不用一般的 Kalman」。先把兩難講清楚,方法的必要性就自然成立。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655 字≈3.0 分</a:t>
            </a:r>
          </a:p>
          <a:p>
            <a:endParaRPr/>
          </a:p>
          <a:p>
            <a:r>
              <a:t>【一句話】自適應 Kalman 的核心是:用「創新」的方向性來分辨這是雜訊還是真的在動。</a:t>
            </a:r>
          </a:p>
          <a:p>
            <a:endParaRPr/>
          </a:p>
          <a:p>
            <a:r>
              <a:t>【先講基本結構】每支錨各配一個一維 Kalman 濾波器,狀態就是「這支錨量到的真實 RSSI」。每來一筆新讀值,計算**創新(innovation)= 新讀值 − 目前估計**,再用它修正估計。</a:t>
            </a:r>
          </a:p>
          <a:p>
            <a:endParaRPr/>
          </a:p>
          <a:p>
            <a:r>
              <a:t>【關鍵參數 Q 在做什麼】Q 是過程雜訊,它代表「我認為真實值本身有多容易變」。</a:t>
            </a:r>
          </a:p>
          <a:p>
            <a:r>
              <a:t>· Q 小 → 濾波器認為真值很穩定 → 傾向相信自己的估計,新讀值只能小幅修正 → 平滑但遲鈍</a:t>
            </a:r>
          </a:p>
          <a:p>
            <a:r>
              <a:t>· Q 大 → 濾波器認為真值隨時在變 → 傾向相信新讀值 → 跟手但會抖</a:t>
            </a:r>
          </a:p>
          <a:p>
            <a:endParaRPr/>
          </a:p>
          <a:p>
            <a:r>
              <a:t>【★ 怎麼分辨移動與雜訊(全頁最關鍵)】</a:t>
            </a:r>
          </a:p>
          <a:p>
            <a:r>
              <a:t>· **雜訊的創新沒有方向性**:多徑干涉造成的抖動是隨機的,創新忽正忽負,累加起來會互相抵消,長期趨近零。</a:t>
            </a:r>
          </a:p>
          <a:p>
            <a:r>
              <a:t>· **移動的創新有方向性**:機體真的靠近錨點,RSSI 就會持續變強,創新連續同號,累加起來越來越大。</a:t>
            </a:r>
          </a:p>
          <a:p>
            <a:endParaRPr/>
          </a:p>
          <a:p>
            <a:r>
              <a:t>所以判準是:**把創新累加起來看它會不會發散**。累積同向創新超過閾值 → 判定為真移動 → 臨時把 Q 放大;累積量回落 → 切回小 Q。</a:t>
            </a:r>
          </a:p>
          <a:p>
            <a:endParaRPr/>
          </a:p>
          <a:p>
            <a:r>
              <a:t>【兩個模式】</a:t>
            </a:r>
          </a:p>
          <a:p>
            <a:r>
              <a:t>· 靜止模式(小 Q):壓住 ±2~3 dBm 的先天抖動,圖標穩住</a:t>
            </a:r>
          </a:p>
          <a:p>
            <a:r>
              <a:t>· 移動模式(放大 Q):快速跟上,不滯後</a:t>
            </a:r>
          </a:p>
          <a:p>
            <a:endParaRPr/>
          </a:p>
          <a:p>
            <a:r>
              <a:t>【為什麼這比「固定三級濾波」聰明】固定三級只是預先準備三種平滑強度,還是要人去判斷現在該用哪一級。自適應的做法是讓濾波器自己從創新的統計特性判斷 — 它真正解決了「靜止要重、移動要輕」這個兩難,而不是把選擇權丟給使用者。</a:t>
            </a:r>
          </a:p>
          <a:p>
            <a:endParaRPr/>
          </a:p>
          <a:p>
            <a:r>
              <a:t>【備詢·不念】</a:t>
            </a:r>
          </a:p>
          <a:p>
            <a:r>
              <a:t>Q:閾值怎麼定?</a:t>
            </a:r>
          </a:p>
          <a:p>
            <a:r>
              <a:t>A:在 config 可調,依實測的 RSSI 抖動幅度整定 — 要大於雜訊的累積量,又要小於真移動的累積量。</a:t>
            </a:r>
          </a:p>
          <a:p>
            <a:endParaRPr/>
          </a:p>
          <a:p>
            <a:r>
              <a:t>Q:為什麼每支錨各一個濾波器?</a:t>
            </a:r>
          </a:p>
          <a:p>
            <a:r>
              <a:t>A:各錨的距離、朝向、遮擋都不同,抖動特性也不同。共用一個濾波器會把差異平均掉。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30 字≈8 秒 ｜ 完整版 418 字≈1.9 分</a:t>
            </a:r>
          </a:p>
          <a:p>
            <a:endParaRPr/>
          </a:p>
          <a:p>
            <a:r>
              <a:t>【一句話】一次真實的除錯過程 — 真實的問題、真實的診斷、真實的修復。</a:t>
            </a:r>
          </a:p>
          <a:p>
            <a:endParaRPr/>
          </a:p>
          <a:p>
            <a:r>
              <a:t>【現象(v1.14)】標定完成後,藍色的 raw 點在動,但無人機圖標卡在原位、嚴重滯後,看起來像「定住了」。</a:t>
            </a:r>
          </a:p>
          <a:p>
            <a:endParaRPr/>
          </a:p>
          <a:p>
            <a:r>
              <a:t>【根因診斷】為了壓 RSSI 抖動,我把 Kalman 的 Q 設得極小(0.001)→ 濾波過度。機體一移動,濾波後的 RSSI 要 20 多步才跟上,圖標看起來就是卡住 — **壓噪與跟手失衡**。</a:t>
            </a:r>
          </a:p>
          <a:p>
            <a:endParaRPr/>
          </a:p>
          <a:p>
            <a:r>
              <a:t>【修復(v1.14.1)】</a:t>
            </a:r>
          </a:p>
          <a:p>
            <a:r>
              <a:t>① 改成自適應 Q:偵測到真移動就放大 Q 快跟,靜止才用小 Q 強平滑</a:t>
            </a:r>
          </a:p>
          <a:p>
            <a:r>
              <a:t>② 位置層再加「連續大跳變 N 次就重播種」— 治標定搬動後追不上的問題</a:t>
            </a:r>
          </a:p>
          <a:p>
            <a:endParaRPr/>
          </a:p>
          <a:p>
            <a:r>
              <a:t>【修復效果三者兼得】靜止時抖動明顯收斂、穩態時解算穩定停在對的位置、移動時圖標跟手不卡。</a:t>
            </a:r>
          </a:p>
          <a:p>
            <a:endParaRPr/>
          </a:p>
          <a:p>
            <a:r>
              <a:t>【★ 這裡我要特別誠實(重要)】以上是除錯過程中在軟體與模擬層觀察到的**定性改善**,不是真實硬體的精度數字。真實硬體的定位精度實驗還沒做完,要等完整聯通後才能量化。</a:t>
            </a:r>
          </a:p>
          <a:p>
            <a:endParaRPr/>
          </a:p>
          <a:p>
            <a:r>
              <a:t>【備詢·不念】</a:t>
            </a:r>
          </a:p>
          <a:p>
            <a:r>
              <a:t>Q:定位精度是多少?</a:t>
            </a:r>
          </a:p>
          <a:p>
            <a:r>
              <a:t>A:誠實答 — 定位鏈路已打通,但硬體精度實驗仍在進行,我不給未經實測的數字。這比編一個數字然後被追問來源更穩。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597 字≈2.7 分</a:t>
            </a:r>
          </a:p>
          <a:p>
            <a:endParaRPr/>
          </a:p>
          <a:p>
            <a:r>
              <a:t>【一句話】位置層 Kalman 在做的事:在「模型預測」與「量測結果」之間,自動決定該信誰。</a:t>
            </a:r>
          </a:p>
          <a:p>
            <a:endParaRPr/>
          </a:p>
          <a:p>
            <a:r>
              <a:t>【每一拍有兩個位置說法】</a:t>
            </a:r>
          </a:p>
          <a:p>
            <a:r>
              <a:t>· **預測** — 按上一拍的位置加速度外推:「照這個速度,現在應該在這裡」。它平滑,但如果運動模型不準就會漂。</a:t>
            </a:r>
          </a:p>
          <a:p>
            <a:r>
              <a:t>· **量測** — 這一拍三邊定位解出的座標。它貼近真實,但因為 RSSI 抖動而劇烈跳動。</a:t>
            </a:r>
          </a:p>
          <a:p>
            <a:endParaRPr/>
          </a:p>
          <a:p>
            <a:r>
              <a:t>【輸出怎麼算】輸出 = 預測 + K ×(量測 − 預測)</a:t>
            </a:r>
          </a:p>
          <a:p>
            <a:endParaRPr/>
          </a:p>
          <a:p>
            <a:r>
              <a:t>K 叫卡爾曼增益,它是自動算出來的信任比例:</a:t>
            </a:r>
          </a:p>
          <a:p>
            <a:r>
              <a:t>· 量測雜訊 R 大(訊號很吵)→ K 變小 → 更信預測</a:t>
            </a:r>
          </a:p>
          <a:p>
            <a:r>
              <a:t>· 過程雜訊 Q 大(模型不可靠)→ K 變大 → 更信量測</a:t>
            </a:r>
          </a:p>
          <a:p>
            <a:endParaRPr/>
          </a:p>
          <a:p>
            <a:r>
              <a:t>**K 不是人設的,是濾波器每一拍根據當前的不確定度自己算的** — 這是 Kalman 相對於固定權重平均的根本差別。</a:t>
            </a:r>
          </a:p>
          <a:p>
            <a:endParaRPr/>
          </a:p>
          <a:p>
            <a:r>
              <a:t>【本系統的設定】狀態向量包含位置與速度,採用勻速模型。</a:t>
            </a:r>
          </a:p>
          <a:p>
            <a:r>
              <a:t>**為什麼要帶速度**:只有位置的話,預測就是「和上一拍一樣」,每次都是事後追;帶了速度,預測才能沿著運動方向外推,跟隨才不會滯後。</a:t>
            </a:r>
          </a:p>
          <a:p>
            <a:endParaRPr/>
          </a:p>
          <a:p>
            <a:r>
              <a:t>【★ 誠實邊界(一定要講)】Kalman 救的是**跳動**,救不了**系統性偏差**。如果某支錨的 P₀ 標定錯了,或 n 設偏了,整場的解算都會朝同一個方向偏 — 而 Kalman 只會平滑地跟著偏,輸出一個「很穩定的錯誤位置」。所以標定才是根基,濾波是在標定正確的前提下改善穩定性,兩者不能互相替代。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Q:為什麼不用更高階的模型(帶加速度)?</a:t>
            </a:r>
          </a:p>
          <a:p>
            <a:r>
              <a:t>A:室內近懸停以低速運動為主,勻速模型已足夠。模型階數越高,狀態維度越多、對雜訊越敏感,反而不穩。</a:t>
            </a:r>
          </a:p>
          <a:p>
            <a:endParaRPr/>
          </a:p>
          <a:p>
            <a:r>
              <a:t>Q:兩層 Kalman(訊號域一層、位置域一層)會不會重複?</a:t>
            </a:r>
          </a:p>
          <a:p>
            <a:r>
              <a:t>A:治的是不同東西。訊號域治的是 RSSI 的輸入雜訊,位置域治的是幾何解算本身的不穩定 — 即使 RSSI 完全乾淨,四錨交會的幾何也會因為錨的分佈而放大誤差。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33 字≈9 秒 ｜ 完整版 351 字≈1.6 分</a:t>
            </a:r>
          </a:p>
          <a:p>
            <a:endParaRPr/>
          </a:p>
          <a:p>
            <a:r>
              <a:t>【一句話】九步定位引擎 — 從這頁可以看出它不是「普通的 RSSI 定位」。</a:t>
            </a:r>
          </a:p>
          <a:p>
            <a:endParaRPr/>
          </a:p>
          <a:p>
            <a:r>
              <a:t>【九步順序】</a:t>
            </a:r>
          </a:p>
          <a:p>
            <a:r>
              <a:t>信標廣播 → 四錨採集 → **自適應 Kalman 濾波(訊號域)** → 對數模型逐錨 P₀ 轉距離 → 自適應 n(錨間互測反算)→ 加權最小二乘解算 → 位置 Kalman 平滑軌跡</a:t>
            </a:r>
          </a:p>
          <a:p>
            <a:endParaRPr/>
          </a:p>
          <a:p>
            <a:r>
              <a:t>【★ 順序本身就是設計決定】注意濾波在「轉距離之前」。原因是:訊號域 1 dB 的波動,轉成距離後會被指數放大成數十公分到公尺級。**先濾再轉**,才不會把小抖動放大成大誤差。這個順序如果顛倒,後面再怎麼濾都救不回來。</a:t>
            </a:r>
          </a:p>
          <a:p>
            <a:endParaRPr/>
          </a:p>
          <a:p>
            <a:r>
              <a:t>【橙色標的部分】自適應 RSSI 濾波是本文的改進重點,接下來三頁展開:</a:t>
            </a:r>
          </a:p>
          <a:p>
            <a:r>
              <a:t>① 先看清問題(RSSI 到底難在哪)</a:t>
            </a:r>
          </a:p>
          <a:p>
            <a:r>
              <a:t>② 再講自適應 Kalman 這個方法</a:t>
            </a:r>
          </a:p>
          <a:p>
            <a:r>
              <a:t>③ 最後是一次真實除錯的故事與數據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Q:為什麼要兩層 Kalman(訊號域一層、位置域一層)?</a:t>
            </a:r>
          </a:p>
          <a:p>
            <a:r>
              <a:t>A:兩層治的是不同問題 — 訊號域治 RSSI 抖動,位置域治解算結果的跳動。前者是輸入雜訊,後者是幾何解算的不穩定。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33 字≈9 秒 ｜ 完整版 404 字≈1.8 分</a:t>
            </a:r>
          </a:p>
          <a:p>
            <a:endParaRPr/>
          </a:p>
          <a:p>
            <a:r>
              <a:t>【一句話】拿到座標之後,怎麼把它變成飛機的動作 — 這是位置閉環的四個步驟。</a:t>
            </a:r>
          </a:p>
          <a:p>
            <a:endParaRPr/>
          </a:p>
          <a:p>
            <a:r>
              <a:t>【四步】</a:t>
            </a:r>
          </a:p>
          <a:p>
            <a:r>
              <a:t>① **位置誤差** — 目標座標減去目前座標,得到還差多少。</a:t>
            </a:r>
          </a:p>
          <a:p>
            <a:r>
              <a:t>② **限速指令** — 誤差乘上增益轉為期望速度,並施加上限。不限速的話,誤差大時會要求飛機以極高速度衝過去,超出可控範圍。</a:t>
            </a:r>
          </a:p>
          <a:p>
            <a:r>
              <a:t>③ **座標轉換** — **這一步最關鍵**:誤差是在場地座標系(世界座標)算的,但飛機的 roll/pitch 是相對自身機體的。必須依當前航向把世界座標的期望速度旋轉到機體座標系,否則飛機會朝錯誤方向飛。</a:t>
            </a:r>
          </a:p>
          <a:p>
            <a:r>
              <a:t>④ **姿態指令** — 期望速度轉為 roll/pitch 目標角,交給既有的串級 PID。</a:t>
            </a:r>
          </a:p>
          <a:p>
            <a:endParaRPr/>
          </a:p>
          <a:p>
            <a:r>
              <a:t>【上位機的四項功能】即時地圖顯示、點選導航、逐錨標定介面、參數調整。</a:t>
            </a:r>
          </a:p>
          <a:p>
            <a:endParaRPr/>
          </a:p>
          <a:p>
            <a:r>
              <a:t>【★ 誠實邊界】此閉環已完成設計與實作,但完整的閉環自由飛行尚未驗證 — 目前定位精度為演示等級,直接用於閉環控制會使飛機在目標點附近震盪。</a:t>
            </a:r>
          </a:p>
          <a:p>
            <a:endParaRPr/>
          </a:p>
          <a:p>
            <a:r>
              <a:t>【備詢·不念】</a:t>
            </a:r>
          </a:p>
          <a:p>
            <a:r>
              <a:t>Q:座標轉換錯了會怎樣?</a:t>
            </a:r>
          </a:p>
          <a:p>
            <a:r>
              <a:t>A:飛機會朝偏差一個航向角的方向飛,而且誤差越大偏得越遠 — 這是位置閉環最常見的錯誤來源。</a:t>
            </a:r>
          </a:p>
          <a:p>
            <a:endParaRPr/>
          </a:p>
          <a:p>
            <a:r>
              <a:t>Q:為什麼要限速?</a:t>
            </a:r>
          </a:p>
          <a:p>
            <a:r>
              <a:t>A:位置環的輸出是速度指令,不限速時大誤差會產生超出機體能力的指令,導致姿態失控。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36 字≈10 秒 ｜ 完整版 435 字≈2.0 分</a:t>
            </a:r>
          </a:p>
          <a:p>
            <a:endParaRPr/>
          </a:p>
          <a:p>
            <a:r>
              <a:t>【一句話】三欄對照:傳統做法、對標文獻、本文方法 — 而且要把「誰的實測」講清楚。</a:t>
            </a:r>
          </a:p>
          <a:p>
            <a:endParaRPr/>
          </a:p>
          <a:p>
            <a:r>
              <a:t>【三欄】</a:t>
            </a:r>
          </a:p>
          <a:p>
            <a:r>
              <a:t>① 傳統做法:原始 RSSI 直接轉距離、三邊定位、無濾波 → 誤差 3 米以上,跳動劇烈無法閉環</a:t>
            </a:r>
          </a:p>
          <a:p>
            <a:r>
              <a:t>② 對標文獻(王琳 2025,NTUST 碩論):同級 ESP32 硬體,RSSI 濾波 + Kalman + 自適應 n + 最小二乘 → 實測 MAE 1.88 米</a:t>
            </a:r>
          </a:p>
          <a:p>
            <a:r>
              <a:t>③ 本文方法:自適應 Kalman 濾 RSSI → 對數模型逐錨 P₀ 轉距離 → 加權最小二乘 → 位置 Kalman,再加上位機地圖整合與閉環控制 → 目標 2 米內</a:t>
            </a:r>
          </a:p>
          <a:p>
            <a:endParaRPr/>
          </a:p>
          <a:p>
            <a:r>
              <a:t>【★ 必須主動區分清楚的兩件事】</a:t>
            </a:r>
          </a:p>
          <a:p>
            <a:r>
              <a:t>① 硬體不同:文獻用 ESP32 WiFi-RSSI,我用 BLE-RSSI。</a:t>
            </a:r>
          </a:p>
          <a:p>
            <a:r>
              <a:t>② **1.88m 是她的實測,是我的對標目標,不是我的成績。** 我的定位目前完成設計與實作,精度待量化。</a:t>
            </a:r>
          </a:p>
          <a:p>
            <a:endParaRPr/>
          </a:p>
          <a:p>
            <a:r>
              <a:t>【為什麼這樣講】主動說明比被問到再解釋好。委員最在意的就是「這個數字是誰的」,先講清楚反而建立可信度。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269 字≈1.2 分</a:t>
            </a:r>
          </a:p>
          <a:p>
            <a:endParaRPr/>
          </a:p>
          <a:p>
            <a:r>
              <a:t>【一句話】定位系統的實機影片,同時展示可行性與真實的波動情況。</a:t>
            </a:r>
          </a:p>
          <a:p>
            <a:endParaRPr/>
          </a:p>
          <a:p>
            <a:r>
              <a:t>【建議片段順序】</a:t>
            </a:r>
          </a:p>
          <a:p>
            <a:r>
              <a:t>① 四錨部署現場 — 讓委員看到實際的場地規模與錨點擺位</a:t>
            </a:r>
          </a:p>
          <a:p>
            <a:r>
              <a:t>② 上位機地圖顯示 — 四錨座標與飛機位置</a:t>
            </a:r>
          </a:p>
          <a:p>
            <a:r>
              <a:t>③ 手持信標移動 — 沿已知路徑走一段</a:t>
            </a:r>
          </a:p>
          <a:p>
            <a:r>
              <a:t>④ 地圖軌跡跟隨 — 觀察圖標是否跟得上</a:t>
            </a:r>
          </a:p>
          <a:p>
            <a:r>
              <a:t>⑤ 濾波前後對比 — 這段最有價值,直接看出自適應 Kalman 的效果</a:t>
            </a:r>
          </a:p>
          <a:p>
            <a:endParaRPr/>
          </a:p>
          <a:p>
            <a:r>
              <a:t>【★ 播放時要主動說的一句】請注意軌跡仍有可見的波動 — 這是 BLE-RSSI 的物理限制,文獻同級硬體也在米級。影片呈現的是**演示等級**的定位,不是精密定位。我不會宣稱它比實際更好。</a:t>
            </a:r>
          </a:p>
          <a:p>
            <a:endParaRPr/>
          </a:p>
          <a:p>
            <a:r>
              <a:t>【備詢·不念】</a:t>
            </a:r>
          </a:p>
          <a:p>
            <a:r>
              <a:t>Q:看起來還是會飄,能用嗎?</a:t>
            </a:r>
          </a:p>
          <a:p>
            <a:r>
              <a:t>A:取決於用途。用於「知道飛機大致在場地哪一區」足夠;用於精密定點則不足,那需要 UWB 或視覺定位。這條邊界我在系統邊界那頁也明確標註。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23 字≈6 秒 ｜ </a:t>
            </a:r>
            <a:r>
              <a:rPr dirty="0" err="1"/>
              <a:t>完整版</a:t>
            </a:r>
            <a:r>
              <a:rPr dirty="0"/>
              <a:t> 368 字≈1.7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一句話】功能矩陣直接回答一個問題:你比現有的多了什麼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逐列講</a:t>
            </a:r>
            <a:r>
              <a:rPr dirty="0"/>
              <a:t>】</a:t>
            </a:r>
          </a:p>
          <a:p>
            <a:r>
              <a:rPr dirty="0"/>
              <a:t>·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載板</a:t>
            </a:r>
            <a:r>
              <a:rPr dirty="0"/>
              <a:t> — </a:t>
            </a:r>
            <a:r>
              <a:rPr dirty="0" err="1"/>
              <a:t>只有本研究有</a:t>
            </a:r>
            <a:endParaRPr dirty="0"/>
          </a:p>
          <a:p>
            <a:r>
              <a:rPr dirty="0"/>
              <a:t>· nRF52840 </a:t>
            </a:r>
            <a:r>
              <a:rPr dirty="0" err="1"/>
              <a:t>單晶片飛控</a:t>
            </a:r>
            <a:r>
              <a:rPr dirty="0"/>
              <a:t> — </a:t>
            </a:r>
            <a:r>
              <a:rPr dirty="0" err="1"/>
              <a:t>本文的移植成果</a:t>
            </a:r>
            <a:endParaRPr dirty="0"/>
          </a:p>
          <a:p>
            <a:r>
              <a:rPr dirty="0"/>
              <a:t>· ESP32S3 </a:t>
            </a:r>
            <a:r>
              <a:rPr dirty="0" err="1"/>
              <a:t>支援</a:t>
            </a:r>
            <a:r>
              <a:rPr dirty="0"/>
              <a:t> — </a:t>
            </a:r>
            <a:r>
              <a:rPr dirty="0" err="1"/>
              <a:t>本研究同板直插</a:t>
            </a:r>
            <a:r>
              <a:rPr dirty="0"/>
              <a:t>(</a:t>
            </a:r>
            <a:r>
              <a:rPr dirty="0" err="1"/>
              <a:t>注意這一列</a:t>
            </a:r>
            <a:r>
              <a:rPr dirty="0"/>
              <a:t> ESP-FC </a:t>
            </a:r>
            <a:r>
              <a:rPr dirty="0" err="1"/>
              <a:t>也有</a:t>
            </a:r>
            <a:r>
              <a:rPr dirty="0"/>
              <a:t> ✓,</a:t>
            </a:r>
            <a:r>
              <a:rPr dirty="0" err="1"/>
              <a:t>我沒有選擇性呈現</a:t>
            </a:r>
            <a:r>
              <a:rPr dirty="0"/>
              <a:t>)</a:t>
            </a:r>
          </a:p>
          <a:p>
            <a:r>
              <a:rPr dirty="0"/>
              <a:t>· ATKP </a:t>
            </a:r>
            <a:r>
              <a:rPr dirty="0" err="1"/>
              <a:t>地面站協議</a:t>
            </a:r>
            <a:r>
              <a:rPr dirty="0"/>
              <a:t> — </a:t>
            </a:r>
            <a:r>
              <a:rPr dirty="0" err="1"/>
              <a:t>從原廠移植保留</a:t>
            </a:r>
            <a:endParaRPr dirty="0"/>
          </a:p>
          <a:p>
            <a:r>
              <a:rPr dirty="0"/>
              <a:t>· BLE-RSSI </a:t>
            </a:r>
            <a:r>
              <a:rPr dirty="0" err="1"/>
              <a:t>室內定位</a:t>
            </a:r>
            <a:r>
              <a:rPr dirty="0"/>
              <a:t> — </a:t>
            </a:r>
            <a:r>
              <a:rPr dirty="0" err="1"/>
              <a:t>本研究新增</a:t>
            </a:r>
            <a:r>
              <a:rPr dirty="0"/>
              <a:t>(</a:t>
            </a:r>
            <a:r>
              <a:rPr dirty="0" err="1"/>
              <a:t>四錨</a:t>
            </a:r>
            <a:r>
              <a:rPr dirty="0"/>
              <a:t> + </a:t>
            </a:r>
            <a:r>
              <a:rPr dirty="0" err="1"/>
              <a:t>引擎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單遙控多機</a:t>
            </a:r>
            <a:r>
              <a:rPr dirty="0"/>
              <a:t>(</a:t>
            </a:r>
            <a:r>
              <a:rPr dirty="0" err="1"/>
              <a:t>廣播架構</a:t>
            </a:r>
            <a:r>
              <a:rPr dirty="0"/>
              <a:t>) — </a:t>
            </a:r>
            <a:r>
              <a:rPr dirty="0" err="1"/>
              <a:t>本研究新增,三機制實測</a:t>
            </a:r>
            <a:endParaRPr dirty="0"/>
          </a:p>
          <a:p>
            <a:r>
              <a:rPr dirty="0"/>
              <a:t>· </a:t>
            </a:r>
            <a:r>
              <a:rPr dirty="0" err="1"/>
              <a:t>上位機整合</a:t>
            </a:r>
            <a:r>
              <a:rPr dirty="0"/>
              <a:t> — 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一句話收束】本研究</a:t>
            </a:r>
            <a:r>
              <a:rPr dirty="0"/>
              <a:t> = </a:t>
            </a:r>
            <a:r>
              <a:rPr dirty="0" err="1"/>
              <a:t>硬體彈性</a:t>
            </a:r>
            <a:r>
              <a:rPr dirty="0"/>
              <a:t>(</a:t>
            </a:r>
            <a:r>
              <a:rPr dirty="0" err="1"/>
              <a:t>可換</a:t>
            </a:r>
            <a:r>
              <a:rPr dirty="0"/>
              <a:t> MCU)+ </a:t>
            </a:r>
            <a:r>
              <a:rPr dirty="0" err="1"/>
              <a:t>協議傳承</a:t>
            </a:r>
            <a:r>
              <a:rPr dirty="0"/>
              <a:t>(ATKP)+ </a:t>
            </a:r>
            <a:r>
              <a:rPr dirty="0" err="1"/>
              <a:t>能力擴展</a:t>
            </a:r>
            <a:r>
              <a:rPr dirty="0"/>
              <a:t>(</a:t>
            </a:r>
            <a:r>
              <a:rPr dirty="0" err="1"/>
              <a:t>定位</a:t>
            </a:r>
            <a:r>
              <a:rPr dirty="0"/>
              <a:t>/</a:t>
            </a:r>
            <a:r>
              <a:rPr dirty="0" err="1"/>
              <a:t>多機</a:t>
            </a:r>
            <a:r>
              <a:rPr dirty="0"/>
              <a:t>/</a:t>
            </a:r>
            <a:r>
              <a:rPr dirty="0" err="1"/>
              <a:t>分級失控保護</a:t>
            </a:r>
            <a:r>
              <a:rPr dirty="0"/>
              <a:t>)</a:t>
            </a:r>
            <a:r>
              <a:rPr dirty="0" err="1"/>
              <a:t>的交集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【要主動提的一點】ESP32S3 </a:t>
            </a:r>
            <a:r>
              <a:rPr dirty="0" err="1"/>
              <a:t>那一列</a:t>
            </a:r>
            <a:r>
              <a:rPr dirty="0"/>
              <a:t> ESP-FC </a:t>
            </a:r>
            <a:r>
              <a:rPr dirty="0" err="1"/>
              <a:t>是勝出的</a:t>
            </a:r>
            <a:r>
              <a:rPr dirty="0"/>
              <a:t> — </a:t>
            </a:r>
            <a:r>
              <a:rPr dirty="0" err="1"/>
              <a:t>我沒有刻意隱藏。誠實呈現對照,比全部打勾更可信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Q:ESP-FC 在 ESP32S3 </a:t>
            </a:r>
            <a:r>
              <a:rPr dirty="0" err="1"/>
              <a:t>那一列也打勾,那你的優勢在哪</a:t>
            </a:r>
            <a:r>
              <a:rPr dirty="0"/>
              <a:t>?</a:t>
            </a:r>
          </a:p>
          <a:p>
            <a:r>
              <a:rPr dirty="0"/>
              <a:t>A:我沒有隱藏這一點。</a:t>
            </a:r>
            <a:r>
              <a:t>ESP-FC 是成熟的開源方案,我直接採用它當第三平臺。本研究的價值在**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的載板</a:t>
            </a:r>
            <a:r>
              <a:rPr dirty="0"/>
              <a:t>**與**跨 MCU </a:t>
            </a:r>
            <a:r>
              <a:rPr dirty="0" err="1"/>
              <a:t>的韌體重構</a:t>
            </a:r>
            <a:r>
              <a:rPr dirty="0"/>
              <a:t>** — </a:t>
            </a:r>
            <a:r>
              <a:rPr dirty="0" err="1"/>
              <a:t>讓不同晶片能在同一物理基底上被公平評估,這是既有方案都沒有的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Q:原廠 MiniFly </a:t>
            </a:r>
            <a:r>
              <a:rPr dirty="0" err="1"/>
              <a:t>也能飛,你的差別是什麼</a:t>
            </a:r>
            <a:r>
              <a:rPr dirty="0"/>
              <a:t>?</a:t>
            </a:r>
          </a:p>
          <a:p>
            <a:r>
              <a:rPr dirty="0"/>
              <a:t>A:原廠是封閉的雙 </a:t>
            </a:r>
            <a:r>
              <a:t>MCU 架構,無法更換主控、無法擴展定位與多機。本研究把它重建成可自行掌握、可繼續延伸的平臺。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21 字≈6 秒 ｜ 完整版 396 字≈1.8 分</a:t>
            </a:r>
          </a:p>
          <a:p>
            <a:endParaRPr/>
          </a:p>
          <a:p>
            <a:r>
              <a:t>【一句話】每個數字都可追溯,而且不給未經實測的數字。</a:t>
            </a:r>
          </a:p>
          <a:p>
            <a:endParaRPr/>
          </a:p>
          <a:p>
            <a:r>
              <a:t>【系統一(上排)】</a:t>
            </a:r>
          </a:p>
          <a:p>
            <a:r>
              <a:t>· 7 個驅動模組完成移植 — GPIO/I2C/PWM/無線/USB/排程/感測</a:t>
            </a:r>
          </a:p>
          <a:p>
            <a:r>
              <a:t>· 3 層系統級問題解決 — 無線封包 / USB 死鎖 / 排程歸零</a:t>
            </a:r>
          </a:p>
          <a:p>
            <a:r>
              <a:t>· 2 個飛控平臺同板實證 — nRF52840 + ESP32S3 直插可換</a:t>
            </a:r>
          </a:p>
          <a:p>
            <a:endParaRPr/>
          </a:p>
          <a:p>
            <a:r>
              <a:t>【系統二(下排)】</a:t>
            </a:r>
          </a:p>
          <a:p>
            <a:r>
              <a:t>· 7 步定位處理鏈 — 自適應 KF + 對數模型 + 加權 LSQ + 位置 Kalman</a:t>
            </a:r>
          </a:p>
          <a:p>
            <a:r>
              <a:t>· 4 錨定位網路 — 閘道 + 四錨 + 上位機標定介面</a:t>
            </a:r>
          </a:p>
          <a:p>
            <a:r>
              <a:t>· &lt;2m 定位目標 — 對標王琳 2025 的 BLE 同級 MAE 1.88m</a:t>
            </a:r>
          </a:p>
          <a:p>
            <a:endParaRPr/>
          </a:p>
          <a:p>
            <a:r>
              <a:t>【★ 最後一項要主動說明】1.88m 是文獻的**實測值**,是我的**對標目標**,不是我的成績。她用 ESP32 WiFi、我用 BLE,硬體也不同。我的精度待量化。</a:t>
            </a:r>
          </a:p>
          <a:p>
            <a:endParaRPr/>
          </a:p>
          <a:p>
            <a:r>
              <a:t>【下一頁】多機控制的量化指標單獨一頁。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Q:七個驅動模組是怎麼算的?</a:t>
            </a:r>
          </a:p>
          <a:p>
            <a:r>
              <a:t>A:GPIO、I2C、PWM、無線、USB、排程、感測共七層,每層都有對應的實作與驗證。</a:t>
            </a:r>
          </a:p>
          <a:p>
            <a:endParaRPr/>
          </a:p>
          <a:p>
            <a:r>
              <a:t>Q:定位目標 &lt;2m 有把握達到嗎?</a:t>
            </a:r>
          </a:p>
          <a:p>
            <a:r>
              <a:t>A:對標文獻用同級硬體達到 1.88m,所以物理上可行。但我的精度尚未實測,不會先給承諾。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【延伸】一句話版 18 字≈5 秒 ｜ 完整版 351 字≈1.6 分</a:t>
            </a:r>
          </a:p>
          <a:p>
            <a:endParaRPr/>
          </a:p>
          <a:p>
            <a:r>
              <a:t>【一句話】把前面的設計聲明,換成可查核的數字。</a:t>
            </a:r>
          </a:p>
          <a:p>
            <a:r>
              <a:t>【六個數字】</a:t>
            </a:r>
          </a:p>
          <a:p>
            <a:r>
              <a:t>· 3 — 三種控制機制實測通過(廣播選台、多工廣播、廣播點名)</a:t>
            </a:r>
          </a:p>
          <a:p>
            <a:r>
              <a:t>· 1 — 一個包送達 N 台,帶寬 O(1);對照分時尋址的 O(N),兩台就砍半且指令必然錯開</a:t>
            </a:r>
          </a:p>
          <a:p>
            <a:r>
              <a:t>· 8 — 每台 8 字節指令段;兩台 19、三台 27 字節,都在單包內</a:t>
            </a:r>
          </a:p>
          <a:p>
            <a:r>
              <a:t>· **2 — 台同包異動實證**:同一廣播包內 ATK 手動油門、nRF 懸停,結果只有 ATK 動作</a:t>
            </a:r>
          </a:p>
          <a:p>
            <a:r>
              <a:t>· 0.13 — 秒,選中機的狀態刷新週期</a:t>
            </a:r>
          </a:p>
          <a:p>
            <a:r>
              <a:t>· 32 — 字節單包載荷上限</a:t>
            </a:r>
          </a:p>
          <a:p>
            <a:endParaRPr/>
          </a:p>
          <a:p>
            <a:r>
              <a:t>【★ 最關鍵的是「2」】它是多工廣播相對於一般廣播的唯一證據 — 一般廣播做不到。</a:t>
            </a:r>
          </a:p>
          <a:p>
            <a:endParaRPr/>
          </a:p>
          <a:p>
            <a:r>
              <a:t>【★ 「32」是誠實的邊界】它同時決定兩件事:為什麼要定點壓縮,以及單包最多 3 台的擴展上限。委員問擴展性時,這就是答案。</a:t>
            </a:r>
          </a:p>
          <a:p>
            <a:endParaRPr/>
          </a:p>
          <a:p>
            <a:r>
              <a:t>【備詢·不念】</a:t>
            </a:r>
          </a:p>
          <a:p>
            <a:r>
              <a:t>Q:0.13 秒的開銷會不會影響控制?</a:t>
            </a:r>
          </a:p>
          <a:p>
            <a:r>
              <a:t>A:飛機在線時應答約 1 毫秒,佔比不到 1%;掉線機自動降頻,最壞約 4%,實測手感無差異。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357 字≈1.6 分</a:t>
            </a:r>
          </a:p>
          <a:p>
            <a:endParaRPr/>
          </a:p>
          <a:p>
            <a:r>
              <a:t>【一句話】誠實界定四條邊界 — 而且每條都對應明確的升級路徑。</a:t>
            </a:r>
          </a:p>
          <a:p>
            <a:r>
              <a:t>【四條邊界】</a:t>
            </a:r>
          </a:p>
          <a:p>
            <a:r>
              <a:t>① 定位精度 — 演示等級,受 RSSI 物理限制,適合粗定位而非精密定點</a:t>
            </a:r>
          </a:p>
          <a:p>
            <a:r>
              <a:t>② 多機控制 — **單包載荷 32 字節 → 單包最多 3 台;雙機同時編隊飛行尚未完整演示**</a:t>
            </a:r>
          </a:p>
          <a:p>
            <a:r>
              <a:t>③ 飛行包線 — 室內近懸停為主,未做激烈機動驗證</a:t>
            </a:r>
          </a:p>
          <a:p>
            <a:r>
              <a:t>④ 環境依賴 — 換新場地需重新標定 P₀/n</a:t>
            </a:r>
          </a:p>
          <a:p>
            <a:endParaRPr/>
          </a:p>
          <a:p>
            <a:r>
              <a:t>【★ 第②條要說清楚】三個機制都已實測,但「機制通了」和「兩台一起編隊飛完一段航線」是兩件事 — 後者還沒做。我在進度頁也是這樣標的,前後一致。</a:t>
            </a:r>
          </a:p>
          <a:p>
            <a:endParaRPr/>
          </a:p>
          <a:p>
            <a:r>
              <a:t>【為什麼誠實反而加分】</a:t>
            </a:r>
          </a:p>
          <a:p>
            <a:r>
              <a:t>① RSSI 精度是物理限制,文獻同級硬體也在米級 — 不是實作缺陷</a:t>
            </a:r>
          </a:p>
          <a:p>
            <a:r>
              <a:t>② 邊界清楚 = 知道系統能做什麼、不能做什麼,這正是工程能力</a:t>
            </a:r>
          </a:p>
          <a:p>
            <a:r>
              <a:t>③ 每條邊界都對應明確的升級路徑(下頁未來工作)</a:t>
            </a:r>
          </a:p>
          <a:p>
            <a:endParaRPr/>
          </a:p>
          <a:p>
            <a:r>
              <a:t>【備詢·不念】</a:t>
            </a:r>
          </a:p>
          <a:p>
            <a:r>
              <a:t>Q:這些限制怎麼解?</a:t>
            </a:r>
          </a:p>
          <a:p>
            <a:r>
              <a:t>A:定位可換 UWB 或 BLE 6.0 通道探測;多機台數受載荷限制,可改分組多包;飛行包線需更大機架與外部定位;重標定可做自動化流程。每條都有路。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28 字≈8 秒 ｜ </a:t>
            </a:r>
            <a:r>
              <a:rPr dirty="0" err="1"/>
              <a:t>完整版</a:t>
            </a:r>
            <a:r>
              <a:rPr dirty="0"/>
              <a:t> 457 字≈2.1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一句話】五項工作、各自的真實狀態</a:t>
            </a:r>
            <a:r>
              <a:rPr dirty="0"/>
              <a:t> — </a:t>
            </a:r>
            <a:r>
              <a:rPr dirty="0" err="1"/>
              <a:t>注意兩處標籤是有意區分的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逐項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飛控載板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自製</a:t>
            </a:r>
            <a:r>
              <a:rPr dirty="0"/>
              <a:t> PCB </a:t>
            </a:r>
            <a:r>
              <a:t>+ 雙平臺直插實證)</a:t>
            </a:r>
            <a:endParaRPr dirty="0"/>
          </a:p>
          <a:p>
            <a:r>
              <a:rPr dirty="0"/>
              <a:t>② 跨 MCU </a:t>
            </a:r>
            <a:r>
              <a:rPr dirty="0" err="1"/>
              <a:t>韌體移植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(雙 </a:t>
            </a:r>
            <a:r>
              <a:rPr dirty="0" err="1"/>
              <a:t>MCU→單晶片</a:t>
            </a:r>
            <a:r>
              <a:rPr dirty="0"/>
              <a:t> + </a:t>
            </a:r>
            <a:r>
              <a:rPr dirty="0" err="1"/>
              <a:t>三層系統問題</a:t>
            </a:r>
            <a:r>
              <a:rPr dirty="0"/>
              <a:t>)</a:t>
            </a:r>
          </a:p>
          <a:p>
            <a:r>
              <a:rPr dirty="0"/>
              <a:t>③ BLE </a:t>
            </a:r>
            <a:r>
              <a:rPr dirty="0" err="1"/>
              <a:t>定位引擎</a:t>
            </a:r>
            <a:r>
              <a:rPr dirty="0"/>
              <a:t> — **</a:t>
            </a:r>
            <a:r>
              <a:rPr dirty="0" err="1"/>
              <a:t>設計完成</a:t>
            </a:r>
            <a:r>
              <a:rPr dirty="0"/>
              <a:t>**(</a:t>
            </a:r>
            <a:r>
              <a:rPr dirty="0" err="1"/>
              <a:t>九步處理鏈</a:t>
            </a:r>
            <a:r>
              <a:rPr dirty="0"/>
              <a:t> + </a:t>
            </a:r>
            <a:r>
              <a:rPr dirty="0" err="1"/>
              <a:t>文獻對照</a:t>
            </a:r>
            <a:r>
              <a:rPr dirty="0"/>
              <a:t>),</a:t>
            </a:r>
            <a:r>
              <a:rPr dirty="0" err="1"/>
              <a:t>精度尚待量化</a:t>
            </a:r>
            <a:endParaRPr dirty="0"/>
          </a:p>
          <a:p>
            <a:r>
              <a:rPr dirty="0"/>
              <a:t>④ </a:t>
            </a:r>
            <a:r>
              <a:rPr dirty="0" err="1"/>
              <a:t>地面站整合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r>
              <a:rPr dirty="0"/>
              <a:t>)</a:t>
            </a:r>
          </a:p>
          <a:p>
            <a:r>
              <a:rPr dirty="0"/>
              <a:t>⑤ </a:t>
            </a:r>
            <a:r>
              <a:rPr dirty="0" err="1"/>
              <a:t>單遙控多機</a:t>
            </a:r>
            <a:r>
              <a:rPr dirty="0"/>
              <a:t> — **</a:t>
            </a:r>
            <a:r>
              <a:rPr dirty="0" err="1"/>
              <a:t>實測驗證</a:t>
            </a:r>
            <a:r>
              <a:rPr dirty="0"/>
              <a:t>**(</a:t>
            </a:r>
            <a:r>
              <a:rPr dirty="0" err="1"/>
              <a:t>廣播定址</a:t>
            </a:r>
            <a:r>
              <a:rPr dirty="0"/>
              <a:t> + </a:t>
            </a:r>
            <a:r>
              <a:rPr dirty="0" err="1"/>
              <a:t>多工廣播</a:t>
            </a:r>
            <a:r>
              <a:rPr dirty="0"/>
              <a:t> + </a:t>
            </a:r>
            <a:r>
              <a:rPr dirty="0" err="1"/>
              <a:t>點名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第③和第⑤的標籤不同,這是刻意的</a:t>
            </a:r>
            <a:r>
              <a:rPr dirty="0"/>
              <a:t>】</a:t>
            </a:r>
          </a:p>
          <a:p>
            <a:r>
              <a:rPr dirty="0" err="1"/>
              <a:t>定位標「設計完成」而不是「實測驗證</a:t>
            </a:r>
            <a:r>
              <a:rPr dirty="0"/>
              <a:t>」,</a:t>
            </a:r>
            <a:r>
              <a:rPr dirty="0" err="1"/>
              <a:t>因為硬體精度實驗還沒做完</a:t>
            </a:r>
            <a:r>
              <a:rPr dirty="0"/>
              <a:t> — </a:t>
            </a:r>
            <a:r>
              <a:rPr dirty="0" err="1"/>
              <a:t>我不會把設計完成說成實測完成</a:t>
            </a:r>
            <a:r>
              <a:rPr dirty="0"/>
              <a:t>。</a:t>
            </a:r>
          </a:p>
          <a:p>
            <a:r>
              <a:rPr dirty="0" err="1"/>
              <a:t>多機標「實測驗證</a:t>
            </a:r>
            <a:r>
              <a:rPr dirty="0"/>
              <a:t>」,</a:t>
            </a:r>
            <a:r>
              <a:rPr dirty="0" err="1"/>
              <a:t>因為三個機制都有實機影片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收束的話】這份研究把一套封閉的商用飛控,拆解到暫存器層級再重建在另一顆晶片上;過程中做出了可換</a:t>
            </a:r>
            <a:r>
              <a:rPr dirty="0"/>
              <a:t> </a:t>
            </a:r>
            <a:r>
              <a:t>MCU 的硬體載板,也把平臺能力延伸到室內定位與多機控制。</a:t>
            </a:r>
            <a:endParaRPr dirty="0"/>
          </a:p>
          <a:p>
            <a:endParaRPr dirty="0"/>
          </a:p>
          <a:p>
            <a:r>
              <a:t>它不是一個做完就結束的系統,而是一個我完全掌握、可以繼續往上加東西的平臺 </a:t>
            </a:r>
            <a:r>
              <a:rPr dirty="0"/>
              <a:t>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Q:為什麼定位標「設計完成」而多機標「實測驗證」?</a:t>
            </a:r>
          </a:p>
          <a:p>
            <a:r>
              <a:rPr dirty="0"/>
              <a:t>A:標準一致 — </a:t>
            </a:r>
            <a:r>
              <a:rPr dirty="0" err="1"/>
              <a:t>有實機驗證的才標實測。多機三個機制都有實機影片;定位鏈路雖已打通,但精度數字尚未量化,所以只標設計完成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Q:五項工作哪一項最重要?</a:t>
            </a:r>
          </a:p>
          <a:p>
            <a:r>
              <a:rPr dirty="0"/>
              <a:t>A:跨 </a:t>
            </a:r>
            <a:r>
              <a:t>MCU 韌體移植。它是全篇的技術核心,其餘四項都建立在這個平臺之上。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31 字≈8 秒 ｜ </a:t>
            </a:r>
            <a:r>
              <a:rPr dirty="0" err="1"/>
              <a:t>完整版</a:t>
            </a:r>
            <a:r>
              <a:rPr dirty="0"/>
              <a:t> 362 字≈1.6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一句話】三個方向的未來工作,其中一個正好證明可換</a:t>
            </a:r>
            <a:r>
              <a:rPr dirty="0"/>
              <a:t> MCU </a:t>
            </a:r>
            <a:r>
              <a:rPr dirty="0" err="1"/>
              <a:t>載板的價值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未來工作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完成</a:t>
            </a:r>
            <a:r>
              <a:rPr dirty="0"/>
              <a:t> PC </a:t>
            </a:r>
            <a:r>
              <a:rPr dirty="0" err="1"/>
              <a:t>端自動編隊</a:t>
            </a:r>
            <a:r>
              <a:rPr dirty="0"/>
              <a:t> — </a:t>
            </a:r>
            <a:r>
              <a:rPr dirty="0" err="1"/>
              <a:t>以定位回授驅動多工廣播,這是模式</a:t>
            </a:r>
            <a:r>
              <a:rPr dirty="0"/>
              <a:t> B </a:t>
            </a:r>
            <a:r>
              <a:rPr dirty="0" err="1"/>
              <a:t>打通後最直接的延伸</a:t>
            </a:r>
            <a:endParaRPr dirty="0"/>
          </a:p>
          <a:p>
            <a:r>
              <a:rPr dirty="0"/>
              <a:t>② </a:t>
            </a:r>
            <a:r>
              <a:rPr dirty="0" err="1"/>
              <a:t>定位精度實測與量化</a:t>
            </a:r>
            <a:r>
              <a:rPr dirty="0"/>
              <a:t> — </a:t>
            </a:r>
            <a:r>
              <a:rPr dirty="0" err="1"/>
              <a:t>目前唯一的量化空缺</a:t>
            </a:r>
            <a:endParaRPr dirty="0"/>
          </a:p>
          <a:p>
            <a:r>
              <a:rPr dirty="0"/>
              <a:t>③ BLE 6.0 </a:t>
            </a:r>
            <a:r>
              <a:rPr dirty="0" err="1"/>
              <a:t>通道探測</a:t>
            </a:r>
            <a:r>
              <a:rPr dirty="0"/>
              <a:t> — </a:t>
            </a:r>
            <a:r>
              <a:rPr dirty="0" err="1"/>
              <a:t>這是新標準內建的高精度測距。要升級只需換一顆支援的</a:t>
            </a:r>
            <a:r>
              <a:rPr dirty="0"/>
              <a:t> MCU </a:t>
            </a:r>
            <a:r>
              <a:rPr dirty="0" err="1"/>
              <a:t>插上去</a:t>
            </a:r>
            <a:r>
              <a:rPr dirty="0"/>
              <a:t> ← **</a:t>
            </a:r>
            <a:r>
              <a:rPr dirty="0" err="1"/>
              <a:t>這正是可換</a:t>
            </a:r>
            <a:r>
              <a:rPr dirty="0"/>
              <a:t> MCU </a:t>
            </a:r>
            <a:r>
              <a:rPr dirty="0" err="1"/>
              <a:t>載板的優勢,呼應主貢獻二</a:t>
            </a:r>
            <a:r>
              <a:rPr dirty="0"/>
              <a:t>**</a:t>
            </a:r>
          </a:p>
          <a:p>
            <a:r>
              <a:t>④ 光流、雷射測距與平臺化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結語】這份研究把一套封閉的商用飛控,拆解到暫存器層級再重建在另一顆晶片上;過程中做出了可換</a:t>
            </a:r>
            <a:r>
              <a:rPr dirty="0"/>
              <a:t> </a:t>
            </a:r>
            <a:r>
              <a:t>MCU 的硬體載板,也把平臺能力延伸到室內定位與多機控制。</a:t>
            </a:r>
            <a:endParaRPr dirty="0"/>
          </a:p>
          <a:p>
            <a:endParaRPr dirty="0"/>
          </a:p>
          <a:p>
            <a:r>
              <a:t>它不是一個做完就結束的系統,而是一個我完全掌握、可以繼續往上加東西的平臺 </a:t>
            </a:r>
            <a:r>
              <a:rPr dirty="0"/>
              <a:t>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感謝教授指導,感謝各位委員,敬請指教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Q:未來工作有優先順序嗎?</a:t>
            </a:r>
          </a:p>
          <a:p>
            <a:r>
              <a:rPr dirty="0"/>
              <a:t>A:第一是定位精度實測與量化,那是目前唯一的空缺;第二是 PC </a:t>
            </a:r>
            <a:r>
              <a:rPr dirty="0" err="1"/>
              <a:t>端自動編隊,模式</a:t>
            </a:r>
            <a:r>
              <a:rPr dirty="0"/>
              <a:t> B </a:t>
            </a:r>
            <a:r>
              <a:rPr dirty="0" err="1"/>
              <a:t>打通後這是最直接的延伸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Q:BLE 6.0 </a:t>
            </a:r>
            <a:r>
              <a:rPr dirty="0" err="1"/>
              <a:t>通道探測要換硬體嗎</a:t>
            </a:r>
            <a:r>
              <a:rPr dirty="0"/>
              <a:t>?</a:t>
            </a:r>
          </a:p>
          <a:p>
            <a:r>
              <a:rPr dirty="0"/>
              <a:t>A:要換一顆支援的 MCU — </a:t>
            </a:r>
            <a:r>
              <a:rPr dirty="0" err="1"/>
              <a:t>而這正好是可換</a:t>
            </a:r>
            <a:r>
              <a:rPr dirty="0"/>
              <a:t> MCU </a:t>
            </a:r>
            <a:r>
              <a:rPr dirty="0" err="1"/>
              <a:t>載板的價值:只需拔插主控,不必重做整塊板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>
            <a:extLst>
              <a:ext uri="{FF2B5EF4-FFF2-40B4-BE49-F238E27FC236}">
                <a16:creationId xmlns:a16="http://schemas.microsoft.com/office/drawing/2014/main" id="{0944D55F-203A-46D5-AC4F-697D1967279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1644800" y="6354721"/>
            <a:ext cx="547200" cy="32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zh-TW" altLang="en-US" sz="1200" dirty="0">
                <a:solidFill>
                  <a:srgbClr val="5A6575"/>
                </a:solidFill>
                <a:latin typeface="Noto Sans CJK TC"/>
              </a:defRPr>
            </a:lvl1pPr>
          </a:lstStyle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" name="灯片编号占位符 5">
            <a:extLst>
              <a:ext uri="{FF2B5EF4-FFF2-40B4-BE49-F238E27FC236}">
                <a16:creationId xmlns:a16="http://schemas.microsoft.com/office/drawing/2014/main" id="{572AB1E0-94EC-4874-940A-D91EF532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264" y="6354721"/>
            <a:ext cx="547200" cy="32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altLang="en-US" sz="1200" smtClean="0">
                <a:solidFill>
                  <a:srgbClr val="5A6575"/>
                </a:solidFill>
                <a:latin typeface="Noto Sans CJK TC"/>
              </a:defRPr>
            </a:lvl1pPr>
          </a:lstStyle>
          <a:p>
            <a:fld id="{F221DA3A-6EA9-486D-B4E3-78B252162388}" type="slidenum">
              <a:rPr lang="en-US" altLang="zh-TW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&#31227;&#26893;&#39131;&#34892;.mp4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&#24191;&#25773;&#36873;&#21488;.mp4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&#27169;&#24335;%20B.mp4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&#27169;&#24335;0.mp4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hyperlink" Target="&#27169;&#24335;2.mp4" TargetMode="External"/><Relationship Id="rId4" Type="http://schemas.openxmlformats.org/officeDocument/2006/relationships/hyperlink" Target="&#27169;&#24335;1.mp4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5486400" cy="5486400"/>
          </a:xfrm>
          <a:prstGeom prst="ellipse">
            <a:avLst/>
          </a:prstGeom>
          <a:solidFill>
            <a:srgbClr val="0A4D6E">
              <a:alpha val="60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3" name="Shape 1"/>
          <p:cNvSpPr/>
          <p:nvPr/>
        </p:nvSpPr>
        <p:spPr>
          <a:xfrm>
            <a:off x="9875520" y="3200400"/>
            <a:ext cx="3657600" cy="36576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4" name="Shape 2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碩士學位論文口試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無人機系統整合</a:t>
            </a:r>
            <a:endParaRPr lang="en-US" sz="4000" dirty="0"/>
          </a:p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與控制研究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Research on UAV System Integration and Control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526280"/>
            <a:ext cx="59436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96B70053-6733-4012-9298-F4CB4DB085E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F59C5F8A-D8B5-4E84-B47D-A1F920ED9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39" y="1463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95577" y="1636776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95577" y="1636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6514" y="168275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研究背景與動機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9273" y="239572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95577" y="2569464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5577" y="2569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6514" y="261493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系統架構與硬體設計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9273" y="332841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95577" y="3502152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5577" y="3502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6514" y="354711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韌體移植與通訊協定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95577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05</a:t>
            </a:r>
            <a:endParaRPr lang="en-US" sz="1500" dirty="0"/>
          </a:p>
        </p:txBody>
      </p:sp>
      <p:sp>
        <p:nvSpPr>
          <p:cNvPr id="31" name="页脚占位符 30">
            <a:extLst>
              <a:ext uri="{FF2B5EF4-FFF2-40B4-BE49-F238E27FC236}">
                <a16:creationId xmlns:a16="http://schemas.microsoft.com/office/drawing/2014/main" id="{9B9440DA-02A6-4543-AC14-28FEB80E04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2" name="灯片编号占位符 31">
            <a:extLst>
              <a:ext uri="{FF2B5EF4-FFF2-40B4-BE49-F238E27FC236}">
                <a16:creationId xmlns:a16="http://schemas.microsoft.com/office/drawing/2014/main" id="{92CB6D03-D3F1-4F47-98D0-3B72F34F9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研究背景與動機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00200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傳統硬體故障難以檢測與更換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00200" y="20665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傳統微型飛控將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與感測器直接焊接於</a:t>
            </a:r>
            <a:r>
              <a:rPr lang="zh-CN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載板上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，當元件損壞或異常時難以單獨量測除錯，且無法拆卸更換。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2" name="Shape 10"/>
          <p:cNvSpPr/>
          <p:nvPr/>
        </p:nvSpPr>
        <p:spPr>
          <a:xfrm>
            <a:off x="777240" y="3383279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777240" y="3383279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開源平臺的 </a:t>
            </a:r>
            <a:r>
              <a:rPr lang="en-US" altLang="zh-TW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協定與晶片架構受到硬體限制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600200" y="36027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altLang="zh-TW" sz="14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需外接射頻模塊（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模組），且常見的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平臺硬體底層難以原生支援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35424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7" name="Shape 15"/>
          <p:cNvSpPr/>
          <p:nvPr/>
        </p:nvSpPr>
        <p:spPr>
          <a:xfrm>
            <a:off x="777240" y="4919472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8" name="Text 16"/>
          <p:cNvSpPr/>
          <p:nvPr/>
        </p:nvSpPr>
        <p:spPr>
          <a:xfrm>
            <a:off x="777240" y="4919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736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室內無法使用衛星定位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600200" y="5138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室內、隧道與倉儲環境收不到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GNSS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衛星訊號。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0" y="1463040"/>
            <a:ext cx="5029200" cy="2103120"/>
          </a:xfrm>
          <a:prstGeom prst="roundRect">
            <a:avLst>
              <a:gd name="adj" fmla="val 175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lang="zh-TW" altLang="en-US" sz="2000"/>
          </a:p>
        </p:txBody>
      </p:sp>
      <p:sp>
        <p:nvSpPr>
          <p:cNvPr id="22" name="Text 20"/>
          <p:cNvSpPr/>
          <p:nvPr/>
        </p:nvSpPr>
        <p:spPr>
          <a:xfrm>
            <a:off x="6858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本研究的做法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858000" y="1986359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自主設計一款</a:t>
            </a:r>
            <a:r>
              <a:rPr lang="zh-TW" alt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支援可更換 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 </a:t>
            </a:r>
            <a:r>
              <a:rPr lang="zh-TW" alt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核心板</a:t>
            </a:r>
            <a:r>
              <a:rPr lang="en-US" sz="16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的PCB</a:t>
            </a: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,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並將商用飛控韌體移植至 </a:t>
            </a:r>
            <a:r>
              <a:rPr lang="en-US" altLang="zh-TW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SoC </a:t>
            </a: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</a:t>
            </a:r>
            <a:r>
              <a:rPr lang="zh-CN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台</a:t>
            </a: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，</a:t>
            </a:r>
            <a:endParaRPr lang="en-US" altLang="zh-TW" sz="1600" dirty="0">
              <a:solidFill>
                <a:srgbClr val="FFFFFF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同時於該平臺上導入 </a:t>
            </a:r>
            <a:r>
              <a:rPr lang="en-US" altLang="zh-TW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</a:t>
            </a:r>
            <a:r>
              <a:rPr lang="zh-TW" altLang="en-US" sz="16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室內定位系統。</a:t>
            </a:r>
            <a:endParaRPr lang="en-US" sz="1600" dirty="0"/>
          </a:p>
        </p:txBody>
      </p:sp>
      <p:sp>
        <p:nvSpPr>
          <p:cNvPr id="29" name="页脚占位符 28">
            <a:extLst>
              <a:ext uri="{FF2B5EF4-FFF2-40B4-BE49-F238E27FC236}">
                <a16:creationId xmlns:a16="http://schemas.microsoft.com/office/drawing/2014/main" id="{4193970A-E8AE-48C2-B1CE-9AE6BC9C0F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0" name="灯片编号占位符 29">
            <a:extLst>
              <a:ext uri="{FF2B5EF4-FFF2-40B4-BE49-F238E27FC236}">
                <a16:creationId xmlns:a16="http://schemas.microsoft.com/office/drawing/2014/main" id="{C0E676E2-A4C5-4D0E-B3B8-CC7FC28D5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4E5FA17-FC17-481B-9146-CAFC7200EA69}"/>
              </a:ext>
            </a:extLst>
          </p:cNvPr>
          <p:cNvSpPr/>
          <p:nvPr/>
        </p:nvSpPr>
        <p:spPr>
          <a:xfrm>
            <a:off x="548640" y="1463040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4D070E44-C7BD-4430-92F9-E08F2A516C65}"/>
              </a:ext>
            </a:extLst>
          </p:cNvPr>
          <p:cNvSpPr/>
          <p:nvPr/>
        </p:nvSpPr>
        <p:spPr>
          <a:xfrm>
            <a:off x="548640" y="1463040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A4D6E"/>
          </a:solidFill>
          <a:ln/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68FE900-A2C4-43AF-A30A-26AFC4169D35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E1F31D7D-CF7E-4834-8E7F-8D5FCBB7829E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F96755BA-2F93-4602-AD7A-D47392B7E4C4}"/>
              </a:ext>
            </a:extLst>
          </p:cNvPr>
          <p:cNvSpPr/>
          <p:nvPr/>
        </p:nvSpPr>
        <p:spPr>
          <a:xfrm>
            <a:off x="1783080" y="1645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自製飛控電路板（硬體層面）</a:t>
            </a:r>
            <a:endParaRPr lang="en-US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32B77CB8-637F-4E4F-90D7-CADE5F102232}"/>
              </a:ext>
            </a:extLst>
          </p:cNvPr>
          <p:cNvSpPr/>
          <p:nvPr/>
        </p:nvSpPr>
        <p:spPr>
          <a:xfrm>
            <a:off x="1783080" y="2084832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解決傳統飛控焊接難以儀器檢測與單獨替換痛點，提升實驗擴充與維護性。</a:t>
            </a:r>
            <a:endParaRPr lang="en-US" sz="16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4FB756C-84CF-400E-9E82-70BA0ADAA2EB}"/>
              </a:ext>
            </a:extLst>
          </p:cNvPr>
          <p:cNvSpPr/>
          <p:nvPr/>
        </p:nvSpPr>
        <p:spPr>
          <a:xfrm>
            <a:off x="9464040" y="19202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40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84AD2A24-5577-4BE0-917F-C86DC6036FE7}"/>
              </a:ext>
            </a:extLst>
          </p:cNvPr>
          <p:cNvSpPr/>
          <p:nvPr/>
        </p:nvSpPr>
        <p:spPr>
          <a:xfrm>
            <a:off x="548640" y="2907792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0E223A43-97C3-49C6-AF09-6D27DDCCBB79}"/>
              </a:ext>
            </a:extLst>
          </p:cNvPr>
          <p:cNvSpPr/>
          <p:nvPr/>
        </p:nvSpPr>
        <p:spPr>
          <a:xfrm>
            <a:off x="548640" y="2907792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2389A8"/>
          </a:solidFill>
          <a:ln/>
        </p:spPr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727FDCD2-C3D4-403D-9D8A-6639FB27EE1E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D56D99B6-4B58-4FA6-BD20-F44540958339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2980B869-7BFE-483B-B81D-9789382E42F4}"/>
              </a:ext>
            </a:extLst>
          </p:cNvPr>
          <p:cNvSpPr/>
          <p:nvPr/>
        </p:nvSpPr>
        <p:spPr>
          <a:xfrm>
            <a:off x="1783080" y="309067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飛控韌體移植（韌體與通訊層面）</a:t>
            </a:r>
            <a:endParaRPr lang="en-US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00968B82-DC34-4CB4-ABB7-8BCB99AACEB9}"/>
              </a:ext>
            </a:extLst>
          </p:cNvPr>
          <p:cNvSpPr/>
          <p:nvPr/>
        </p:nvSpPr>
        <p:spPr>
          <a:xfrm>
            <a:off x="1783080" y="3529584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整合 </a:t>
            </a:r>
            <a:r>
              <a:rPr lang="en-US" altLang="zh-TW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2.4GHz RF </a:t>
            </a: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並原生支援 </a:t>
            </a:r>
            <a:r>
              <a:rPr lang="en-US" altLang="zh-TW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通訊協定，完全相容原廠遙控生態。</a:t>
            </a:r>
            <a:endParaRPr lang="en-US" sz="1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A9A03510-DDAC-42BC-90E7-3E2C3C87D63F}"/>
              </a:ext>
            </a:extLst>
          </p:cNvPr>
          <p:cNvSpPr/>
          <p:nvPr/>
        </p:nvSpPr>
        <p:spPr>
          <a:xfrm>
            <a:off x="9464040" y="336499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40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C53590D6-CC96-4067-A057-ED70B4C85248}"/>
              </a:ext>
            </a:extLst>
          </p:cNvPr>
          <p:cNvSpPr/>
          <p:nvPr/>
        </p:nvSpPr>
        <p:spPr>
          <a:xfrm>
            <a:off x="548640" y="4352544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43A419DA-FE00-4DFB-98B8-8B166DCB444D}"/>
              </a:ext>
            </a:extLst>
          </p:cNvPr>
          <p:cNvSpPr/>
          <p:nvPr/>
        </p:nvSpPr>
        <p:spPr>
          <a:xfrm>
            <a:off x="548640" y="4352544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0B894"/>
          </a:solidFill>
          <a:ln/>
        </p:spPr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A72934C9-4513-4631-ABD3-EFE99FA75DCC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8428737E-743B-4315-B884-15F46E373337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59A5D810-C694-4E2E-A78F-5F0D98E539C7}"/>
              </a:ext>
            </a:extLst>
          </p:cNvPr>
          <p:cNvSpPr/>
          <p:nvPr/>
        </p:nvSpPr>
        <p:spPr>
          <a:xfrm>
            <a:off x="1783080" y="453542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室內定位整合（應用層面）</a:t>
            </a:r>
            <a:endParaRPr lang="en-US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35B19DFB-11F3-4A4C-90FE-37DABDB6A47A}"/>
              </a:ext>
            </a:extLst>
          </p:cNvPr>
          <p:cNvSpPr/>
          <p:nvPr/>
        </p:nvSpPr>
        <p:spPr>
          <a:xfrm>
            <a:off x="1783080" y="497433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實現微型無人機於室內環境之自主定位與控制能力。</a:t>
            </a:r>
            <a:endParaRPr lang="en-US" sz="1600" dirty="0"/>
          </a:p>
        </p:txBody>
      </p:sp>
      <p:sp>
        <p:nvSpPr>
          <p:cNvPr id="43" name="Text 27">
            <a:extLst>
              <a:ext uri="{FF2B5EF4-FFF2-40B4-BE49-F238E27FC236}">
                <a16:creationId xmlns:a16="http://schemas.microsoft.com/office/drawing/2014/main" id="{3A260918-3638-44ED-8035-5E79E3C9DE56}"/>
              </a:ext>
            </a:extLst>
          </p:cNvPr>
          <p:cNvSpPr/>
          <p:nvPr/>
        </p:nvSpPr>
        <p:spPr>
          <a:xfrm>
            <a:off x="9464040" y="48097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支撐貢獻</a:t>
            </a:r>
            <a:endParaRPr lang="en-US" sz="1400" dirty="0"/>
          </a:p>
        </p:txBody>
      </p:sp>
      <p:sp>
        <p:nvSpPr>
          <p:cNvPr id="9" name="页脚占位符 8">
            <a:extLst>
              <a:ext uri="{FF2B5EF4-FFF2-40B4-BE49-F238E27FC236}">
                <a16:creationId xmlns:a16="http://schemas.microsoft.com/office/drawing/2014/main" id="{B8FE456A-51E4-454F-9227-7AE38297E1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477C44B2-D36F-49DB-9E55-A3AC1F700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系統總架構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108960" y="14630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7" name="Text 5"/>
          <p:cNvSpPr/>
          <p:nvPr/>
        </p:nvSpPr>
        <p:spPr>
          <a:xfrm>
            <a:off x="3108960" y="14630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上位機:顯示地圖、解算位置、下達指令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9" name="Shape 7"/>
          <p:cNvSpPr/>
          <p:nvPr/>
        </p:nvSpPr>
        <p:spPr>
          <a:xfrm>
            <a:off x="82296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飛控系統(系統一)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33756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4" name="Text 12"/>
          <p:cNvSpPr/>
          <p:nvPr/>
        </p:nvSpPr>
        <p:spPr>
          <a:xfrm>
            <a:off x="7772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</a:t>
            </a: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遙控器(</a:t>
            </a:r>
            <a:r>
              <a:rPr lang="zh-CN" alt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連接電腦與發送控制信號</a:t>
            </a: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2.4GHz ESB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77724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4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4612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19" name="Text 17"/>
          <p:cNvSpPr/>
          <p:nvPr/>
        </p:nvSpPr>
        <p:spPr>
          <a:xfrm>
            <a:off x="324612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4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自製板+nRF52840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56692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1" name="Shape 19"/>
          <p:cNvSpPr/>
          <p:nvPr/>
        </p:nvSpPr>
        <p:spPr>
          <a:xfrm>
            <a:off x="5943600" y="269748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2" name="Text 20"/>
          <p:cNvSpPr/>
          <p:nvPr/>
        </p:nvSpPr>
        <p:spPr>
          <a:xfrm>
            <a:off x="5943600" y="2697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定位系統(系統二)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212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</a:t>
            </a:r>
            <a:r>
              <a:rPr lang="zh-TW" altLang="en-US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中繼站</a:t>
            </a:r>
            <a:r>
              <a:rPr lang="en-US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(連接無線與電腦)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17220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ESP-</a:t>
            </a:r>
            <a:r>
              <a:rPr lang="en-US" altLang="zh-CN" sz="12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7220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27" name="Text 25"/>
          <p:cNvSpPr/>
          <p:nvPr/>
        </p:nvSpPr>
        <p:spPr>
          <a:xfrm>
            <a:off x="617220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</a:t>
            </a:r>
            <a:r>
              <a:rPr lang="en-US" sz="1200" b="1" dirty="0"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</a:t>
            </a: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722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7804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0" name="Text 28"/>
          <p:cNvSpPr/>
          <p:nvPr/>
        </p:nvSpPr>
        <p:spPr>
          <a:xfrm>
            <a:off x="717804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17804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18388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3" name="Text 31"/>
          <p:cNvSpPr/>
          <p:nvPr/>
        </p:nvSpPr>
        <p:spPr>
          <a:xfrm>
            <a:off x="818388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838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8972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6" name="Text 34"/>
          <p:cNvSpPr/>
          <p:nvPr/>
        </p:nvSpPr>
        <p:spPr>
          <a:xfrm>
            <a:off x="918972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8972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401300" y="4389120"/>
            <a:ext cx="914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/>
          </a:p>
        </p:txBody>
      </p:sp>
      <p:sp>
        <p:nvSpPr>
          <p:cNvPr id="39" name="Text 37"/>
          <p:cNvSpPr/>
          <p:nvPr/>
        </p:nvSpPr>
        <p:spPr>
          <a:xfrm>
            <a:off x="10401300" y="44348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飛機C</a:t>
            </a:r>
            <a:endParaRPr lang="en-US" sz="105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050" dirty="0"/>
          </a:p>
        </p:txBody>
      </p:sp>
      <p:sp>
        <p:nvSpPr>
          <p:cNvPr id="43" name="页脚占位符 42">
            <a:extLst>
              <a:ext uri="{FF2B5EF4-FFF2-40B4-BE49-F238E27FC236}">
                <a16:creationId xmlns:a16="http://schemas.microsoft.com/office/drawing/2014/main" id="{F3DDD18D-0273-469B-997B-6C8244ABB8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4" name="灯片编号占位符 43">
            <a:extLst>
              <a:ext uri="{FF2B5EF4-FFF2-40B4-BE49-F238E27FC236}">
                <a16:creationId xmlns:a16="http://schemas.microsoft.com/office/drawing/2014/main" id="{1BE02558-B576-41B7-9354-A7E144981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5</a:t>
            </a:fld>
            <a:endParaRPr lang="en-US" dirty="0"/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1E26FD0E-D2B2-4585-A649-20FFD60C718A}"/>
              </a:ext>
            </a:extLst>
          </p:cNvPr>
          <p:cNvSpPr/>
          <p:nvPr/>
        </p:nvSpPr>
        <p:spPr>
          <a:xfrm>
            <a:off x="104013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</a:t>
            </a:r>
            <a:r>
              <a:rPr lang="en-US" altLang="zh-CN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硬體設計與韌體移植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3572E89E-5205-42EF-BA7D-38259FE9511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E507A549-2236-490D-92C9-5B6F7C3ED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6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飛控電路板設計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23731"/>
            <a:ext cx="3931920" cy="464347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4663440" y="1423731"/>
            <a:ext cx="6949440" cy="4643469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4937760" y="16459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硬體設計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937760" y="2103119"/>
            <a:ext cx="6400800" cy="984123"/>
          </a:xfrm>
          <a:prstGeom prst="roundRect">
            <a:avLst>
              <a:gd name="adj" fmla="val 731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2" name="Shape 9"/>
          <p:cNvSpPr/>
          <p:nvPr/>
        </p:nvSpPr>
        <p:spPr>
          <a:xfrm>
            <a:off x="5120640" y="2331720"/>
            <a:ext cx="384048" cy="384048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3" name="Text 10"/>
          <p:cNvSpPr/>
          <p:nvPr/>
        </p:nvSpPr>
        <p:spPr>
          <a:xfrm>
            <a:off x="51206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50992" y="219456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</a:t>
            </a: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50992" y="2487167"/>
            <a:ext cx="55321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採用雙排母引出腳位，支援</a:t>
            </a:r>
            <a:r>
              <a:rPr lang="en-US" altLang="zh-CN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 與 </a:t>
            </a:r>
            <a:r>
              <a:rPr lang="en-US" altLang="zh-TW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感測模組獨立拆裝與</a:t>
            </a:r>
            <a:r>
              <a:rPr lang="zh-CN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檢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測。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937760" y="316668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17" name="Shape 14"/>
          <p:cNvSpPr/>
          <p:nvPr/>
        </p:nvSpPr>
        <p:spPr>
          <a:xfrm>
            <a:off x="5120640" y="3349561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8" name="Text 15"/>
          <p:cNvSpPr/>
          <p:nvPr/>
        </p:nvSpPr>
        <p:spPr>
          <a:xfrm>
            <a:off x="5120640" y="33495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650992" y="3237012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板框一體化輕量結構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650992" y="3550729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本體兼具機身結構與機臂，端點直接整合馬達固定座，實現結構輕量化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937760" y="505057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2" name="Shape 19"/>
          <p:cNvSpPr/>
          <p:nvPr/>
        </p:nvSpPr>
        <p:spPr>
          <a:xfrm>
            <a:off x="5120640" y="523345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3" name="Text 20"/>
          <p:cNvSpPr/>
          <p:nvPr/>
        </p:nvSpPr>
        <p:spPr>
          <a:xfrm>
            <a:off x="5120640" y="523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50992" y="5142009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降低電磁幹擾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</a:t>
            </a:r>
            <a:r>
              <a:rPr lang="en-US" altLang="zh-CN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EMI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）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650992" y="5526056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M1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～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M4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插座置於背面、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IMU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置於正面；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板厚與母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排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高度增加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軸距離，降低電磁耦合。</a:t>
            </a:r>
            <a:endParaRPr lang="en-US" altLang="zh-TW" sz="105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馬達端配置 </a:t>
            </a:r>
            <a:r>
              <a:rPr lang="en-US" altLang="zh-TW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SS14 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續流二極體與去耦電容，吸收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瞬間電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壓</a:t>
            </a:r>
            <a:r>
              <a:rPr lang="zh-CN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變化</a:t>
            </a:r>
            <a:r>
              <a:rPr lang="zh-TW" alt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與高頻雜訊。</a:t>
            </a:r>
            <a:endParaRPr lang="en-US" altLang="zh-TW" sz="105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937760" y="4095022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 sz="2000"/>
          </a:p>
        </p:txBody>
      </p:sp>
      <p:sp>
        <p:nvSpPr>
          <p:cNvPr id="27" name="Shape 24"/>
          <p:cNvSpPr/>
          <p:nvPr/>
        </p:nvSpPr>
        <p:spPr>
          <a:xfrm>
            <a:off x="5120640" y="4277902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8" name="Text 25"/>
          <p:cNvSpPr/>
          <p:nvPr/>
        </p:nvSpPr>
        <p:spPr>
          <a:xfrm>
            <a:off x="5120640" y="42779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3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650992" y="4186462"/>
            <a:ext cx="5532120" cy="285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重心平衡</a:t>
            </a:r>
            <a:r>
              <a:rPr lang="zh-CN" alt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與空間利用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650992" y="447907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母排架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模組產生的下方空隙佈置被動元件，提高 </a:t>
            </a:r>
            <a:r>
              <a:rPr lang="en-US" altLang="zh-TW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板面利用率。</a:t>
            </a:r>
            <a:endParaRPr lang="en-US" altLang="zh-TW" sz="11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對稱佈置主控與感測器，確保安裝後重心</a:t>
            </a:r>
            <a:r>
              <a:rPr lang="zh-CN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比較平衡</a:t>
            </a:r>
            <a:r>
              <a:rPr lang="zh-TW" alt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100" dirty="0"/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3761266-4EA9-40DA-A391-20BCEDF14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21980" y="2095236"/>
            <a:ext cx="2387380" cy="3486288"/>
          </a:xfrm>
          <a:prstGeom prst="rect">
            <a:avLst/>
          </a:prstGeom>
        </p:spPr>
      </p:pic>
      <p:pic>
        <p:nvPicPr>
          <p:cNvPr id="34" name="Image 1" descr="img/pcb_back.png">
            <a:extLst>
              <a:ext uri="{FF2B5EF4-FFF2-40B4-BE49-F238E27FC236}">
                <a16:creationId xmlns:a16="http://schemas.microsoft.com/office/drawing/2014/main" id="{C2645FC4-D408-4EA2-BEA0-3F0956DABBB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75344" y="3621023"/>
            <a:ext cx="2330496" cy="2401716"/>
          </a:xfrm>
          <a:prstGeom prst="rect">
            <a:avLst/>
          </a:prstGeom>
        </p:spPr>
      </p:pic>
      <p:sp>
        <p:nvSpPr>
          <p:cNvPr id="36" name="Text 7">
            <a:extLst>
              <a:ext uri="{FF2B5EF4-FFF2-40B4-BE49-F238E27FC236}">
                <a16:creationId xmlns:a16="http://schemas.microsoft.com/office/drawing/2014/main" id="{0CBE9AF6-31FF-46E5-B999-27DE9317DDC0}"/>
              </a:ext>
            </a:extLst>
          </p:cNvPr>
          <p:cNvSpPr/>
          <p:nvPr/>
        </p:nvSpPr>
        <p:spPr>
          <a:xfrm>
            <a:off x="788276" y="5125896"/>
            <a:ext cx="178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背面(馬達連接器 M1–M4)</a:t>
            </a:r>
            <a:endParaRPr lang="en-US" sz="1100" dirty="0"/>
          </a:p>
        </p:txBody>
      </p:sp>
      <p:pic>
        <p:nvPicPr>
          <p:cNvPr id="7" name="Image 0" descr="img/pcb_front.png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98" y="1546544"/>
            <a:ext cx="2330496" cy="24649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594829" y="1913928"/>
            <a:ext cx="1927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電路板正面</a:t>
            </a:r>
            <a:endParaRPr lang="en-US" sz="1100" dirty="0"/>
          </a:p>
        </p:txBody>
      </p:sp>
      <p:sp>
        <p:nvSpPr>
          <p:cNvPr id="35" name="页脚占位符 34">
            <a:extLst>
              <a:ext uri="{FF2B5EF4-FFF2-40B4-BE49-F238E27FC236}">
                <a16:creationId xmlns:a16="http://schemas.microsoft.com/office/drawing/2014/main" id="{5739E2E0-9CB2-428A-88CC-B8EE988C0B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7" name="灯片编号占位符 36">
            <a:extLst>
              <a:ext uri="{FF2B5EF4-FFF2-40B4-BE49-F238E27FC236}">
                <a16:creationId xmlns:a16="http://schemas.microsoft.com/office/drawing/2014/main" id="{F06CDA85-94E6-42E1-B130-004ACFC97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7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飛控平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974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621792" y="1554480"/>
            <a:ext cx="2551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</a:t>
            </a:r>
            <a:r>
              <a:rPr lang="zh-CN" alt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台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3774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3319272" y="155448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zh-CN" alt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控制晶片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623560" y="1554480"/>
            <a:ext cx="20116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Text 11"/>
          <p:cNvSpPr/>
          <p:nvPr/>
        </p:nvSpPr>
        <p:spPr>
          <a:xfrm>
            <a:off x="5696712" y="1554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7635240" y="1554480"/>
            <a:ext cx="182880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5" name="Text 13"/>
          <p:cNvSpPr/>
          <p:nvPr/>
        </p:nvSpPr>
        <p:spPr>
          <a:xfrm>
            <a:off x="7708392" y="155448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464040" y="1554480"/>
            <a:ext cx="21488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Text 15"/>
          <p:cNvSpPr/>
          <p:nvPr/>
        </p:nvSpPr>
        <p:spPr>
          <a:xfrm>
            <a:off x="9537192" y="1554480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角色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48640" y="2057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21792" y="205740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 原機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246120" y="2057400"/>
            <a:ext cx="2377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Text 19"/>
          <p:cNvSpPr/>
          <p:nvPr/>
        </p:nvSpPr>
        <p:spPr>
          <a:xfrm>
            <a:off x="3319272" y="205740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STM32F411(M4)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 nRF51822(M0)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23560" y="2057400"/>
            <a:ext cx="20116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Text 21"/>
          <p:cNvSpPr/>
          <p:nvPr/>
        </p:nvSpPr>
        <p:spPr>
          <a:xfrm>
            <a:off x="5696712" y="205740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(專用晶片+PA)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35240" y="2057400"/>
            <a:ext cx="1828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Text 23"/>
          <p:cNvSpPr/>
          <p:nvPr/>
        </p:nvSpPr>
        <p:spPr>
          <a:xfrm>
            <a:off x="7708392" y="205740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原廠韌體</a:t>
            </a:r>
            <a:r>
              <a:rPr lang="zh-CN" alt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（被移植）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464040" y="2057400"/>
            <a:ext cx="21488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7" name="Text 25"/>
          <p:cNvSpPr/>
          <p:nvPr/>
        </p:nvSpPr>
        <p:spPr>
          <a:xfrm>
            <a:off x="9537192" y="205740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對照組,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也是多機控制的一員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3291840"/>
            <a:ext cx="26974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21792" y="329184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nRF52840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246120" y="3291840"/>
            <a:ext cx="23774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1" name="Text 29"/>
          <p:cNvSpPr/>
          <p:nvPr/>
        </p:nvSpPr>
        <p:spPr>
          <a:xfrm>
            <a:off x="3319272" y="329184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nRF52840(M4)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23560" y="3291840"/>
            <a:ext cx="20116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3" name="Text 31"/>
          <p:cNvSpPr/>
          <p:nvPr/>
        </p:nvSpPr>
        <p:spPr>
          <a:xfrm>
            <a:off x="5696712" y="329184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(內建 RADIO)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635240" y="3291840"/>
            <a:ext cx="182880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5" name="Text 33"/>
          <p:cNvSpPr/>
          <p:nvPr/>
        </p:nvSpPr>
        <p:spPr>
          <a:xfrm>
            <a:off x="7708392" y="32918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</a:t>
            </a:r>
            <a:r>
              <a:rPr lang="en-US" altLang="zh-CN" sz="140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</a:t>
            </a:r>
            <a:r>
              <a:rPr lang="en-US" altLang="zh-CN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464040" y="3291840"/>
            <a:ext cx="21488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7" name="Text 35"/>
          <p:cNvSpPr/>
          <p:nvPr/>
        </p:nvSpPr>
        <p:spPr>
          <a:xfrm>
            <a:off x="9537192" y="329184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研究對象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526280"/>
            <a:ext cx="26974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pPr algn="ctr"/>
            <a:endParaRPr dirty="0"/>
          </a:p>
        </p:txBody>
      </p:sp>
      <p:sp>
        <p:nvSpPr>
          <p:cNvPr id="39" name="Text 37"/>
          <p:cNvSpPr/>
          <p:nvPr/>
        </p:nvSpPr>
        <p:spPr>
          <a:xfrm>
            <a:off x="621792" y="4526280"/>
            <a:ext cx="25511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ESP32S3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46120" y="4526280"/>
            <a:ext cx="23774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1" name="Text 39"/>
          <p:cNvSpPr/>
          <p:nvPr/>
        </p:nvSpPr>
        <p:spPr>
          <a:xfrm>
            <a:off x="3319272" y="4526280"/>
            <a:ext cx="22311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ESP32S3(LX7</a:t>
            </a:r>
            <a:r>
              <a:rPr lang="zh-TW" alt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双核</a:t>
            </a: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623560" y="4526280"/>
            <a:ext cx="20116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3" name="Text 41"/>
          <p:cNvSpPr/>
          <p:nvPr/>
        </p:nvSpPr>
        <p:spPr>
          <a:xfrm>
            <a:off x="5696712" y="4526280"/>
            <a:ext cx="18653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WiFi / BLE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635240" y="4526280"/>
            <a:ext cx="182880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5" name="Text 43"/>
          <p:cNvSpPr/>
          <p:nvPr/>
        </p:nvSpPr>
        <p:spPr>
          <a:xfrm>
            <a:off x="7708392" y="4526280"/>
            <a:ext cx="168249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 ESP-FC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464040" y="4526280"/>
            <a:ext cx="2148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7" name="Text 45"/>
          <p:cNvSpPr/>
          <p:nvPr/>
        </p:nvSpPr>
        <p:spPr>
          <a:xfrm>
            <a:off x="9537192" y="4526280"/>
            <a:ext cx="20025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驗證主控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400" dirty="0"/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FFBE4F1-36CB-4580-8A2E-BCD1F10280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8BDB40E5-369C-40AB-A151-17AD2FF8B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硬體架構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2395CAC-08D8-40D2-9983-DA6A4213C989}"/>
              </a:ext>
            </a:extLst>
          </p:cNvPr>
          <p:cNvGrpSpPr/>
          <p:nvPr/>
        </p:nvGrpSpPr>
        <p:grpSpPr>
          <a:xfrm>
            <a:off x="599409" y="868787"/>
            <a:ext cx="6951421" cy="3477888"/>
            <a:chOff x="2413000" y="1422400"/>
            <a:chExt cx="8599389" cy="4368800"/>
          </a:xfrm>
        </p:grpSpPr>
        <p:sp>
          <p:nvSpPr>
            <p:cNvPr id="8" name="Rectangle 7"/>
            <p:cNvSpPr/>
            <p:nvPr/>
          </p:nvSpPr>
          <p:spPr>
            <a:xfrm>
              <a:off x="4445000" y="14224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馬達驅動</a:t>
              </a:r>
              <a:endParaRPr sz="1600" b="0" dirty="0">
                <a:solidFill>
                  <a:srgbClr val="111111"/>
                </a:solidFill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413000" y="2235200"/>
              <a:ext cx="4318000" cy="2717800"/>
            </a:xfrm>
            <a:prstGeom prst="rect">
              <a:avLst/>
            </a:prstGeom>
            <a:solidFill>
              <a:srgbClr val="E8F1FB"/>
            </a:solidFill>
            <a:ln w="15240">
              <a:solidFill>
                <a:srgbClr val="333333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endParaRPr sz="24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489200" y="2286000"/>
              <a:ext cx="2789033" cy="27699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dirty="0">
                  <a:solidFill>
                    <a:srgbClr val="111111"/>
                  </a:solidFill>
                </a:rPr>
                <a:t>XIAO nRF52840 Sense </a:t>
              </a:r>
              <a:r>
                <a:rPr sz="1200" b="1" dirty="0" err="1">
                  <a:solidFill>
                    <a:srgbClr val="111111"/>
                  </a:solidFill>
                </a:rPr>
                <a:t>模組</a:t>
              </a:r>
              <a:r>
                <a:rPr sz="1200" b="1" dirty="0">
                  <a:solidFill>
                    <a:srgbClr val="111111"/>
                  </a:solidFill>
                </a:rPr>
                <a:t>(</a:t>
              </a:r>
              <a:r>
                <a:rPr sz="1200" b="1" dirty="0" err="1">
                  <a:solidFill>
                    <a:srgbClr val="111111"/>
                  </a:solidFill>
                </a:rPr>
                <a:t>可插拔更換</a:t>
              </a:r>
              <a:r>
                <a:rPr sz="1200" b="1" dirty="0">
                  <a:solidFill>
                    <a:srgbClr val="111111"/>
                  </a:solidFill>
                </a:rPr>
                <a:t>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90800" y="2540000"/>
              <a:ext cx="3962400" cy="965200"/>
            </a:xfrm>
            <a:prstGeom prst="rect">
              <a:avLst/>
            </a:prstGeom>
            <a:solidFill>
              <a:srgbClr val="7B9FE0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nRF52840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64MHz Cortex-M4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1MB FLASH ｜ 256KB RAM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908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板載晶片天線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6482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LSM6DS3TR-C</a:t>
              </a: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板載六軸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590800" y="4292600"/>
              <a:ext cx="3962400" cy="5334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內建充電電路</a:t>
              </a:r>
              <a:r>
                <a:rPr sz="1600" b="0" dirty="0">
                  <a:solidFill>
                    <a:srgbClr val="111111"/>
                  </a:solidFill>
                </a:rPr>
                <a:t>(BQ25101)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493000" y="2362200"/>
              <a:ext cx="2286000" cy="13970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GY-91　10DOF</a:t>
              </a: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三軸加速度計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三軸陀螺儀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三軸磁力計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氣壓計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93000" y="4038600"/>
              <a:ext cx="2286000" cy="7874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鋰電池</a:t>
              </a:r>
              <a:endParaRPr sz="1600" b="0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>
                  <a:solidFill>
                    <a:srgbClr val="111111"/>
                  </a:solidFill>
                </a:rPr>
                <a:t>(</a:t>
              </a:r>
              <a:r>
                <a:rPr lang="zh-CN" altLang="en-US" sz="1200" b="0" dirty="0">
                  <a:solidFill>
                    <a:srgbClr val="111111"/>
                  </a:solidFill>
                </a:rPr>
                <a:t>可</a:t>
              </a:r>
              <a:r>
                <a:rPr sz="1200" b="0" dirty="0" err="1">
                  <a:solidFill>
                    <a:srgbClr val="111111"/>
                  </a:solidFill>
                </a:rPr>
                <a:t>經模組內建電路充電</a:t>
              </a:r>
              <a:r>
                <a:rPr sz="1200" b="0" dirty="0">
                  <a:solidFill>
                    <a:srgbClr val="111111"/>
                  </a:solidFill>
                </a:rPr>
                <a:t>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3000" y="51816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>
                  <a:solidFill>
                    <a:srgbClr val="111111"/>
                  </a:solidFill>
                </a:rPr>
                <a:t>USB </a:t>
              </a:r>
              <a:r>
                <a:rPr lang="zh-CN" altLang="en-US" sz="1600" b="0" dirty="0">
                  <a:solidFill>
                    <a:srgbClr val="111111"/>
                  </a:solidFill>
                </a:rPr>
                <a:t>接口</a:t>
              </a:r>
              <a:endParaRPr sz="1600" b="0" dirty="0">
                <a:solidFill>
                  <a:srgbClr val="111111"/>
                </a:solidFill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67569" y="2032000"/>
              <a:ext cx="46006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PWM×4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37272" y="2819400"/>
              <a:ext cx="349456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TWIM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786590" y="4191000"/>
              <a:ext cx="650820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BAT+/BAT−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936924" y="4953000"/>
              <a:ext cx="50815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CDC / 5V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5588000" y="2032000"/>
              <a:ext cx="0" cy="2032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6731000" y="30607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6731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3556000" y="4953000"/>
              <a:ext cx="0" cy="2286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9779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0541000" y="1727200"/>
              <a:ext cx="0" cy="270510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H="1">
              <a:off x="6731000" y="1727200"/>
              <a:ext cx="38100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10704611" y="2930634"/>
              <a:ext cx="307778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VBAT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A2B50477-A950-45BC-8030-CAD0936C541A}"/>
              </a:ext>
            </a:extLst>
          </p:cNvPr>
          <p:cNvGrpSpPr/>
          <p:nvPr/>
        </p:nvGrpSpPr>
        <p:grpSpPr>
          <a:xfrm>
            <a:off x="6983336" y="1076982"/>
            <a:ext cx="2921000" cy="2094025"/>
            <a:chOff x="9052113" y="987722"/>
            <a:chExt cx="2921000" cy="2094025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7C595DE-8A25-4B62-A378-8531CF6AB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467" y="987722"/>
              <a:ext cx="2566293" cy="19193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603BEA0D-BDF6-4228-B87A-DC4549B451FB}"/>
                </a:ext>
              </a:extLst>
            </p:cNvPr>
            <p:cNvSpPr txBox="1"/>
            <p:nvPr/>
          </p:nvSpPr>
          <p:spPr>
            <a:xfrm>
              <a:off x="9052113" y="2712415"/>
              <a:ext cx="2921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800" b="1" dirty="0">
                  <a:solidFill>
                    <a:srgbClr val="111111"/>
                  </a:solidFill>
                </a:rPr>
                <a:t>XIAO nRF52840 Sense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697B371E-195F-4EA2-ADB3-6172F58564AD}"/>
              </a:ext>
            </a:extLst>
          </p:cNvPr>
          <p:cNvGrpSpPr/>
          <p:nvPr/>
        </p:nvGrpSpPr>
        <p:grpSpPr>
          <a:xfrm>
            <a:off x="9722400" y="1227696"/>
            <a:ext cx="1997880" cy="1920927"/>
            <a:chOff x="9268865" y="3823116"/>
            <a:chExt cx="2583589" cy="2426922"/>
          </a:xfrm>
        </p:grpSpPr>
        <p:pic>
          <p:nvPicPr>
            <p:cNvPr id="1028" name="Picture 4" descr="Amazon.com: GY-91 MPU9250 BMP280 10DOF 羅盤加速陀螺儀感測器模組9 軸態度感測器9 軸適用於Arduino : 工業與科學">
              <a:extLst>
                <a:ext uri="{FF2B5EF4-FFF2-40B4-BE49-F238E27FC236}">
                  <a16:creationId xmlns:a16="http://schemas.microsoft.com/office/drawing/2014/main" id="{94E6B216-0664-46B7-998B-18B24EB370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68865" y="3823116"/>
              <a:ext cx="2583589" cy="2057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F132C182-50D1-47FF-8AA6-35F8244E6D09}"/>
                </a:ext>
              </a:extLst>
            </p:cNvPr>
            <p:cNvSpPr txBox="1"/>
            <p:nvPr/>
          </p:nvSpPr>
          <p:spPr>
            <a:xfrm>
              <a:off x="9336379" y="5880706"/>
              <a:ext cx="24485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b="1" dirty="0">
                  <a:solidFill>
                    <a:srgbClr val="111111"/>
                  </a:solidFill>
                </a:rPr>
                <a:t>GY-91</a:t>
              </a:r>
              <a:endParaRPr lang="en-US" altLang="zh-TW" sz="1800" b="1" dirty="0">
                <a:solidFill>
                  <a:srgbClr val="111111"/>
                </a:solidFill>
              </a:endParaRPr>
            </a:p>
          </p:txBody>
        </p:sp>
      </p:grpSp>
      <p:sp>
        <p:nvSpPr>
          <p:cNvPr id="26" name="页脚占位符 25">
            <a:extLst>
              <a:ext uri="{FF2B5EF4-FFF2-40B4-BE49-F238E27FC236}">
                <a16:creationId xmlns:a16="http://schemas.microsoft.com/office/drawing/2014/main" id="{1C61C0AA-5D1E-4197-AEF8-2E253B595F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5" name="灯片编号占位符 34">
            <a:extLst>
              <a:ext uri="{FF2B5EF4-FFF2-40B4-BE49-F238E27FC236}">
                <a16:creationId xmlns:a16="http://schemas.microsoft.com/office/drawing/2014/main" id="{B576DFDF-17E7-4D6C-8B52-763B8CC52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9</a:t>
            </a:fld>
            <a:endParaRPr lang="en-US" dirty="0"/>
          </a:p>
        </p:txBody>
      </p:sp>
      <p:pic>
        <p:nvPicPr>
          <p:cNvPr id="42" name="Picture 7" descr="atk_framework.png">
            <a:extLst>
              <a:ext uri="{FF2B5EF4-FFF2-40B4-BE49-F238E27FC236}">
                <a16:creationId xmlns:a16="http://schemas.microsoft.com/office/drawing/2014/main" id="{1AB380E7-E4A4-4FC2-BBE5-5145B6EF3D7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34540" y="3669089"/>
            <a:ext cx="7483034" cy="2745153"/>
          </a:xfrm>
          <a:prstGeom prst="rect">
            <a:avLst/>
          </a:prstGeom>
        </p:spPr>
      </p:pic>
      <p:sp>
        <p:nvSpPr>
          <p:cNvPr id="40" name="矩形 39">
            <a:extLst>
              <a:ext uri="{FF2B5EF4-FFF2-40B4-BE49-F238E27FC236}">
                <a16:creationId xmlns:a16="http://schemas.microsoft.com/office/drawing/2014/main" id="{876B9F8F-DC5D-4116-90B2-6FC17C9B02D3}"/>
              </a:ext>
            </a:extLst>
          </p:cNvPr>
          <p:cNvSpPr/>
          <p:nvPr/>
        </p:nvSpPr>
        <p:spPr>
          <a:xfrm>
            <a:off x="4256659" y="3669089"/>
            <a:ext cx="7662069" cy="277329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TextBox 49">
            <a:extLst>
              <a:ext uri="{FF2B5EF4-FFF2-40B4-BE49-F238E27FC236}">
                <a16:creationId xmlns:a16="http://schemas.microsoft.com/office/drawing/2014/main" id="{F5455502-392D-409C-B5B6-36850734EE04}"/>
              </a:ext>
            </a:extLst>
          </p:cNvPr>
          <p:cNvSpPr txBox="1"/>
          <p:nvPr/>
        </p:nvSpPr>
        <p:spPr>
          <a:xfrm>
            <a:off x="7301605" y="3857809"/>
            <a:ext cx="835424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 i="1" dirty="0">
                <a:solidFill>
                  <a:srgbClr val="E8934A"/>
                </a:solidFill>
              </a:rPr>
              <a:t>ATK-</a:t>
            </a:r>
            <a:r>
              <a:rPr lang="en-US" altLang="zh-CN" sz="1600" b="1" i="1" dirty="0" err="1">
                <a:solidFill>
                  <a:srgbClr val="E8934A"/>
                </a:solidFill>
              </a:rPr>
              <a:t>MiniFly</a:t>
            </a:r>
            <a:endParaRPr sz="1600" b="1" i="1" dirty="0">
              <a:solidFill>
                <a:srgbClr val="E8934A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控制晶片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3B33985C-031C-4518-B458-7B123F6F012F}"/>
              </a:ext>
            </a:extLst>
          </p:cNvPr>
          <p:cNvSpPr/>
          <p:nvPr/>
        </p:nvSpPr>
        <p:spPr>
          <a:xfrm>
            <a:off x="548640" y="1397000"/>
            <a:ext cx="5232400" cy="24130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C9D69F9E-28B0-4694-A918-4DF941D37BAB}"/>
              </a:ext>
            </a:extLst>
          </p:cNvPr>
          <p:cNvSpPr txBox="1"/>
          <p:nvPr/>
        </p:nvSpPr>
        <p:spPr>
          <a:xfrm>
            <a:off x="777240" y="1496864"/>
            <a:ext cx="4826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原廠　兩顆晶片分工</a:t>
            </a:r>
          </a:p>
        </p:txBody>
      </p:sp>
      <p:sp>
        <p:nvSpPr>
          <p:cNvPr id="29" name="Rounded Rectangle 7">
            <a:extLst>
              <a:ext uri="{FF2B5EF4-FFF2-40B4-BE49-F238E27FC236}">
                <a16:creationId xmlns:a16="http://schemas.microsoft.com/office/drawing/2014/main" id="{373DAEB1-4EAA-42AF-A0E8-6469BCC34502}"/>
              </a:ext>
            </a:extLst>
          </p:cNvPr>
          <p:cNvSpPr/>
          <p:nvPr/>
        </p:nvSpPr>
        <p:spPr>
          <a:xfrm>
            <a:off x="889000" y="1930400"/>
            <a:ext cx="2222500" cy="736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 dirty="0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200" b="0" dirty="0">
                <a:solidFill>
                  <a:srgbClr val="FFFFFF"/>
                </a:solidFill>
              </a:rPr>
              <a:t>Cortex-M0 · 16 MHz</a:t>
            </a:r>
          </a:p>
          <a:p>
            <a:pPr algn="ctr"/>
            <a:r>
              <a:rPr sz="1200" b="0" dirty="0" err="1">
                <a:solidFill>
                  <a:srgbClr val="FFFFFF"/>
                </a:solidFill>
              </a:rPr>
              <a:t>無線通訊</a:t>
            </a:r>
            <a:r>
              <a:rPr sz="1200" b="0" dirty="0">
                <a:solidFill>
                  <a:srgbClr val="FFFFFF"/>
                </a:solidFill>
              </a:rPr>
              <a:t> · </a:t>
            </a:r>
            <a:r>
              <a:rPr sz="1200" b="0" dirty="0" err="1">
                <a:solidFill>
                  <a:srgbClr val="FFFFFF"/>
                </a:solidFill>
              </a:rPr>
              <a:t>電源管理</a:t>
            </a:r>
            <a:endParaRPr sz="1200" b="0" dirty="0">
              <a:solidFill>
                <a:srgbClr val="FFFFFF"/>
              </a:solidFill>
            </a:endParaRP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B35334CE-EEEC-452D-92FA-E27CCBF487EC}"/>
              </a:ext>
            </a:extLst>
          </p:cNvPr>
          <p:cNvSpPr/>
          <p:nvPr/>
        </p:nvSpPr>
        <p:spPr>
          <a:xfrm>
            <a:off x="3276600" y="1930400"/>
            <a:ext cx="2311400" cy="736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b="1">
                <a:solidFill>
                  <a:srgbClr val="FFFFFF"/>
                </a:solidFill>
              </a:rPr>
              <a:t>STM32F411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Cortex-M4 · 96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感測 · 融合 · PID · 馬達</a:t>
            </a:r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0246E99-BD33-4860-942A-E30DC6722D61}"/>
              </a:ext>
            </a:extLst>
          </p:cNvPr>
          <p:cNvCxnSpPr/>
          <p:nvPr/>
        </p:nvCxnSpPr>
        <p:spPr>
          <a:xfrm>
            <a:off x="3111500" y="2298700"/>
            <a:ext cx="1651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131FF19D-333A-4730-A18C-FA79ECEC49F6}"/>
              </a:ext>
            </a:extLst>
          </p:cNvPr>
          <p:cNvSpPr txBox="1"/>
          <p:nvPr/>
        </p:nvSpPr>
        <p:spPr>
          <a:xfrm>
            <a:off x="889000" y="2762230"/>
            <a:ext cx="4699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兩顆之間以 UART 相連,遙控指令需轉發一次(ATKP 協定)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D28EDA4A-D005-47FF-9F06-43D196EC5666}"/>
              </a:ext>
            </a:extLst>
          </p:cNvPr>
          <p:cNvSpPr txBox="1"/>
          <p:nvPr/>
        </p:nvSpPr>
        <p:spPr>
          <a:xfrm>
            <a:off x="889000" y="3041630"/>
            <a:ext cx="4699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6B7A8C"/>
                </a:solidFill>
              </a:rPr>
              <a:t>韌體分為兩份,需各自燒錄</a:t>
            </a:r>
          </a:p>
        </p:txBody>
      </p:sp>
      <p:sp>
        <p:nvSpPr>
          <p:cNvPr id="34" name="Rounded Rectangle 12">
            <a:extLst>
              <a:ext uri="{FF2B5EF4-FFF2-40B4-BE49-F238E27FC236}">
                <a16:creationId xmlns:a16="http://schemas.microsoft.com/office/drawing/2014/main" id="{57FA5E72-14A2-4C41-BAC3-5D39E5204A75}"/>
              </a:ext>
            </a:extLst>
          </p:cNvPr>
          <p:cNvSpPr/>
          <p:nvPr/>
        </p:nvSpPr>
        <p:spPr>
          <a:xfrm>
            <a:off x="6032500" y="1397000"/>
            <a:ext cx="558038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07674DC0-7110-465D-AB02-BBF4EB9373A8}"/>
              </a:ext>
            </a:extLst>
          </p:cNvPr>
          <p:cNvSpPr txBox="1"/>
          <p:nvPr/>
        </p:nvSpPr>
        <p:spPr>
          <a:xfrm>
            <a:off x="6261100" y="1496864"/>
            <a:ext cx="5080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本研究　單顆晶片整合</a:t>
            </a:r>
          </a:p>
        </p:txBody>
      </p:sp>
      <p:sp>
        <p:nvSpPr>
          <p:cNvPr id="36" name="Rounded Rectangle 14">
            <a:extLst>
              <a:ext uri="{FF2B5EF4-FFF2-40B4-BE49-F238E27FC236}">
                <a16:creationId xmlns:a16="http://schemas.microsoft.com/office/drawing/2014/main" id="{69150E0E-9F45-433F-9531-E869873FA7CB}"/>
              </a:ext>
            </a:extLst>
          </p:cNvPr>
          <p:cNvSpPr/>
          <p:nvPr/>
        </p:nvSpPr>
        <p:spPr>
          <a:xfrm>
            <a:off x="6350000" y="1930400"/>
            <a:ext cx="2286000" cy="11430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Cortex-M4 · 64 MHz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含 FPU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1 MB FLASH · 256 KB RAM</a:t>
            </a:r>
          </a:p>
        </p:txBody>
      </p:sp>
      <p:sp>
        <p:nvSpPr>
          <p:cNvPr id="37" name="Rounded Rectangle 15">
            <a:extLst>
              <a:ext uri="{FF2B5EF4-FFF2-40B4-BE49-F238E27FC236}">
                <a16:creationId xmlns:a16="http://schemas.microsoft.com/office/drawing/2014/main" id="{B0C63025-284A-49D1-8917-4DEF60670814}"/>
              </a:ext>
            </a:extLst>
          </p:cNvPr>
          <p:cNvSpPr/>
          <p:nvPr/>
        </p:nvSpPr>
        <p:spPr>
          <a:xfrm>
            <a:off x="8890000" y="19304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RADIO 收發</a:t>
            </a:r>
          </a:p>
        </p:txBody>
      </p:sp>
      <p:sp>
        <p:nvSpPr>
          <p:cNvPr id="38" name="Rounded Rectangle 16">
            <a:extLst>
              <a:ext uri="{FF2B5EF4-FFF2-40B4-BE49-F238E27FC236}">
                <a16:creationId xmlns:a16="http://schemas.microsoft.com/office/drawing/2014/main" id="{5232C98E-1AD2-4ACD-97EF-79F9839B2B81}"/>
              </a:ext>
            </a:extLst>
          </p:cNvPr>
          <p:cNvSpPr/>
          <p:nvPr/>
        </p:nvSpPr>
        <p:spPr>
          <a:xfrm>
            <a:off x="8890000" y="23241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感測 · 融合 · PID</a:t>
            </a:r>
          </a:p>
        </p:txBody>
      </p:sp>
      <p:sp>
        <p:nvSpPr>
          <p:cNvPr id="39" name="Rounded Rectangle 17">
            <a:extLst>
              <a:ext uri="{FF2B5EF4-FFF2-40B4-BE49-F238E27FC236}">
                <a16:creationId xmlns:a16="http://schemas.microsoft.com/office/drawing/2014/main" id="{604B725A-988B-4B91-B889-49AEEB062413}"/>
              </a:ext>
            </a:extLst>
          </p:cNvPr>
          <p:cNvSpPr/>
          <p:nvPr/>
        </p:nvSpPr>
        <p:spPr>
          <a:xfrm>
            <a:off x="8890000" y="2717800"/>
            <a:ext cx="2540000" cy="3302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馬達 · USB</a:t>
            </a:r>
          </a:p>
        </p:txBody>
      </p:sp>
      <p:cxnSp>
        <p:nvCxnSpPr>
          <p:cNvPr id="40" name="Connector 18">
            <a:extLst>
              <a:ext uri="{FF2B5EF4-FFF2-40B4-BE49-F238E27FC236}">
                <a16:creationId xmlns:a16="http://schemas.microsoft.com/office/drawing/2014/main" id="{F147B9D9-C290-4F54-913B-899A71CB473C}"/>
              </a:ext>
            </a:extLst>
          </p:cNvPr>
          <p:cNvCxnSpPr/>
          <p:nvPr/>
        </p:nvCxnSpPr>
        <p:spPr>
          <a:xfrm>
            <a:off x="8661400" y="2501900"/>
            <a:ext cx="2286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19">
            <a:extLst>
              <a:ext uri="{FF2B5EF4-FFF2-40B4-BE49-F238E27FC236}">
                <a16:creationId xmlns:a16="http://schemas.microsoft.com/office/drawing/2014/main" id="{F80E3494-8E2B-44CA-867E-CE45F02EB164}"/>
              </a:ext>
            </a:extLst>
          </p:cNvPr>
          <p:cNvSpPr txBox="1"/>
          <p:nvPr/>
        </p:nvSpPr>
        <p:spPr>
          <a:xfrm>
            <a:off x="6350000" y="3168630"/>
            <a:ext cx="508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無跨晶片通訊,資料在同一顆晶片內流動;燒錄</a:t>
            </a:r>
            <a:r>
              <a:rPr lang="zh-CN" altLang="en-US" sz="1400" dirty="0">
                <a:solidFill>
                  <a:srgbClr val="6B7A8C"/>
                </a:solidFill>
              </a:rPr>
              <a:t>一次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D9E6B91C-9B94-4DBE-A2E4-309E77B82BCD}"/>
              </a:ext>
            </a:extLst>
          </p:cNvPr>
          <p:cNvSpPr/>
          <p:nvPr/>
        </p:nvSpPr>
        <p:spPr>
          <a:xfrm>
            <a:off x="548640" y="4013200"/>
            <a:ext cx="5232400" cy="23114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21">
            <a:extLst>
              <a:ext uri="{FF2B5EF4-FFF2-40B4-BE49-F238E27FC236}">
                <a16:creationId xmlns:a16="http://schemas.microsoft.com/office/drawing/2014/main" id="{3764AF65-29DB-4FDD-A57F-ECA149E6C375}"/>
              </a:ext>
            </a:extLst>
          </p:cNvPr>
          <p:cNvSpPr txBox="1"/>
          <p:nvPr/>
        </p:nvSpPr>
        <p:spPr>
          <a:xfrm>
            <a:off x="777240" y="4100364"/>
            <a:ext cx="4826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 dirty="0" err="1">
                <a:solidFill>
                  <a:srgbClr val="0A4D6E"/>
                </a:solidFill>
              </a:rPr>
              <a:t>開發與燒錄</a:t>
            </a:r>
            <a:endParaRPr sz="2000" b="1" dirty="0">
              <a:solidFill>
                <a:srgbClr val="0A4D6E"/>
              </a:solidFill>
            </a:endParaRP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BADA53EA-D020-41BA-9335-F451A830305D}"/>
              </a:ext>
            </a:extLst>
          </p:cNvPr>
          <p:cNvSpPr txBox="1"/>
          <p:nvPr/>
        </p:nvSpPr>
        <p:spPr>
          <a:xfrm>
            <a:off x="777240" y="4585107"/>
            <a:ext cx="1143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原廠</a:t>
            </a:r>
          </a:p>
        </p:txBody>
      </p:sp>
      <p:sp>
        <p:nvSpPr>
          <p:cNvPr id="45" name="TextBox 23">
            <a:extLst>
              <a:ext uri="{FF2B5EF4-FFF2-40B4-BE49-F238E27FC236}">
                <a16:creationId xmlns:a16="http://schemas.microsoft.com/office/drawing/2014/main" id="{CEECB63B-3A81-40C5-B5E5-B82C9707531E}"/>
              </a:ext>
            </a:extLst>
          </p:cNvPr>
          <p:cNvSpPr txBox="1"/>
          <p:nvPr/>
        </p:nvSpPr>
        <p:spPr>
          <a:xfrm>
            <a:off x="1917700" y="4600496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6B7A8C"/>
                </a:solidFill>
              </a:rPr>
              <a:t>Keil MDK ｜</a:t>
            </a:r>
          </a:p>
        </p:txBody>
      </p:sp>
      <p:sp>
        <p:nvSpPr>
          <p:cNvPr id="46" name="TextBox 24">
            <a:extLst>
              <a:ext uri="{FF2B5EF4-FFF2-40B4-BE49-F238E27FC236}">
                <a16:creationId xmlns:a16="http://schemas.microsoft.com/office/drawing/2014/main" id="{B7DDEE7D-4C83-4DB8-B388-FC43A5F0C919}"/>
              </a:ext>
            </a:extLst>
          </p:cNvPr>
          <p:cNvSpPr txBox="1"/>
          <p:nvPr/>
        </p:nvSpPr>
        <p:spPr>
          <a:xfrm>
            <a:off x="1917700" y="4823937"/>
            <a:ext cx="38100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altLang="zh-TW" sz="1400" b="0" dirty="0">
                <a:solidFill>
                  <a:srgbClr val="6B7A8C"/>
                </a:solidFill>
              </a:rPr>
              <a:t>DAP </a:t>
            </a:r>
            <a:r>
              <a:rPr lang="zh-TW" altLang="en-US" sz="1400" b="0" dirty="0">
                <a:solidFill>
                  <a:srgbClr val="6B7A8C"/>
                </a:solidFill>
              </a:rPr>
              <a:t>調試器</a:t>
            </a:r>
            <a:r>
              <a:rPr lang="en-US" altLang="zh-TW" sz="1400" b="0" dirty="0">
                <a:solidFill>
                  <a:srgbClr val="6B7A8C"/>
                </a:solidFill>
              </a:rPr>
              <a:t>(</a:t>
            </a:r>
            <a:r>
              <a:rPr lang="zh-TW" altLang="en-US" sz="1400" b="0" dirty="0">
                <a:solidFill>
                  <a:srgbClr val="6B7A8C"/>
                </a:solidFill>
              </a:rPr>
              <a:t>需切換 </a:t>
            </a:r>
            <a:r>
              <a:rPr lang="en-US" altLang="zh-TW" sz="1400" b="0" dirty="0">
                <a:solidFill>
                  <a:srgbClr val="6B7A8C"/>
                </a:solidFill>
              </a:rPr>
              <a:t>STM32</a:t>
            </a:r>
            <a:r>
              <a:rPr lang="zh-TW" altLang="en-US" sz="1400" b="0" dirty="0">
                <a:solidFill>
                  <a:srgbClr val="6B7A8C"/>
                </a:solidFill>
              </a:rPr>
              <a:t>／</a:t>
            </a:r>
            <a:r>
              <a:rPr lang="en-US" altLang="zh-TW" sz="1400" b="0" dirty="0">
                <a:solidFill>
                  <a:srgbClr val="6B7A8C"/>
                </a:solidFill>
              </a:rPr>
              <a:t>NRF51 </a:t>
            </a:r>
            <a:r>
              <a:rPr lang="zh-TW" altLang="en-US" sz="1400" b="0" dirty="0">
                <a:solidFill>
                  <a:srgbClr val="6B7A8C"/>
                </a:solidFill>
              </a:rPr>
              <a:t>開關</a:t>
            </a:r>
            <a:r>
              <a:rPr lang="en-US" altLang="zh-TW" sz="1400" b="0" dirty="0">
                <a:solidFill>
                  <a:srgbClr val="6B7A8C"/>
                </a:solidFill>
              </a:rPr>
              <a:t>)</a:t>
            </a:r>
            <a:r>
              <a:rPr sz="1400" b="0" dirty="0">
                <a:solidFill>
                  <a:srgbClr val="6B7A8C"/>
                </a:solidFill>
              </a:rPr>
              <a:t>或 USB </a:t>
            </a:r>
            <a:r>
              <a:rPr sz="1400" b="0" dirty="0" err="1">
                <a:solidFill>
                  <a:srgbClr val="6B7A8C"/>
                </a:solidFill>
              </a:rPr>
              <a:t>固件升級</a:t>
            </a:r>
            <a:r>
              <a:rPr lang="zh-CN" altLang="en-US" sz="1400" b="0" dirty="0">
                <a:solidFill>
                  <a:srgbClr val="6B7A8C"/>
                </a:solidFill>
              </a:rPr>
              <a:t>（</a:t>
            </a:r>
            <a:r>
              <a:rPr lang="en-US" altLang="zh-CN" sz="1400" b="0" dirty="0">
                <a:solidFill>
                  <a:srgbClr val="6B7A8C"/>
                </a:solidFill>
              </a:rPr>
              <a:t>STM32</a:t>
            </a:r>
            <a:r>
              <a:rPr lang="zh-CN" altLang="en-US" sz="1400" b="0" dirty="0">
                <a:solidFill>
                  <a:srgbClr val="6B7A8C"/>
                </a:solidFill>
              </a:rPr>
              <a:t>）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47" name="TextBox 25">
            <a:extLst>
              <a:ext uri="{FF2B5EF4-FFF2-40B4-BE49-F238E27FC236}">
                <a16:creationId xmlns:a16="http://schemas.microsoft.com/office/drawing/2014/main" id="{9877E7E9-9A5F-4041-8415-040A0FDC6A25}"/>
              </a:ext>
            </a:extLst>
          </p:cNvPr>
          <p:cNvSpPr txBox="1"/>
          <p:nvPr/>
        </p:nvSpPr>
        <p:spPr>
          <a:xfrm>
            <a:off x="779780" y="5404822"/>
            <a:ext cx="1143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本研究</a:t>
            </a:r>
          </a:p>
        </p:txBody>
      </p:sp>
      <p:sp>
        <p:nvSpPr>
          <p:cNvPr id="48" name="TextBox 26">
            <a:extLst>
              <a:ext uri="{FF2B5EF4-FFF2-40B4-BE49-F238E27FC236}">
                <a16:creationId xmlns:a16="http://schemas.microsoft.com/office/drawing/2014/main" id="{F2481C5C-7854-46B8-A710-54DB1BA5F1C1}"/>
              </a:ext>
            </a:extLst>
          </p:cNvPr>
          <p:cNvSpPr txBox="1"/>
          <p:nvPr/>
        </p:nvSpPr>
        <p:spPr>
          <a:xfrm>
            <a:off x="1920240" y="5420211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6B7A8C"/>
                </a:solidFill>
              </a:rPr>
              <a:t>VS Code + </a:t>
            </a:r>
            <a:r>
              <a:rPr sz="1400" b="0" dirty="0" err="1">
                <a:solidFill>
                  <a:srgbClr val="6B7A8C"/>
                </a:solidFill>
              </a:rPr>
              <a:t>PlatformIO</a:t>
            </a:r>
            <a:r>
              <a:rPr sz="1400" b="0" dirty="0">
                <a:solidFill>
                  <a:srgbClr val="6B7A8C"/>
                </a:solidFill>
              </a:rPr>
              <a:t> ｜ Arduino </a:t>
            </a:r>
            <a:r>
              <a:rPr sz="1400" b="0" dirty="0" err="1">
                <a:solidFill>
                  <a:srgbClr val="6B7A8C"/>
                </a:solidFill>
              </a:rPr>
              <a:t>框架</a:t>
            </a:r>
            <a:r>
              <a:rPr sz="1400" b="0" dirty="0">
                <a:solidFill>
                  <a:srgbClr val="6B7A8C"/>
                </a:solidFill>
              </a:rPr>
              <a:t>(XIAO BSP)</a:t>
            </a:r>
          </a:p>
        </p:txBody>
      </p:sp>
      <p:sp>
        <p:nvSpPr>
          <p:cNvPr id="49" name="TextBox 27">
            <a:extLst>
              <a:ext uri="{FF2B5EF4-FFF2-40B4-BE49-F238E27FC236}">
                <a16:creationId xmlns:a16="http://schemas.microsoft.com/office/drawing/2014/main" id="{34C88782-D5A3-4E14-9D69-590CD581F403}"/>
              </a:ext>
            </a:extLst>
          </p:cNvPr>
          <p:cNvSpPr txBox="1"/>
          <p:nvPr/>
        </p:nvSpPr>
        <p:spPr>
          <a:xfrm>
            <a:off x="1920240" y="5648811"/>
            <a:ext cx="3810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雙擊</a:t>
            </a:r>
            <a:r>
              <a:rPr sz="1400" b="0" dirty="0">
                <a:solidFill>
                  <a:srgbClr val="6B7A8C"/>
                </a:solidFill>
              </a:rPr>
              <a:t> RESET 進 Bootloader → USB </a:t>
            </a:r>
            <a:r>
              <a:rPr sz="1400" b="0" dirty="0" err="1">
                <a:solidFill>
                  <a:srgbClr val="6B7A8C"/>
                </a:solidFill>
              </a:rPr>
              <a:t>直接上傳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51" name="Rounded Rectangle 29">
            <a:extLst>
              <a:ext uri="{FF2B5EF4-FFF2-40B4-BE49-F238E27FC236}">
                <a16:creationId xmlns:a16="http://schemas.microsoft.com/office/drawing/2014/main" id="{16405214-08D2-4E7F-8C4D-2CF65CE82873}"/>
              </a:ext>
            </a:extLst>
          </p:cNvPr>
          <p:cNvSpPr/>
          <p:nvPr/>
        </p:nvSpPr>
        <p:spPr>
          <a:xfrm>
            <a:off x="6032500" y="4013200"/>
            <a:ext cx="5580380" cy="2311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TextBox 30">
            <a:extLst>
              <a:ext uri="{FF2B5EF4-FFF2-40B4-BE49-F238E27FC236}">
                <a16:creationId xmlns:a16="http://schemas.microsoft.com/office/drawing/2014/main" id="{422D6D3C-46B7-4519-8FFC-7CBB9583EB57}"/>
              </a:ext>
            </a:extLst>
          </p:cNvPr>
          <p:cNvSpPr txBox="1"/>
          <p:nvPr/>
        </p:nvSpPr>
        <p:spPr>
          <a:xfrm>
            <a:off x="6261100" y="4100364"/>
            <a:ext cx="5080000" cy="35907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000" b="1">
                <a:solidFill>
                  <a:srgbClr val="0A4D6E"/>
                </a:solidFill>
              </a:rPr>
              <a:t>電源與充電</a:t>
            </a:r>
          </a:p>
        </p:txBody>
      </p:sp>
      <p:sp>
        <p:nvSpPr>
          <p:cNvPr id="53" name="Rounded Rectangle 31">
            <a:extLst>
              <a:ext uri="{FF2B5EF4-FFF2-40B4-BE49-F238E27FC236}">
                <a16:creationId xmlns:a16="http://schemas.microsoft.com/office/drawing/2014/main" id="{70F85FD0-848D-4435-A205-BC139A5A544C}"/>
              </a:ext>
            </a:extLst>
          </p:cNvPr>
          <p:cNvSpPr/>
          <p:nvPr/>
        </p:nvSpPr>
        <p:spPr>
          <a:xfrm>
            <a:off x="6350000" y="4521200"/>
            <a:ext cx="2413000" cy="5334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TP4059 充電晶片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500 mA</a:t>
            </a:r>
          </a:p>
        </p:txBody>
      </p:sp>
      <p:sp>
        <p:nvSpPr>
          <p:cNvPr id="54" name="Rounded Rectangle 32">
            <a:extLst>
              <a:ext uri="{FF2B5EF4-FFF2-40B4-BE49-F238E27FC236}">
                <a16:creationId xmlns:a16="http://schemas.microsoft.com/office/drawing/2014/main" id="{DCACA4FC-D4C4-4F45-9D7C-8D68017750A1}"/>
              </a:ext>
            </a:extLst>
          </p:cNvPr>
          <p:cNvSpPr/>
          <p:nvPr/>
        </p:nvSpPr>
        <p:spPr>
          <a:xfrm>
            <a:off x="9017000" y="4521200"/>
            <a:ext cx="2413000" cy="5334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XC6204B302 LDO ×2</a:t>
            </a:r>
          </a:p>
          <a:p>
            <a:pPr algn="ctr"/>
            <a:r>
              <a:rPr sz="1200" b="0" dirty="0" err="1">
                <a:solidFill>
                  <a:srgbClr val="FFFFFF"/>
                </a:solidFill>
              </a:rPr>
              <a:t>分別供電</a:t>
            </a:r>
            <a:endParaRPr sz="1200" b="0" dirty="0">
              <a:solidFill>
                <a:srgbClr val="FFFFFF"/>
              </a:solidFill>
            </a:endParaRPr>
          </a:p>
        </p:txBody>
      </p:sp>
      <p:sp>
        <p:nvSpPr>
          <p:cNvPr id="55" name="TextBox 33">
            <a:extLst>
              <a:ext uri="{FF2B5EF4-FFF2-40B4-BE49-F238E27FC236}">
                <a16:creationId xmlns:a16="http://schemas.microsoft.com/office/drawing/2014/main" id="{57491187-735F-4E24-B34C-BF1D502C6A8C}"/>
              </a:ext>
            </a:extLst>
          </p:cNvPr>
          <p:cNvSpPr txBox="1"/>
          <p:nvPr/>
        </p:nvSpPr>
        <p:spPr>
          <a:xfrm>
            <a:off x="6350000" y="5127120"/>
            <a:ext cx="508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原廠：載板上有獨立的充電與穩壓晶片</a:t>
            </a:r>
          </a:p>
        </p:txBody>
      </p:sp>
      <p:sp>
        <p:nvSpPr>
          <p:cNvPr id="56" name="Rounded Rectangle 34">
            <a:extLst>
              <a:ext uri="{FF2B5EF4-FFF2-40B4-BE49-F238E27FC236}">
                <a16:creationId xmlns:a16="http://schemas.microsoft.com/office/drawing/2014/main" id="{9D049588-0D95-4A14-A604-0B13747B1280}"/>
              </a:ext>
            </a:extLst>
          </p:cNvPr>
          <p:cNvSpPr/>
          <p:nvPr/>
        </p:nvSpPr>
        <p:spPr>
          <a:xfrm>
            <a:off x="6350000" y="5435600"/>
            <a:ext cx="2413000" cy="5334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BQ25101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模組內建充電</a:t>
            </a:r>
          </a:p>
        </p:txBody>
      </p:sp>
      <p:sp>
        <p:nvSpPr>
          <p:cNvPr id="57" name="Rounded Rectangle 35">
            <a:extLst>
              <a:ext uri="{FF2B5EF4-FFF2-40B4-BE49-F238E27FC236}">
                <a16:creationId xmlns:a16="http://schemas.microsoft.com/office/drawing/2014/main" id="{605EBAC0-3A7E-4CDD-AFD5-C69407F5AF99}"/>
              </a:ext>
            </a:extLst>
          </p:cNvPr>
          <p:cNvSpPr/>
          <p:nvPr/>
        </p:nvSpPr>
        <p:spPr>
          <a:xfrm>
            <a:off x="9017000" y="5435600"/>
            <a:ext cx="2413000" cy="5334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濾波電容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載板僅此一項</a:t>
            </a:r>
          </a:p>
        </p:txBody>
      </p:sp>
      <p:sp>
        <p:nvSpPr>
          <p:cNvPr id="58" name="TextBox 36">
            <a:extLst>
              <a:ext uri="{FF2B5EF4-FFF2-40B4-BE49-F238E27FC236}">
                <a16:creationId xmlns:a16="http://schemas.microsoft.com/office/drawing/2014/main" id="{93392ECE-8B75-4FAD-92E9-0A1A7D54BCF5}"/>
              </a:ext>
            </a:extLst>
          </p:cNvPr>
          <p:cNvSpPr txBox="1"/>
          <p:nvPr/>
        </p:nvSpPr>
        <p:spPr>
          <a:xfrm>
            <a:off x="6350000" y="6016120"/>
            <a:ext cx="508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>
                <a:solidFill>
                  <a:srgbClr val="6B7A8C"/>
                </a:solidFill>
              </a:rPr>
              <a:t>本研究：載板無獨立充電與穩壓晶片,充電由模組內建電路完成</a:t>
            </a:r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30393CC3-37DE-4BF8-875A-EE4738A281F8}"/>
              </a:ext>
            </a:extLst>
          </p:cNvPr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2" name="页脚占位符 61">
            <a:extLst>
              <a:ext uri="{FF2B5EF4-FFF2-40B4-BE49-F238E27FC236}">
                <a16:creationId xmlns:a16="http://schemas.microsoft.com/office/drawing/2014/main" id="{D9DE870A-13CB-48DD-9F30-DC51AA67CE0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63" name="灯片编号占位符 62">
            <a:extLst>
              <a:ext uri="{FF2B5EF4-FFF2-40B4-BE49-F238E27FC236}">
                <a16:creationId xmlns:a16="http://schemas.microsoft.com/office/drawing/2014/main" id="{FEDD2D29-612D-4155-87EE-F09BFE37A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10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2" grpId="0"/>
      <p:bldP spid="33" grpId="0"/>
      <p:bldP spid="36" grpId="0" animBg="1"/>
      <p:bldP spid="37" grpId="0" animBg="1"/>
      <p:bldP spid="38" grpId="0" animBg="1"/>
      <p:bldP spid="39" grpId="0" animBg="1"/>
      <p:bldP spid="41" grpId="0"/>
      <p:bldP spid="45" grpId="0"/>
      <p:bldP spid="46" grpId="0"/>
      <p:bldP spid="48" grpId="0"/>
      <p:bldP spid="49" grpId="0"/>
      <p:bldP spid="53" grpId="0" animBg="1"/>
      <p:bldP spid="54" grpId="0" animBg="1"/>
      <p:bldP spid="55" grpId="0"/>
      <p:bldP spid="56" grpId="0" animBg="1"/>
      <p:bldP spid="57" grpId="0" animBg="1"/>
      <p:bldP spid="5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慣性感測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2C1F0271-68DB-4CA2-9968-1F3B0AD04FFE}"/>
              </a:ext>
            </a:extLst>
          </p:cNvPr>
          <p:cNvSpPr/>
          <p:nvPr/>
        </p:nvSpPr>
        <p:spPr>
          <a:xfrm>
            <a:off x="548640" y="1397000"/>
            <a:ext cx="5232400" cy="24130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B36FB864-F908-4F2B-BAF1-283F06D55AE7}"/>
              </a:ext>
            </a:extLst>
          </p:cNvPr>
          <p:cNvSpPr txBox="1"/>
          <p:nvPr/>
        </p:nvSpPr>
        <p:spPr>
          <a:xfrm>
            <a:off x="777240" y="1512253"/>
            <a:ext cx="4826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 dirty="0" err="1">
                <a:solidFill>
                  <a:srgbClr val="0A4D6E"/>
                </a:solidFill>
              </a:rPr>
              <a:t>原廠</a:t>
            </a:r>
            <a:r>
              <a:rPr b="1" dirty="0">
                <a:solidFill>
                  <a:srgbClr val="0A4D6E"/>
                </a:solidFill>
              </a:rPr>
              <a:t>　</a:t>
            </a:r>
            <a:r>
              <a:rPr b="1" dirty="0" err="1">
                <a:solidFill>
                  <a:srgbClr val="0A4D6E"/>
                </a:solidFill>
              </a:rPr>
              <a:t>感測器</a:t>
            </a:r>
            <a:endParaRPr b="1" dirty="0">
              <a:solidFill>
                <a:srgbClr val="0A4D6E"/>
              </a:solidFill>
            </a:endParaRPr>
          </a:p>
        </p:txBody>
      </p:sp>
      <p:sp>
        <p:nvSpPr>
          <p:cNvPr id="29" name="Rounded Rectangle 7">
            <a:extLst>
              <a:ext uri="{FF2B5EF4-FFF2-40B4-BE49-F238E27FC236}">
                <a16:creationId xmlns:a16="http://schemas.microsoft.com/office/drawing/2014/main" id="{195F7ADA-2ED2-40CE-ADF8-2B4EFB467350}"/>
              </a:ext>
            </a:extLst>
          </p:cNvPr>
          <p:cNvSpPr/>
          <p:nvPr/>
        </p:nvSpPr>
        <p:spPr>
          <a:xfrm>
            <a:off x="889000" y="1955800"/>
            <a:ext cx="2222500" cy="6350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MPU9250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九軸</a:t>
            </a: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BC3DEC3C-1A4D-4247-A7B8-34C03DF2E0B3}"/>
              </a:ext>
            </a:extLst>
          </p:cNvPr>
          <p:cNvSpPr/>
          <p:nvPr/>
        </p:nvSpPr>
        <p:spPr>
          <a:xfrm>
            <a:off x="3276600" y="1955800"/>
            <a:ext cx="2311400" cy="6350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BMP280</a:t>
            </a:r>
          </a:p>
          <a:p>
            <a:pPr algn="ctr"/>
            <a:r>
              <a:rPr sz="1100" b="0" dirty="0" err="1">
                <a:solidFill>
                  <a:srgbClr val="FFFFFF"/>
                </a:solidFill>
              </a:rPr>
              <a:t>氣壓計</a:t>
            </a:r>
            <a:endParaRPr sz="1100" b="0" dirty="0">
              <a:solidFill>
                <a:srgbClr val="FFFFFF"/>
              </a:solidFill>
            </a:endParaRPr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EA8B27F4-AA92-4A69-BD87-845FD60F6CB1}"/>
              </a:ext>
            </a:extLst>
          </p:cNvPr>
          <p:cNvCxnSpPr/>
          <p:nvPr/>
        </p:nvCxnSpPr>
        <p:spPr>
          <a:xfrm flipH="1">
            <a:off x="3111500" y="2273300"/>
            <a:ext cx="1651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D400ECEE-EDE2-40F7-82FB-61E387160BDB}"/>
              </a:ext>
            </a:extLst>
          </p:cNvPr>
          <p:cNvSpPr txBox="1"/>
          <p:nvPr/>
        </p:nvSpPr>
        <p:spPr>
          <a:xfrm>
            <a:off x="889000" y="2654509"/>
            <a:ext cx="46990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九軸掛主控</a:t>
            </a:r>
            <a:r>
              <a:rPr sz="1400" b="0" dirty="0">
                <a:solidFill>
                  <a:srgbClr val="6B7A8C"/>
                </a:solidFill>
              </a:rPr>
              <a:t> IIC1(PB8/PB9),</a:t>
            </a:r>
            <a:r>
              <a:rPr sz="1400" b="0" dirty="0" err="1">
                <a:solidFill>
                  <a:srgbClr val="6B7A8C"/>
                </a:solidFill>
              </a:rPr>
              <a:t>位址</a:t>
            </a:r>
            <a:r>
              <a:rPr sz="1400" b="0" dirty="0">
                <a:solidFill>
                  <a:srgbClr val="6B7A8C"/>
                </a:solidFill>
              </a:rPr>
              <a:t> 0xD2</a:t>
            </a:r>
          </a:p>
          <a:p>
            <a:pPr algn="l"/>
            <a:r>
              <a:rPr sz="1400" b="0" dirty="0" err="1">
                <a:solidFill>
                  <a:srgbClr val="6B7A8C"/>
                </a:solidFill>
              </a:rPr>
              <a:t>氣壓計串接在九軸的輔助</a:t>
            </a:r>
            <a:r>
              <a:rPr sz="1400" b="0" dirty="0">
                <a:solidFill>
                  <a:srgbClr val="6B7A8C"/>
                </a:solidFill>
              </a:rPr>
              <a:t> </a:t>
            </a:r>
            <a:r>
              <a:rPr lang="en-US" sz="1400" b="0" dirty="0">
                <a:solidFill>
                  <a:srgbClr val="6B7A8C"/>
                </a:solidFill>
              </a:rPr>
              <a:t>IIC</a:t>
            </a:r>
            <a:r>
              <a:rPr sz="1400" b="0" dirty="0">
                <a:solidFill>
                  <a:srgbClr val="6B7A8C"/>
                </a:solidFill>
              </a:rPr>
              <a:t> </a:t>
            </a:r>
            <a:r>
              <a:rPr sz="1400" b="0" dirty="0" err="1">
                <a:solidFill>
                  <a:srgbClr val="6B7A8C"/>
                </a:solidFill>
              </a:rPr>
              <a:t>之下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1045D9E9-DFEE-4824-99E4-200FA4764266}"/>
              </a:ext>
            </a:extLst>
          </p:cNvPr>
          <p:cNvSpPr txBox="1"/>
          <p:nvPr/>
        </p:nvSpPr>
        <p:spPr>
          <a:xfrm>
            <a:off x="889000" y="3137109"/>
            <a:ext cx="46990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6B7A8C"/>
                </a:solidFill>
              </a:rPr>
              <a:t>讀取</a:t>
            </a:r>
            <a:r>
              <a:rPr lang="en-US" altLang="zh-TW" sz="1400" b="0" dirty="0">
                <a:solidFill>
                  <a:srgbClr val="6B7A8C"/>
                </a:solidFill>
              </a:rPr>
              <a:t>:</a:t>
            </a:r>
            <a:r>
              <a:rPr lang="zh-TW" altLang="en-US" sz="1400" b="0" dirty="0">
                <a:solidFill>
                  <a:srgbClr val="6B7A8C"/>
                </a:solidFill>
              </a:rPr>
              <a:t>硬體 </a:t>
            </a:r>
            <a:r>
              <a:rPr lang="en-US" altLang="zh-TW" sz="1400" b="0" dirty="0">
                <a:solidFill>
                  <a:srgbClr val="6B7A8C"/>
                </a:solidFill>
              </a:rPr>
              <a:t>DMA </a:t>
            </a:r>
            <a:r>
              <a:rPr lang="zh-TW" altLang="en-US" sz="1400" b="0" dirty="0">
                <a:solidFill>
                  <a:srgbClr val="6B7A8C"/>
                </a:solidFill>
              </a:rPr>
              <a:t>搬運</a:t>
            </a:r>
            <a:r>
              <a:rPr lang="en-US" altLang="zh-TW" sz="1400" b="0" dirty="0">
                <a:solidFill>
                  <a:srgbClr val="6B7A8C"/>
                </a:solidFill>
              </a:rPr>
              <a:t>,</a:t>
            </a:r>
            <a:r>
              <a:rPr lang="zh-TW" altLang="en-US" sz="1400" b="0" dirty="0">
                <a:solidFill>
                  <a:srgbClr val="6B7A8C"/>
                </a:solidFill>
              </a:rPr>
              <a:t>以中斷 </a:t>
            </a:r>
            <a:r>
              <a:rPr lang="en-US" altLang="zh-TW" sz="1400" b="0" dirty="0">
                <a:solidFill>
                  <a:srgbClr val="6B7A8C"/>
                </a:solidFill>
              </a:rPr>
              <a:t>+ </a:t>
            </a:r>
            <a:r>
              <a:rPr lang="zh-TW" altLang="en-US" sz="1400" b="0" dirty="0">
                <a:solidFill>
                  <a:srgbClr val="6B7A8C"/>
                </a:solidFill>
              </a:rPr>
              <a:t>信號量等待完成</a:t>
            </a:r>
          </a:p>
          <a:p>
            <a:r>
              <a:rPr lang="zh-TW" altLang="en-US" sz="1400" b="0" dirty="0">
                <a:solidFill>
                  <a:srgbClr val="6B7A8C"/>
                </a:solidFill>
              </a:rPr>
              <a:t>感測</a:t>
            </a:r>
            <a:r>
              <a:rPr lang="zh-TW" altLang="en-US" sz="1400" dirty="0">
                <a:solidFill>
                  <a:srgbClr val="6B7A8C"/>
                </a:solidFill>
              </a:rPr>
              <a:t>器焊接固定</a:t>
            </a:r>
            <a:r>
              <a:rPr lang="en-US" altLang="zh-TW" sz="1400" b="0" dirty="0">
                <a:solidFill>
                  <a:srgbClr val="6B7A8C"/>
                </a:solidFill>
              </a:rPr>
              <a:t>,</a:t>
            </a:r>
            <a:endParaRPr lang="zh-TW" altLang="en-US" sz="1400" b="0" dirty="0">
              <a:solidFill>
                <a:srgbClr val="6B7A8C"/>
              </a:solidFill>
            </a:endParaRPr>
          </a:p>
        </p:txBody>
      </p:sp>
      <p:sp>
        <p:nvSpPr>
          <p:cNvPr id="34" name="Rounded Rectangle 12">
            <a:extLst>
              <a:ext uri="{FF2B5EF4-FFF2-40B4-BE49-F238E27FC236}">
                <a16:creationId xmlns:a16="http://schemas.microsoft.com/office/drawing/2014/main" id="{B591CF4D-F1A3-4D07-865C-6112337FA756}"/>
              </a:ext>
            </a:extLst>
          </p:cNvPr>
          <p:cNvSpPr/>
          <p:nvPr/>
        </p:nvSpPr>
        <p:spPr>
          <a:xfrm>
            <a:off x="6032500" y="1397000"/>
            <a:ext cx="558038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69BAA8B2-06FB-43C0-8FC7-10E0747B206A}"/>
              </a:ext>
            </a:extLst>
          </p:cNvPr>
          <p:cNvSpPr txBox="1"/>
          <p:nvPr/>
        </p:nvSpPr>
        <p:spPr>
          <a:xfrm>
            <a:off x="6261100" y="1512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本研究　模組化 + 備援</a:t>
            </a:r>
          </a:p>
        </p:txBody>
      </p:sp>
      <p:sp>
        <p:nvSpPr>
          <p:cNvPr id="36" name="Rounded Rectangle 14">
            <a:extLst>
              <a:ext uri="{FF2B5EF4-FFF2-40B4-BE49-F238E27FC236}">
                <a16:creationId xmlns:a16="http://schemas.microsoft.com/office/drawing/2014/main" id="{5BE26969-CDE8-4BEB-A61F-2217DF64541B}"/>
              </a:ext>
            </a:extLst>
          </p:cNvPr>
          <p:cNvSpPr/>
          <p:nvPr/>
        </p:nvSpPr>
        <p:spPr>
          <a:xfrm>
            <a:off x="6350000" y="1955800"/>
            <a:ext cx="2413000" cy="6350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GY-91 模組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MPU9250 + BMP280</a:t>
            </a:r>
          </a:p>
        </p:txBody>
      </p:sp>
      <p:sp>
        <p:nvSpPr>
          <p:cNvPr id="37" name="Rounded Rectangle 15">
            <a:extLst>
              <a:ext uri="{FF2B5EF4-FFF2-40B4-BE49-F238E27FC236}">
                <a16:creationId xmlns:a16="http://schemas.microsoft.com/office/drawing/2014/main" id="{E3C87834-9BE0-499C-A510-D326D2EC90F4}"/>
              </a:ext>
            </a:extLst>
          </p:cNvPr>
          <p:cNvSpPr/>
          <p:nvPr/>
        </p:nvSpPr>
        <p:spPr>
          <a:xfrm>
            <a:off x="9042400" y="1955800"/>
            <a:ext cx="2387600" cy="6350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LSM6DS3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板載六軸備援</a:t>
            </a:r>
          </a:p>
        </p:txBody>
      </p:sp>
      <p:sp>
        <p:nvSpPr>
          <p:cNvPr id="38" name="TextBox 16">
            <a:extLst>
              <a:ext uri="{FF2B5EF4-FFF2-40B4-BE49-F238E27FC236}">
                <a16:creationId xmlns:a16="http://schemas.microsoft.com/office/drawing/2014/main" id="{623A91FE-EF3C-4852-980F-62A5976FCA41}"/>
              </a:ext>
            </a:extLst>
          </p:cNvPr>
          <p:cNvSpPr txBox="1"/>
          <p:nvPr/>
        </p:nvSpPr>
        <p:spPr>
          <a:xfrm>
            <a:off x="6350000" y="2654509"/>
            <a:ext cx="50800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以排針座連接,可插拔更換</a:t>
            </a:r>
            <a:endParaRPr sz="1400" b="0" dirty="0">
              <a:solidFill>
                <a:srgbClr val="6B7A8C"/>
              </a:solidFill>
            </a:endParaRPr>
          </a:p>
          <a:p>
            <a:pPr algn="l"/>
            <a:r>
              <a:rPr sz="1400" b="0" dirty="0" err="1">
                <a:solidFill>
                  <a:srgbClr val="6B7A8C"/>
                </a:solidFill>
              </a:rPr>
              <a:t>讀取:TWIM</a:t>
            </a:r>
            <a:r>
              <a:rPr sz="1400" b="0" dirty="0">
                <a:solidFill>
                  <a:srgbClr val="6B7A8C"/>
                </a:solidFill>
              </a:rPr>
              <a:t> + </a:t>
            </a:r>
            <a:r>
              <a:rPr sz="1400" b="0" dirty="0" err="1">
                <a:solidFill>
                  <a:srgbClr val="6B7A8C"/>
                </a:solidFill>
              </a:rPr>
              <a:t>EasyDMA,設定</a:t>
            </a:r>
            <a:r>
              <a:rPr sz="1400" b="0" dirty="0">
                <a:solidFill>
                  <a:srgbClr val="6B7A8C"/>
                </a:solidFill>
              </a:rPr>
              <a:t> RXD.PTR/MAXCNT </a:t>
            </a:r>
            <a:r>
              <a:rPr sz="1400" b="0" dirty="0" err="1">
                <a:solidFill>
                  <a:srgbClr val="6B7A8C"/>
                </a:solidFill>
              </a:rPr>
              <a:t>由硬體搬資料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39" name="TextBox 17">
            <a:extLst>
              <a:ext uri="{FF2B5EF4-FFF2-40B4-BE49-F238E27FC236}">
                <a16:creationId xmlns:a16="http://schemas.microsoft.com/office/drawing/2014/main" id="{25084B08-3D43-455A-A540-B87572F47002}"/>
              </a:ext>
            </a:extLst>
          </p:cNvPr>
          <p:cNvSpPr txBox="1"/>
          <p:nvPr/>
        </p:nvSpPr>
        <p:spPr>
          <a:xfrm>
            <a:off x="6350000" y="3137109"/>
            <a:ext cx="50800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6B7A8C"/>
                </a:solidFill>
              </a:rPr>
              <a:t>開機自動探測</a:t>
            </a:r>
            <a:r>
              <a:rPr sz="1400" b="0" dirty="0">
                <a:solidFill>
                  <a:srgbClr val="6B7A8C"/>
                </a:solidFill>
              </a:rPr>
              <a:t> 0x68 / 0x69 </a:t>
            </a:r>
            <a:r>
              <a:rPr sz="1400" b="0" dirty="0" err="1">
                <a:solidFill>
                  <a:srgbClr val="6B7A8C"/>
                </a:solidFill>
              </a:rPr>
              <a:t>雙位址</a:t>
            </a:r>
            <a:endParaRPr sz="1400" b="0" dirty="0">
              <a:solidFill>
                <a:srgbClr val="6B7A8C"/>
              </a:solidFill>
            </a:endParaRPr>
          </a:p>
          <a:p>
            <a:pPr algn="l"/>
            <a:r>
              <a:rPr sz="1400" b="0" dirty="0" err="1">
                <a:solidFill>
                  <a:srgbClr val="6B7A8C"/>
                </a:solidFill>
              </a:rPr>
              <a:t>主感測失效時,自動改用板載六軸維持基本姿態量測</a:t>
            </a:r>
            <a:endParaRPr sz="1400" b="0" dirty="0">
              <a:solidFill>
                <a:srgbClr val="6B7A8C"/>
              </a:solidFill>
            </a:endParaRPr>
          </a:p>
        </p:txBody>
      </p:sp>
      <p:sp>
        <p:nvSpPr>
          <p:cNvPr id="40" name="Rounded Rectangle 18">
            <a:extLst>
              <a:ext uri="{FF2B5EF4-FFF2-40B4-BE49-F238E27FC236}">
                <a16:creationId xmlns:a16="http://schemas.microsoft.com/office/drawing/2014/main" id="{F44A0199-B747-47D3-83D9-958777BA37C8}"/>
              </a:ext>
            </a:extLst>
          </p:cNvPr>
          <p:cNvSpPr/>
          <p:nvPr/>
        </p:nvSpPr>
        <p:spPr>
          <a:xfrm>
            <a:off x="548640" y="4064000"/>
            <a:ext cx="11064240" cy="203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19">
            <a:extLst>
              <a:ext uri="{FF2B5EF4-FFF2-40B4-BE49-F238E27FC236}">
                <a16:creationId xmlns:a16="http://schemas.microsoft.com/office/drawing/2014/main" id="{E307C6D0-46D2-471E-9FAE-BF84FE0CF9B4}"/>
              </a:ext>
            </a:extLst>
          </p:cNvPr>
          <p:cNvSpPr txBox="1"/>
          <p:nvPr/>
        </p:nvSpPr>
        <p:spPr>
          <a:xfrm>
            <a:off x="777240" y="4179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感測資料的讀取路徑</a:t>
            </a:r>
          </a:p>
        </p:txBody>
      </p:sp>
      <p:sp>
        <p:nvSpPr>
          <p:cNvPr id="42" name="Rounded Rectangle 20">
            <a:extLst>
              <a:ext uri="{FF2B5EF4-FFF2-40B4-BE49-F238E27FC236}">
                <a16:creationId xmlns:a16="http://schemas.microsoft.com/office/drawing/2014/main" id="{7041FC57-7A12-488C-8719-63CD5E75B344}"/>
              </a:ext>
            </a:extLst>
          </p:cNvPr>
          <p:cNvSpPr/>
          <p:nvPr/>
        </p:nvSpPr>
        <p:spPr>
          <a:xfrm>
            <a:off x="889000" y="4775200"/>
            <a:ext cx="1905000" cy="609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GY-91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九軸 + 氣壓</a:t>
            </a:r>
          </a:p>
        </p:txBody>
      </p:sp>
      <p:sp>
        <p:nvSpPr>
          <p:cNvPr id="43" name="Rounded Rectangle 21">
            <a:extLst>
              <a:ext uri="{FF2B5EF4-FFF2-40B4-BE49-F238E27FC236}">
                <a16:creationId xmlns:a16="http://schemas.microsoft.com/office/drawing/2014/main" id="{DACF23F5-7D7C-4FB6-BBFE-A8BC3D86D5BA}"/>
              </a:ext>
            </a:extLst>
          </p:cNvPr>
          <p:cNvSpPr/>
          <p:nvPr/>
        </p:nvSpPr>
        <p:spPr>
          <a:xfrm>
            <a:off x="3810000" y="4775200"/>
            <a:ext cx="1905000" cy="6096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TWIM + EasyDMA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硬體搬運</a:t>
            </a:r>
          </a:p>
        </p:txBody>
      </p:sp>
      <p:sp>
        <p:nvSpPr>
          <p:cNvPr id="44" name="Rounded Rectangle 22">
            <a:extLst>
              <a:ext uri="{FF2B5EF4-FFF2-40B4-BE49-F238E27FC236}">
                <a16:creationId xmlns:a16="http://schemas.microsoft.com/office/drawing/2014/main" id="{D094E36A-50EA-47D8-A7BD-2140DC60404E}"/>
              </a:ext>
            </a:extLst>
          </p:cNvPr>
          <p:cNvSpPr/>
          <p:nvPr/>
        </p:nvSpPr>
        <p:spPr>
          <a:xfrm>
            <a:off x="6731000" y="4775200"/>
            <a:ext cx="1905000" cy="6096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姿態融合</a:t>
            </a:r>
          </a:p>
        </p:txBody>
      </p:sp>
      <p:cxnSp>
        <p:nvCxnSpPr>
          <p:cNvPr id="45" name="Connector 23">
            <a:extLst>
              <a:ext uri="{FF2B5EF4-FFF2-40B4-BE49-F238E27FC236}">
                <a16:creationId xmlns:a16="http://schemas.microsoft.com/office/drawing/2014/main" id="{DE651A97-1B9A-4BB3-B4FF-D163A291277D}"/>
              </a:ext>
            </a:extLst>
          </p:cNvPr>
          <p:cNvCxnSpPr/>
          <p:nvPr/>
        </p:nvCxnSpPr>
        <p:spPr>
          <a:xfrm>
            <a:off x="2794000" y="5080000"/>
            <a:ext cx="1016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24">
            <a:extLst>
              <a:ext uri="{FF2B5EF4-FFF2-40B4-BE49-F238E27FC236}">
                <a16:creationId xmlns:a16="http://schemas.microsoft.com/office/drawing/2014/main" id="{29572C4B-80A4-406F-B73A-CD7EE11DB4AE}"/>
              </a:ext>
            </a:extLst>
          </p:cNvPr>
          <p:cNvCxnSpPr/>
          <p:nvPr/>
        </p:nvCxnSpPr>
        <p:spPr>
          <a:xfrm>
            <a:off x="5715000" y="5080000"/>
            <a:ext cx="1016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25">
            <a:extLst>
              <a:ext uri="{FF2B5EF4-FFF2-40B4-BE49-F238E27FC236}">
                <a16:creationId xmlns:a16="http://schemas.microsoft.com/office/drawing/2014/main" id="{BF202988-F6C2-4F43-8684-1EB01D6F6169}"/>
              </a:ext>
            </a:extLst>
          </p:cNvPr>
          <p:cNvSpPr/>
          <p:nvPr/>
        </p:nvSpPr>
        <p:spPr>
          <a:xfrm>
            <a:off x="9271000" y="4775200"/>
            <a:ext cx="2159000" cy="6096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LSM6DS3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失效時接手</a:t>
            </a:r>
          </a:p>
        </p:txBody>
      </p:sp>
      <p:cxnSp>
        <p:nvCxnSpPr>
          <p:cNvPr id="48" name="Connector 26">
            <a:extLst>
              <a:ext uri="{FF2B5EF4-FFF2-40B4-BE49-F238E27FC236}">
                <a16:creationId xmlns:a16="http://schemas.microsoft.com/office/drawing/2014/main" id="{4302147E-BD81-45FE-ABE7-81226A01856E}"/>
              </a:ext>
            </a:extLst>
          </p:cNvPr>
          <p:cNvCxnSpPr/>
          <p:nvPr/>
        </p:nvCxnSpPr>
        <p:spPr>
          <a:xfrm flipH="1">
            <a:off x="8636000" y="5080000"/>
            <a:ext cx="635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27">
            <a:extLst>
              <a:ext uri="{FF2B5EF4-FFF2-40B4-BE49-F238E27FC236}">
                <a16:creationId xmlns:a16="http://schemas.microsoft.com/office/drawing/2014/main" id="{FE1B0DF9-E664-418D-B73E-83B2B1DEC83B}"/>
              </a:ext>
            </a:extLst>
          </p:cNvPr>
          <p:cNvSpPr txBox="1"/>
          <p:nvPr/>
        </p:nvSpPr>
        <p:spPr>
          <a:xfrm>
            <a:off x="889000" y="5505430"/>
            <a:ext cx="10414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altLang="zh-TW" sz="1400" b="0" dirty="0">
                <a:solidFill>
                  <a:srgbClr val="6B7A8C"/>
                </a:solidFill>
              </a:rPr>
              <a:t>CPU </a:t>
            </a:r>
            <a:r>
              <a:rPr lang="zh-TW" altLang="en-US" sz="1400" b="0" dirty="0">
                <a:solidFill>
                  <a:srgbClr val="6B7A8C"/>
                </a:solidFill>
              </a:rPr>
              <a:t>設定 </a:t>
            </a:r>
            <a:r>
              <a:rPr lang="en-US" altLang="zh-TW" sz="1400" b="0" dirty="0">
                <a:solidFill>
                  <a:srgbClr val="6B7A8C"/>
                </a:solidFill>
              </a:rPr>
              <a:t>RXD.PTR </a:t>
            </a:r>
            <a:r>
              <a:rPr lang="zh-TW" altLang="en-US" sz="1400" b="0" dirty="0">
                <a:solidFill>
                  <a:srgbClr val="6B7A8C"/>
                </a:solidFill>
              </a:rPr>
              <a:t>與 </a:t>
            </a:r>
            <a:r>
              <a:rPr lang="en-US" altLang="zh-TW" sz="1400" b="0" dirty="0">
                <a:solidFill>
                  <a:srgbClr val="6B7A8C"/>
                </a:solidFill>
              </a:rPr>
              <a:t>MAXCNT </a:t>
            </a:r>
            <a:r>
              <a:rPr lang="zh-TW" altLang="en-US" sz="1400" b="0" dirty="0">
                <a:solidFill>
                  <a:srgbClr val="6B7A8C"/>
                </a:solidFill>
              </a:rPr>
              <a:t>後由 </a:t>
            </a:r>
            <a:r>
              <a:rPr lang="en-US" altLang="zh-TW" sz="1400" b="0" dirty="0" err="1">
                <a:solidFill>
                  <a:srgbClr val="6B7A8C"/>
                </a:solidFill>
              </a:rPr>
              <a:t>EasyDMA</a:t>
            </a:r>
            <a:r>
              <a:rPr lang="en-US" altLang="zh-TW" sz="1400" b="0" dirty="0">
                <a:solidFill>
                  <a:srgbClr val="6B7A8C"/>
                </a:solidFill>
              </a:rPr>
              <a:t> </a:t>
            </a:r>
            <a:r>
              <a:rPr lang="zh-TW" altLang="en-US" sz="1400" b="0" dirty="0">
                <a:solidFill>
                  <a:srgbClr val="6B7A8C"/>
                </a:solidFill>
              </a:rPr>
              <a:t>搬運</a:t>
            </a:r>
            <a:r>
              <a:rPr lang="en-US" altLang="zh-TW" sz="1400" b="0" dirty="0">
                <a:solidFill>
                  <a:srgbClr val="6B7A8C"/>
                </a:solidFill>
              </a:rPr>
              <a:t>;</a:t>
            </a:r>
            <a:r>
              <a:rPr lang="zh-TW" altLang="en-US" sz="1400" b="0" dirty="0">
                <a:solidFill>
                  <a:srgbClr val="6B7A8C"/>
                </a:solidFill>
              </a:rPr>
              <a:t>搬運期間以輪詢等待完成</a:t>
            </a:r>
            <a:r>
              <a:rPr lang="en-US" altLang="zh-TW" sz="1400" b="0" dirty="0">
                <a:solidFill>
                  <a:srgbClr val="6B7A8C"/>
                </a:solidFill>
              </a:rPr>
              <a:t>,</a:t>
            </a:r>
            <a:r>
              <a:rPr lang="zh-TW" altLang="en-US" sz="1400" b="0" dirty="0">
                <a:solidFill>
                  <a:srgbClr val="6B7A8C"/>
                </a:solidFill>
              </a:rPr>
              <a:t>並用 </a:t>
            </a:r>
            <a:r>
              <a:rPr lang="en-US" altLang="zh-TW" sz="1400" b="0" dirty="0">
                <a:solidFill>
                  <a:srgbClr val="6B7A8C"/>
                </a:solidFill>
              </a:rPr>
              <a:t>mutex </a:t>
            </a:r>
            <a:r>
              <a:rPr lang="zh-TW" altLang="en-US" sz="1400" b="0" dirty="0">
                <a:solidFill>
                  <a:srgbClr val="6B7A8C"/>
                </a:solidFill>
              </a:rPr>
              <a:t>確保同一匯流排不被兩個任務同時使用</a:t>
            </a:r>
          </a:p>
        </p:txBody>
      </p:sp>
      <p:sp>
        <p:nvSpPr>
          <p:cNvPr id="53" name="页脚占位符 52">
            <a:extLst>
              <a:ext uri="{FF2B5EF4-FFF2-40B4-BE49-F238E27FC236}">
                <a16:creationId xmlns:a16="http://schemas.microsoft.com/office/drawing/2014/main" id="{C9313BD6-BDEA-455C-87FA-8209C2EA45D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54" name="灯片编号占位符 53">
            <a:extLst>
              <a:ext uri="{FF2B5EF4-FFF2-40B4-BE49-F238E27FC236}">
                <a16:creationId xmlns:a16="http://schemas.microsoft.com/office/drawing/2014/main" id="{0F3A0445-29C1-473E-816B-D28D5A392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11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7" grpId="0" animBg="1"/>
      <p:bldP spid="4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無線通訊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9" name="Rounded Rectangle 5">
            <a:extLst>
              <a:ext uri="{FF2B5EF4-FFF2-40B4-BE49-F238E27FC236}">
                <a16:creationId xmlns:a16="http://schemas.microsoft.com/office/drawing/2014/main" id="{2F4AE6AF-905E-4657-8CFC-9F7510C8B922}"/>
              </a:ext>
            </a:extLst>
          </p:cNvPr>
          <p:cNvSpPr/>
          <p:nvPr/>
        </p:nvSpPr>
        <p:spPr>
          <a:xfrm>
            <a:off x="548640" y="1397000"/>
            <a:ext cx="11064240" cy="190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84FC6010-6A2C-4D84-9B62-C5F1E5C9FB1C}"/>
              </a:ext>
            </a:extLst>
          </p:cNvPr>
          <p:cNvSpPr txBox="1"/>
          <p:nvPr/>
        </p:nvSpPr>
        <p:spPr>
          <a:xfrm>
            <a:off x="777240" y="15122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訊號路徑</a:t>
            </a:r>
          </a:p>
        </p:txBody>
      </p:sp>
      <p:sp>
        <p:nvSpPr>
          <p:cNvPr id="31" name="Rounded Rectangle 7">
            <a:extLst>
              <a:ext uri="{FF2B5EF4-FFF2-40B4-BE49-F238E27FC236}">
                <a16:creationId xmlns:a16="http://schemas.microsoft.com/office/drawing/2014/main" id="{2282D5CC-C4F8-4786-883C-8EE1F6292998}"/>
              </a:ext>
            </a:extLst>
          </p:cNvPr>
          <p:cNvSpPr/>
          <p:nvPr/>
        </p:nvSpPr>
        <p:spPr>
          <a:xfrm>
            <a:off x="889000" y="1981200"/>
            <a:ext cx="1397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遙控器</a:t>
            </a:r>
          </a:p>
        </p:txBody>
      </p:sp>
      <p:sp>
        <p:nvSpPr>
          <p:cNvPr id="32" name="Rounded Rectangle 8">
            <a:extLst>
              <a:ext uri="{FF2B5EF4-FFF2-40B4-BE49-F238E27FC236}">
                <a16:creationId xmlns:a16="http://schemas.microsoft.com/office/drawing/2014/main" id="{71B114BC-536B-4C5F-8D4A-C6149FBEA174}"/>
              </a:ext>
            </a:extLst>
          </p:cNvPr>
          <p:cNvSpPr/>
          <p:nvPr/>
        </p:nvSpPr>
        <p:spPr>
          <a:xfrm>
            <a:off x="2667000" y="1981200"/>
            <a:ext cx="1905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100" b="0" dirty="0">
                <a:solidFill>
                  <a:srgbClr val="FFFFFF"/>
                </a:solidFill>
              </a:rPr>
              <a:t>+ RFX2401C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FEFE3EB5-379D-41F2-9AF0-26D6F33CA0F8}"/>
              </a:ext>
            </a:extLst>
          </p:cNvPr>
          <p:cNvSpPr/>
          <p:nvPr/>
        </p:nvSpPr>
        <p:spPr>
          <a:xfrm>
            <a:off x="4953000" y="1981200"/>
            <a:ext cx="19050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STM32F411</a:t>
            </a:r>
          </a:p>
          <a:p>
            <a:pPr algn="ctr"/>
            <a:r>
              <a:rPr sz="1100" b="0" dirty="0" err="1">
                <a:solidFill>
                  <a:srgbClr val="FFFFFF"/>
                </a:solidFill>
              </a:rPr>
              <a:t>radiolink</a:t>
            </a:r>
            <a:r>
              <a:rPr sz="1100" b="0" dirty="0">
                <a:solidFill>
                  <a:srgbClr val="FFFFFF"/>
                </a:solidFill>
              </a:rPr>
              <a:t> </a:t>
            </a:r>
            <a:r>
              <a:rPr sz="1100" b="0" dirty="0" err="1">
                <a:solidFill>
                  <a:srgbClr val="FFFFFF"/>
                </a:solidFill>
              </a:rPr>
              <a:t>解析</a:t>
            </a:r>
            <a:endParaRPr sz="1100" b="0" dirty="0">
              <a:solidFill>
                <a:srgbClr val="FFFFFF"/>
              </a:solidFill>
            </a:endParaRPr>
          </a:p>
        </p:txBody>
      </p:sp>
      <p:cxnSp>
        <p:nvCxnSpPr>
          <p:cNvPr id="34" name="Connector 10">
            <a:extLst>
              <a:ext uri="{FF2B5EF4-FFF2-40B4-BE49-F238E27FC236}">
                <a16:creationId xmlns:a16="http://schemas.microsoft.com/office/drawing/2014/main" id="{1144F056-A658-4D06-8B13-2E0160DAFA32}"/>
              </a:ext>
            </a:extLst>
          </p:cNvPr>
          <p:cNvCxnSpPr/>
          <p:nvPr/>
        </p:nvCxnSpPr>
        <p:spPr>
          <a:xfrm>
            <a:off x="2286000" y="2260600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11">
            <a:extLst>
              <a:ext uri="{FF2B5EF4-FFF2-40B4-BE49-F238E27FC236}">
                <a16:creationId xmlns:a16="http://schemas.microsoft.com/office/drawing/2014/main" id="{96133DF5-9976-4BB4-882E-5C06D074A409}"/>
              </a:ext>
            </a:extLst>
          </p:cNvPr>
          <p:cNvCxnSpPr/>
          <p:nvPr/>
        </p:nvCxnSpPr>
        <p:spPr>
          <a:xfrm>
            <a:off x="4572000" y="2260600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12">
            <a:extLst>
              <a:ext uri="{FF2B5EF4-FFF2-40B4-BE49-F238E27FC236}">
                <a16:creationId xmlns:a16="http://schemas.microsoft.com/office/drawing/2014/main" id="{CA91381A-041F-4F79-BF6D-6F878341E7BF}"/>
              </a:ext>
            </a:extLst>
          </p:cNvPr>
          <p:cNvSpPr txBox="1"/>
          <p:nvPr/>
        </p:nvSpPr>
        <p:spPr>
          <a:xfrm>
            <a:off x="2667000" y="2612519"/>
            <a:ext cx="4191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 dirty="0" err="1">
                <a:solidFill>
                  <a:srgbClr val="6B7A8C"/>
                </a:solidFill>
              </a:rPr>
              <a:t>原廠：經</a:t>
            </a:r>
            <a:r>
              <a:rPr lang="en-US" altLang="zh-CN" sz="1200" b="0" dirty="0" err="1">
                <a:solidFill>
                  <a:srgbClr val="6B7A8C"/>
                </a:solidFill>
              </a:rPr>
              <a:t>RF</a:t>
            </a:r>
            <a:r>
              <a:rPr sz="1200" b="0" dirty="0" err="1">
                <a:solidFill>
                  <a:srgbClr val="6B7A8C"/>
                </a:solidFill>
              </a:rPr>
              <a:t>晶片再由</a:t>
            </a:r>
            <a:r>
              <a:rPr sz="1200" b="0" dirty="0">
                <a:solidFill>
                  <a:srgbClr val="6B7A8C"/>
                </a:solidFill>
              </a:rPr>
              <a:t> UART </a:t>
            </a:r>
            <a:r>
              <a:rPr sz="1200" b="0" dirty="0" err="1">
                <a:solidFill>
                  <a:srgbClr val="6B7A8C"/>
                </a:solidFill>
              </a:rPr>
              <a:t>轉發,共兩段</a:t>
            </a:r>
            <a:endParaRPr sz="1200" b="0" dirty="0">
              <a:solidFill>
                <a:srgbClr val="6B7A8C"/>
              </a:solidFill>
            </a:endParaRP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39D87BBE-3B9E-4627-90D1-0B4422BA176C}"/>
              </a:ext>
            </a:extLst>
          </p:cNvPr>
          <p:cNvSpPr/>
          <p:nvPr/>
        </p:nvSpPr>
        <p:spPr>
          <a:xfrm>
            <a:off x="7620000" y="1985963"/>
            <a:ext cx="1397000" cy="5588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遙控器</a:t>
            </a:r>
          </a:p>
        </p:txBody>
      </p:sp>
      <p:sp>
        <p:nvSpPr>
          <p:cNvPr id="38" name="Rounded Rectangle 14">
            <a:extLst>
              <a:ext uri="{FF2B5EF4-FFF2-40B4-BE49-F238E27FC236}">
                <a16:creationId xmlns:a16="http://schemas.microsoft.com/office/drawing/2014/main" id="{B37C49E9-AFE9-4EB6-A0E1-8276B64DA238}"/>
              </a:ext>
            </a:extLst>
          </p:cNvPr>
          <p:cNvSpPr/>
          <p:nvPr/>
        </p:nvSpPr>
        <p:spPr>
          <a:xfrm>
            <a:off x="9398000" y="1985963"/>
            <a:ext cx="1905000" cy="5588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內建 RADIO</a:t>
            </a:r>
          </a:p>
        </p:txBody>
      </p:sp>
      <p:cxnSp>
        <p:nvCxnSpPr>
          <p:cNvPr id="39" name="Connector 15">
            <a:extLst>
              <a:ext uri="{FF2B5EF4-FFF2-40B4-BE49-F238E27FC236}">
                <a16:creationId xmlns:a16="http://schemas.microsoft.com/office/drawing/2014/main" id="{70ED8401-9E49-49EA-806F-03E032994D7A}"/>
              </a:ext>
            </a:extLst>
          </p:cNvPr>
          <p:cNvCxnSpPr/>
          <p:nvPr/>
        </p:nvCxnSpPr>
        <p:spPr>
          <a:xfrm>
            <a:off x="9017000" y="2265363"/>
            <a:ext cx="381000" cy="0"/>
          </a:xfrm>
          <a:prstGeom prst="line">
            <a:avLst/>
          </a:prstGeom>
          <a:ln w="20320">
            <a:solidFill>
              <a:srgbClr val="8A96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16">
            <a:extLst>
              <a:ext uri="{FF2B5EF4-FFF2-40B4-BE49-F238E27FC236}">
                <a16:creationId xmlns:a16="http://schemas.microsoft.com/office/drawing/2014/main" id="{0B923233-E3EF-4506-9A85-97D9E32DE5F9}"/>
              </a:ext>
            </a:extLst>
          </p:cNvPr>
          <p:cNvSpPr txBox="1"/>
          <p:nvPr/>
        </p:nvSpPr>
        <p:spPr>
          <a:xfrm>
            <a:off x="7620000" y="2617282"/>
            <a:ext cx="3810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本研究：主控直接收發,一段到位</a:t>
            </a:r>
          </a:p>
        </p:txBody>
      </p:sp>
      <p:sp>
        <p:nvSpPr>
          <p:cNvPr id="41" name="Rounded Rectangle 17">
            <a:extLst>
              <a:ext uri="{FF2B5EF4-FFF2-40B4-BE49-F238E27FC236}">
                <a16:creationId xmlns:a16="http://schemas.microsoft.com/office/drawing/2014/main" id="{FD278E93-7213-4BEA-9E6C-8D1C7CD5A0B6}"/>
              </a:ext>
            </a:extLst>
          </p:cNvPr>
          <p:cNvSpPr/>
          <p:nvPr/>
        </p:nvSpPr>
        <p:spPr>
          <a:xfrm>
            <a:off x="548640" y="3581400"/>
            <a:ext cx="5232400" cy="2514600"/>
          </a:xfrm>
          <a:prstGeom prst="round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18">
            <a:extLst>
              <a:ext uri="{FF2B5EF4-FFF2-40B4-BE49-F238E27FC236}">
                <a16:creationId xmlns:a16="http://schemas.microsoft.com/office/drawing/2014/main" id="{AC983C40-1EAB-4C47-9C4F-ECF565BDB6BE}"/>
              </a:ext>
            </a:extLst>
          </p:cNvPr>
          <p:cNvSpPr txBox="1"/>
          <p:nvPr/>
        </p:nvSpPr>
        <p:spPr>
          <a:xfrm>
            <a:off x="777240" y="3696653"/>
            <a:ext cx="4826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射頻與速率</a:t>
            </a:r>
          </a:p>
        </p:txBody>
      </p:sp>
      <p:sp>
        <p:nvSpPr>
          <p:cNvPr id="43" name="Rounded Rectangle 19">
            <a:extLst>
              <a:ext uri="{FF2B5EF4-FFF2-40B4-BE49-F238E27FC236}">
                <a16:creationId xmlns:a16="http://schemas.microsoft.com/office/drawing/2014/main" id="{4B6436D4-1049-40EF-BB9C-315F099509BB}"/>
              </a:ext>
            </a:extLst>
          </p:cNvPr>
          <p:cNvSpPr/>
          <p:nvPr/>
        </p:nvSpPr>
        <p:spPr>
          <a:xfrm>
            <a:off x="889000" y="4140200"/>
            <a:ext cx="22225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NRF51822</a:t>
            </a:r>
          </a:p>
          <a:p>
            <a:pPr algn="ctr"/>
            <a:r>
              <a:rPr sz="1100" b="0" dirty="0">
                <a:solidFill>
                  <a:srgbClr val="FFFFFF"/>
                </a:solidFill>
              </a:rPr>
              <a:t>+ RFX2401C </a:t>
            </a:r>
            <a:r>
              <a:rPr sz="1100" b="0" dirty="0" err="1">
                <a:solidFill>
                  <a:srgbClr val="FFFFFF"/>
                </a:solidFill>
              </a:rPr>
              <a:t>功放</a:t>
            </a:r>
            <a:endParaRPr sz="1100" b="0" dirty="0">
              <a:solidFill>
                <a:srgbClr val="FFFFFF"/>
              </a:solidFill>
            </a:endParaRPr>
          </a:p>
        </p:txBody>
      </p:sp>
      <p:sp>
        <p:nvSpPr>
          <p:cNvPr id="44" name="Rounded Rectangle 20">
            <a:extLst>
              <a:ext uri="{FF2B5EF4-FFF2-40B4-BE49-F238E27FC236}">
                <a16:creationId xmlns:a16="http://schemas.microsoft.com/office/drawing/2014/main" id="{39AA1FF8-BA84-491D-AA26-E8897EFF1A40}"/>
              </a:ext>
            </a:extLst>
          </p:cNvPr>
          <p:cNvSpPr/>
          <p:nvPr/>
        </p:nvSpPr>
        <p:spPr>
          <a:xfrm>
            <a:off x="3276600" y="4140200"/>
            <a:ext cx="2311400" cy="558800"/>
          </a:xfrm>
          <a:prstGeom prst="roundRect">
            <a:avLst/>
          </a:prstGeom>
          <a:solidFill>
            <a:srgbClr val="238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250 Kbps</a:t>
            </a: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A35DDCBA-EC63-4D97-9B6E-54E4A11E9CC8}"/>
              </a:ext>
            </a:extLst>
          </p:cNvPr>
          <p:cNvSpPr txBox="1"/>
          <p:nvPr/>
        </p:nvSpPr>
        <p:spPr>
          <a:xfrm>
            <a:off x="889000" y="4796919"/>
            <a:ext cx="4699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>
                <a:solidFill>
                  <a:srgbClr val="6B7A8C"/>
                </a:solidFill>
              </a:rPr>
              <a:t>原廠：外掛射頻晶片,速率 250 Kbps</a:t>
            </a:r>
          </a:p>
        </p:txBody>
      </p:sp>
      <p:sp>
        <p:nvSpPr>
          <p:cNvPr id="46" name="Rounded Rectangle 22">
            <a:extLst>
              <a:ext uri="{FF2B5EF4-FFF2-40B4-BE49-F238E27FC236}">
                <a16:creationId xmlns:a16="http://schemas.microsoft.com/office/drawing/2014/main" id="{C3643040-F67F-415C-B3B1-E3FDACE540EB}"/>
              </a:ext>
            </a:extLst>
          </p:cNvPr>
          <p:cNvSpPr/>
          <p:nvPr/>
        </p:nvSpPr>
        <p:spPr>
          <a:xfrm>
            <a:off x="889000" y="5105400"/>
            <a:ext cx="2222500" cy="558800"/>
          </a:xfrm>
          <a:prstGeom prst="round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nRF52840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內建 RADIO</a:t>
            </a:r>
          </a:p>
        </p:txBody>
      </p:sp>
      <p:sp>
        <p:nvSpPr>
          <p:cNvPr id="47" name="Rounded Rectangle 23">
            <a:extLst>
              <a:ext uri="{FF2B5EF4-FFF2-40B4-BE49-F238E27FC236}">
                <a16:creationId xmlns:a16="http://schemas.microsoft.com/office/drawing/2014/main" id="{178F56BE-EEA3-496F-BD5F-CC2E5C9C78B8}"/>
              </a:ext>
            </a:extLst>
          </p:cNvPr>
          <p:cNvSpPr/>
          <p:nvPr/>
        </p:nvSpPr>
        <p:spPr>
          <a:xfrm>
            <a:off x="3276600" y="5105400"/>
            <a:ext cx="2311400" cy="5588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Mbps</a:t>
            </a:r>
          </a:p>
        </p:txBody>
      </p:sp>
      <p:sp>
        <p:nvSpPr>
          <p:cNvPr id="48" name="TextBox 24">
            <a:extLst>
              <a:ext uri="{FF2B5EF4-FFF2-40B4-BE49-F238E27FC236}">
                <a16:creationId xmlns:a16="http://schemas.microsoft.com/office/drawing/2014/main" id="{12E9E3D3-0ABD-48AC-8B27-13E16712B392}"/>
              </a:ext>
            </a:extLst>
          </p:cNvPr>
          <p:cNvSpPr txBox="1"/>
          <p:nvPr/>
        </p:nvSpPr>
        <p:spPr>
          <a:xfrm>
            <a:off x="889000" y="5736719"/>
            <a:ext cx="4699000" cy="23596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 dirty="0" err="1">
                <a:solidFill>
                  <a:srgbClr val="6B7A8C"/>
                </a:solidFill>
              </a:rPr>
              <a:t>本研究：無外掛晶片;不支援</a:t>
            </a:r>
            <a:r>
              <a:rPr sz="1200" b="0" dirty="0">
                <a:solidFill>
                  <a:srgbClr val="6B7A8C"/>
                </a:solidFill>
              </a:rPr>
              <a:t> 250K</a:t>
            </a:r>
          </a:p>
        </p:txBody>
      </p:sp>
      <p:sp>
        <p:nvSpPr>
          <p:cNvPr id="49" name="Rounded Rectangle 25">
            <a:extLst>
              <a:ext uri="{FF2B5EF4-FFF2-40B4-BE49-F238E27FC236}">
                <a16:creationId xmlns:a16="http://schemas.microsoft.com/office/drawing/2014/main" id="{1522BAC6-6221-4B2C-8A31-A3120965E318}"/>
              </a:ext>
            </a:extLst>
          </p:cNvPr>
          <p:cNvSpPr/>
          <p:nvPr/>
        </p:nvSpPr>
        <p:spPr>
          <a:xfrm>
            <a:off x="6032500" y="3581400"/>
            <a:ext cx="558038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0" name="TextBox 26">
            <a:extLst>
              <a:ext uri="{FF2B5EF4-FFF2-40B4-BE49-F238E27FC236}">
                <a16:creationId xmlns:a16="http://schemas.microsoft.com/office/drawing/2014/main" id="{9396D249-D027-45C3-8B52-013E6E5A6B0F}"/>
              </a:ext>
            </a:extLst>
          </p:cNvPr>
          <p:cNvSpPr txBox="1"/>
          <p:nvPr/>
        </p:nvSpPr>
        <p:spPr>
          <a:xfrm>
            <a:off x="6261100" y="3696653"/>
            <a:ext cx="508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zh-TW" altLang="en-US" b="1" dirty="0">
                <a:solidFill>
                  <a:srgbClr val="0A4D6E"/>
                </a:solidFill>
              </a:rPr>
              <a:t>驅動</a:t>
            </a:r>
          </a:p>
        </p:txBody>
      </p:sp>
      <p:sp>
        <p:nvSpPr>
          <p:cNvPr id="51" name="TextBox 27">
            <a:extLst>
              <a:ext uri="{FF2B5EF4-FFF2-40B4-BE49-F238E27FC236}">
                <a16:creationId xmlns:a16="http://schemas.microsoft.com/office/drawing/2014/main" id="{4975D990-AAFE-4C39-9DDF-90DF2F30D08D}"/>
              </a:ext>
            </a:extLst>
          </p:cNvPr>
          <p:cNvSpPr txBox="1"/>
          <p:nvPr/>
        </p:nvSpPr>
        <p:spPr>
          <a:xfrm>
            <a:off x="6350000" y="4118442"/>
            <a:ext cx="5080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原廠</a:t>
            </a:r>
          </a:p>
        </p:txBody>
      </p:sp>
      <p:sp>
        <p:nvSpPr>
          <p:cNvPr id="52" name="TextBox 28">
            <a:extLst>
              <a:ext uri="{FF2B5EF4-FFF2-40B4-BE49-F238E27FC236}">
                <a16:creationId xmlns:a16="http://schemas.microsoft.com/office/drawing/2014/main" id="{1AC8B13B-9A01-4570-A3E5-7C828CC634BB}"/>
              </a:ext>
            </a:extLst>
          </p:cNvPr>
          <p:cNvSpPr txBox="1"/>
          <p:nvPr/>
        </p:nvSpPr>
        <p:spPr>
          <a:xfrm>
            <a:off x="6350000" y="43870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 dirty="0" err="1">
                <a:solidFill>
                  <a:srgbClr val="6B7A8C"/>
                </a:solidFill>
              </a:rPr>
              <a:t>沿用</a:t>
            </a:r>
            <a:r>
              <a:rPr sz="1200" b="0" dirty="0">
                <a:solidFill>
                  <a:srgbClr val="6B7A8C"/>
                </a:solidFill>
              </a:rPr>
              <a:t> nRF5 </a:t>
            </a:r>
            <a:r>
              <a:rPr sz="1200" b="0" dirty="0" err="1">
                <a:solidFill>
                  <a:srgbClr val="6B7A8C"/>
                </a:solidFill>
              </a:rPr>
              <a:t>現成的</a:t>
            </a:r>
            <a:r>
              <a:rPr sz="1200" b="0" dirty="0">
                <a:solidFill>
                  <a:srgbClr val="6B7A8C"/>
                </a:solidFill>
              </a:rPr>
              <a:t> ESB </a:t>
            </a:r>
            <a:r>
              <a:rPr sz="1200" b="0" dirty="0" err="1">
                <a:solidFill>
                  <a:srgbClr val="6B7A8C"/>
                </a:solidFill>
              </a:rPr>
              <a:t>函式庫</a:t>
            </a:r>
            <a:endParaRPr sz="1200" b="0" dirty="0">
              <a:solidFill>
                <a:srgbClr val="6B7A8C"/>
              </a:solidFill>
            </a:endParaRPr>
          </a:p>
          <a:p>
            <a:pPr algn="l"/>
            <a:r>
              <a:rPr sz="1200" b="0" dirty="0" err="1">
                <a:solidFill>
                  <a:srgbClr val="6B7A8C"/>
                </a:solidFill>
              </a:rPr>
              <a:t>主控端只需解析</a:t>
            </a:r>
            <a:r>
              <a:rPr sz="1200" b="0" dirty="0">
                <a:solidFill>
                  <a:srgbClr val="6B7A8C"/>
                </a:solidFill>
              </a:rPr>
              <a:t> UART </a:t>
            </a:r>
            <a:r>
              <a:rPr lang="zh-CN" altLang="en-US" sz="1200" dirty="0">
                <a:solidFill>
                  <a:srgbClr val="6B7A8C"/>
                </a:solidFill>
              </a:rPr>
              <a:t>資訊</a:t>
            </a:r>
            <a:endParaRPr sz="1200" b="0" dirty="0">
              <a:solidFill>
                <a:srgbClr val="6B7A8C"/>
              </a:solidFill>
            </a:endParaRPr>
          </a:p>
        </p:txBody>
      </p:sp>
      <p:sp>
        <p:nvSpPr>
          <p:cNvPr id="53" name="TextBox 29">
            <a:extLst>
              <a:ext uri="{FF2B5EF4-FFF2-40B4-BE49-F238E27FC236}">
                <a16:creationId xmlns:a16="http://schemas.microsoft.com/office/drawing/2014/main" id="{16349D3F-1A00-40E1-B185-4AE49FFA0FC4}"/>
              </a:ext>
            </a:extLst>
          </p:cNvPr>
          <p:cNvSpPr txBox="1"/>
          <p:nvPr/>
        </p:nvSpPr>
        <p:spPr>
          <a:xfrm>
            <a:off x="6350000" y="4905842"/>
            <a:ext cx="5080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>
                <a:solidFill>
                  <a:srgbClr val="0A4D6E"/>
                </a:solidFill>
              </a:rPr>
              <a:t>本研究</a:t>
            </a:r>
          </a:p>
        </p:txBody>
      </p:sp>
      <p:sp>
        <p:nvSpPr>
          <p:cNvPr id="54" name="TextBox 30">
            <a:extLst>
              <a:ext uri="{FF2B5EF4-FFF2-40B4-BE49-F238E27FC236}">
                <a16:creationId xmlns:a16="http://schemas.microsoft.com/office/drawing/2014/main" id="{98469C9B-97BD-4231-8C8D-575EFB7EDD99}"/>
              </a:ext>
            </a:extLst>
          </p:cNvPr>
          <p:cNvSpPr txBox="1"/>
          <p:nvPr/>
        </p:nvSpPr>
        <p:spPr>
          <a:xfrm>
            <a:off x="6350000" y="5288786"/>
            <a:ext cx="5080000" cy="4206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00" b="0" dirty="0" err="1">
                <a:solidFill>
                  <a:srgbClr val="6B7A8C"/>
                </a:solidFill>
              </a:rPr>
              <a:t>無現成函式庫可用,需設定</a:t>
            </a:r>
            <a:r>
              <a:rPr sz="1200" b="0" dirty="0">
                <a:solidFill>
                  <a:srgbClr val="6B7A8C"/>
                </a:solidFill>
              </a:rPr>
              <a:t> RADIO </a:t>
            </a:r>
            <a:r>
              <a:rPr sz="1200" b="0" dirty="0" err="1">
                <a:solidFill>
                  <a:srgbClr val="6B7A8C"/>
                </a:solidFill>
              </a:rPr>
              <a:t>暫存器</a:t>
            </a:r>
            <a:r>
              <a:rPr sz="1200" b="0" dirty="0">
                <a:solidFill>
                  <a:srgbClr val="6B7A8C"/>
                </a:solidFill>
              </a:rPr>
              <a:t>：</a:t>
            </a:r>
          </a:p>
          <a:p>
            <a:pPr algn="l"/>
            <a:r>
              <a:rPr sz="1200" b="0" dirty="0" err="1">
                <a:solidFill>
                  <a:srgbClr val="6B7A8C"/>
                </a:solidFill>
              </a:rPr>
              <a:t>頻率、封包格式、CRC,並對齊格式</a:t>
            </a:r>
            <a:endParaRPr sz="1200" b="0" dirty="0">
              <a:solidFill>
                <a:srgbClr val="6B7A8C"/>
              </a:solidFill>
            </a:endParaRPr>
          </a:p>
        </p:txBody>
      </p:sp>
      <p:sp>
        <p:nvSpPr>
          <p:cNvPr id="59" name="页脚占位符 58">
            <a:extLst>
              <a:ext uri="{FF2B5EF4-FFF2-40B4-BE49-F238E27FC236}">
                <a16:creationId xmlns:a16="http://schemas.microsoft.com/office/drawing/2014/main" id="{BE46D9CB-7B0E-403F-BF42-E3C38A23AD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60" name="灯片编号占位符 59">
            <a:extLst>
              <a:ext uri="{FF2B5EF4-FFF2-40B4-BE49-F238E27FC236}">
                <a16:creationId xmlns:a16="http://schemas.microsoft.com/office/drawing/2014/main" id="{0C94A568-5044-4587-935B-ADEAFE33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ESB </a:t>
            </a: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無線協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219200"/>
          </a:xfrm>
          <a:prstGeom prst="roundRect">
            <a:avLst>
              <a:gd name="adj" fmla="val 533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ESB(Enhanced ShockBurst)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49377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Nordic 專有的 2.4GHz 協</a:t>
            </a:r>
            <a:r>
              <a:rPr lang="zh-CN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。nRF24L 系列由硬體內建,nRF5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系列須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配置 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RADIO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暫存器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38" y="2827020"/>
            <a:ext cx="10881361" cy="3416125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26" name="Text 24"/>
          <p:cNvSpPr/>
          <p:nvPr/>
        </p:nvSpPr>
        <p:spPr>
          <a:xfrm>
            <a:off x="762001" y="303836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封包結構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77239" y="35560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8" name="Text 26"/>
          <p:cNvSpPr/>
          <p:nvPr/>
        </p:nvSpPr>
        <p:spPr>
          <a:xfrm>
            <a:off x="777239" y="35560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前導碼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5560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08960" y="35560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硬體自動產生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39" y="40767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2" name="Text 30"/>
          <p:cNvSpPr/>
          <p:nvPr/>
        </p:nvSpPr>
        <p:spPr>
          <a:xfrm>
            <a:off x="777239" y="40767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423160" y="40767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108960" y="40767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0x123456789A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← 必須逐bit 反轉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39" y="45974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36" name="Text 34"/>
          <p:cNvSpPr/>
          <p:nvPr/>
        </p:nvSpPr>
        <p:spPr>
          <a:xfrm>
            <a:off x="777239" y="45974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封包控制欄位 PCF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423160" y="45974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9bit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108960" y="4597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載荷長度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6bit ｜ 封包編號 PID 2bit ｜ 免回覆 NO_ACK 1bit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7239" y="51181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4" name="Text 42"/>
          <p:cNvSpPr/>
          <p:nvPr/>
        </p:nvSpPr>
        <p:spPr>
          <a:xfrm>
            <a:off x="777239" y="51181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</a:t>
            </a:r>
            <a:r>
              <a:rPr lang="en-US" altLang="zh-CN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Payload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423160" y="51181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0-32B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108960" y="5118100"/>
            <a:ext cx="282598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封包:MsgID + DataLen + Data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77239" y="56388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48" name="Text 46"/>
          <p:cNvSpPr/>
          <p:nvPr/>
        </p:nvSpPr>
        <p:spPr>
          <a:xfrm>
            <a:off x="777239" y="5638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CRC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423160" y="56388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108960" y="56388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硬體校驗(</a:t>
            </a:r>
            <a:r>
              <a:rPr 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2Byte</a:t>
            </a: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100" dirty="0"/>
          </a:p>
        </p:txBody>
      </p:sp>
      <p:sp>
        <p:nvSpPr>
          <p:cNvPr id="58" name="TextBox 22">
            <a:extLst>
              <a:ext uri="{FF2B5EF4-FFF2-40B4-BE49-F238E27FC236}">
                <a16:creationId xmlns:a16="http://schemas.microsoft.com/office/drawing/2014/main" id="{D93528D6-070B-46CB-861B-96B9B026CB76}"/>
              </a:ext>
            </a:extLst>
          </p:cNvPr>
          <p:cNvSpPr txBox="1"/>
          <p:nvPr/>
        </p:nvSpPr>
        <p:spPr>
          <a:xfrm>
            <a:off x="6218629" y="4053616"/>
            <a:ext cx="658473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dirty="0">
                <a:solidFill>
                  <a:srgbClr val="146984"/>
                </a:solidFill>
                <a:latin typeface="Microsoft JhengHei"/>
              </a:rPr>
              <a:t>PCF</a:t>
            </a:r>
          </a:p>
        </p:txBody>
      </p:sp>
      <p:sp>
        <p:nvSpPr>
          <p:cNvPr id="59" name="TextBox 23">
            <a:extLst>
              <a:ext uri="{FF2B5EF4-FFF2-40B4-BE49-F238E27FC236}">
                <a16:creationId xmlns:a16="http://schemas.microsoft.com/office/drawing/2014/main" id="{D2C8E281-F6AE-4EC9-9569-735523E95C36}"/>
              </a:ext>
            </a:extLst>
          </p:cNvPr>
          <p:cNvSpPr txBox="1"/>
          <p:nvPr/>
        </p:nvSpPr>
        <p:spPr>
          <a:xfrm>
            <a:off x="7052250" y="409012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E78937"/>
                </a:solidFill>
                <a:latin typeface="Microsoft JhengHei"/>
              </a:rPr>
              <a:t>Length</a:t>
            </a:r>
          </a:p>
        </p:txBody>
      </p:sp>
      <p:sp>
        <p:nvSpPr>
          <p:cNvPr id="60" name="TextBox 24">
            <a:extLst>
              <a:ext uri="{FF2B5EF4-FFF2-40B4-BE49-F238E27FC236}">
                <a16:creationId xmlns:a16="http://schemas.microsoft.com/office/drawing/2014/main" id="{08F8A290-2936-47B7-B37C-806FDB9FF0F0}"/>
              </a:ext>
            </a:extLst>
          </p:cNvPr>
          <p:cNvSpPr txBox="1"/>
          <p:nvPr/>
        </p:nvSpPr>
        <p:spPr>
          <a:xfrm>
            <a:off x="8085520" y="409012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364C"/>
                </a:solidFill>
                <a:latin typeface="Microsoft JhengHei"/>
              </a:rPr>
              <a:t>6 bit</a:t>
            </a:r>
          </a:p>
        </p:txBody>
      </p:sp>
      <p:sp>
        <p:nvSpPr>
          <p:cNvPr id="61" name="TextBox 25">
            <a:extLst>
              <a:ext uri="{FF2B5EF4-FFF2-40B4-BE49-F238E27FC236}">
                <a16:creationId xmlns:a16="http://schemas.microsoft.com/office/drawing/2014/main" id="{C8E61B83-5D58-435C-9F90-0D52ABD1A69B}"/>
              </a:ext>
            </a:extLst>
          </p:cNvPr>
          <p:cNvSpPr txBox="1"/>
          <p:nvPr/>
        </p:nvSpPr>
        <p:spPr>
          <a:xfrm>
            <a:off x="8817042" y="410426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 err="1">
                <a:solidFill>
                  <a:srgbClr val="627384"/>
                </a:solidFill>
                <a:latin typeface="Microsoft JhengHei"/>
              </a:rPr>
              <a:t>載荷長度</a:t>
            </a:r>
            <a:r>
              <a:rPr sz="1100" b="0" dirty="0">
                <a:solidFill>
                  <a:srgbClr val="627384"/>
                </a:solidFill>
                <a:latin typeface="Microsoft JhengHei"/>
              </a:rPr>
              <a:t> 0–32 B</a:t>
            </a:r>
          </a:p>
        </p:txBody>
      </p:sp>
      <p:sp>
        <p:nvSpPr>
          <p:cNvPr id="62" name="TextBox 26">
            <a:extLst>
              <a:ext uri="{FF2B5EF4-FFF2-40B4-BE49-F238E27FC236}">
                <a16:creationId xmlns:a16="http://schemas.microsoft.com/office/drawing/2014/main" id="{20638194-2A44-4A35-B24B-42ADA66A0D66}"/>
              </a:ext>
            </a:extLst>
          </p:cNvPr>
          <p:cNvSpPr txBox="1"/>
          <p:nvPr/>
        </p:nvSpPr>
        <p:spPr>
          <a:xfrm>
            <a:off x="7052250" y="4501600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78937"/>
                </a:solidFill>
                <a:latin typeface="Microsoft JhengHei"/>
              </a:rPr>
              <a:t>PID</a:t>
            </a:r>
          </a:p>
        </p:txBody>
      </p:sp>
      <p:sp>
        <p:nvSpPr>
          <p:cNvPr id="63" name="TextBox 27">
            <a:extLst>
              <a:ext uri="{FF2B5EF4-FFF2-40B4-BE49-F238E27FC236}">
                <a16:creationId xmlns:a16="http://schemas.microsoft.com/office/drawing/2014/main" id="{FDC7E332-F24F-4698-9466-0E0A80AEC9C3}"/>
              </a:ext>
            </a:extLst>
          </p:cNvPr>
          <p:cNvSpPr txBox="1"/>
          <p:nvPr/>
        </p:nvSpPr>
        <p:spPr>
          <a:xfrm>
            <a:off x="8085520" y="4501600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dirty="0">
                <a:solidFill>
                  <a:srgbClr val="23364C"/>
                </a:solidFill>
                <a:latin typeface="Microsoft JhengHei"/>
              </a:rPr>
              <a:t>2 bit</a:t>
            </a:r>
          </a:p>
        </p:txBody>
      </p:sp>
      <p:sp>
        <p:nvSpPr>
          <p:cNvPr id="64" name="TextBox 28">
            <a:extLst>
              <a:ext uri="{FF2B5EF4-FFF2-40B4-BE49-F238E27FC236}">
                <a16:creationId xmlns:a16="http://schemas.microsoft.com/office/drawing/2014/main" id="{D147665C-BDCA-406D-AA85-E8795842A41E}"/>
              </a:ext>
            </a:extLst>
          </p:cNvPr>
          <p:cNvSpPr txBox="1"/>
          <p:nvPr/>
        </p:nvSpPr>
        <p:spPr>
          <a:xfrm>
            <a:off x="8817042" y="4515746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 err="1">
                <a:solidFill>
                  <a:srgbClr val="627384"/>
                </a:solidFill>
                <a:latin typeface="Microsoft JhengHei"/>
              </a:rPr>
              <a:t>分辨新包／重送</a:t>
            </a:r>
            <a:endParaRPr sz="11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65" name="TextBox 29">
            <a:extLst>
              <a:ext uri="{FF2B5EF4-FFF2-40B4-BE49-F238E27FC236}">
                <a16:creationId xmlns:a16="http://schemas.microsoft.com/office/drawing/2014/main" id="{4E0EF677-DD8A-44B1-BDE6-7AE8B8296974}"/>
              </a:ext>
            </a:extLst>
          </p:cNvPr>
          <p:cNvSpPr txBox="1"/>
          <p:nvPr/>
        </p:nvSpPr>
        <p:spPr>
          <a:xfrm>
            <a:off x="7052250" y="4913081"/>
            <a:ext cx="116863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78937"/>
                </a:solidFill>
                <a:latin typeface="Microsoft JhengHei"/>
              </a:rPr>
              <a:t>NO_ACK</a:t>
            </a:r>
          </a:p>
        </p:txBody>
      </p:sp>
      <p:sp>
        <p:nvSpPr>
          <p:cNvPr id="66" name="TextBox 30">
            <a:extLst>
              <a:ext uri="{FF2B5EF4-FFF2-40B4-BE49-F238E27FC236}">
                <a16:creationId xmlns:a16="http://schemas.microsoft.com/office/drawing/2014/main" id="{E4602709-6D66-4820-8461-CFE312EBE5FD}"/>
              </a:ext>
            </a:extLst>
          </p:cNvPr>
          <p:cNvSpPr txBox="1"/>
          <p:nvPr/>
        </p:nvSpPr>
        <p:spPr>
          <a:xfrm>
            <a:off x="8085520" y="4913081"/>
            <a:ext cx="762153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364C"/>
                </a:solidFill>
                <a:latin typeface="Microsoft JhengHei"/>
              </a:rPr>
              <a:t>1 bit</a:t>
            </a:r>
          </a:p>
        </p:txBody>
      </p:sp>
      <p:sp>
        <p:nvSpPr>
          <p:cNvPr id="67" name="TextBox 31">
            <a:extLst>
              <a:ext uri="{FF2B5EF4-FFF2-40B4-BE49-F238E27FC236}">
                <a16:creationId xmlns:a16="http://schemas.microsoft.com/office/drawing/2014/main" id="{75F6467C-6F23-4C42-AE27-40A43972D071}"/>
              </a:ext>
            </a:extLst>
          </p:cNvPr>
          <p:cNvSpPr txBox="1"/>
          <p:nvPr/>
        </p:nvSpPr>
        <p:spPr>
          <a:xfrm>
            <a:off x="8817042" y="4927227"/>
            <a:ext cx="2438888" cy="2640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>
                <a:solidFill>
                  <a:srgbClr val="627384"/>
                </a:solidFill>
                <a:latin typeface="Microsoft JhengHei"/>
              </a:rPr>
              <a:t>1 = </a:t>
            </a:r>
            <a:r>
              <a:rPr sz="1100" b="0" dirty="0" err="1">
                <a:solidFill>
                  <a:srgbClr val="627384"/>
                </a:solidFill>
                <a:latin typeface="Microsoft JhengHei"/>
              </a:rPr>
              <a:t>不要求回覆</a:t>
            </a:r>
            <a:endParaRPr sz="11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72" name="TextBox 34">
            <a:extLst>
              <a:ext uri="{FF2B5EF4-FFF2-40B4-BE49-F238E27FC236}">
                <a16:creationId xmlns:a16="http://schemas.microsoft.com/office/drawing/2014/main" id="{5E771ED8-0C5D-4355-80FF-9872BBEC1F3C}"/>
              </a:ext>
            </a:extLst>
          </p:cNvPr>
          <p:cNvSpPr txBox="1"/>
          <p:nvPr/>
        </p:nvSpPr>
        <p:spPr>
          <a:xfrm>
            <a:off x="6231301" y="3540062"/>
            <a:ext cx="633130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700" b="1" dirty="0">
                <a:solidFill>
                  <a:srgbClr val="146984"/>
                </a:solidFill>
                <a:latin typeface="Microsoft JhengHei"/>
              </a:rPr>
              <a:t>位址</a:t>
            </a:r>
            <a:endParaRPr sz="1700" b="1" dirty="0">
              <a:solidFill>
                <a:srgbClr val="146984"/>
              </a:solidFill>
              <a:latin typeface="Microsoft JhengHei"/>
            </a:endParaRPr>
          </a:p>
        </p:txBody>
      </p:sp>
      <p:sp>
        <p:nvSpPr>
          <p:cNvPr id="73" name="TextBox 37">
            <a:extLst>
              <a:ext uri="{FF2B5EF4-FFF2-40B4-BE49-F238E27FC236}">
                <a16:creationId xmlns:a16="http://schemas.microsoft.com/office/drawing/2014/main" id="{0C76EF1F-0EC5-407A-BCE7-062D67FC4A4B}"/>
              </a:ext>
            </a:extLst>
          </p:cNvPr>
          <p:cNvSpPr txBox="1"/>
          <p:nvPr/>
        </p:nvSpPr>
        <p:spPr>
          <a:xfrm>
            <a:off x="6955872" y="3432517"/>
            <a:ext cx="4345779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23364C"/>
                </a:solidFill>
                <a:latin typeface="Microsoft JhengHei"/>
              </a:rPr>
              <a:t>寫入位址前需位元反轉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，因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ATK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遙控器是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MSB,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本研究是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LSB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8C28A9A0-080E-4A1B-8F9D-92867285830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2666B24C-0702-47C7-8B9D-E388F3BB8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72" grpId="0"/>
      <p:bldP spid="7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通訊協議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9808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749808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480143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88920" y="1968079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4" name="Text 12"/>
          <p:cNvSpPr/>
          <p:nvPr/>
        </p:nvSpPr>
        <p:spPr>
          <a:xfrm>
            <a:off x="2788920" y="196807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0xAF/0</a:t>
            </a:r>
            <a:r>
              <a:rPr lang="en-US" altLang="zh-CN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xAA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9428" y="2480143"/>
            <a:ext cx="1920239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28032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7" name="Text 15"/>
          <p:cNvSpPr/>
          <p:nvPr/>
        </p:nvSpPr>
        <p:spPr>
          <a:xfrm>
            <a:off x="4828032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功能欄位</a:t>
            </a:r>
          </a:p>
        </p:txBody>
      </p:sp>
      <p:sp>
        <p:nvSpPr>
          <p:cNvPr id="18" name="Text 16"/>
          <p:cNvSpPr/>
          <p:nvPr/>
        </p:nvSpPr>
        <p:spPr>
          <a:xfrm>
            <a:off x="4828032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altLang="zh-CN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</a:rPr>
              <a:t>Msg ID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47104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0" name="Text 18"/>
          <p:cNvSpPr/>
          <p:nvPr/>
        </p:nvSpPr>
        <p:spPr>
          <a:xfrm>
            <a:off x="6547104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47104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資料Byte數</a:t>
            </a:r>
            <a:endParaRPr lang="en-US" sz="105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66176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3" name="Text 21"/>
          <p:cNvSpPr/>
          <p:nvPr/>
        </p:nvSpPr>
        <p:spPr>
          <a:xfrm>
            <a:off x="8266176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66176" y="2480143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0~30 Byte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39528" y="1968079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939528" y="1968079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85248" y="2480143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求和取低1Byte </a:t>
            </a:r>
            <a:r>
              <a:rPr lang="en-US" altLang="zh-CN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108960"/>
            <a:ext cx="6680200" cy="29108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246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範例:解鎖指令 AA AF 01 01 A1 FC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22960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1" name="Text 29"/>
          <p:cNvSpPr/>
          <p:nvPr/>
        </p:nvSpPr>
        <p:spPr>
          <a:xfrm>
            <a:off x="8229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4630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023359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4" name="Text 32"/>
          <p:cNvSpPr/>
          <p:nvPr/>
        </p:nvSpPr>
        <p:spPr>
          <a:xfrm>
            <a:off x="4023359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634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起始碼2:上位機 → 飛控、遙控器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7" name="Text 35"/>
          <p:cNvSpPr/>
          <p:nvPr/>
        </p:nvSpPr>
        <p:spPr>
          <a:xfrm>
            <a:off x="822960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630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功能字:命令封包</a:t>
            </a: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MsgID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23359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0" name="Text 38"/>
          <p:cNvSpPr/>
          <p:nvPr/>
        </p:nvSpPr>
        <p:spPr>
          <a:xfrm>
            <a:off x="4023359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634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長度:資料共 1 Byte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22960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3" name="Text 41"/>
          <p:cNvSpPr/>
          <p:nvPr/>
        </p:nvSpPr>
        <p:spPr>
          <a:xfrm>
            <a:off x="822960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4630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資料:解鎖命令碼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023359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6" name="Text 44"/>
          <p:cNvSpPr/>
          <p:nvPr/>
        </p:nvSpPr>
        <p:spPr>
          <a:xfrm>
            <a:off x="4023359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634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校驗:低8位=FC ✓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77240" y="5532120"/>
            <a:ext cx="3794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AA+AF+01+01+A1 相加取低 8 位 = FC</a:t>
            </a:r>
            <a:endParaRPr lang="en-US" sz="16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C98D7658-73BE-468E-BDAD-4B38A39D5F07}"/>
              </a:ext>
            </a:extLst>
          </p:cNvPr>
          <p:cNvGrpSpPr/>
          <p:nvPr/>
        </p:nvGrpSpPr>
        <p:grpSpPr>
          <a:xfrm>
            <a:off x="4754879" y="1585039"/>
            <a:ext cx="5157216" cy="1241567"/>
            <a:chOff x="4855464" y="1509761"/>
            <a:chExt cx="5113528" cy="1241567"/>
          </a:xfrm>
        </p:grpSpPr>
        <p:sp>
          <p:nvSpPr>
            <p:cNvPr id="49" name="Rectangle 48"/>
            <p:cNvSpPr/>
            <p:nvPr/>
          </p:nvSpPr>
          <p:spPr>
            <a:xfrm>
              <a:off x="4855464" y="1778508"/>
              <a:ext cx="5113528" cy="972820"/>
            </a:xfrm>
            <a:prstGeom prst="rect">
              <a:avLst/>
            </a:prstGeom>
            <a:noFill/>
            <a:ln w="25400">
              <a:solidFill>
                <a:srgbClr val="E893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 dirty="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884788" y="1509761"/>
              <a:ext cx="893379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lang="en-US" altLang="zh-CN" sz="1600" b="1" i="1" dirty="0">
                  <a:solidFill>
                    <a:srgbClr val="E8934A"/>
                  </a:solidFill>
                </a:rPr>
                <a:t>ATKP </a:t>
              </a:r>
              <a:r>
                <a:rPr lang="zh-CN" altLang="en-US" sz="1600" b="1" i="1" dirty="0">
                  <a:solidFill>
                    <a:srgbClr val="E8934A"/>
                  </a:solidFill>
                </a:rPr>
                <a:t>封包</a:t>
              </a:r>
              <a:endParaRPr sz="1600" b="1" i="1" dirty="0">
                <a:solidFill>
                  <a:srgbClr val="E8934A"/>
                </a:solidFill>
              </a:endParaRPr>
            </a:p>
          </p:txBody>
        </p:sp>
      </p:grpSp>
      <p:sp>
        <p:nvSpPr>
          <p:cNvPr id="52" name="Rounded Rectangle 21">
            <a:extLst>
              <a:ext uri="{FF2B5EF4-FFF2-40B4-BE49-F238E27FC236}">
                <a16:creationId xmlns:a16="http://schemas.microsoft.com/office/drawing/2014/main" id="{3E2ACED0-3955-4A83-B2FB-A8698F1C95D5}"/>
              </a:ext>
            </a:extLst>
          </p:cNvPr>
          <p:cNvSpPr/>
          <p:nvPr/>
        </p:nvSpPr>
        <p:spPr>
          <a:xfrm>
            <a:off x="7269481" y="3118870"/>
            <a:ext cx="4343400" cy="29009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2">
            <a:extLst>
              <a:ext uri="{FF2B5EF4-FFF2-40B4-BE49-F238E27FC236}">
                <a16:creationId xmlns:a16="http://schemas.microsoft.com/office/drawing/2014/main" id="{2A4C84D7-B5D8-41B3-8998-C4C9E1A33D45}"/>
              </a:ext>
            </a:extLst>
          </p:cNvPr>
          <p:cNvSpPr txBox="1"/>
          <p:nvPr/>
        </p:nvSpPr>
        <p:spPr>
          <a:xfrm>
            <a:off x="7516369" y="3410875"/>
            <a:ext cx="3865626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CN" altLang="en-US" sz="1700" b="1" dirty="0">
                <a:solidFill>
                  <a:srgbClr val="183052"/>
                </a:solidFill>
                <a:latin typeface="Microsoft JhengHei"/>
              </a:rPr>
              <a:t>注意</a:t>
            </a:r>
            <a:endParaRPr sz="17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C262D6B-044C-45B1-9966-26C7802DE3C1}"/>
              </a:ext>
            </a:extLst>
          </p:cNvPr>
          <p:cNvSpPr txBox="1"/>
          <p:nvPr/>
        </p:nvSpPr>
        <p:spPr>
          <a:xfrm>
            <a:off x="7516370" y="3764818"/>
            <a:ext cx="3865626" cy="102752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400" b="0" dirty="0">
                <a:solidFill>
                  <a:srgbClr val="23364C"/>
                </a:solidFill>
                <a:latin typeface="Microsoft JhengHei"/>
              </a:rPr>
              <a:t>ATK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中 </a:t>
            </a:r>
            <a:r>
              <a:rPr lang="en-US" altLang="zh-CN" sz="1400" b="0" dirty="0" err="1">
                <a:solidFill>
                  <a:srgbClr val="23364C"/>
                </a:solidFill>
                <a:latin typeface="Microsoft JhengHei"/>
              </a:rPr>
              <a:t>nRF</a:t>
            </a:r>
            <a:r>
              <a:rPr lang="en-US" altLang="zh-CN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與 </a:t>
            </a:r>
            <a:r>
              <a:rPr lang="en-US" altLang="zh-CN" sz="1400" dirty="0">
                <a:solidFill>
                  <a:srgbClr val="23364C"/>
                </a:solidFill>
                <a:latin typeface="Microsoft JhengHei"/>
              </a:rPr>
              <a:t>STM </a:t>
            </a:r>
            <a:r>
              <a:rPr lang="zh-CN" altLang="en-US" sz="1400" dirty="0">
                <a:solidFill>
                  <a:srgbClr val="23364C"/>
                </a:solidFill>
                <a:latin typeface="Microsoft JhengHei"/>
              </a:rPr>
              <a:t>之間通過</a:t>
            </a:r>
            <a:r>
              <a:rPr lang="en-US" altLang="zh-TW" sz="1400" b="0" dirty="0">
                <a:solidFill>
                  <a:srgbClr val="1B2A4A"/>
                </a:solidFill>
              </a:rPr>
              <a:t>UART</a:t>
            </a:r>
            <a:r>
              <a:rPr lang="zh-CN" altLang="en-US" sz="1400" b="0" dirty="0">
                <a:solidFill>
                  <a:srgbClr val="1B2A4A"/>
                </a:solidFill>
              </a:rPr>
              <a:t>使用該通訊協議進行溝通。</a:t>
            </a:r>
            <a:r>
              <a:rPr lang="en-US" altLang="zh-TW" sz="1400" b="0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zh-CN" altLang="en-US" sz="1400" b="0" dirty="0">
                <a:solidFill>
                  <a:srgbClr val="23364C"/>
                </a:solidFill>
                <a:latin typeface="Microsoft JhengHei"/>
              </a:rPr>
              <a:t>而本研究中只在與上位機溝通中使用。</a:t>
            </a:r>
            <a:endParaRPr sz="14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58" name="页脚占位符 57">
            <a:extLst>
              <a:ext uri="{FF2B5EF4-FFF2-40B4-BE49-F238E27FC236}">
                <a16:creationId xmlns:a16="http://schemas.microsoft.com/office/drawing/2014/main" id="{577D3836-1B51-4D5C-922A-28BCECC7E0C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59" name="灯片编号占位符 58">
            <a:extLst>
              <a:ext uri="{FF2B5EF4-FFF2-40B4-BE49-F238E27FC236}">
                <a16:creationId xmlns:a16="http://schemas.microsoft.com/office/drawing/2014/main" id="{427BD6B5-472F-4A28-87C8-A9F6F7B9C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14</a:t>
            </a:fld>
            <a:endParaRPr lang="en-US" dirty="0"/>
          </a:p>
        </p:txBody>
      </p:sp>
      <p:sp>
        <p:nvSpPr>
          <p:cNvPr id="60" name="Rounded Rectangle 45">
            <a:extLst>
              <a:ext uri="{FF2B5EF4-FFF2-40B4-BE49-F238E27FC236}">
                <a16:creationId xmlns:a16="http://schemas.microsoft.com/office/drawing/2014/main" id="{0D1ABF31-8191-463B-9FC6-FED2B3117F4A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▶  </a:t>
            </a:r>
            <a:r>
              <a:rPr sz="1600" b="1" dirty="0" err="1">
                <a:solidFill>
                  <a:srgbClr val="FFFFFF"/>
                </a:solidFill>
                <a:hlinkClick r:id="rId3" action="ppaction://hlinkfile"/>
              </a:rPr>
              <a:t>播放影片</a:t>
            </a:r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：</a:t>
            </a:r>
            <a:r>
              <a:rPr lang="zh-CN" altLang="en-US" sz="1600" b="1" dirty="0">
                <a:solidFill>
                  <a:srgbClr val="FFFFFF"/>
                </a:solidFill>
                <a:hlinkClick r:id="rId3" action="ppaction://hlinkfile"/>
              </a:rPr>
              <a:t>移植驗證</a:t>
            </a:r>
            <a:endParaRPr sz="16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2" grpId="0" animBg="1"/>
      <p:bldP spid="53" grpId="0"/>
      <p:bldP spid="54" grpId="0"/>
      <p:bldP spid="6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9312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多機控制的架構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指令的傳遞路徑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210312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</a:t>
            </a:r>
            <a:endParaRPr lang="en-US" sz="16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(定位與決策)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97480" y="2697480"/>
            <a:ext cx="54864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3" name="Text 11"/>
          <p:cNvSpPr/>
          <p:nvPr/>
        </p:nvSpPr>
        <p:spPr>
          <a:xfrm>
            <a:off x="2580640" y="20574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5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ATKP指令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15" name="Text 13"/>
          <p:cNvSpPr/>
          <p:nvPr/>
        </p:nvSpPr>
        <p:spPr>
          <a:xfrm>
            <a:off x="3246120" y="21031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 flipV="1">
            <a:off x="5349240" y="2121408"/>
            <a:ext cx="640080" cy="301752"/>
          </a:xfrm>
          <a:prstGeom prst="line">
            <a:avLst/>
          </a:prstGeom>
          <a:noFill/>
          <a:ln w="25400">
            <a:solidFill>
              <a:srgbClr val="0A4D6E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7" name="Shape 15"/>
          <p:cNvSpPr/>
          <p:nvPr/>
        </p:nvSpPr>
        <p:spPr>
          <a:xfrm>
            <a:off x="5349240" y="2971800"/>
            <a:ext cx="640080" cy="27432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18" name="Shape 16"/>
          <p:cNvSpPr/>
          <p:nvPr/>
        </p:nvSpPr>
        <p:spPr>
          <a:xfrm>
            <a:off x="6035040" y="173736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A4D6E"/>
            </a:solidFill>
            <a:prstDash val="solid"/>
          </a:ln>
        </p:spPr>
        <p:txBody>
          <a:bodyPr/>
          <a:lstStyle/>
          <a:p>
            <a:endParaRPr sz="3600"/>
          </a:p>
        </p:txBody>
      </p:sp>
      <p:sp>
        <p:nvSpPr>
          <p:cNvPr id="19" name="Text 17"/>
          <p:cNvSpPr/>
          <p:nvPr/>
        </p:nvSpPr>
        <p:spPr>
          <a:xfrm>
            <a:off x="60350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2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269748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1" name="Text 19"/>
          <p:cNvSpPr/>
          <p:nvPr/>
        </p:nvSpPr>
        <p:spPr>
          <a:xfrm>
            <a:off x="6035040" y="26974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400" b="1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400" b="1" dirty="0">
              <a:solidFill>
                <a:srgbClr val="1A2333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nRF自製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121408"/>
            <a:ext cx="640080" cy="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3" name="Shape 21"/>
          <p:cNvSpPr/>
          <p:nvPr/>
        </p:nvSpPr>
        <p:spPr>
          <a:xfrm flipV="1">
            <a:off x="8138160" y="2770633"/>
            <a:ext cx="640080" cy="320039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 sz="2000"/>
          </a:p>
        </p:txBody>
      </p:sp>
      <p:sp>
        <p:nvSpPr>
          <p:cNvPr id="24" name="Shape 22"/>
          <p:cNvSpPr/>
          <p:nvPr/>
        </p:nvSpPr>
        <p:spPr>
          <a:xfrm>
            <a:off x="8823960" y="22402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000"/>
          </a:p>
        </p:txBody>
      </p:sp>
      <p:sp>
        <p:nvSpPr>
          <p:cNvPr id="25" name="Text 23"/>
          <p:cNvSpPr/>
          <p:nvPr/>
        </p:nvSpPr>
        <p:spPr>
          <a:xfrm>
            <a:off x="8823960" y="22402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 err="1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發出藍牙訊號</a:t>
            </a:r>
            <a:endParaRPr lang="en-US" sz="14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由四個錨點接收</a:t>
            </a:r>
            <a:endParaRPr lang="en-US" sz="1400" dirty="0"/>
          </a:p>
        </p:txBody>
      </p:sp>
      <p:sp>
        <p:nvSpPr>
          <p:cNvPr id="41" name="Rounded Rectangle 14">
            <a:extLst>
              <a:ext uri="{FF2B5EF4-FFF2-40B4-BE49-F238E27FC236}">
                <a16:creationId xmlns:a16="http://schemas.microsoft.com/office/drawing/2014/main" id="{00935FB2-DCB4-400F-BAF8-3B96215BEED8}"/>
              </a:ext>
            </a:extLst>
          </p:cNvPr>
          <p:cNvSpPr/>
          <p:nvPr/>
        </p:nvSpPr>
        <p:spPr>
          <a:xfrm>
            <a:off x="550848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Rounded Rectangle 15">
            <a:extLst>
              <a:ext uri="{FF2B5EF4-FFF2-40B4-BE49-F238E27FC236}">
                <a16:creationId xmlns:a16="http://schemas.microsoft.com/office/drawing/2014/main" id="{06FCC066-AD2F-4278-8770-D74040E3144F}"/>
              </a:ext>
            </a:extLst>
          </p:cNvPr>
          <p:cNvSpPr/>
          <p:nvPr/>
        </p:nvSpPr>
        <p:spPr>
          <a:xfrm>
            <a:off x="550848" y="4019470"/>
            <a:ext cx="3519704" cy="45720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102242CE-65E7-4599-BB4C-3CFB0726D7C2}"/>
              </a:ext>
            </a:extLst>
          </p:cNvPr>
          <p:cNvSpPr txBox="1"/>
          <p:nvPr/>
        </p:nvSpPr>
        <p:spPr>
          <a:xfrm>
            <a:off x="715440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3BA3824B-6A27-474D-ABBB-DE40D6082046}"/>
              </a:ext>
            </a:extLst>
          </p:cNvPr>
          <p:cNvSpPr txBox="1"/>
          <p:nvPr/>
        </p:nvSpPr>
        <p:spPr>
          <a:xfrm>
            <a:off x="752016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同一封包</a:t>
            </a:r>
            <a:r>
              <a:rPr lang="zh-CN" altLang="en-US" sz="1200" dirty="0">
                <a:solidFill>
                  <a:srgbClr val="627384"/>
                </a:solidFill>
                <a:latin typeface="Microsoft JhengHei"/>
              </a:rPr>
              <a:t>，同一指令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5" name="Rounded Rectangle 18">
            <a:extLst>
              <a:ext uri="{FF2B5EF4-FFF2-40B4-BE49-F238E27FC236}">
                <a16:creationId xmlns:a16="http://schemas.microsoft.com/office/drawing/2014/main" id="{826908FC-A0DD-4A16-A125-F67E3244BFC5}"/>
              </a:ext>
            </a:extLst>
          </p:cNvPr>
          <p:cNvSpPr/>
          <p:nvPr/>
        </p:nvSpPr>
        <p:spPr>
          <a:xfrm>
            <a:off x="4271720" y="401947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6" name="Rounded Rectangle 19">
            <a:extLst>
              <a:ext uri="{FF2B5EF4-FFF2-40B4-BE49-F238E27FC236}">
                <a16:creationId xmlns:a16="http://schemas.microsoft.com/office/drawing/2014/main" id="{CB62C852-DE8A-4F44-A6FB-3C0C68D93773}"/>
              </a:ext>
            </a:extLst>
          </p:cNvPr>
          <p:cNvSpPr/>
          <p:nvPr/>
        </p:nvSpPr>
        <p:spPr>
          <a:xfrm>
            <a:off x="4271720" y="4019470"/>
            <a:ext cx="3519704" cy="457200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TextBox 20">
            <a:extLst>
              <a:ext uri="{FF2B5EF4-FFF2-40B4-BE49-F238E27FC236}">
                <a16:creationId xmlns:a16="http://schemas.microsoft.com/office/drawing/2014/main" id="{0BCF020D-F535-4659-B2F5-B5462A424878}"/>
              </a:ext>
            </a:extLst>
          </p:cNvPr>
          <p:cNvSpPr txBox="1"/>
          <p:nvPr/>
        </p:nvSpPr>
        <p:spPr>
          <a:xfrm>
            <a:off x="4436312" y="460290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指揮多架</a:t>
            </a:r>
          </a:p>
        </p:txBody>
      </p:sp>
      <p:sp>
        <p:nvSpPr>
          <p:cNvPr id="48" name="TextBox 21">
            <a:extLst>
              <a:ext uri="{FF2B5EF4-FFF2-40B4-BE49-F238E27FC236}">
                <a16:creationId xmlns:a16="http://schemas.microsoft.com/office/drawing/2014/main" id="{7C89FB75-E5F4-4F09-94E3-FDB841CB1752}"/>
              </a:ext>
            </a:extLst>
          </p:cNvPr>
          <p:cNvSpPr txBox="1"/>
          <p:nvPr/>
        </p:nvSpPr>
        <p:spPr>
          <a:xfrm>
            <a:off x="4472888" y="521599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一包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不同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指令；各機取自己的段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49" name="Rounded Rectangle 22">
            <a:extLst>
              <a:ext uri="{FF2B5EF4-FFF2-40B4-BE49-F238E27FC236}">
                <a16:creationId xmlns:a16="http://schemas.microsoft.com/office/drawing/2014/main" id="{A924CD6F-F369-40A9-A736-C4747B8D6E13}"/>
              </a:ext>
            </a:extLst>
          </p:cNvPr>
          <p:cNvSpPr/>
          <p:nvPr/>
        </p:nvSpPr>
        <p:spPr>
          <a:xfrm>
            <a:off x="7956016" y="4023360"/>
            <a:ext cx="3519704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0" name="Rounded Rectangle 23">
            <a:extLst>
              <a:ext uri="{FF2B5EF4-FFF2-40B4-BE49-F238E27FC236}">
                <a16:creationId xmlns:a16="http://schemas.microsoft.com/office/drawing/2014/main" id="{D4ABED9E-6061-4067-AA34-2512412B3BDE}"/>
              </a:ext>
            </a:extLst>
          </p:cNvPr>
          <p:cNvSpPr/>
          <p:nvPr/>
        </p:nvSpPr>
        <p:spPr>
          <a:xfrm>
            <a:off x="7956016" y="4023360"/>
            <a:ext cx="3519704" cy="45720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狀態查詢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51" name="TextBox 24">
            <a:extLst>
              <a:ext uri="{FF2B5EF4-FFF2-40B4-BE49-F238E27FC236}">
                <a16:creationId xmlns:a16="http://schemas.microsoft.com/office/drawing/2014/main" id="{D728FC0B-74FF-4198-A7C9-7E36011D174C}"/>
              </a:ext>
            </a:extLst>
          </p:cNvPr>
          <p:cNvSpPr txBox="1"/>
          <p:nvPr/>
        </p:nvSpPr>
        <p:spPr>
          <a:xfrm>
            <a:off x="8120608" y="4606791"/>
            <a:ext cx="31528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b="1" dirty="0">
                <a:solidFill>
                  <a:srgbClr val="183052"/>
                </a:solidFill>
                <a:latin typeface="Microsoft JhengHei"/>
              </a:rPr>
              <a:t>輪流取得狀態</a:t>
            </a:r>
          </a:p>
        </p:txBody>
      </p:sp>
      <p:sp>
        <p:nvSpPr>
          <p:cNvPr id="52" name="TextBox 25">
            <a:extLst>
              <a:ext uri="{FF2B5EF4-FFF2-40B4-BE49-F238E27FC236}">
                <a16:creationId xmlns:a16="http://schemas.microsoft.com/office/drawing/2014/main" id="{32A9D13F-38BD-4B95-9946-4228CFF3FF07}"/>
              </a:ext>
            </a:extLst>
          </p:cNvPr>
          <p:cNvSpPr txBox="1"/>
          <p:nvPr/>
        </p:nvSpPr>
        <p:spPr>
          <a:xfrm>
            <a:off x="8157184" y="5219885"/>
            <a:ext cx="307354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每約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lang="en-US" sz="1200" b="0" dirty="0">
                <a:solidFill>
                  <a:srgbClr val="627384"/>
                </a:solidFill>
                <a:latin typeface="Microsoft JhengHei"/>
              </a:rPr>
              <a:t>130</a:t>
            </a:r>
            <a:r>
              <a:rPr lang="en-US" altLang="zh-CN" sz="1200" b="0" dirty="0">
                <a:solidFill>
                  <a:srgbClr val="627384"/>
                </a:solidFill>
                <a:latin typeface="Microsoft JhengHei"/>
              </a:rPr>
              <a:t>ms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回一對一查詢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29" name="页脚占位符 28">
            <a:extLst>
              <a:ext uri="{FF2B5EF4-FFF2-40B4-BE49-F238E27FC236}">
                <a16:creationId xmlns:a16="http://schemas.microsoft.com/office/drawing/2014/main" id="{C640092C-829C-46D7-81C5-AA227E8BD4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0" name="灯片编号占位符 29">
            <a:extLst>
              <a:ext uri="{FF2B5EF4-FFF2-40B4-BE49-F238E27FC236}">
                <a16:creationId xmlns:a16="http://schemas.microsoft.com/office/drawing/2014/main" id="{6099B9F7-33A5-45AA-AD83-44CD77F77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15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三種控制方式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44" name="Rounded Rectangle 7">
            <a:extLst>
              <a:ext uri="{FF2B5EF4-FFF2-40B4-BE49-F238E27FC236}">
                <a16:creationId xmlns:a16="http://schemas.microsoft.com/office/drawing/2014/main" id="{E3CB8829-8ACE-472F-9CE5-A6946D4E2E2D}"/>
              </a:ext>
            </a:extLst>
          </p:cNvPr>
          <p:cNvSpPr/>
          <p:nvPr/>
        </p:nvSpPr>
        <p:spPr>
          <a:xfrm>
            <a:off x="2287805" y="1709928"/>
            <a:ext cx="2929058" cy="530352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一對一</a:t>
            </a:r>
            <a:endParaRPr sz="14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7A85A126-31E7-4ED1-A12E-AB059FE8A5B7}"/>
              </a:ext>
            </a:extLst>
          </p:cNvPr>
          <p:cNvSpPr/>
          <p:nvPr/>
        </p:nvSpPr>
        <p:spPr>
          <a:xfrm>
            <a:off x="5288963" y="1709928"/>
            <a:ext cx="2929058" cy="530352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A</a:t>
            </a:r>
          </a:p>
        </p:txBody>
      </p:sp>
      <p:sp>
        <p:nvSpPr>
          <p:cNvPr id="46" name="Rounded Rectangle 9">
            <a:extLst>
              <a:ext uri="{FF2B5EF4-FFF2-40B4-BE49-F238E27FC236}">
                <a16:creationId xmlns:a16="http://schemas.microsoft.com/office/drawing/2014/main" id="{D30A9E94-1EB5-4C6F-B0EB-85BD4BD482DD}"/>
              </a:ext>
            </a:extLst>
          </p:cNvPr>
          <p:cNvSpPr/>
          <p:nvPr/>
        </p:nvSpPr>
        <p:spPr>
          <a:xfrm>
            <a:off x="8290121" y="1709928"/>
            <a:ext cx="2929058" cy="530352"/>
          </a:xfrm>
          <a:prstGeom prst="roundRect">
            <a:avLst/>
          </a:prstGeom>
          <a:solidFill>
            <a:srgbClr val="3199B4"/>
          </a:solidFill>
          <a:ln w="12700">
            <a:solidFill>
              <a:srgbClr val="319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Microsoft JhengHei"/>
              </a:rPr>
              <a:t>廣播</a:t>
            </a:r>
            <a:r>
              <a:rPr sz="1400" b="1" dirty="0">
                <a:solidFill>
                  <a:srgbClr val="FFFFFF"/>
                </a:solidFill>
                <a:latin typeface="Microsoft JhengHei"/>
              </a:rPr>
              <a:t> B</a:t>
            </a:r>
          </a:p>
        </p:txBody>
      </p:sp>
      <p:sp>
        <p:nvSpPr>
          <p:cNvPr id="47" name="Rounded Rectangle 10">
            <a:extLst>
              <a:ext uri="{FF2B5EF4-FFF2-40B4-BE49-F238E27FC236}">
                <a16:creationId xmlns:a16="http://schemas.microsoft.com/office/drawing/2014/main" id="{FFA43171-FC25-49B8-AA41-AC72782959E5}"/>
              </a:ext>
            </a:extLst>
          </p:cNvPr>
          <p:cNvSpPr/>
          <p:nvPr/>
        </p:nvSpPr>
        <p:spPr>
          <a:xfrm>
            <a:off x="593457" y="2350008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48" name="TextBox 11">
            <a:extLst>
              <a:ext uri="{FF2B5EF4-FFF2-40B4-BE49-F238E27FC236}">
                <a16:creationId xmlns:a16="http://schemas.microsoft.com/office/drawing/2014/main" id="{ED13D70E-FAE0-41B1-97D3-94306075B7F1}"/>
              </a:ext>
            </a:extLst>
          </p:cNvPr>
          <p:cNvSpPr txBox="1"/>
          <p:nvPr/>
        </p:nvSpPr>
        <p:spPr>
          <a:xfrm>
            <a:off x="665557" y="2513260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發送次數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49" name="Rounded Rectangle 12">
            <a:extLst>
              <a:ext uri="{FF2B5EF4-FFF2-40B4-BE49-F238E27FC236}">
                <a16:creationId xmlns:a16="http://schemas.microsoft.com/office/drawing/2014/main" id="{A58852A1-04F3-4682-9876-7263A61A09D4}"/>
              </a:ext>
            </a:extLst>
          </p:cNvPr>
          <p:cNvSpPr/>
          <p:nvPr/>
        </p:nvSpPr>
        <p:spPr>
          <a:xfrm>
            <a:off x="2287805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0" name="TextBox 13">
            <a:extLst>
              <a:ext uri="{FF2B5EF4-FFF2-40B4-BE49-F238E27FC236}">
                <a16:creationId xmlns:a16="http://schemas.microsoft.com/office/drawing/2014/main" id="{615356D1-DFAF-4DE6-91A3-F57F5DBCC035}"/>
              </a:ext>
            </a:extLst>
          </p:cNvPr>
          <p:cNvSpPr txBox="1"/>
          <p:nvPr/>
        </p:nvSpPr>
        <p:spPr>
          <a:xfrm>
            <a:off x="2359904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N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次（逐架</a:t>
            </a:r>
            <a:r>
              <a:rPr sz="1200" b="0" dirty="0">
                <a:solidFill>
                  <a:srgbClr val="23364C"/>
                </a:solidFill>
                <a:latin typeface="Microsoft JhengHei"/>
              </a:rPr>
              <a:t>）</a:t>
            </a:r>
          </a:p>
        </p:txBody>
      </p:sp>
      <p:sp>
        <p:nvSpPr>
          <p:cNvPr id="51" name="Rounded Rectangle 14">
            <a:extLst>
              <a:ext uri="{FF2B5EF4-FFF2-40B4-BE49-F238E27FC236}">
                <a16:creationId xmlns:a16="http://schemas.microsoft.com/office/drawing/2014/main" id="{239B00D6-4287-427D-A0A3-F447C6618B13}"/>
              </a:ext>
            </a:extLst>
          </p:cNvPr>
          <p:cNvSpPr/>
          <p:nvPr/>
        </p:nvSpPr>
        <p:spPr>
          <a:xfrm>
            <a:off x="5288963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2" name="TextBox 15">
            <a:extLst>
              <a:ext uri="{FF2B5EF4-FFF2-40B4-BE49-F238E27FC236}">
                <a16:creationId xmlns:a16="http://schemas.microsoft.com/office/drawing/2014/main" id="{FE148406-234D-41E0-A711-F781BCF2E751}"/>
              </a:ext>
            </a:extLst>
          </p:cNvPr>
          <p:cNvSpPr txBox="1"/>
          <p:nvPr/>
        </p:nvSpPr>
        <p:spPr>
          <a:xfrm>
            <a:off x="5361063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3" name="Rounded Rectangle 16">
            <a:extLst>
              <a:ext uri="{FF2B5EF4-FFF2-40B4-BE49-F238E27FC236}">
                <a16:creationId xmlns:a16="http://schemas.microsoft.com/office/drawing/2014/main" id="{2031CBF9-877C-4968-9BE8-DCFCDB12619C}"/>
              </a:ext>
            </a:extLst>
          </p:cNvPr>
          <p:cNvSpPr/>
          <p:nvPr/>
        </p:nvSpPr>
        <p:spPr>
          <a:xfrm>
            <a:off x="8290121" y="2350008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4" name="TextBox 17">
            <a:extLst>
              <a:ext uri="{FF2B5EF4-FFF2-40B4-BE49-F238E27FC236}">
                <a16:creationId xmlns:a16="http://schemas.microsoft.com/office/drawing/2014/main" id="{BB745189-59C3-464E-B023-0E56ADC9E1F9}"/>
              </a:ext>
            </a:extLst>
          </p:cNvPr>
          <p:cNvSpPr txBox="1"/>
          <p:nvPr/>
        </p:nvSpPr>
        <p:spPr>
          <a:xfrm>
            <a:off x="8362221" y="2513260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次</a:t>
            </a:r>
          </a:p>
        </p:txBody>
      </p:sp>
      <p:sp>
        <p:nvSpPr>
          <p:cNvPr id="55" name="Rounded Rectangle 18">
            <a:extLst>
              <a:ext uri="{FF2B5EF4-FFF2-40B4-BE49-F238E27FC236}">
                <a16:creationId xmlns:a16="http://schemas.microsoft.com/office/drawing/2014/main" id="{1DCCA4A6-8806-42DD-9C57-FED4C0ED8943}"/>
              </a:ext>
            </a:extLst>
          </p:cNvPr>
          <p:cNvSpPr/>
          <p:nvPr/>
        </p:nvSpPr>
        <p:spPr>
          <a:xfrm>
            <a:off x="593457" y="3017520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6" name="TextBox 19">
            <a:extLst>
              <a:ext uri="{FF2B5EF4-FFF2-40B4-BE49-F238E27FC236}">
                <a16:creationId xmlns:a16="http://schemas.microsoft.com/office/drawing/2014/main" id="{671B39FA-8BAB-4508-AE71-BBCF87694746}"/>
              </a:ext>
            </a:extLst>
          </p:cNvPr>
          <p:cNvSpPr txBox="1"/>
          <p:nvPr/>
        </p:nvSpPr>
        <p:spPr>
          <a:xfrm>
            <a:off x="665557" y="3180772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指令同步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57" name="Rounded Rectangle 20">
            <a:extLst>
              <a:ext uri="{FF2B5EF4-FFF2-40B4-BE49-F238E27FC236}">
                <a16:creationId xmlns:a16="http://schemas.microsoft.com/office/drawing/2014/main" id="{7489162F-4780-4B38-8A83-30AED294E6B1}"/>
              </a:ext>
            </a:extLst>
          </p:cNvPr>
          <p:cNvSpPr/>
          <p:nvPr/>
        </p:nvSpPr>
        <p:spPr>
          <a:xfrm>
            <a:off x="2287805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8" name="TextBox 21">
            <a:extLst>
              <a:ext uri="{FF2B5EF4-FFF2-40B4-BE49-F238E27FC236}">
                <a16:creationId xmlns:a16="http://schemas.microsoft.com/office/drawing/2014/main" id="{BD4E2E57-A5B9-4CCF-9F56-AC07CFA9C63D}"/>
              </a:ext>
            </a:extLst>
          </p:cNvPr>
          <p:cNvSpPr txBox="1"/>
          <p:nvPr/>
        </p:nvSpPr>
        <p:spPr>
          <a:xfrm>
            <a:off x="2359904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各架錯開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59" name="Rounded Rectangle 22">
            <a:extLst>
              <a:ext uri="{FF2B5EF4-FFF2-40B4-BE49-F238E27FC236}">
                <a16:creationId xmlns:a16="http://schemas.microsoft.com/office/drawing/2014/main" id="{54262C15-E7B9-4EAD-AEEC-8FB6B9AE62DE}"/>
              </a:ext>
            </a:extLst>
          </p:cNvPr>
          <p:cNvSpPr/>
          <p:nvPr/>
        </p:nvSpPr>
        <p:spPr>
          <a:xfrm>
            <a:off x="5288963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0" name="TextBox 23">
            <a:extLst>
              <a:ext uri="{FF2B5EF4-FFF2-40B4-BE49-F238E27FC236}">
                <a16:creationId xmlns:a16="http://schemas.microsoft.com/office/drawing/2014/main" id="{EFF66070-D58E-4F48-BEA0-551A583C13DD}"/>
              </a:ext>
            </a:extLst>
          </p:cNvPr>
          <p:cNvSpPr txBox="1"/>
          <p:nvPr/>
        </p:nvSpPr>
        <p:spPr>
          <a:xfrm>
            <a:off x="5361063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1" name="Rounded Rectangle 24">
            <a:extLst>
              <a:ext uri="{FF2B5EF4-FFF2-40B4-BE49-F238E27FC236}">
                <a16:creationId xmlns:a16="http://schemas.microsoft.com/office/drawing/2014/main" id="{5073EDF5-AC75-462D-88CB-0D77D213623E}"/>
              </a:ext>
            </a:extLst>
          </p:cNvPr>
          <p:cNvSpPr/>
          <p:nvPr/>
        </p:nvSpPr>
        <p:spPr>
          <a:xfrm>
            <a:off x="8290121" y="3017520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2" name="TextBox 25">
            <a:extLst>
              <a:ext uri="{FF2B5EF4-FFF2-40B4-BE49-F238E27FC236}">
                <a16:creationId xmlns:a16="http://schemas.microsoft.com/office/drawing/2014/main" id="{6DC0BF43-863A-4740-B2C5-456F0D6E47BE}"/>
              </a:ext>
            </a:extLst>
          </p:cNvPr>
          <p:cNvSpPr txBox="1"/>
          <p:nvPr/>
        </p:nvSpPr>
        <p:spPr>
          <a:xfrm>
            <a:off x="8362221" y="3180772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同時到達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3" name="Rounded Rectangle 26">
            <a:extLst>
              <a:ext uri="{FF2B5EF4-FFF2-40B4-BE49-F238E27FC236}">
                <a16:creationId xmlns:a16="http://schemas.microsoft.com/office/drawing/2014/main" id="{74C0EBFC-F281-4248-91C6-86EDA38F7FAE}"/>
              </a:ext>
            </a:extLst>
          </p:cNvPr>
          <p:cNvSpPr/>
          <p:nvPr/>
        </p:nvSpPr>
        <p:spPr>
          <a:xfrm>
            <a:off x="593457" y="3685032"/>
            <a:ext cx="1622247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64" name="TextBox 27">
            <a:extLst>
              <a:ext uri="{FF2B5EF4-FFF2-40B4-BE49-F238E27FC236}">
                <a16:creationId xmlns:a16="http://schemas.microsoft.com/office/drawing/2014/main" id="{F20E75B1-F897-4D68-9E5A-2E08FF9E003B}"/>
              </a:ext>
            </a:extLst>
          </p:cNvPr>
          <p:cNvSpPr txBox="1"/>
          <p:nvPr/>
        </p:nvSpPr>
        <p:spPr>
          <a:xfrm>
            <a:off x="665557" y="3848284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狀態回覆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65" name="Rounded Rectangle 28">
            <a:extLst>
              <a:ext uri="{FF2B5EF4-FFF2-40B4-BE49-F238E27FC236}">
                <a16:creationId xmlns:a16="http://schemas.microsoft.com/office/drawing/2014/main" id="{2A1CCD0E-8B3E-44BE-BC94-BF3C21D59CAE}"/>
              </a:ext>
            </a:extLst>
          </p:cNvPr>
          <p:cNvSpPr/>
          <p:nvPr/>
        </p:nvSpPr>
        <p:spPr>
          <a:xfrm>
            <a:off x="2287805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TextBox 29">
            <a:extLst>
              <a:ext uri="{FF2B5EF4-FFF2-40B4-BE49-F238E27FC236}">
                <a16:creationId xmlns:a16="http://schemas.microsoft.com/office/drawing/2014/main" id="{4196EB04-806B-48D0-BDFD-290769109061}"/>
              </a:ext>
            </a:extLst>
          </p:cNvPr>
          <p:cNvSpPr txBox="1"/>
          <p:nvPr/>
        </p:nvSpPr>
        <p:spPr>
          <a:xfrm>
            <a:off x="2359904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✓ 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有,可重送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67" name="Rounded Rectangle 30">
            <a:extLst>
              <a:ext uri="{FF2B5EF4-FFF2-40B4-BE49-F238E27FC236}">
                <a16:creationId xmlns:a16="http://schemas.microsoft.com/office/drawing/2014/main" id="{A590AD31-79DB-4DD7-944F-35FFDC01CBBC}"/>
              </a:ext>
            </a:extLst>
          </p:cNvPr>
          <p:cNvSpPr/>
          <p:nvPr/>
        </p:nvSpPr>
        <p:spPr>
          <a:xfrm>
            <a:off x="5288963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8" name="TextBox 31">
            <a:extLst>
              <a:ext uri="{FF2B5EF4-FFF2-40B4-BE49-F238E27FC236}">
                <a16:creationId xmlns:a16="http://schemas.microsoft.com/office/drawing/2014/main" id="{8784467B-10D6-43E8-A8EA-AC3C1FD64D49}"/>
              </a:ext>
            </a:extLst>
          </p:cNvPr>
          <p:cNvSpPr txBox="1"/>
          <p:nvPr/>
        </p:nvSpPr>
        <p:spPr>
          <a:xfrm>
            <a:off x="5361063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69" name="Rounded Rectangle 32">
            <a:extLst>
              <a:ext uri="{FF2B5EF4-FFF2-40B4-BE49-F238E27FC236}">
                <a16:creationId xmlns:a16="http://schemas.microsoft.com/office/drawing/2014/main" id="{144FC58C-8AB6-4367-92B8-BC061B94F853}"/>
              </a:ext>
            </a:extLst>
          </p:cNvPr>
          <p:cNvSpPr/>
          <p:nvPr/>
        </p:nvSpPr>
        <p:spPr>
          <a:xfrm>
            <a:off x="8290121" y="3685032"/>
            <a:ext cx="292905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" name="TextBox 33">
            <a:extLst>
              <a:ext uri="{FF2B5EF4-FFF2-40B4-BE49-F238E27FC236}">
                <a16:creationId xmlns:a16="http://schemas.microsoft.com/office/drawing/2014/main" id="{A098A78B-34ED-4F25-BA15-33FF1FAD33F9}"/>
              </a:ext>
            </a:extLst>
          </p:cNvPr>
          <p:cNvSpPr txBox="1"/>
          <p:nvPr/>
        </p:nvSpPr>
        <p:spPr>
          <a:xfrm>
            <a:off x="8362221" y="3848284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✗ 無</a:t>
            </a:r>
          </a:p>
        </p:txBody>
      </p:sp>
      <p:sp>
        <p:nvSpPr>
          <p:cNvPr id="71" name="Rounded Rectangle 34">
            <a:extLst>
              <a:ext uri="{FF2B5EF4-FFF2-40B4-BE49-F238E27FC236}">
                <a16:creationId xmlns:a16="http://schemas.microsoft.com/office/drawing/2014/main" id="{FEB25110-2A71-4025-B912-300C98A896B3}"/>
              </a:ext>
            </a:extLst>
          </p:cNvPr>
          <p:cNvSpPr/>
          <p:nvPr/>
        </p:nvSpPr>
        <p:spPr>
          <a:xfrm>
            <a:off x="593457" y="4352543"/>
            <a:ext cx="1622247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2" name="TextBox 35">
            <a:extLst>
              <a:ext uri="{FF2B5EF4-FFF2-40B4-BE49-F238E27FC236}">
                <a16:creationId xmlns:a16="http://schemas.microsoft.com/office/drawing/2014/main" id="{5A6197E7-9824-40C0-8986-B010DFA0659F}"/>
              </a:ext>
            </a:extLst>
          </p:cNvPr>
          <p:cNvSpPr txBox="1"/>
          <p:nvPr/>
        </p:nvSpPr>
        <p:spPr>
          <a:xfrm>
            <a:off x="665557" y="4515795"/>
            <a:ext cx="147804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 err="1">
                <a:solidFill>
                  <a:srgbClr val="183052"/>
                </a:solidFill>
                <a:latin typeface="Microsoft JhengHei"/>
              </a:rPr>
              <a:t>同時操控</a:t>
            </a:r>
            <a:endParaRPr sz="1200" b="1" dirty="0">
              <a:solidFill>
                <a:srgbClr val="183052"/>
              </a:solidFill>
              <a:latin typeface="Microsoft JhengHei"/>
            </a:endParaRPr>
          </a:p>
        </p:txBody>
      </p:sp>
      <p:sp>
        <p:nvSpPr>
          <p:cNvPr id="73" name="Rounded Rectangle 36">
            <a:extLst>
              <a:ext uri="{FF2B5EF4-FFF2-40B4-BE49-F238E27FC236}">
                <a16:creationId xmlns:a16="http://schemas.microsoft.com/office/drawing/2014/main" id="{E0FD3305-FD99-4F52-8817-D13A734FB854}"/>
              </a:ext>
            </a:extLst>
          </p:cNvPr>
          <p:cNvSpPr/>
          <p:nvPr/>
        </p:nvSpPr>
        <p:spPr>
          <a:xfrm>
            <a:off x="2287805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4" name="TextBox 37">
            <a:extLst>
              <a:ext uri="{FF2B5EF4-FFF2-40B4-BE49-F238E27FC236}">
                <a16:creationId xmlns:a16="http://schemas.microsoft.com/office/drawing/2014/main" id="{84A96ABE-E61B-4E20-A72E-E4CF7384F2DB}"/>
              </a:ext>
            </a:extLst>
          </p:cNvPr>
          <p:cNvSpPr txBox="1"/>
          <p:nvPr/>
        </p:nvSpPr>
        <p:spPr>
          <a:xfrm>
            <a:off x="2359904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3364C"/>
                </a:solidFill>
                <a:latin typeface="Microsoft JhengHei"/>
              </a:rPr>
              <a:t>1 架</a:t>
            </a:r>
          </a:p>
        </p:txBody>
      </p:sp>
      <p:sp>
        <p:nvSpPr>
          <p:cNvPr id="75" name="Rounded Rectangle 38">
            <a:extLst>
              <a:ext uri="{FF2B5EF4-FFF2-40B4-BE49-F238E27FC236}">
                <a16:creationId xmlns:a16="http://schemas.microsoft.com/office/drawing/2014/main" id="{A330B67A-42EE-445B-87B1-F6A9A6507CD8}"/>
              </a:ext>
            </a:extLst>
          </p:cNvPr>
          <p:cNvSpPr/>
          <p:nvPr/>
        </p:nvSpPr>
        <p:spPr>
          <a:xfrm>
            <a:off x="5288963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E1C02E1-D5B0-416B-A06F-09F673F08ED9}"/>
              </a:ext>
            </a:extLst>
          </p:cNvPr>
          <p:cNvSpPr txBox="1"/>
          <p:nvPr/>
        </p:nvSpPr>
        <p:spPr>
          <a:xfrm>
            <a:off x="5361063" y="4515796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多架；</a:t>
            </a:r>
            <a:r>
              <a:rPr lang="zh-TW" altLang="en-US" sz="1200" dirty="0">
                <a:solidFill>
                  <a:srgbClr val="23364C"/>
                </a:solidFill>
                <a:latin typeface="Microsoft JhengHei"/>
              </a:rPr>
              <a:t>同步</a:t>
            </a:r>
            <a:endParaRPr lang="zh-TW" altLang="en-US"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77" name="Rounded Rectangle 40">
            <a:extLst>
              <a:ext uri="{FF2B5EF4-FFF2-40B4-BE49-F238E27FC236}">
                <a16:creationId xmlns:a16="http://schemas.microsoft.com/office/drawing/2014/main" id="{FE4600E7-25B9-4FDA-BDC9-86ED1EC69B20}"/>
              </a:ext>
            </a:extLst>
          </p:cNvPr>
          <p:cNvSpPr/>
          <p:nvPr/>
        </p:nvSpPr>
        <p:spPr>
          <a:xfrm>
            <a:off x="8290121" y="4352543"/>
            <a:ext cx="2929058" cy="603504"/>
          </a:xfrm>
          <a:prstGeom prst="roundRect">
            <a:avLst/>
          </a:prstGeom>
          <a:solidFill>
            <a:srgbClr val="E8F1F6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8" name="TextBox 41">
            <a:extLst>
              <a:ext uri="{FF2B5EF4-FFF2-40B4-BE49-F238E27FC236}">
                <a16:creationId xmlns:a16="http://schemas.microsoft.com/office/drawing/2014/main" id="{25ED75BA-8434-42C4-9F3F-BCDBA7222A24}"/>
              </a:ext>
            </a:extLst>
          </p:cNvPr>
          <p:cNvSpPr txBox="1"/>
          <p:nvPr/>
        </p:nvSpPr>
        <p:spPr>
          <a:xfrm>
            <a:off x="8362221" y="4515795"/>
            <a:ext cx="278485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23364C"/>
                </a:solidFill>
                <a:latin typeface="Microsoft JhengHei"/>
              </a:rPr>
              <a:t>多</a:t>
            </a:r>
            <a:r>
              <a:rPr sz="1200" b="0" dirty="0" err="1">
                <a:solidFill>
                  <a:srgbClr val="23364C"/>
                </a:solidFill>
                <a:latin typeface="Microsoft JhengHei"/>
              </a:rPr>
              <a:t>架；可不同動作</a:t>
            </a:r>
            <a:endParaRPr sz="1200" b="0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8414F0F1-A35B-4E8E-8998-24D6799A7C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D0502849-8271-4C12-B226-19CC2FB05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00481" y="190392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79823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17" name="Text 15"/>
          <p:cNvSpPr/>
          <p:nvPr/>
        </p:nvSpPr>
        <p:spPr>
          <a:xfrm>
            <a:off x="2679823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79823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98895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0" name="Text 18"/>
          <p:cNvSpPr/>
          <p:nvPr/>
        </p:nvSpPr>
        <p:spPr>
          <a:xfrm>
            <a:off x="4398895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98895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1+27+1</a:t>
            </a:r>
            <a:endParaRPr lang="en-US" sz="16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(=29)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17967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3" name="Text 21"/>
          <p:cNvSpPr/>
          <p:nvPr/>
        </p:nvSpPr>
        <p:spPr>
          <a:xfrm>
            <a:off x="6117967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remoterData_t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17967" y="244589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 Byte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791319" y="1933830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6" name="Text 24"/>
          <p:cNvSpPr/>
          <p:nvPr/>
        </p:nvSpPr>
        <p:spPr>
          <a:xfrm>
            <a:off x="7791319" y="193383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目標位元組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837039" y="2445894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0=全體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1=nRF 2=ATK</a:t>
            </a:r>
            <a:endParaRPr lang="en-US" sz="1600" dirty="0"/>
          </a:p>
        </p:txBody>
      </p:sp>
      <p:sp>
        <p:nvSpPr>
          <p:cNvPr id="60" name="Rounded Rectangle 27">
            <a:extLst>
              <a:ext uri="{FF2B5EF4-FFF2-40B4-BE49-F238E27FC236}">
                <a16:creationId xmlns:a16="http://schemas.microsoft.com/office/drawing/2014/main" id="{5049BE56-5DD9-4081-830C-41C98CA93480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FFFFFF"/>
              </a:solidFill>
            </a:endParaRPr>
          </a:p>
        </p:txBody>
      </p:sp>
      <p:sp>
        <p:nvSpPr>
          <p:cNvPr id="61" name="TextBox 28">
            <a:extLst>
              <a:ext uri="{FF2B5EF4-FFF2-40B4-BE49-F238E27FC236}">
                <a16:creationId xmlns:a16="http://schemas.microsoft.com/office/drawing/2014/main" id="{62C70F1B-ED08-475F-AD1C-6D7ECC757344}"/>
              </a:ext>
            </a:extLst>
          </p:cNvPr>
          <p:cNvSpPr txBox="1"/>
          <p:nvPr/>
        </p:nvSpPr>
        <p:spPr>
          <a:xfrm>
            <a:off x="777240" y="3188652"/>
            <a:ext cx="6350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b="1">
                <a:solidFill>
                  <a:srgbClr val="0A4D6E"/>
                </a:solidFill>
              </a:rPr>
              <a:t>remoterData_t　27 Byte</a:t>
            </a:r>
          </a:p>
        </p:txBody>
      </p:sp>
      <p:sp>
        <p:nvSpPr>
          <p:cNvPr id="62" name="Rounded Rectangle 29">
            <a:extLst>
              <a:ext uri="{FF2B5EF4-FFF2-40B4-BE49-F238E27FC236}">
                <a16:creationId xmlns:a16="http://schemas.microsoft.com/office/drawing/2014/main" id="{2C8AA37C-59CC-4874-990A-2DE381535412}"/>
              </a:ext>
            </a:extLst>
          </p:cNvPr>
          <p:cNvSpPr/>
          <p:nvPr/>
        </p:nvSpPr>
        <p:spPr>
          <a:xfrm>
            <a:off x="777240" y="3657599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onsolas"/>
              </a:rPr>
              <a:t>roll / pitch / yaw</a:t>
            </a:r>
          </a:p>
        </p:txBody>
      </p:sp>
      <p:sp>
        <p:nvSpPr>
          <p:cNvPr id="63" name="TextBox 30">
            <a:extLst>
              <a:ext uri="{FF2B5EF4-FFF2-40B4-BE49-F238E27FC236}">
                <a16:creationId xmlns:a16="http://schemas.microsoft.com/office/drawing/2014/main" id="{31AE2D0C-3C5E-4D9B-ADBD-041D34FCCB0F}"/>
              </a:ext>
            </a:extLst>
          </p:cNvPr>
          <p:cNvSpPr txBox="1"/>
          <p:nvPr/>
        </p:nvSpPr>
        <p:spPr>
          <a:xfrm>
            <a:off x="3048000" y="3687622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12 B</a:t>
            </a:r>
          </a:p>
        </p:txBody>
      </p:sp>
      <p:sp>
        <p:nvSpPr>
          <p:cNvPr id="64" name="TextBox 31">
            <a:extLst>
              <a:ext uri="{FF2B5EF4-FFF2-40B4-BE49-F238E27FC236}">
                <a16:creationId xmlns:a16="http://schemas.microsoft.com/office/drawing/2014/main" id="{5FBE5B14-BE79-4829-A324-0A3A4BE89E1F}"/>
              </a:ext>
            </a:extLst>
          </p:cNvPr>
          <p:cNvSpPr txBox="1"/>
          <p:nvPr/>
        </p:nvSpPr>
        <p:spPr>
          <a:xfrm>
            <a:off x="3937000" y="3703010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姿態,各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5" name="Rounded Rectangle 32">
            <a:extLst>
              <a:ext uri="{FF2B5EF4-FFF2-40B4-BE49-F238E27FC236}">
                <a16:creationId xmlns:a16="http://schemas.microsoft.com/office/drawing/2014/main" id="{83C57ECD-1155-4E2C-9E90-B925DF7206EB}"/>
              </a:ext>
            </a:extLst>
          </p:cNvPr>
          <p:cNvSpPr/>
          <p:nvPr/>
        </p:nvSpPr>
        <p:spPr>
          <a:xfrm>
            <a:off x="777240" y="4074796"/>
            <a:ext cx="2133600" cy="398987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thrust</a:t>
            </a:r>
          </a:p>
        </p:txBody>
      </p:sp>
      <p:sp>
        <p:nvSpPr>
          <p:cNvPr id="66" name="TextBox 33">
            <a:extLst>
              <a:ext uri="{FF2B5EF4-FFF2-40B4-BE49-F238E27FC236}">
                <a16:creationId xmlns:a16="http://schemas.microsoft.com/office/drawing/2014/main" id="{6864A6B0-F09E-489D-A183-3060942D85F0}"/>
              </a:ext>
            </a:extLst>
          </p:cNvPr>
          <p:cNvSpPr txBox="1"/>
          <p:nvPr/>
        </p:nvSpPr>
        <p:spPr>
          <a:xfrm>
            <a:off x="3048000" y="411173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4 B</a:t>
            </a:r>
          </a:p>
        </p:txBody>
      </p:sp>
      <p:sp>
        <p:nvSpPr>
          <p:cNvPr id="67" name="TextBox 34">
            <a:extLst>
              <a:ext uri="{FF2B5EF4-FFF2-40B4-BE49-F238E27FC236}">
                <a16:creationId xmlns:a16="http://schemas.microsoft.com/office/drawing/2014/main" id="{CB25066F-4ABD-41BE-B888-9F4573A8BBBB}"/>
              </a:ext>
            </a:extLst>
          </p:cNvPr>
          <p:cNvSpPr txBox="1"/>
          <p:nvPr/>
        </p:nvSpPr>
        <p:spPr>
          <a:xfrm>
            <a:off x="3937001" y="412712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>
                <a:solidFill>
                  <a:srgbClr val="1B2A4A"/>
                </a:solidFill>
              </a:rPr>
              <a:t>油門,4 Byte </a:t>
            </a:r>
            <a:r>
              <a:rPr lang="zh-TW" altLang="en-US" sz="1400" b="0" dirty="0">
                <a:solidFill>
                  <a:srgbClr val="1B2A4A"/>
                </a:solidFill>
              </a:rPr>
              <a:t>浮點</a:t>
            </a:r>
            <a:r>
              <a:rPr lang="zh-CN" altLang="en-US" sz="1400" b="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11A13BFB-9B68-44AE-A776-64FB66C08E56}"/>
              </a:ext>
            </a:extLst>
          </p:cNvPr>
          <p:cNvSpPr/>
          <p:nvPr/>
        </p:nvSpPr>
        <p:spPr>
          <a:xfrm>
            <a:off x="776925" y="4497582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trimRoll / trimPitch</a:t>
            </a:r>
          </a:p>
        </p:txBody>
      </p:sp>
      <p:sp>
        <p:nvSpPr>
          <p:cNvPr id="69" name="TextBox 36">
            <a:extLst>
              <a:ext uri="{FF2B5EF4-FFF2-40B4-BE49-F238E27FC236}">
                <a16:creationId xmlns:a16="http://schemas.microsoft.com/office/drawing/2014/main" id="{8809D641-2091-47AA-A967-68F49840B2D7}"/>
              </a:ext>
            </a:extLst>
          </p:cNvPr>
          <p:cNvSpPr txBox="1"/>
          <p:nvPr/>
        </p:nvSpPr>
        <p:spPr>
          <a:xfrm>
            <a:off x="3048001" y="4553887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8 B</a:t>
            </a:r>
          </a:p>
        </p:txBody>
      </p:sp>
      <p:sp>
        <p:nvSpPr>
          <p:cNvPr id="70" name="TextBox 37">
            <a:extLst>
              <a:ext uri="{FF2B5EF4-FFF2-40B4-BE49-F238E27FC236}">
                <a16:creationId xmlns:a16="http://schemas.microsoft.com/office/drawing/2014/main" id="{A816D2A6-1CFF-4E54-9524-E415C8D5FDAA}"/>
              </a:ext>
            </a:extLst>
          </p:cNvPr>
          <p:cNvSpPr txBox="1"/>
          <p:nvPr/>
        </p:nvSpPr>
        <p:spPr>
          <a:xfrm>
            <a:off x="3937001" y="4569275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微調,各</a:t>
            </a:r>
            <a:r>
              <a:rPr sz="1400" b="0" dirty="0">
                <a:solidFill>
                  <a:srgbClr val="1B2A4A"/>
                </a:solidFill>
              </a:rPr>
              <a:t> 4 Byte </a:t>
            </a:r>
            <a:r>
              <a:rPr sz="1400" b="0" dirty="0" err="1">
                <a:solidFill>
                  <a:srgbClr val="1B2A4A"/>
                </a:solidFill>
              </a:rPr>
              <a:t>浮點</a:t>
            </a:r>
            <a:r>
              <a:rPr lang="zh-CN" altLang="en-US" sz="1400" dirty="0">
                <a:solidFill>
                  <a:srgbClr val="1B2A4A"/>
                </a:solidFill>
              </a:rPr>
              <a:t>數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1" name="Rounded Rectangle 38">
            <a:extLst>
              <a:ext uri="{FF2B5EF4-FFF2-40B4-BE49-F238E27FC236}">
                <a16:creationId xmlns:a16="http://schemas.microsoft.com/office/drawing/2014/main" id="{256C9383-34AC-4527-86C6-AF25AA120D61}"/>
              </a:ext>
            </a:extLst>
          </p:cNvPr>
          <p:cNvSpPr/>
          <p:nvPr/>
        </p:nvSpPr>
        <p:spPr>
          <a:xfrm>
            <a:off x="777240" y="4919694"/>
            <a:ext cx="2133600" cy="398987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ctrlMode</a:t>
            </a:r>
          </a:p>
        </p:txBody>
      </p:sp>
      <p:sp>
        <p:nvSpPr>
          <p:cNvPr id="72" name="TextBox 39">
            <a:extLst>
              <a:ext uri="{FF2B5EF4-FFF2-40B4-BE49-F238E27FC236}">
                <a16:creationId xmlns:a16="http://schemas.microsoft.com/office/drawing/2014/main" id="{50B4C72D-8442-42D5-8EB1-C7BBECBD6F9B}"/>
              </a:ext>
            </a:extLst>
          </p:cNvPr>
          <p:cNvSpPr txBox="1"/>
          <p:nvPr/>
        </p:nvSpPr>
        <p:spPr>
          <a:xfrm>
            <a:off x="3048000" y="4979054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73" name="TextBox 40">
            <a:extLst>
              <a:ext uri="{FF2B5EF4-FFF2-40B4-BE49-F238E27FC236}">
                <a16:creationId xmlns:a16="http://schemas.microsoft.com/office/drawing/2014/main" id="{3CF79F1C-5B33-4C2F-8F78-D4C3FA228F73}"/>
              </a:ext>
            </a:extLst>
          </p:cNvPr>
          <p:cNvSpPr txBox="1"/>
          <p:nvPr/>
        </p:nvSpPr>
        <p:spPr>
          <a:xfrm>
            <a:off x="3937000" y="4994442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控制模式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4" name="Rounded Rectangle 41">
            <a:extLst>
              <a:ext uri="{FF2B5EF4-FFF2-40B4-BE49-F238E27FC236}">
                <a16:creationId xmlns:a16="http://schemas.microsoft.com/office/drawing/2014/main" id="{2E23CC78-70F6-44A3-B596-FCC75EE30011}"/>
              </a:ext>
            </a:extLst>
          </p:cNvPr>
          <p:cNvSpPr/>
          <p:nvPr/>
        </p:nvSpPr>
        <p:spPr>
          <a:xfrm>
            <a:off x="777240" y="5337579"/>
            <a:ext cx="2133600" cy="387346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</a:rPr>
              <a:t>flightMode</a:t>
            </a:r>
            <a:r>
              <a:rPr sz="1400" b="1" dirty="0">
                <a:solidFill>
                  <a:srgbClr val="FFFFFF"/>
                </a:solidFill>
              </a:rPr>
              <a:t> / </a:t>
            </a:r>
            <a:r>
              <a:rPr sz="1400" b="1" dirty="0" err="1">
                <a:solidFill>
                  <a:srgbClr val="FFFFFF"/>
                </a:solidFill>
              </a:rPr>
              <a:t>RCLock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5" name="TextBox 42">
            <a:extLst>
              <a:ext uri="{FF2B5EF4-FFF2-40B4-BE49-F238E27FC236}">
                <a16:creationId xmlns:a16="http://schemas.microsoft.com/office/drawing/2014/main" id="{82CA0E8B-640A-4C0D-8FAA-CE3AD140DAFA}"/>
              </a:ext>
            </a:extLst>
          </p:cNvPr>
          <p:cNvSpPr txBox="1"/>
          <p:nvPr/>
        </p:nvSpPr>
        <p:spPr>
          <a:xfrm>
            <a:off x="3048001" y="5385038"/>
            <a:ext cx="762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 dirty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76" name="TextBox 43">
            <a:extLst>
              <a:ext uri="{FF2B5EF4-FFF2-40B4-BE49-F238E27FC236}">
                <a16:creationId xmlns:a16="http://schemas.microsoft.com/office/drawing/2014/main" id="{874C731D-E4B1-4C1D-839C-F2F34C359830}"/>
              </a:ext>
            </a:extLst>
          </p:cNvPr>
          <p:cNvSpPr txBox="1"/>
          <p:nvPr/>
        </p:nvSpPr>
        <p:spPr>
          <a:xfrm>
            <a:off x="3937001" y="5400426"/>
            <a:ext cx="319024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飛行模式、遙控鎖定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78" name="Rounded Rectangle 45">
            <a:extLst>
              <a:ext uri="{FF2B5EF4-FFF2-40B4-BE49-F238E27FC236}">
                <a16:creationId xmlns:a16="http://schemas.microsoft.com/office/drawing/2014/main" id="{27A79B0F-0298-4862-B784-B42380E0DD10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▶  </a:t>
            </a:r>
            <a:r>
              <a:rPr sz="1600" b="1" dirty="0" err="1">
                <a:solidFill>
                  <a:srgbClr val="FFFFFF"/>
                </a:solidFill>
                <a:hlinkClick r:id="rId3" action="ppaction://hlinkfile"/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 A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2" name="页脚占位符 81">
            <a:extLst>
              <a:ext uri="{FF2B5EF4-FFF2-40B4-BE49-F238E27FC236}">
                <a16:creationId xmlns:a16="http://schemas.microsoft.com/office/drawing/2014/main" id="{9ED25B4F-EE9A-4F67-89FF-5E79488606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83" name="灯片编号占位符 82">
            <a:extLst>
              <a:ext uri="{FF2B5EF4-FFF2-40B4-BE49-F238E27FC236}">
                <a16:creationId xmlns:a16="http://schemas.microsoft.com/office/drawing/2014/main" id="{D77A0913-530E-45C4-AF4D-F5D3537F7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ounded Rectangle 27">
            <a:extLst>
              <a:ext uri="{FF2B5EF4-FFF2-40B4-BE49-F238E27FC236}">
                <a16:creationId xmlns:a16="http://schemas.microsoft.com/office/drawing/2014/main" id="{1484F2F6-89A8-4B4F-BBE3-F725C060F6DE}"/>
              </a:ext>
            </a:extLst>
          </p:cNvPr>
          <p:cNvSpPr/>
          <p:nvPr/>
        </p:nvSpPr>
        <p:spPr>
          <a:xfrm>
            <a:off x="548640" y="3032759"/>
            <a:ext cx="11064240" cy="302119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>
              <a:solidFill>
                <a:srgbClr val="FFFFFF"/>
              </a:solidFill>
            </a:endParaRPr>
          </a:p>
        </p:txBody>
      </p:sp>
      <p:sp>
        <p:nvSpPr>
          <p:cNvPr id="60" name="Shape 6">
            <a:extLst>
              <a:ext uri="{FF2B5EF4-FFF2-40B4-BE49-F238E27FC236}">
                <a16:creationId xmlns:a16="http://schemas.microsoft.com/office/drawing/2014/main" id="{13CBF27A-921B-4A3D-8B4D-3020F7D985EF}"/>
              </a:ext>
            </a:extLst>
          </p:cNvPr>
          <p:cNvSpPr/>
          <p:nvPr/>
        </p:nvSpPr>
        <p:spPr>
          <a:xfrm>
            <a:off x="548640" y="144874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sz="2000" dirty="0"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660904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17" name="Text 15"/>
          <p:cNvSpPr/>
          <p:nvPr/>
        </p:nvSpPr>
        <p:spPr>
          <a:xfrm>
            <a:off x="2660904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60904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1600" b="0" dirty="0">
                <a:solidFill>
                  <a:srgbClr val="6B7A8C"/>
                </a:solidFill>
              </a:rPr>
              <a:t>功能欄位</a:t>
            </a:r>
          </a:p>
        </p:txBody>
      </p:sp>
      <p:sp>
        <p:nvSpPr>
          <p:cNvPr id="19" name="Shape 17"/>
          <p:cNvSpPr/>
          <p:nvPr/>
        </p:nvSpPr>
        <p:spPr>
          <a:xfrm>
            <a:off x="4379976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0" name="Text 18"/>
          <p:cNvSpPr/>
          <p:nvPr/>
        </p:nvSpPr>
        <p:spPr>
          <a:xfrm>
            <a:off x="4379976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79976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1+8×N</a:t>
            </a:r>
          </a:p>
        </p:txBody>
      </p:sp>
      <p:sp>
        <p:nvSpPr>
          <p:cNvPr id="22" name="Shape 20"/>
          <p:cNvSpPr/>
          <p:nvPr/>
        </p:nvSpPr>
        <p:spPr>
          <a:xfrm>
            <a:off x="6099048" y="1916473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 sz="2400" dirty="0"/>
          </a:p>
        </p:txBody>
      </p:sp>
      <p:sp>
        <p:nvSpPr>
          <p:cNvPr id="23" name="Text 21"/>
          <p:cNvSpPr/>
          <p:nvPr/>
        </p:nvSpPr>
        <p:spPr>
          <a:xfrm>
            <a:off x="6099048" y="1916473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架數</a:t>
            </a: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99048" y="2428537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1600" b="0" dirty="0">
                <a:solidFill>
                  <a:srgbClr val="6B7A8C"/>
                </a:solidFill>
              </a:rPr>
              <a:t>1 Byte</a:t>
            </a:r>
          </a:p>
        </p:txBody>
      </p:sp>
      <p:sp>
        <p:nvSpPr>
          <p:cNvPr id="79" name="Rounded Rectangle 45">
            <a:extLst>
              <a:ext uri="{FF2B5EF4-FFF2-40B4-BE49-F238E27FC236}">
                <a16:creationId xmlns:a16="http://schemas.microsoft.com/office/drawing/2014/main" id="{F9958EC4-058D-4B57-846C-475BC8B7279B}"/>
              </a:ext>
            </a:extLst>
          </p:cNvPr>
          <p:cNvSpPr/>
          <p:nvPr/>
        </p:nvSpPr>
        <p:spPr>
          <a:xfrm>
            <a:off x="7640320" y="4851400"/>
            <a:ext cx="3556000" cy="609600"/>
          </a:xfrm>
          <a:prstGeom prst="roundRect">
            <a:avLst/>
          </a:prstGeom>
          <a:solidFill>
            <a:srgbClr val="1BA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▶  </a:t>
            </a:r>
            <a:r>
              <a:rPr sz="1600" b="1" dirty="0" err="1">
                <a:solidFill>
                  <a:srgbClr val="FFFFFF"/>
                </a:solidFill>
                <a:hlinkClick r:id="rId3" action="ppaction://hlinkfile"/>
              </a:rPr>
              <a:t>播放影片：廣播模式</a:t>
            </a:r>
            <a:r>
              <a:rPr sz="1600" b="1" dirty="0">
                <a:solidFill>
                  <a:srgbClr val="FFFFFF"/>
                </a:solidFill>
                <a:hlinkClick r:id="rId3" action="ppaction://hlinkfile"/>
              </a:rPr>
              <a:t> </a:t>
            </a:r>
            <a:r>
              <a:rPr lang="en-US" sz="1600" b="1" dirty="0">
                <a:solidFill>
                  <a:srgbClr val="FFFFFF"/>
                </a:solidFill>
                <a:hlinkClick r:id="rId3" action="ppaction://hlinkfile"/>
              </a:rPr>
              <a:t>B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086D78FE-C126-4107-A8B6-A7543A541449}"/>
              </a:ext>
            </a:extLst>
          </p:cNvPr>
          <p:cNvSpPr txBox="1"/>
          <p:nvPr/>
        </p:nvSpPr>
        <p:spPr>
          <a:xfrm>
            <a:off x="777240" y="3188652"/>
            <a:ext cx="3937000" cy="328295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b="1" dirty="0">
                <a:solidFill>
                  <a:srgbClr val="0A4D6E"/>
                </a:solidFill>
              </a:rPr>
              <a:t>Fly data</a:t>
            </a:r>
            <a:endParaRPr b="1" dirty="0">
              <a:solidFill>
                <a:srgbClr val="0A4D6E"/>
              </a:solidFill>
            </a:endParaRPr>
          </a:p>
        </p:txBody>
      </p:sp>
      <p:sp>
        <p:nvSpPr>
          <p:cNvPr id="82" name="Rounded Rectangle 19">
            <a:extLst>
              <a:ext uri="{FF2B5EF4-FFF2-40B4-BE49-F238E27FC236}">
                <a16:creationId xmlns:a16="http://schemas.microsoft.com/office/drawing/2014/main" id="{1CE39A41-64D6-4A8C-91C9-667B9B55BA49}"/>
              </a:ext>
            </a:extLst>
          </p:cNvPr>
          <p:cNvSpPr/>
          <p:nvPr/>
        </p:nvSpPr>
        <p:spPr>
          <a:xfrm>
            <a:off x="777240" y="3632200"/>
            <a:ext cx="1554480" cy="381000"/>
          </a:xfrm>
          <a:prstGeom prst="roundRect">
            <a:avLst/>
          </a:prstGeom>
          <a:solidFill>
            <a:srgbClr val="E89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83" name="TextBox 20">
            <a:extLst>
              <a:ext uri="{FF2B5EF4-FFF2-40B4-BE49-F238E27FC236}">
                <a16:creationId xmlns:a16="http://schemas.microsoft.com/office/drawing/2014/main" id="{39F224F4-88B7-43B5-9782-899C836A72F8}"/>
              </a:ext>
            </a:extLst>
          </p:cNvPr>
          <p:cNvSpPr txBox="1"/>
          <p:nvPr/>
        </p:nvSpPr>
        <p:spPr>
          <a:xfrm>
            <a:off x="2423160" y="36739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4" name="TextBox 21">
            <a:extLst>
              <a:ext uri="{FF2B5EF4-FFF2-40B4-BE49-F238E27FC236}">
                <a16:creationId xmlns:a16="http://schemas.microsoft.com/office/drawing/2014/main" id="{9235A3F3-9F3A-4496-8BEC-0B8DE777C257}"/>
              </a:ext>
            </a:extLst>
          </p:cNvPr>
          <p:cNvSpPr txBox="1"/>
          <p:nvPr/>
        </p:nvSpPr>
        <p:spPr>
          <a:xfrm>
            <a:off x="3108960" y="36893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 dirty="0" err="1">
                <a:solidFill>
                  <a:srgbClr val="1B2A4A"/>
                </a:solidFill>
              </a:rPr>
              <a:t>與本機編號比對,不符即跳過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5" name="Rounded Rectangle 22">
            <a:extLst>
              <a:ext uri="{FF2B5EF4-FFF2-40B4-BE49-F238E27FC236}">
                <a16:creationId xmlns:a16="http://schemas.microsoft.com/office/drawing/2014/main" id="{192FB708-7FC9-40D2-9369-B60E108ECF55}"/>
              </a:ext>
            </a:extLst>
          </p:cNvPr>
          <p:cNvSpPr/>
          <p:nvPr/>
        </p:nvSpPr>
        <p:spPr>
          <a:xfrm>
            <a:off x="777240" y="40386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flags</a:t>
            </a:r>
          </a:p>
        </p:txBody>
      </p:sp>
      <p:sp>
        <p:nvSpPr>
          <p:cNvPr id="86" name="TextBox 23">
            <a:extLst>
              <a:ext uri="{FF2B5EF4-FFF2-40B4-BE49-F238E27FC236}">
                <a16:creationId xmlns:a16="http://schemas.microsoft.com/office/drawing/2014/main" id="{A2993932-A48C-4CB7-BCA8-12F26C9290CA}"/>
              </a:ext>
            </a:extLst>
          </p:cNvPr>
          <p:cNvSpPr txBox="1"/>
          <p:nvPr/>
        </p:nvSpPr>
        <p:spPr>
          <a:xfrm>
            <a:off x="2423160" y="40803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87" name="TextBox 24">
            <a:extLst>
              <a:ext uri="{FF2B5EF4-FFF2-40B4-BE49-F238E27FC236}">
                <a16:creationId xmlns:a16="http://schemas.microsoft.com/office/drawing/2014/main" id="{6A11B1F3-398F-4EA2-9530-2869F5F88EB2}"/>
              </a:ext>
            </a:extLst>
          </p:cNvPr>
          <p:cNvSpPr txBox="1"/>
          <p:nvPr/>
        </p:nvSpPr>
        <p:spPr>
          <a:xfrm>
            <a:off x="3108960" y="40957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sz="1400" b="0" dirty="0">
                <a:solidFill>
                  <a:srgbClr val="1B2A4A"/>
                </a:solidFill>
              </a:rPr>
              <a:t>B</a:t>
            </a:r>
            <a:r>
              <a:rPr sz="1400" b="0" dirty="0">
                <a:solidFill>
                  <a:srgbClr val="1B2A4A"/>
                </a:solidFill>
              </a:rPr>
              <a:t>it</a:t>
            </a:r>
            <a:r>
              <a:rPr lang="en-US" sz="1400" b="0" dirty="0">
                <a:solidFill>
                  <a:srgbClr val="1B2A4A"/>
                </a:solidFill>
              </a:rPr>
              <a:t> </a:t>
            </a:r>
            <a:r>
              <a:rPr sz="1400" b="0" dirty="0">
                <a:solidFill>
                  <a:srgbClr val="1B2A4A"/>
                </a:solidFill>
              </a:rPr>
              <a:t>0 = </a:t>
            </a:r>
            <a:r>
              <a:rPr sz="1400" b="0" dirty="0" err="1">
                <a:solidFill>
                  <a:srgbClr val="1B2A4A"/>
                </a:solidFill>
              </a:rPr>
              <a:t>懸停待命</a:t>
            </a:r>
            <a:endParaRPr sz="1400" b="0" dirty="0">
              <a:solidFill>
                <a:srgbClr val="1B2A4A"/>
              </a:solidFill>
            </a:endParaRPr>
          </a:p>
        </p:txBody>
      </p:sp>
      <p:sp>
        <p:nvSpPr>
          <p:cNvPr id="88" name="Rounded Rectangle 25">
            <a:extLst>
              <a:ext uri="{FF2B5EF4-FFF2-40B4-BE49-F238E27FC236}">
                <a16:creationId xmlns:a16="http://schemas.microsoft.com/office/drawing/2014/main" id="{ED295DFD-7BEE-4015-A4E0-DE3B47FC4846}"/>
              </a:ext>
            </a:extLst>
          </p:cNvPr>
          <p:cNvSpPr/>
          <p:nvPr/>
        </p:nvSpPr>
        <p:spPr>
          <a:xfrm>
            <a:off x="777240" y="44450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thrust</a:t>
            </a:r>
          </a:p>
        </p:txBody>
      </p:sp>
      <p:sp>
        <p:nvSpPr>
          <p:cNvPr id="89" name="TextBox 26">
            <a:extLst>
              <a:ext uri="{FF2B5EF4-FFF2-40B4-BE49-F238E27FC236}">
                <a16:creationId xmlns:a16="http://schemas.microsoft.com/office/drawing/2014/main" id="{EE2A9DAC-B178-4E31-843D-F0773BC80AF9}"/>
              </a:ext>
            </a:extLst>
          </p:cNvPr>
          <p:cNvSpPr txBox="1"/>
          <p:nvPr/>
        </p:nvSpPr>
        <p:spPr>
          <a:xfrm>
            <a:off x="2423160" y="44867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2 B</a:t>
            </a:r>
          </a:p>
        </p:txBody>
      </p:sp>
      <p:sp>
        <p:nvSpPr>
          <p:cNvPr id="90" name="TextBox 27">
            <a:extLst>
              <a:ext uri="{FF2B5EF4-FFF2-40B4-BE49-F238E27FC236}">
                <a16:creationId xmlns:a16="http://schemas.microsoft.com/office/drawing/2014/main" id="{A7D4ADD9-DEB5-4142-9433-F3BC3E0C609E}"/>
              </a:ext>
            </a:extLst>
          </p:cNvPr>
          <p:cNvSpPr txBox="1"/>
          <p:nvPr/>
        </p:nvSpPr>
        <p:spPr>
          <a:xfrm>
            <a:off x="3108960" y="45021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油門</a:t>
            </a:r>
          </a:p>
        </p:txBody>
      </p:sp>
      <p:sp>
        <p:nvSpPr>
          <p:cNvPr id="91" name="Rounded Rectangle 28">
            <a:extLst>
              <a:ext uri="{FF2B5EF4-FFF2-40B4-BE49-F238E27FC236}">
                <a16:creationId xmlns:a16="http://schemas.microsoft.com/office/drawing/2014/main" id="{0CDC0167-0223-4AC6-BCF0-ED4F18DD82A8}"/>
              </a:ext>
            </a:extLst>
          </p:cNvPr>
          <p:cNvSpPr/>
          <p:nvPr/>
        </p:nvSpPr>
        <p:spPr>
          <a:xfrm>
            <a:off x="777240" y="48514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roll / pitch / yaw</a:t>
            </a:r>
          </a:p>
        </p:txBody>
      </p:sp>
      <p:sp>
        <p:nvSpPr>
          <p:cNvPr id="92" name="TextBox 29">
            <a:extLst>
              <a:ext uri="{FF2B5EF4-FFF2-40B4-BE49-F238E27FC236}">
                <a16:creationId xmlns:a16="http://schemas.microsoft.com/office/drawing/2014/main" id="{6564E37E-5D4D-4ADA-A80D-C92F7FD01FCD}"/>
              </a:ext>
            </a:extLst>
          </p:cNvPr>
          <p:cNvSpPr txBox="1"/>
          <p:nvPr/>
        </p:nvSpPr>
        <p:spPr>
          <a:xfrm>
            <a:off x="2423160" y="48931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3 B</a:t>
            </a:r>
          </a:p>
        </p:txBody>
      </p:sp>
      <p:sp>
        <p:nvSpPr>
          <p:cNvPr id="93" name="TextBox 30">
            <a:extLst>
              <a:ext uri="{FF2B5EF4-FFF2-40B4-BE49-F238E27FC236}">
                <a16:creationId xmlns:a16="http://schemas.microsoft.com/office/drawing/2014/main" id="{6F09DA36-CE09-445C-A26F-E08C3C2ACDD9}"/>
              </a:ext>
            </a:extLst>
          </p:cNvPr>
          <p:cNvSpPr txBox="1"/>
          <p:nvPr/>
        </p:nvSpPr>
        <p:spPr>
          <a:xfrm>
            <a:off x="3108960" y="49085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姿態,各 1 Byte</a:t>
            </a:r>
          </a:p>
        </p:txBody>
      </p:sp>
      <p:sp>
        <p:nvSpPr>
          <p:cNvPr id="94" name="Rounded Rectangle 31">
            <a:extLst>
              <a:ext uri="{FF2B5EF4-FFF2-40B4-BE49-F238E27FC236}">
                <a16:creationId xmlns:a16="http://schemas.microsoft.com/office/drawing/2014/main" id="{4E72659A-E45D-4D2F-83C4-B97BB04C7452}"/>
              </a:ext>
            </a:extLst>
          </p:cNvPr>
          <p:cNvSpPr/>
          <p:nvPr/>
        </p:nvSpPr>
        <p:spPr>
          <a:xfrm>
            <a:off x="777240" y="5257800"/>
            <a:ext cx="1554480" cy="381000"/>
          </a:xfrm>
          <a:prstGeom prst="roundRect">
            <a:avLst/>
          </a:prstGeom>
          <a:solidFill>
            <a:srgbClr val="5A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保留</a:t>
            </a:r>
          </a:p>
        </p:txBody>
      </p:sp>
      <p:sp>
        <p:nvSpPr>
          <p:cNvPr id="95" name="TextBox 32">
            <a:extLst>
              <a:ext uri="{FF2B5EF4-FFF2-40B4-BE49-F238E27FC236}">
                <a16:creationId xmlns:a16="http://schemas.microsoft.com/office/drawing/2014/main" id="{6CAB2100-7592-470C-AB18-EF19E23C93A9}"/>
              </a:ext>
            </a:extLst>
          </p:cNvPr>
          <p:cNvSpPr txBox="1"/>
          <p:nvPr/>
        </p:nvSpPr>
        <p:spPr>
          <a:xfrm>
            <a:off x="2423160" y="5299542"/>
            <a:ext cx="64008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1B2A4A"/>
                </a:solidFill>
              </a:rPr>
              <a:t>1 B</a:t>
            </a:r>
          </a:p>
        </p:txBody>
      </p:sp>
      <p:sp>
        <p:nvSpPr>
          <p:cNvPr id="96" name="TextBox 33">
            <a:extLst>
              <a:ext uri="{FF2B5EF4-FFF2-40B4-BE49-F238E27FC236}">
                <a16:creationId xmlns:a16="http://schemas.microsoft.com/office/drawing/2014/main" id="{D04648C9-8984-49F1-8049-B0B3AEBDBB96}"/>
              </a:ext>
            </a:extLst>
          </p:cNvPr>
          <p:cNvSpPr txBox="1"/>
          <p:nvPr/>
        </p:nvSpPr>
        <p:spPr>
          <a:xfrm>
            <a:off x="3108960" y="5314930"/>
            <a:ext cx="3937000" cy="2667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</a:rPr>
              <a:t>未使用</a:t>
            </a:r>
          </a:p>
        </p:txBody>
      </p:sp>
      <p:sp>
        <p:nvSpPr>
          <p:cNvPr id="97" name="Rounded Rectangle 50">
            <a:extLst>
              <a:ext uri="{FF2B5EF4-FFF2-40B4-BE49-F238E27FC236}">
                <a16:creationId xmlns:a16="http://schemas.microsoft.com/office/drawing/2014/main" id="{1D03B969-4226-4731-B793-EDE52932E844}"/>
              </a:ext>
            </a:extLst>
          </p:cNvPr>
          <p:cNvSpPr/>
          <p:nvPr/>
        </p:nvSpPr>
        <p:spPr>
          <a:xfrm>
            <a:off x="7818120" y="1916473"/>
            <a:ext cx="1600200" cy="47548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Fly data</a:t>
            </a:r>
            <a:endParaRPr sz="16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8" name="TextBox 49">
            <a:extLst>
              <a:ext uri="{FF2B5EF4-FFF2-40B4-BE49-F238E27FC236}">
                <a16:creationId xmlns:a16="http://schemas.microsoft.com/office/drawing/2014/main" id="{59A9B17F-E525-4923-BC61-A0CF1E1E2F6D}"/>
              </a:ext>
            </a:extLst>
          </p:cNvPr>
          <p:cNvSpPr txBox="1"/>
          <p:nvPr/>
        </p:nvSpPr>
        <p:spPr>
          <a:xfrm>
            <a:off x="8196580" y="2477446"/>
            <a:ext cx="889000" cy="2975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en-US" sz="1600" dirty="0">
                <a:solidFill>
                  <a:srgbClr val="6B7A8C"/>
                </a:solidFill>
              </a:rPr>
              <a:t>8</a:t>
            </a:r>
            <a:r>
              <a:rPr sz="1600" b="0" dirty="0">
                <a:solidFill>
                  <a:srgbClr val="6B7A8C"/>
                </a:solidFill>
              </a:rPr>
              <a:t> Byte</a:t>
            </a:r>
          </a:p>
        </p:txBody>
      </p:sp>
      <p:sp>
        <p:nvSpPr>
          <p:cNvPr id="103" name="页脚占位符 102">
            <a:extLst>
              <a:ext uri="{FF2B5EF4-FFF2-40B4-BE49-F238E27FC236}">
                <a16:creationId xmlns:a16="http://schemas.microsoft.com/office/drawing/2014/main" id="{03E35284-23E8-437C-9E24-5B37F50EF9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04" name="灯片编号占位符 103">
            <a:extLst>
              <a:ext uri="{FF2B5EF4-FFF2-40B4-BE49-F238E27FC236}">
                <a16:creationId xmlns:a16="http://schemas.microsoft.com/office/drawing/2014/main" id="{3B688F12-1D86-43BD-8FA6-1057F07B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</a:t>
            </a: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風險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5CED72D3-7509-4CCA-8BBB-C678830D055F}"/>
              </a:ext>
            </a:extLst>
          </p:cNvPr>
          <p:cNvSpPr/>
          <p:nvPr/>
        </p:nvSpPr>
        <p:spPr>
          <a:xfrm>
            <a:off x="594360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D4AD9D9-B054-471C-B524-204701D47007}"/>
              </a:ext>
            </a:extLst>
          </p:cNvPr>
          <p:cNvSpPr/>
          <p:nvPr/>
        </p:nvSpPr>
        <p:spPr>
          <a:xfrm>
            <a:off x="758952" y="1452879"/>
            <a:ext cx="420624" cy="420624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06131A7-F089-4BC4-8007-E090B0B91D2B}"/>
              </a:ext>
            </a:extLst>
          </p:cNvPr>
          <p:cNvSpPr txBox="1"/>
          <p:nvPr/>
        </p:nvSpPr>
        <p:spPr>
          <a:xfrm>
            <a:off x="758952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183052"/>
                </a:solidFill>
                <a:latin typeface="Microsoft JhengHei"/>
              </a:rPr>
              <a:t>發送端一對一地址</a:t>
            </a: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CAD69E33-B6B9-421B-AF52-DA88B246F7FC}"/>
              </a:ext>
            </a:extLst>
          </p:cNvPr>
          <p:cNvSpPr txBox="1"/>
          <p:nvPr/>
        </p:nvSpPr>
        <p:spPr>
          <a:xfrm>
            <a:off x="795528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627384"/>
                </a:solidFill>
                <a:latin typeface="Microsoft JhengHei"/>
              </a:rPr>
              <a:t>ESB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只有一組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TX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位址暫存器；切換目標需先改寫位址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0" name="Rounded Rectangle 11">
            <a:extLst>
              <a:ext uri="{FF2B5EF4-FFF2-40B4-BE49-F238E27FC236}">
                <a16:creationId xmlns:a16="http://schemas.microsoft.com/office/drawing/2014/main" id="{75BCFDB2-8D67-4A9C-ABAE-3485A32FE5AB}"/>
              </a:ext>
            </a:extLst>
          </p:cNvPr>
          <p:cNvSpPr/>
          <p:nvPr/>
        </p:nvSpPr>
        <p:spPr>
          <a:xfrm>
            <a:off x="4096512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12">
            <a:extLst>
              <a:ext uri="{FF2B5EF4-FFF2-40B4-BE49-F238E27FC236}">
                <a16:creationId xmlns:a16="http://schemas.microsoft.com/office/drawing/2014/main" id="{FE86A703-ED8D-48AF-A797-2D1F511CF493}"/>
              </a:ext>
            </a:extLst>
          </p:cNvPr>
          <p:cNvSpPr/>
          <p:nvPr/>
        </p:nvSpPr>
        <p:spPr>
          <a:xfrm>
            <a:off x="4261104" y="1452879"/>
            <a:ext cx="420624" cy="420624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E8B7F78C-065F-4D6C-9DFB-3AC1E347DB54}"/>
              </a:ext>
            </a:extLst>
          </p:cNvPr>
          <p:cNvSpPr txBox="1"/>
          <p:nvPr/>
        </p:nvSpPr>
        <p:spPr>
          <a:xfrm>
            <a:off x="4261104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183052"/>
                </a:solidFill>
                <a:latin typeface="Microsoft JhengHei"/>
              </a:rPr>
              <a:t>架數越多，輪空越久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45320FEB-F1F3-4734-88D0-3307E0C89B96}"/>
              </a:ext>
            </a:extLst>
          </p:cNvPr>
          <p:cNvSpPr txBox="1"/>
          <p:nvPr/>
        </p:nvSpPr>
        <p:spPr>
          <a:xfrm>
            <a:off x="4297680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目前一輪點名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 2～3 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架；架數增加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，</a:t>
            </a:r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循環</a:t>
            </a:r>
            <a:r>
              <a:rPr sz="1200" b="0" dirty="0" err="1">
                <a:solidFill>
                  <a:srgbClr val="627384"/>
                </a:solidFill>
                <a:latin typeface="Microsoft JhengHei"/>
              </a:rPr>
              <a:t>一圈時間等比拉長</a:t>
            </a:r>
            <a:r>
              <a:rPr sz="12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24" name="Rounded Rectangle 15">
            <a:extLst>
              <a:ext uri="{FF2B5EF4-FFF2-40B4-BE49-F238E27FC236}">
                <a16:creationId xmlns:a16="http://schemas.microsoft.com/office/drawing/2014/main" id="{1619DDAE-EE99-44E7-969F-F905635B8C16}"/>
              </a:ext>
            </a:extLst>
          </p:cNvPr>
          <p:cNvSpPr/>
          <p:nvPr/>
        </p:nvSpPr>
        <p:spPr>
          <a:xfrm>
            <a:off x="7598664" y="1270000"/>
            <a:ext cx="3246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ounded Rectangle 16">
            <a:extLst>
              <a:ext uri="{FF2B5EF4-FFF2-40B4-BE49-F238E27FC236}">
                <a16:creationId xmlns:a16="http://schemas.microsoft.com/office/drawing/2014/main" id="{5DFAE6DF-931E-4313-9C61-5CB73B237E94}"/>
              </a:ext>
            </a:extLst>
          </p:cNvPr>
          <p:cNvSpPr/>
          <p:nvPr/>
        </p:nvSpPr>
        <p:spPr>
          <a:xfrm>
            <a:off x="7763256" y="1452879"/>
            <a:ext cx="420624" cy="420624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0113A171-E776-4EB5-9A0C-AE61D4B12F82}"/>
              </a:ext>
            </a:extLst>
          </p:cNvPr>
          <p:cNvSpPr txBox="1"/>
          <p:nvPr/>
        </p:nvSpPr>
        <p:spPr>
          <a:xfrm>
            <a:off x="7763256" y="2088274"/>
            <a:ext cx="290779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183052"/>
                </a:solidFill>
                <a:latin typeface="Microsoft JhengHei"/>
              </a:rPr>
              <a:t>輪空與失聯需分開判定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238B7720-9A22-4F33-A115-E1AF65BFCE91}"/>
              </a:ext>
            </a:extLst>
          </p:cNvPr>
          <p:cNvSpPr txBox="1"/>
          <p:nvPr/>
        </p:nvSpPr>
        <p:spPr>
          <a:xfrm>
            <a:off x="7799832" y="2671369"/>
            <a:ext cx="283464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200" b="0" dirty="0">
                <a:solidFill>
                  <a:srgbClr val="627384"/>
                </a:solidFill>
                <a:latin typeface="Microsoft JhengHei"/>
              </a:rPr>
              <a:t>若把輪空當成失聯，會降落或墜機。</a:t>
            </a:r>
            <a:endParaRPr lang="en-US" altLang="zh-CN" sz="1200" b="0" dirty="0">
              <a:solidFill>
                <a:srgbClr val="627384"/>
              </a:solidFill>
              <a:latin typeface="Microsoft JhengHei"/>
            </a:endParaRPr>
          </a:p>
          <a:p>
            <a:pPr algn="ctr"/>
            <a:r>
              <a:rPr lang="zh-CN" altLang="en-US" sz="1200" dirty="0">
                <a:solidFill>
                  <a:srgbClr val="627384"/>
                </a:solidFill>
                <a:latin typeface="Microsoft JhengHei"/>
              </a:rPr>
              <a:t>因此需要時間緩衝。</a:t>
            </a:r>
            <a:endParaRPr sz="1200" b="0" dirty="0">
              <a:solidFill>
                <a:srgbClr val="627384"/>
              </a:solidFill>
              <a:latin typeface="Microsoft JhengHei"/>
            </a:endParaRPr>
          </a:p>
        </p:txBody>
      </p:sp>
      <p:sp>
        <p:nvSpPr>
          <p:cNvPr id="28" name="Rounded Rectangle 19">
            <a:extLst>
              <a:ext uri="{FF2B5EF4-FFF2-40B4-BE49-F238E27FC236}">
                <a16:creationId xmlns:a16="http://schemas.microsoft.com/office/drawing/2014/main" id="{B1DCFB17-79AF-4153-A7EC-6696DF93C376}"/>
              </a:ext>
            </a:extLst>
          </p:cNvPr>
          <p:cNvSpPr/>
          <p:nvPr/>
        </p:nvSpPr>
        <p:spPr>
          <a:xfrm>
            <a:off x="594360" y="3721267"/>
            <a:ext cx="5102352" cy="566928"/>
          </a:xfrm>
          <a:prstGeom prst="roundRect">
            <a:avLst/>
          </a:prstGeom>
          <a:solidFill>
            <a:srgbClr val="388F6C"/>
          </a:solidFill>
          <a:ln w="12700">
            <a:solidFill>
              <a:srgbClr val="388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短暫輪空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保持現狀／等待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9" name="Rounded Rectangle 20">
            <a:extLst>
              <a:ext uri="{FF2B5EF4-FFF2-40B4-BE49-F238E27FC236}">
                <a16:creationId xmlns:a16="http://schemas.microsoft.com/office/drawing/2014/main" id="{4F841D72-A14C-4116-A567-16264D352160}"/>
              </a:ext>
            </a:extLst>
          </p:cNvPr>
          <p:cNvSpPr/>
          <p:nvPr/>
        </p:nvSpPr>
        <p:spPr>
          <a:xfrm>
            <a:off x="6071616" y="3703146"/>
            <a:ext cx="5102352" cy="566928"/>
          </a:xfrm>
          <a:prstGeom prst="roundRect">
            <a:avLst/>
          </a:prstGeom>
          <a:solidFill>
            <a:srgbClr val="C24C46"/>
          </a:solidFill>
          <a:ln w="12700">
            <a:solidFill>
              <a:srgbClr val="C24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持續超時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→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才進入失聯保護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AE3262C4-34C9-4A9B-8AAE-C751374889CF}"/>
              </a:ext>
            </a:extLst>
          </p:cNvPr>
          <p:cNvSpPr txBox="1"/>
          <p:nvPr/>
        </p:nvSpPr>
        <p:spPr>
          <a:xfrm>
            <a:off x="594360" y="4332129"/>
            <a:ext cx="27432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>
                <a:solidFill>
                  <a:srgbClr val="183052"/>
                </a:solidFill>
                <a:latin typeface="Microsoft JhengHei"/>
              </a:rPr>
              <a:t>控制時序</a:t>
            </a:r>
          </a:p>
        </p:txBody>
      </p:sp>
      <p:sp>
        <p:nvSpPr>
          <p:cNvPr id="31" name="Rounded Rectangle 7">
            <a:extLst>
              <a:ext uri="{FF2B5EF4-FFF2-40B4-BE49-F238E27FC236}">
                <a16:creationId xmlns:a16="http://schemas.microsoft.com/office/drawing/2014/main" id="{C9464425-F0CB-4D9F-87FA-33C56284C710}"/>
              </a:ext>
            </a:extLst>
          </p:cNvPr>
          <p:cNvSpPr/>
          <p:nvPr/>
        </p:nvSpPr>
        <p:spPr>
          <a:xfrm>
            <a:off x="59436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2" name="Rounded Rectangle 8">
            <a:extLst>
              <a:ext uri="{FF2B5EF4-FFF2-40B4-BE49-F238E27FC236}">
                <a16:creationId xmlns:a16="http://schemas.microsoft.com/office/drawing/2014/main" id="{FB3DA373-4F25-4951-AC43-AC84B5287387}"/>
              </a:ext>
            </a:extLst>
          </p:cNvPr>
          <p:cNvSpPr/>
          <p:nvPr/>
        </p:nvSpPr>
        <p:spPr>
          <a:xfrm>
            <a:off x="112471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88545F4A-843F-48C9-954C-5520AA3A888B}"/>
              </a:ext>
            </a:extLst>
          </p:cNvPr>
          <p:cNvSpPr/>
          <p:nvPr/>
        </p:nvSpPr>
        <p:spPr>
          <a:xfrm>
            <a:off x="165506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4" name="Rounded Rectangle 10">
            <a:extLst>
              <a:ext uri="{FF2B5EF4-FFF2-40B4-BE49-F238E27FC236}">
                <a16:creationId xmlns:a16="http://schemas.microsoft.com/office/drawing/2014/main" id="{B2BD6AA2-5552-406E-A6EB-1E7952249AA0}"/>
              </a:ext>
            </a:extLst>
          </p:cNvPr>
          <p:cNvSpPr/>
          <p:nvPr/>
        </p:nvSpPr>
        <p:spPr>
          <a:xfrm>
            <a:off x="218541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5" name="Rounded Rectangle 11">
            <a:extLst>
              <a:ext uri="{FF2B5EF4-FFF2-40B4-BE49-F238E27FC236}">
                <a16:creationId xmlns:a16="http://schemas.microsoft.com/office/drawing/2014/main" id="{E739764B-394C-47BE-A585-37388D3611B2}"/>
              </a:ext>
            </a:extLst>
          </p:cNvPr>
          <p:cNvSpPr/>
          <p:nvPr/>
        </p:nvSpPr>
        <p:spPr>
          <a:xfrm>
            <a:off x="271576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6" name="Rounded Rectangle 12">
            <a:extLst>
              <a:ext uri="{FF2B5EF4-FFF2-40B4-BE49-F238E27FC236}">
                <a16:creationId xmlns:a16="http://schemas.microsoft.com/office/drawing/2014/main" id="{1E739B2F-1A60-4EDA-8597-EC4757D9B9E9}"/>
              </a:ext>
            </a:extLst>
          </p:cNvPr>
          <p:cNvSpPr/>
          <p:nvPr/>
        </p:nvSpPr>
        <p:spPr>
          <a:xfrm>
            <a:off x="324612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D996B50C-00EA-46A6-9CBE-657A5595DBCE}"/>
              </a:ext>
            </a:extLst>
          </p:cNvPr>
          <p:cNvSpPr/>
          <p:nvPr/>
        </p:nvSpPr>
        <p:spPr>
          <a:xfrm>
            <a:off x="377647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8" name="Rounded Rectangle 14">
            <a:extLst>
              <a:ext uri="{FF2B5EF4-FFF2-40B4-BE49-F238E27FC236}">
                <a16:creationId xmlns:a16="http://schemas.microsoft.com/office/drawing/2014/main" id="{09F03A19-2341-4C29-AFA1-D30D180301A4}"/>
              </a:ext>
            </a:extLst>
          </p:cNvPr>
          <p:cNvSpPr/>
          <p:nvPr/>
        </p:nvSpPr>
        <p:spPr>
          <a:xfrm>
            <a:off x="4306824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39" name="Rounded Rectangle 15">
            <a:extLst>
              <a:ext uri="{FF2B5EF4-FFF2-40B4-BE49-F238E27FC236}">
                <a16:creationId xmlns:a16="http://schemas.microsoft.com/office/drawing/2014/main" id="{4F4F76C0-88D5-40F6-B4F9-95BF39FD60A9}"/>
              </a:ext>
            </a:extLst>
          </p:cNvPr>
          <p:cNvSpPr/>
          <p:nvPr/>
        </p:nvSpPr>
        <p:spPr>
          <a:xfrm>
            <a:off x="4837176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0" name="Rounded Rectangle 16">
            <a:extLst>
              <a:ext uri="{FF2B5EF4-FFF2-40B4-BE49-F238E27FC236}">
                <a16:creationId xmlns:a16="http://schemas.microsoft.com/office/drawing/2014/main" id="{DA108FED-89A4-438B-9E25-02A9BB026033}"/>
              </a:ext>
            </a:extLst>
          </p:cNvPr>
          <p:cNvSpPr/>
          <p:nvPr/>
        </p:nvSpPr>
        <p:spPr>
          <a:xfrm>
            <a:off x="5367528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1" name="Rounded Rectangle 17">
            <a:extLst>
              <a:ext uri="{FF2B5EF4-FFF2-40B4-BE49-F238E27FC236}">
                <a16:creationId xmlns:a16="http://schemas.microsoft.com/office/drawing/2014/main" id="{AFD2FE46-28E2-41DF-9C4F-4E9B88D604C8}"/>
              </a:ext>
            </a:extLst>
          </p:cNvPr>
          <p:cNvSpPr/>
          <p:nvPr/>
        </p:nvSpPr>
        <p:spPr>
          <a:xfrm>
            <a:off x="5897880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2" name="Rounded Rectangle 18">
            <a:extLst>
              <a:ext uri="{FF2B5EF4-FFF2-40B4-BE49-F238E27FC236}">
                <a16:creationId xmlns:a16="http://schemas.microsoft.com/office/drawing/2014/main" id="{B4FB710F-73DE-4288-84FE-A126EAFC359B}"/>
              </a:ext>
            </a:extLst>
          </p:cNvPr>
          <p:cNvSpPr/>
          <p:nvPr/>
        </p:nvSpPr>
        <p:spPr>
          <a:xfrm>
            <a:off x="6428232" y="4836835"/>
            <a:ext cx="475488" cy="502920"/>
          </a:xfrm>
          <a:prstGeom prst="roundRect">
            <a:avLst/>
          </a:prstGeom>
          <a:solidFill>
            <a:srgbClr val="146984"/>
          </a:solidFill>
          <a:ln w="12700">
            <a:solidFill>
              <a:srgbClr val="146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43" name="Rounded Rectangle 19">
            <a:extLst>
              <a:ext uri="{FF2B5EF4-FFF2-40B4-BE49-F238E27FC236}">
                <a16:creationId xmlns:a16="http://schemas.microsoft.com/office/drawing/2014/main" id="{FB5B42E6-1D64-45D2-B946-135666A31E2B}"/>
              </a:ext>
            </a:extLst>
          </p:cNvPr>
          <p:cNvSpPr/>
          <p:nvPr/>
        </p:nvSpPr>
        <p:spPr>
          <a:xfrm>
            <a:off x="7068312" y="4836835"/>
            <a:ext cx="658368" cy="502920"/>
          </a:xfrm>
          <a:prstGeom prst="roundRect">
            <a:avLst/>
          </a:prstGeom>
          <a:solidFill>
            <a:srgbClr val="E78937"/>
          </a:solidFill>
          <a:ln w="12700">
            <a:solidFill>
              <a:srgbClr val="E78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</a:rPr>
              <a:t>Q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BC8A4D03-DFC7-4633-B556-7F36FCD7F693}"/>
              </a:ext>
            </a:extLst>
          </p:cNvPr>
          <p:cNvSpPr txBox="1"/>
          <p:nvPr/>
        </p:nvSpPr>
        <p:spPr>
          <a:xfrm>
            <a:off x="594360" y="5432755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B：廣播控制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×12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Q：一對一點名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×1　　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約每</a:t>
            </a:r>
            <a:r>
              <a:rPr sz="1400" b="1" dirty="0">
                <a:solidFill>
                  <a:srgbClr val="23364C"/>
                </a:solidFill>
                <a:latin typeface="Microsoft JhengHei"/>
              </a:rPr>
              <a:t> </a:t>
            </a:r>
            <a:r>
              <a:rPr lang="en-US" sz="1400" b="1" dirty="0">
                <a:solidFill>
                  <a:srgbClr val="23364C"/>
                </a:solidFill>
                <a:latin typeface="Microsoft JhengHei"/>
              </a:rPr>
              <a:t>130</a:t>
            </a:r>
            <a:r>
              <a:rPr lang="en-US" altLang="zh-CN" sz="1400" b="1" dirty="0">
                <a:solidFill>
                  <a:srgbClr val="23364C"/>
                </a:solidFill>
                <a:latin typeface="Microsoft JhengHei"/>
              </a:rPr>
              <a:t>ms </a:t>
            </a:r>
            <a:r>
              <a:rPr lang="zh-CN" altLang="en-US" sz="1400" b="1" dirty="0">
                <a:solidFill>
                  <a:srgbClr val="23364C"/>
                </a:solidFill>
                <a:latin typeface="Microsoft JhengHei"/>
              </a:rPr>
              <a:t>詢問</a:t>
            </a:r>
            <a:r>
              <a:rPr sz="1400" b="1" dirty="0" err="1">
                <a:solidFill>
                  <a:srgbClr val="23364C"/>
                </a:solidFill>
                <a:latin typeface="Microsoft JhengHei"/>
              </a:rPr>
              <a:t>一次</a:t>
            </a:r>
            <a:endParaRPr sz="1400" b="1" dirty="0">
              <a:solidFill>
                <a:srgbClr val="23364C"/>
              </a:solidFill>
              <a:latin typeface="Microsoft JhengHei"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9A8DCC5C-CA40-438B-A075-627ACAA27651}"/>
              </a:ext>
            </a:extLst>
          </p:cNvPr>
          <p:cNvSpPr txBox="1"/>
          <p:nvPr/>
        </p:nvSpPr>
        <p:spPr>
          <a:xfrm>
            <a:off x="594360" y="5825947"/>
            <a:ext cx="649224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查到狀態後立即切回廣播，等待上限 </a:t>
            </a:r>
            <a:r>
              <a:rPr lang="en-US" altLang="zh-TW" sz="1400" b="0" dirty="0">
                <a:solidFill>
                  <a:srgbClr val="627384"/>
                </a:solidFill>
                <a:latin typeface="Microsoft JhengHei"/>
              </a:rPr>
              <a:t>50 </a:t>
            </a:r>
            <a:r>
              <a:rPr lang="en-US" altLang="zh-TW" sz="1400" b="0" dirty="0" err="1">
                <a:solidFill>
                  <a:srgbClr val="627384"/>
                </a:solidFill>
                <a:latin typeface="Microsoft JhengHei"/>
              </a:rPr>
              <a:t>ms</a:t>
            </a:r>
            <a:r>
              <a:rPr lang="zh-TW" altLang="en-US" sz="1400" b="0" dirty="0">
                <a:solidFill>
                  <a:srgbClr val="627384"/>
                </a:solidFill>
                <a:latin typeface="Microsoft JhengHei"/>
              </a:rPr>
              <a:t>。</a:t>
            </a:r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A3597805-AA21-4352-BF0F-EC8A996C7B9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9953C72D-84CB-4ABD-BA87-33782FDF4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19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/>
      <p:bldP spid="4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斷聯保護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46EF0B4-5640-41AC-88C0-95B0EE5AB4FE}"/>
              </a:ext>
            </a:extLst>
          </p:cNvPr>
          <p:cNvGrpSpPr/>
          <p:nvPr/>
        </p:nvGrpSpPr>
        <p:grpSpPr>
          <a:xfrm>
            <a:off x="635000" y="1163377"/>
            <a:ext cx="10210800" cy="1180799"/>
            <a:chOff x="635000" y="1861369"/>
            <a:chExt cx="10210800" cy="1180799"/>
          </a:xfrm>
        </p:grpSpPr>
        <p:sp>
          <p:nvSpPr>
            <p:cNvPr id="42" name="Rectangle 7">
              <a:extLst>
                <a:ext uri="{FF2B5EF4-FFF2-40B4-BE49-F238E27FC236}">
                  <a16:creationId xmlns:a16="http://schemas.microsoft.com/office/drawing/2014/main" id="{8A3883EC-7B68-4107-AC99-B0444CE16540}"/>
                </a:ext>
              </a:extLst>
            </p:cNvPr>
            <p:cNvSpPr/>
            <p:nvPr/>
          </p:nvSpPr>
          <p:spPr>
            <a:xfrm>
              <a:off x="635000" y="1905000"/>
              <a:ext cx="1905000" cy="736600"/>
            </a:xfrm>
            <a:prstGeom prst="roundRect">
              <a:avLst/>
            </a:prstGeom>
            <a:solidFill>
              <a:srgbClr val="8FD4A8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正常飛行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遙控指令連續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A0D8388B-C124-44D1-AA2A-02DF109670D8}"/>
                </a:ext>
              </a:extLst>
            </p:cNvPr>
            <p:cNvSpPr/>
            <p:nvPr/>
          </p:nvSpPr>
          <p:spPr>
            <a:xfrm>
              <a:off x="34036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偵測到中斷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逾時未收到新指令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44" name="Rectangle 9">
              <a:extLst>
                <a:ext uri="{FF2B5EF4-FFF2-40B4-BE49-F238E27FC236}">
                  <a16:creationId xmlns:a16="http://schemas.microsoft.com/office/drawing/2014/main" id="{B395D103-9E97-40A2-A250-9DB54E49C68B}"/>
                </a:ext>
              </a:extLst>
            </p:cNvPr>
            <p:cNvSpPr/>
            <p:nvPr/>
          </p:nvSpPr>
          <p:spPr>
            <a:xfrm>
              <a:off x="6172200" y="1905000"/>
              <a:ext cx="1905000" cy="736600"/>
            </a:xfrm>
            <a:prstGeom prst="round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寬限維持</a:t>
              </a:r>
              <a:endParaRPr sz="1600" b="1" dirty="0">
                <a:solidFill>
                  <a:srgbClr val="111111"/>
                </a:solidFill>
              </a:endParaRPr>
            </a:p>
          </p:txBody>
        </p:sp>
        <p:sp>
          <p:nvSpPr>
            <p:cNvPr id="45" name="Rectangle 10">
              <a:extLst>
                <a:ext uri="{FF2B5EF4-FFF2-40B4-BE49-F238E27FC236}">
                  <a16:creationId xmlns:a16="http://schemas.microsoft.com/office/drawing/2014/main" id="{E95EE396-BDAA-4575-8A93-4CAD01F1F123}"/>
                </a:ext>
              </a:extLst>
            </p:cNvPr>
            <p:cNvSpPr/>
            <p:nvPr/>
          </p:nvSpPr>
          <p:spPr>
            <a:xfrm>
              <a:off x="8940800" y="1905000"/>
              <a:ext cx="1905000" cy="736600"/>
            </a:xfrm>
            <a:prstGeom prst="roundRect">
              <a:avLst/>
            </a:prstGeom>
            <a:solidFill>
              <a:srgbClr val="F0AEA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 err="1">
                  <a:solidFill>
                    <a:srgbClr val="111111"/>
                  </a:solidFill>
                </a:rPr>
                <a:t>下降</a:t>
              </a:r>
              <a:endParaRPr sz="1600" b="1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著陸後鎖定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cxnSp>
          <p:nvCxnSpPr>
            <p:cNvPr id="46" name="Connector 11">
              <a:extLst>
                <a:ext uri="{FF2B5EF4-FFF2-40B4-BE49-F238E27FC236}">
                  <a16:creationId xmlns:a16="http://schemas.microsoft.com/office/drawing/2014/main" id="{627C74D1-1078-47F1-B8A8-78A78D1DFCA7}"/>
                </a:ext>
              </a:extLst>
            </p:cNvPr>
            <p:cNvCxnSpPr/>
            <p:nvPr/>
          </p:nvCxnSpPr>
          <p:spPr>
            <a:xfrm>
              <a:off x="25400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12">
              <a:extLst>
                <a:ext uri="{FF2B5EF4-FFF2-40B4-BE49-F238E27FC236}">
                  <a16:creationId xmlns:a16="http://schemas.microsoft.com/office/drawing/2014/main" id="{68B87A5C-7C1F-42E9-BB6E-8729A8286FFD}"/>
                </a:ext>
              </a:extLst>
            </p:cNvPr>
            <p:cNvCxnSpPr/>
            <p:nvPr/>
          </p:nvCxnSpPr>
          <p:spPr>
            <a:xfrm>
              <a:off x="53086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13">
              <a:extLst>
                <a:ext uri="{FF2B5EF4-FFF2-40B4-BE49-F238E27FC236}">
                  <a16:creationId xmlns:a16="http://schemas.microsoft.com/office/drawing/2014/main" id="{54B3AED7-97D8-4078-AA9C-B4A9A70DBC7D}"/>
                </a:ext>
              </a:extLst>
            </p:cNvPr>
            <p:cNvCxnSpPr/>
            <p:nvPr/>
          </p:nvCxnSpPr>
          <p:spPr>
            <a:xfrm>
              <a:off x="80772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14">
              <a:extLst>
                <a:ext uri="{FF2B5EF4-FFF2-40B4-BE49-F238E27FC236}">
                  <a16:creationId xmlns:a16="http://schemas.microsoft.com/office/drawing/2014/main" id="{D3B8EB4C-E6D5-43B4-A14C-2144F72F272C}"/>
                </a:ext>
              </a:extLst>
            </p:cNvPr>
            <p:cNvSpPr txBox="1"/>
            <p:nvPr/>
          </p:nvSpPr>
          <p:spPr>
            <a:xfrm>
              <a:off x="8221786" y="1861369"/>
              <a:ext cx="538609" cy="43088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逾時</a:t>
              </a:r>
              <a:endParaRPr lang="en-US" sz="1400" dirty="0">
                <a:solidFill>
                  <a:srgbClr val="111111"/>
                </a:solidFill>
              </a:endParaRPr>
            </a:p>
            <a:p>
              <a:pPr algn="ctr"/>
              <a:r>
                <a:rPr sz="1400" dirty="0" err="1">
                  <a:solidFill>
                    <a:srgbClr val="111111"/>
                  </a:solidFill>
                </a:rPr>
                <a:t>未恢復</a:t>
              </a:r>
              <a:endParaRPr sz="1100" dirty="0">
                <a:solidFill>
                  <a:srgbClr val="111111"/>
                </a:solidFill>
              </a:endParaRPr>
            </a:p>
          </p:txBody>
        </p:sp>
        <p:sp>
          <p:nvSpPr>
            <p:cNvPr id="50" name="TextBox 18">
              <a:extLst>
                <a:ext uri="{FF2B5EF4-FFF2-40B4-BE49-F238E27FC236}">
                  <a16:creationId xmlns:a16="http://schemas.microsoft.com/office/drawing/2014/main" id="{60C1F8CF-2DFC-4E36-9C17-D63BE909FED5}"/>
                </a:ext>
              </a:extLst>
            </p:cNvPr>
            <p:cNvSpPr txBox="1"/>
            <p:nvPr/>
          </p:nvSpPr>
          <p:spPr>
            <a:xfrm>
              <a:off x="3889998" y="2795947"/>
              <a:ext cx="856004" cy="246221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600" dirty="0" err="1">
                  <a:solidFill>
                    <a:srgbClr val="0A4D6E"/>
                  </a:solidFill>
                </a:rPr>
                <a:t>訊號恢復</a:t>
              </a:r>
              <a:r>
                <a:rPr sz="1200" dirty="0">
                  <a:solidFill>
                    <a:srgbClr val="0A4D6E"/>
                  </a:solidFill>
                </a:rPr>
                <a:t> </a:t>
              </a:r>
            </a:p>
          </p:txBody>
        </p:sp>
      </p:grp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6BDA951-EA5E-46AE-8AFA-24C2B7275A72}"/>
              </a:ext>
            </a:extLst>
          </p:cNvPr>
          <p:cNvCxnSpPr>
            <a:cxnSpLocks/>
          </p:cNvCxnSpPr>
          <p:nvPr/>
        </p:nvCxnSpPr>
        <p:spPr>
          <a:xfrm rot="5400000">
            <a:off x="4356100" y="-824992"/>
            <a:ext cx="12700" cy="5537200"/>
          </a:xfrm>
          <a:prstGeom prst="bentConnector3">
            <a:avLst>
              <a:gd name="adj1" fmla="val 346666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EDEFA0D-DA6B-4DD6-A351-1C6EBEC25759}"/>
              </a:ext>
            </a:extLst>
          </p:cNvPr>
          <p:cNvSpPr/>
          <p:nvPr/>
        </p:nvSpPr>
        <p:spPr>
          <a:xfrm>
            <a:off x="658368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19">
            <a:extLst>
              <a:ext uri="{FF2B5EF4-FFF2-40B4-BE49-F238E27FC236}">
                <a16:creationId xmlns:a16="http://schemas.microsoft.com/office/drawing/2014/main" id="{53B85354-B185-473C-B0F9-29062DDA5D3F}"/>
              </a:ext>
            </a:extLst>
          </p:cNvPr>
          <p:cNvSpPr/>
          <p:nvPr/>
        </p:nvSpPr>
        <p:spPr>
          <a:xfrm>
            <a:off x="658368" y="3063240"/>
            <a:ext cx="3246120" cy="457200"/>
          </a:xfrm>
          <a:prstGeom prst="roundRect">
            <a:avLst/>
          </a:prstGeom>
          <a:solidFill>
            <a:srgbClr val="135B7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TW" altLang="en-US" sz="1500" b="1" dirty="0">
                <a:solidFill>
                  <a:srgbClr val="FFFFFF"/>
                </a:solidFill>
                <a:latin typeface="Microsoft JhengHei"/>
              </a:rPr>
              <a:t>模式 </a:t>
            </a:r>
            <a:r>
              <a:rPr lang="en-US" altLang="zh-TW" sz="1500" b="1" dirty="0">
                <a:solidFill>
                  <a:srgbClr val="FFFFFF"/>
                </a:solidFill>
                <a:latin typeface="Microsoft JhengHei"/>
              </a:rPr>
              <a:t>0</a:t>
            </a:r>
          </a:p>
        </p:txBody>
      </p:sp>
      <p:sp>
        <p:nvSpPr>
          <p:cNvPr id="61" name="TextBox 20">
            <a:extLst>
              <a:ext uri="{FF2B5EF4-FFF2-40B4-BE49-F238E27FC236}">
                <a16:creationId xmlns:a16="http://schemas.microsoft.com/office/drawing/2014/main" id="{12F18D8F-9259-4506-AFC3-1F5310FD9D61}"/>
              </a:ext>
            </a:extLst>
          </p:cNvPr>
          <p:cNvSpPr txBox="1"/>
          <p:nvPr/>
        </p:nvSpPr>
        <p:spPr>
          <a:xfrm>
            <a:off x="822959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2" name="TextBox 21">
            <a:extLst>
              <a:ext uri="{FF2B5EF4-FFF2-40B4-BE49-F238E27FC236}">
                <a16:creationId xmlns:a16="http://schemas.microsoft.com/office/drawing/2014/main" id="{916A734D-3E56-4F0E-8C00-B959D043A9B0}"/>
              </a:ext>
            </a:extLst>
          </p:cNvPr>
          <p:cNvSpPr txBox="1"/>
          <p:nvPr/>
        </p:nvSpPr>
        <p:spPr>
          <a:xfrm>
            <a:off x="822959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約 </a:t>
            </a:r>
            <a:r>
              <a:rPr lang="en-US" altLang="zh-CN" sz="1300" b="1" dirty="0">
                <a:solidFill>
                  <a:srgbClr val="135B78"/>
                </a:solidFill>
                <a:latin typeface="Microsoft JhengHei"/>
              </a:rPr>
              <a:t>2 </a:t>
            </a:r>
            <a:r>
              <a:rPr lang="zh-CN" altLang="en-US" sz="1300" b="1" dirty="0">
                <a:solidFill>
                  <a:srgbClr val="135B78"/>
                </a:solidFill>
                <a:latin typeface="Microsoft JhengHei"/>
              </a:rPr>
              <a:t>秒</a:t>
            </a:r>
          </a:p>
        </p:txBody>
      </p:sp>
      <p:sp>
        <p:nvSpPr>
          <p:cNvPr id="63" name="Rounded Rectangle 23">
            <a:extLst>
              <a:ext uri="{FF2B5EF4-FFF2-40B4-BE49-F238E27FC236}">
                <a16:creationId xmlns:a16="http://schemas.microsoft.com/office/drawing/2014/main" id="{9B701ABE-26B0-4388-8681-3876DA05674F}"/>
              </a:ext>
            </a:extLst>
          </p:cNvPr>
          <p:cNvSpPr/>
          <p:nvPr/>
        </p:nvSpPr>
        <p:spPr>
          <a:xfrm>
            <a:off x="4160520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24">
            <a:extLst>
              <a:ext uri="{FF2B5EF4-FFF2-40B4-BE49-F238E27FC236}">
                <a16:creationId xmlns:a16="http://schemas.microsoft.com/office/drawing/2014/main" id="{4D4B2357-13D3-4288-B155-933D07590621}"/>
              </a:ext>
            </a:extLst>
          </p:cNvPr>
          <p:cNvSpPr/>
          <p:nvPr/>
        </p:nvSpPr>
        <p:spPr>
          <a:xfrm>
            <a:off x="4160520" y="3063240"/>
            <a:ext cx="3246120" cy="457200"/>
          </a:xfrm>
          <a:prstGeom prst="roundRect">
            <a:avLst/>
          </a:prstGeom>
          <a:solidFill>
            <a:srgbClr val="2389A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1</a:t>
            </a:r>
          </a:p>
        </p:txBody>
      </p:sp>
      <p:sp>
        <p:nvSpPr>
          <p:cNvPr id="65" name="TextBox 25">
            <a:extLst>
              <a:ext uri="{FF2B5EF4-FFF2-40B4-BE49-F238E27FC236}">
                <a16:creationId xmlns:a16="http://schemas.microsoft.com/office/drawing/2014/main" id="{F47C470E-9E47-4320-9163-2DFF7AD8A8D0}"/>
              </a:ext>
            </a:extLst>
          </p:cNvPr>
          <p:cNvSpPr txBox="1"/>
          <p:nvPr/>
        </p:nvSpPr>
        <p:spPr>
          <a:xfrm>
            <a:off x="4325112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維持高度</a:t>
            </a:r>
          </a:p>
        </p:txBody>
      </p:sp>
      <p:sp>
        <p:nvSpPr>
          <p:cNvPr id="66" name="TextBox 26">
            <a:extLst>
              <a:ext uri="{FF2B5EF4-FFF2-40B4-BE49-F238E27FC236}">
                <a16:creationId xmlns:a16="http://schemas.microsoft.com/office/drawing/2014/main" id="{E3CE39DE-3AA6-4EBB-A5B5-E4F668DE8748}"/>
              </a:ext>
            </a:extLst>
          </p:cNvPr>
          <p:cNvSpPr txBox="1"/>
          <p:nvPr/>
        </p:nvSpPr>
        <p:spPr>
          <a:xfrm>
            <a:off x="4325112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>
                <a:solidFill>
                  <a:srgbClr val="EB8B3B"/>
                </a:solidFill>
                <a:latin typeface="Microsoft JhengHei"/>
              </a:rPr>
              <a:t>約 8 秒</a:t>
            </a:r>
          </a:p>
        </p:txBody>
      </p:sp>
      <p:sp>
        <p:nvSpPr>
          <p:cNvPr id="67" name="Rounded Rectangle 28">
            <a:extLst>
              <a:ext uri="{FF2B5EF4-FFF2-40B4-BE49-F238E27FC236}">
                <a16:creationId xmlns:a16="http://schemas.microsoft.com/office/drawing/2014/main" id="{86C1D7DC-78E8-43BC-BFF7-7F19E7E2D2E8}"/>
              </a:ext>
            </a:extLst>
          </p:cNvPr>
          <p:cNvSpPr/>
          <p:nvPr/>
        </p:nvSpPr>
        <p:spPr>
          <a:xfrm>
            <a:off x="7662671" y="306324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29">
            <a:extLst>
              <a:ext uri="{FF2B5EF4-FFF2-40B4-BE49-F238E27FC236}">
                <a16:creationId xmlns:a16="http://schemas.microsoft.com/office/drawing/2014/main" id="{278037C0-D23D-48CD-B640-B8230EC1DFE9}"/>
              </a:ext>
            </a:extLst>
          </p:cNvPr>
          <p:cNvSpPr/>
          <p:nvPr/>
        </p:nvSpPr>
        <p:spPr>
          <a:xfrm>
            <a:off x="7662671" y="3063240"/>
            <a:ext cx="3246120" cy="4572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Microsoft JhengHei"/>
              </a:rPr>
              <a:t>模式</a:t>
            </a:r>
            <a:r>
              <a:rPr sz="1500" b="1" dirty="0">
                <a:solidFill>
                  <a:srgbClr val="FFFFFF"/>
                </a:solidFill>
                <a:latin typeface="Microsoft JhengHei"/>
              </a:rPr>
              <a:t> 2</a:t>
            </a:r>
          </a:p>
        </p:txBody>
      </p:sp>
      <p:sp>
        <p:nvSpPr>
          <p:cNvPr id="69" name="TextBox 30">
            <a:extLst>
              <a:ext uri="{FF2B5EF4-FFF2-40B4-BE49-F238E27FC236}">
                <a16:creationId xmlns:a16="http://schemas.microsoft.com/office/drawing/2014/main" id="{21649678-1B4E-4B2E-A054-F43724EF9608}"/>
              </a:ext>
            </a:extLst>
          </p:cNvPr>
          <p:cNvSpPr txBox="1"/>
          <p:nvPr/>
        </p:nvSpPr>
        <p:spPr>
          <a:xfrm>
            <a:off x="7827263" y="3654364"/>
            <a:ext cx="2907792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zh-TW" altLang="en-US" sz="1700" b="1" dirty="0">
                <a:solidFill>
                  <a:srgbClr val="1C3054"/>
                </a:solidFill>
                <a:latin typeface="Microsoft JhengHei"/>
              </a:rPr>
              <a:t>緩降</a:t>
            </a:r>
          </a:p>
        </p:txBody>
      </p:sp>
      <p:sp>
        <p:nvSpPr>
          <p:cNvPr id="70" name="TextBox 31">
            <a:extLst>
              <a:ext uri="{FF2B5EF4-FFF2-40B4-BE49-F238E27FC236}">
                <a16:creationId xmlns:a16="http://schemas.microsoft.com/office/drawing/2014/main" id="{E8330931-3865-49E6-8183-6323184D5D55}"/>
              </a:ext>
            </a:extLst>
          </p:cNvPr>
          <p:cNvSpPr txBox="1"/>
          <p:nvPr/>
        </p:nvSpPr>
        <p:spPr>
          <a:xfrm>
            <a:off x="7827263" y="4050791"/>
            <a:ext cx="290779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dirty="0" err="1">
                <a:solidFill>
                  <a:srgbClr val="C24C46"/>
                </a:solidFill>
                <a:latin typeface="Microsoft JhengHei"/>
              </a:rPr>
              <a:t>立即</a:t>
            </a:r>
            <a:endParaRPr sz="1300" b="1" dirty="0">
              <a:solidFill>
                <a:srgbClr val="C24C46"/>
              </a:solidFill>
              <a:latin typeface="Microsoft JhengHei"/>
            </a:endParaRPr>
          </a:p>
        </p:txBody>
      </p:sp>
      <p:sp>
        <p:nvSpPr>
          <p:cNvPr id="71" name="Shape 11">
            <a:hlinkClick r:id="rId3" action="ppaction://hlinkfile"/>
            <a:extLst>
              <a:ext uri="{FF2B5EF4-FFF2-40B4-BE49-F238E27FC236}">
                <a16:creationId xmlns:a16="http://schemas.microsoft.com/office/drawing/2014/main" id="{56A96F7D-6311-44EB-B580-63721965A6B7}"/>
              </a:ext>
            </a:extLst>
          </p:cNvPr>
          <p:cNvSpPr/>
          <p:nvPr/>
        </p:nvSpPr>
        <p:spPr>
          <a:xfrm rot="5400000">
            <a:off x="2084831" y="4498848"/>
            <a:ext cx="384048" cy="402336"/>
          </a:xfrm>
          <a:prstGeom prst="triangl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Shape 21">
            <a:hlinkClick r:id="rId4" action="ppaction://hlinkfile"/>
            <a:extLst>
              <a:ext uri="{FF2B5EF4-FFF2-40B4-BE49-F238E27FC236}">
                <a16:creationId xmlns:a16="http://schemas.microsoft.com/office/drawing/2014/main" id="{E84C2029-01DE-41D0-B4C9-FD541D31D943}"/>
              </a:ext>
            </a:extLst>
          </p:cNvPr>
          <p:cNvSpPr/>
          <p:nvPr/>
        </p:nvSpPr>
        <p:spPr>
          <a:xfrm rot="5400000">
            <a:off x="5586984" y="4498848"/>
            <a:ext cx="384048" cy="402336"/>
          </a:xfrm>
          <a:prstGeom prst="triangl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>
              <a:solidFill>
                <a:srgbClr val="2389A8"/>
              </a:solidFill>
            </a:endParaRPr>
          </a:p>
        </p:txBody>
      </p:sp>
      <p:sp>
        <p:nvSpPr>
          <p:cNvPr id="73" name="Shape 31">
            <a:hlinkClick r:id="rId5" action="ppaction://hlinkfile"/>
            <a:extLst>
              <a:ext uri="{FF2B5EF4-FFF2-40B4-BE49-F238E27FC236}">
                <a16:creationId xmlns:a16="http://schemas.microsoft.com/office/drawing/2014/main" id="{7F5B1463-4907-4047-8618-D4D58D3E1D04}"/>
              </a:ext>
            </a:extLst>
          </p:cNvPr>
          <p:cNvSpPr/>
          <p:nvPr/>
        </p:nvSpPr>
        <p:spPr>
          <a:xfrm rot="5400000">
            <a:off x="9089135" y="4498848"/>
            <a:ext cx="384048" cy="402336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A4439056-777D-450E-8D45-458109A7D1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B00D2D73-C101-4C93-BF2B-30083D353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室內定位系統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從訊號強度換算出飛機的位置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A974CE32-4239-460D-99CC-3C9C8E0620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4FBAA8FD-E340-477D-9EB2-D693B746D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定位的四個步驟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051560" y="195681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5156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186537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接收訊號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865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飛機發出藍牙訊號,四個固定位置的錨點接收並量測訊號強度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272491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51560" y="305409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054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2962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以訊號強度與距離的關係式,推算飛機到每個錨點的距離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382219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51560" y="415137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51560" y="4151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7452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濾除雜訊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405993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訊號強度本身會跳動,靜止時加強平滑、移動時加快反應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491947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822960" y="502920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051560" y="5248656"/>
            <a:ext cx="548640" cy="54864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05156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874520" y="5157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計算座標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515721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由四個距離交會出位置,並在上位機地圖上即時顯示</a:t>
            </a:r>
            <a:endParaRPr lang="en-US" sz="1150" dirty="0"/>
          </a:p>
        </p:txBody>
      </p:sp>
      <p:sp>
        <p:nvSpPr>
          <p:cNvPr id="34" name="页脚占位符 33">
            <a:extLst>
              <a:ext uri="{FF2B5EF4-FFF2-40B4-BE49-F238E27FC236}">
                <a16:creationId xmlns:a16="http://schemas.microsoft.com/office/drawing/2014/main" id="{DEC8A1C9-1447-4B98-8B0A-B1CD2342C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5" name="灯片编号占位符 34">
            <a:extLst>
              <a:ext uri="{FF2B5EF4-FFF2-40B4-BE49-F238E27FC236}">
                <a16:creationId xmlns:a16="http://schemas.microsoft.com/office/drawing/2014/main" id="{0587518F-2A68-479F-AF63-575544D78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定位網路硬體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閘道(一台)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148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接收四個錨點回報的訊號強度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65176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USB 轉送到上位機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154679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154679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使用獨立的封包格式並加上校驗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657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657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LED 顯示連線狀態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60120" y="43434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架設時四個錨點的天線型號、朝向與高度必須一致。實測朝向不同可差到近 20 分貝,直接影響精度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4630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0" y="16276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錨點(四個,位置固定且已知)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只接收不連線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3796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3796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錨點只接收、不建立連線,因此可以同時服務多架飛機</a:t>
            </a:r>
            <a:endParaRPr lang="en-US" sz="1100" dirty="0"/>
          </a:p>
        </p:txBody>
      </p:sp>
      <p:sp>
        <p:nvSpPr>
          <p:cNvPr id="38" name="页脚占位符 37">
            <a:extLst>
              <a:ext uri="{FF2B5EF4-FFF2-40B4-BE49-F238E27FC236}">
                <a16:creationId xmlns:a16="http://schemas.microsoft.com/office/drawing/2014/main" id="{5CC0C587-69AA-473E-9BBF-EA23BE886D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9" name="灯片编号占位符 38">
            <a:extLst>
              <a:ext uri="{FF2B5EF4-FFF2-40B4-BE49-F238E27FC236}">
                <a16:creationId xmlns:a16="http://schemas.microsoft.com/office/drawing/2014/main" id="{1F63A581-EC89-4E79-99A8-42BFB444E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23</a:t>
            </a:fld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以同一顆無線晶片兼發定位訊號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遙控通訊是一問一答,兩次收發之間無線晶片處於閒置。本研究利用這段空檔,讓同一顆晶片切換去發出一個藍牙訊號供錨點接收,發完再切回遙控。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無線晶片的時間分配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青色是插入的定位訊號,借用遙控的空檔發出,錨點即可收到並量測強度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3232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切換方式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切換時重新設定頻率、封包格式與校驗方式,發完再切回遙控,全程插在確定的空檔內。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9392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43984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時間保護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443984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若當下空檔不足就跳過這次定位訊號,不佔用接收遙控指令的時機。飛行安全優先於定位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10144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74736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適用範圍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74736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發出的是與藍牙格式相容的訊號,錨點掃描得到並可量測強度,用於定位已足夠。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好處是不必另外加裝定位模組,同一顆晶片就能同時處理遙控與定位</a:t>
            </a:r>
            <a:endParaRPr lang="en-US" sz="1050" dirty="0"/>
          </a:p>
        </p:txBody>
      </p:sp>
      <p:sp>
        <p:nvSpPr>
          <p:cNvPr id="39" name="页脚占位符 38">
            <a:extLst>
              <a:ext uri="{FF2B5EF4-FFF2-40B4-BE49-F238E27FC236}">
                <a16:creationId xmlns:a16="http://schemas.microsoft.com/office/drawing/2014/main" id="{D55A978C-D8D6-405C-B391-28B3D735EF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0" name="灯片编号占位符 39">
            <a:extLst>
              <a:ext uri="{FF2B5EF4-FFF2-40B4-BE49-F238E27FC236}">
                <a16:creationId xmlns:a16="http://schemas.microsoft.com/office/drawing/2014/main" id="{855B0AB9-D136-4AF0-8EDC-D1A8C658F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多架飛機共用錨點的方式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三架飛機發出的訊號格式相同,只差一個編號,因此一套錨點就能同時服務多架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31520" y="2414016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3152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408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飛機發出訊號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340864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利用遙控空檔發出藍牙訊號,內容包含一個編號,用來表示是哪一架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30723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四個錨點接收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12724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四個錨點各自收到這個訊號,並分別量測到的強度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3730752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8640" y="38587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31520" y="3986784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3152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913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錨點回報給上位機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391363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錨點把「哪一架、強度多少」回報給閘道,閘道再以 USB 轉送到上位機,每秒十次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32688" y="4517136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31520" y="4773168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152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上位機計算座標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70001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先濾除訊號雜訊,換算成距離,再由四個距離交會出座標,最後平滑軌跡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2688" y="5303520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8640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31520" y="55595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31520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地圖顯示與控制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4864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地圖上即時顯示飛機位置,算出的座標也可回頭用來控制飛行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錨點一次掃描就能收齊三架的訊號,上位機分別計算後顯示在同一張地圖上</a:t>
            </a:r>
            <a:endParaRPr lang="en-US" sz="1000" dirty="0"/>
          </a:p>
        </p:txBody>
      </p:sp>
      <p:sp>
        <p:nvSpPr>
          <p:cNvPr id="43" name="页脚占位符 42">
            <a:extLst>
              <a:ext uri="{FF2B5EF4-FFF2-40B4-BE49-F238E27FC236}">
                <a16:creationId xmlns:a16="http://schemas.microsoft.com/office/drawing/2014/main" id="{90155EAE-9470-430B-82C9-CE242BDF0D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4" name="灯片编号占位符 43">
            <a:extLst>
              <a:ext uri="{FF2B5EF4-FFF2-40B4-BE49-F238E27FC236}">
                <a16:creationId xmlns:a16="http://schemas.microsoft.com/office/drawing/2014/main" id="{8AF9B260-DC7B-4599-A698-D19A436D9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25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訊號強度的波動特性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訊號強度(RSSI)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接收到的訊號強弱,單位是 dBm。每降低 10 分貝代表功率變成十分之一。室內藍牙常見範圍約 -40(很近)到 -90(很遠)。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跳動的三個原因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169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訊號經多條路徑到達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169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 err="1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訊號經牆面與地面反射後,多條路徑疊在一起互相幹擾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4736592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4700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被遮擋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7000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人體或機身擋住時,強度可差 5 到 15 分貝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66944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7724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5230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0" y="5230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天線朝向不同會造成明顯落差,實際數值待量測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630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35040" y="16093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訊號強度跳動示意(飛機靜止不動)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2194560"/>
            <a:ext cx="0" cy="265176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897880" y="2057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97880" y="2932481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97880" y="380756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29400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942909" y="2901696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256417" y="3343656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7569926" y="2990088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883434" y="3166872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96943" y="360883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510451" y="2813304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823960" y="3255264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9137469" y="3432048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9450977" y="2901696"/>
            <a:ext cx="313509" cy="1149096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9764486" y="405079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77994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391503" y="2990088"/>
            <a:ext cx="313509" cy="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705011" y="352044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583680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97189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210697" y="329793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7524206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837714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8151223" y="356311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8464731" y="276758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778240" y="320954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9091749" y="338632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9405257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9718766" y="400507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10032274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10345783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0659291" y="347472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0972800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629400" y="3078480"/>
            <a:ext cx="438912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9601200" y="27310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中值 ≈ -60 dBm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0080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連續取樣(飛機完全靜止)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35040" y="5212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即使飛機完全靜止,讀值仍會在數分貝內跳動,偶爾出現偏離很多的值。換算成距離後差距可達數倍,所以必須先濾波。</a:t>
            </a:r>
            <a:endParaRPr lang="en-US" sz="1050" dirty="0"/>
          </a:p>
        </p:txBody>
      </p:sp>
      <p:sp>
        <p:nvSpPr>
          <p:cNvPr id="69" name="页脚占位符 68">
            <a:extLst>
              <a:ext uri="{FF2B5EF4-FFF2-40B4-BE49-F238E27FC236}">
                <a16:creationId xmlns:a16="http://schemas.microsoft.com/office/drawing/2014/main" id="{FDF2EC55-FE47-427E-A645-9CD4641019D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70" name="灯片编号占位符 69">
            <a:extLst>
              <a:ext uri="{FF2B5EF4-FFF2-40B4-BE49-F238E27FC236}">
                <a16:creationId xmlns:a16="http://schemas.microsoft.com/office/drawing/2014/main" id="{B68732B0-002A-4841-B0E7-0769C9BE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26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訊號強度與距離的換算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從物理現象推導出關係式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電波往外擴散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756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能量以球面往外擴散,功率與距離平方成反比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9923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2971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改用對數表示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訊號強度本身就是對數刻度,因此距離每增加十倍,強度就固定下降一定分貝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89534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772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8679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加入環境修正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8920" y="3867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室內有牆面與反射,衰減比自由空間快,因此用一個可調的衰減指數取代固定值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846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77240" y="4846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RSSI(d) = P₀ − 10·n·log₁₀(d)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反解:d = 10^((P₀−RSSI)/(10n))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兩個參數的意義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29400" y="21031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812280" y="2212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距離一公尺處的基準強度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25420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由發射功率與天線共同決定,每個錨點都不一樣,必須各自在一公尺處實際量測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0" y="338328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812280" y="3493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衰減指數(反映環境特性)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0372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3840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無遮擋的理想情況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n=2.7~3.5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169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一般室內環境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n&gt;4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138160" y="44988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遮蔽物多、隔牆多的環境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83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衰減指數若設定不準,整場距離都會偏掉,這是需要自動調整的原因。</a:t>
            </a:r>
            <a:endParaRPr lang="en-US" sz="1050" dirty="0"/>
          </a:p>
        </p:txBody>
      </p:sp>
      <p:sp>
        <p:nvSpPr>
          <p:cNvPr id="42" name="页脚占位符 41">
            <a:extLst>
              <a:ext uri="{FF2B5EF4-FFF2-40B4-BE49-F238E27FC236}">
                <a16:creationId xmlns:a16="http://schemas.microsoft.com/office/drawing/2014/main" id="{BE630F49-FB06-4492-A58C-EB04357A45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A8C5940-E4E5-402C-9779-B4136CECC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27</a:t>
            </a:fld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訊號濾波(1/3):問題說明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訊號強度的三個問題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075688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訊號本身就會跳動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5328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飛機停在原地不動,讀到的強度仍會在正負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2 到 3 </a:t>
            </a:r>
            <a:r>
              <a:rPr lang="en-US" sz="10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分貝之間跳動。這是反射與環境幹擾造成的,無法消除</a:t>
            </a: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392424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60120" y="35112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換算距離後會被放大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8496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強度換算成距離是指數運算,強度只差 1 分貝,換算後可能差到數十公分甚至一公尺以上。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554220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60120" y="4828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靜止與移動的需求相反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166359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要壓住跳動就得濾得重,要跟上移動就得濾得輕,同一組固定參數無法同時滿足。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固定參數無法兩者兼顧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0955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靜止時訊號持續跳動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0175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492240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3281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373389" y="3015487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813964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254538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695113" y="2540000"/>
            <a:ext cx="440575" cy="59436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135687" y="3134359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76262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6836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0457411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1089798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400800" y="32385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濾得太輕,畫面上的位置會跟著亂跳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0" y="37973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移動時需要立即反應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0" y="4229100"/>
            <a:ext cx="502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濾得太重,畫面上的位置會落後、跟不上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固定參數一定會犧牲其中一邊,因此需要能依情況自動調整強度的濾波方式。</a:t>
            </a:r>
            <a:endParaRPr lang="en-US" sz="1100" dirty="0"/>
          </a:p>
        </p:txBody>
      </p:sp>
      <p:sp>
        <p:nvSpPr>
          <p:cNvPr id="41" name="页脚占位符 40">
            <a:extLst>
              <a:ext uri="{FF2B5EF4-FFF2-40B4-BE49-F238E27FC236}">
                <a16:creationId xmlns:a16="http://schemas.microsoft.com/office/drawing/2014/main" id="{0DDB6C4A-5CE8-4E14-A524-63F8458C08A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2" name="灯片编号占位符 41">
            <a:extLst>
              <a:ext uri="{FF2B5EF4-FFF2-40B4-BE49-F238E27FC236}">
                <a16:creationId xmlns:a16="http://schemas.microsoft.com/office/drawing/2014/main" id="{79DDD499-9527-4840-A256-B10A72ED3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訊號濾波(2/3):依情況調整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每個錨點各用一組濾波器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3911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每收到一筆新讀值,就用「新讀值與目前估計的差」來修正估計。這個差值的變化方式,可以用來判斷飛機是否真的在移動。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8036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60120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靜止時:加強平滑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3192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差值在零附近來回擺動,代表飛機沒有真的移動。此時多倚重原本的估計,壓住跳動。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178807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0120" y="4288535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移動時:加快反應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617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連續幾筆差值都偏向同一方向,代表飛機真的在動。此時改為多採信新讀值,讓位置快速跟上。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46304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移動與雜訊的分辨方式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雜訊造成的差值忽正忽負,累加後互相抵消,沒有方向性。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真的移動時差值持續同號,累加後越來越大,有明確方向。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834640"/>
            <a:ext cx="512064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537960" y="2898648"/>
            <a:ext cx="4892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同方向的差值累積超過設定值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即判定為移動,濾波強度隨之切換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4069079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0" y="417880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可調整的參數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54456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靜止時的平滑程度、移動時的反應速度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移動判定的門檻、量測雜訊的估計值</a:t>
            </a:r>
            <a:endParaRPr lang="en-US" sz="1000" dirty="0"/>
          </a:p>
        </p:txBody>
      </p:sp>
      <p:sp>
        <p:nvSpPr>
          <p:cNvPr id="28" name="页脚占位符 27">
            <a:extLst>
              <a:ext uri="{FF2B5EF4-FFF2-40B4-BE49-F238E27FC236}">
                <a16:creationId xmlns:a16="http://schemas.microsoft.com/office/drawing/2014/main" id="{1E10F5D1-CC52-45D7-BFCE-CF966CA0B1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29" name="灯片编号占位符 28">
            <a:extLst>
              <a:ext uri="{FF2B5EF4-FFF2-40B4-BE49-F238E27FC236}">
                <a16:creationId xmlns:a16="http://schemas.microsoft.com/office/drawing/2014/main" id="{3B07CF23-D4DF-422E-A17A-296318BD8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29</a:t>
            </a:fld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訊號濾波(3/3):實際除錯過程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94944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發生的現象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944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校正完成後,原始量測點持續更新,但畫面上的飛機圖示停在原地不動,明顯落後。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23944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9392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25696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找出的原因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為壓住跳動把濾波參數設得太小,移動時要二十多筆資料才跟得上,看起來就像停住。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54696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10144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56448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修正方式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改為自動調整:移動時加快反應、靜止時加強平滑,並在連續大幅跳動數次後重新起算。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修正後的結果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86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抖動顯著收斂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加強平滑後,畫面上的位置不再跳動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262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穩定後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262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位置穩定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計算結果不再發散,停在正確的位置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39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1838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838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位置跟得上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判定為移動後就加快反應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以上是除錯過程中觀察到的改善。實際硬體的定位精度數字,要等上位機與遙控器完整連通後才能量測</a:t>
            </a:r>
            <a:endParaRPr lang="en-US" sz="1000" dirty="0"/>
          </a:p>
        </p:txBody>
      </p:sp>
      <p:sp>
        <p:nvSpPr>
          <p:cNvPr id="37" name="页脚占位符 36">
            <a:extLst>
              <a:ext uri="{FF2B5EF4-FFF2-40B4-BE49-F238E27FC236}">
                <a16:creationId xmlns:a16="http://schemas.microsoft.com/office/drawing/2014/main" id="{809BF51E-24BA-4209-A198-490C4F8021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8" name="灯片编号占位符 37">
            <a:extLst>
              <a:ext uri="{FF2B5EF4-FFF2-40B4-BE49-F238E27FC236}">
                <a16:creationId xmlns:a16="http://schemas.microsoft.com/office/drawing/2014/main" id="{6E7F8E96-E81B-427C-B73E-61064F9E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位置的平滑處理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做法:把兩個來源加權平均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每次更新都有兩個位置來源: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預測值:依上一次的位置與速度推算,平滑但會逐漸偏離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量測值:這次由距離交會算出的座標,貼近真實但跳動大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1605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輸出 = 預測 + K ×(量測 − 預測)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括號中的比例會自動調整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量測越不穩就多信預測,結果較平滑;推算越不準就多信量測,跟得較緊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本系統的做法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2084832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12280" y="21762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同時估計位置與速度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560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以等速度推算:新位置 = 目前位置 + 速度 × 時間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29400" y="31089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294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3063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一併估計速度的原因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只平滑位置會落後;一併估計速度才能預判移動方向,跟得比較快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0" y="4069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參數設定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86600" y="4361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一個代表推算的可信度,一個代表量測的可信度,依實際跳動情況設定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29400" y="50292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766560" y="5074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這個方法能平滑隨機跳動,但無法修正整體偏移。錨點的基準值校正才是精度的基礎</a:t>
            </a:r>
            <a:endParaRPr lang="en-US" sz="1000" dirty="0"/>
          </a:p>
        </p:txBody>
      </p:sp>
      <p:sp>
        <p:nvSpPr>
          <p:cNvPr id="37" name="页脚占位符 36">
            <a:extLst>
              <a:ext uri="{FF2B5EF4-FFF2-40B4-BE49-F238E27FC236}">
                <a16:creationId xmlns:a16="http://schemas.microsoft.com/office/drawing/2014/main" id="{BE9C3BC7-96BB-40A4-B599-FA5A4B49299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8" name="灯片编号占位符 37">
            <a:extLst>
              <a:ext uri="{FF2B5EF4-FFF2-40B4-BE49-F238E27FC236}">
                <a16:creationId xmlns:a16="http://schemas.microsoft.com/office/drawing/2014/main" id="{EFCD3C40-434E-4544-A795-20C43A280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31</a:t>
            </a:fld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定位處理的完整流程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飛機發訊號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以藍牙廣播發出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56432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56432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502152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錨點接收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四個錨點量測訊號強度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72784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72784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18504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濾除雜訊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64224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靜止時加強平滑,移動時加快反應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089136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089136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34856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換算距離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80576" y="2523744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依各錨的基準值換算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415016" y="3383280"/>
            <a:ext cx="0" cy="32004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034540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034540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08026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修正環境參數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25980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以錨點之間的已知距離反推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6300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850892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50892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896612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交會出座標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42332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由四個距離計算位置,較近的錨點權重較高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2652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67244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667244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712964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平滑軌跡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758684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讓顯示的移動軌跡連續不跳動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橙色是訊號濾波,是本研究著力的部分;藍色是位置計算;綠色是環境參數的修正</a:t>
            </a:r>
            <a:endParaRPr lang="en-US" sz="1100" dirty="0"/>
          </a:p>
        </p:txBody>
      </p:sp>
      <p:sp>
        <p:nvSpPr>
          <p:cNvPr id="46" name="页脚占位符 45">
            <a:extLst>
              <a:ext uri="{FF2B5EF4-FFF2-40B4-BE49-F238E27FC236}">
                <a16:creationId xmlns:a16="http://schemas.microsoft.com/office/drawing/2014/main" id="{3137990D-59A9-41A5-961C-CD2E1F422E6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7" name="灯片编号占位符 46">
            <a:extLst>
              <a:ext uri="{FF2B5EF4-FFF2-40B4-BE49-F238E27FC236}">
                <a16:creationId xmlns:a16="http://schemas.microsoft.com/office/drawing/2014/main" id="{E835BA9B-2D69-4E22-914F-6DB60ABCC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32</a:t>
            </a:fld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以定位座標控制飛行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計算誤差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目標位置減目前位置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2900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2900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限制速度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換算成期望的移動速度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0936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轉換座標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依飛機當前朝向換算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8972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送出傾角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轉為飛機的傾斜角度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定位算出的是場地上的座標,而飛機的傾斜是相對自己的方向,兩者必須依當前朝向換算,否則會飛錯方向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566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上位機的四項功能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258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即時地圖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顯示場地、錨點位置與飛機朝向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04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690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點選導航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690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選定飛機、點選目標位置,飛機自行前往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63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122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錨點校正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8122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在距離一公尺處量測各錨的基準值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006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55480" y="4041648"/>
            <a:ext cx="2057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飛行控制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555480" y="4407408"/>
            <a:ext cx="20573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解鎖、油門與緊急停止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目前定位精度只到示範等級,因此移動速度與傾角都刻意設得保守,避免定位跳動造成劇烈動作</a:t>
            </a:r>
            <a:endParaRPr lang="en-US" sz="1050" dirty="0"/>
          </a:p>
        </p:txBody>
      </p:sp>
      <p:sp>
        <p:nvSpPr>
          <p:cNvPr id="50" name="页脚占位符 49">
            <a:extLst>
              <a:ext uri="{FF2B5EF4-FFF2-40B4-BE49-F238E27FC236}">
                <a16:creationId xmlns:a16="http://schemas.microsoft.com/office/drawing/2014/main" id="{A285484F-489B-4240-A5AA-9F5C8A01CB5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51" name="灯片编号占位符 50">
            <a:extLst>
              <a:ext uri="{FF2B5EF4-FFF2-40B4-BE49-F238E27FC236}">
                <a16:creationId xmlns:a16="http://schemas.microsoft.com/office/drawing/2014/main" id="{90F264F0-A928-4114-AF3B-FD7154694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33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定位方法的比較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原始 RSSI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直接轉距離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三邊定位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無濾波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5156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誤差 3m+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跳動劇烈,無法閉環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34340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4340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4340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· NTUST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1772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WiFi-RSSI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1772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Kalman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自適應 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最小二乘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4632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MAE 1.88m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她的實測值(非本研究成績)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463040"/>
            <a:ext cx="3474719" cy="4023360"/>
          </a:xfrm>
          <a:prstGeom prst="roundRect">
            <a:avLst>
              <a:gd name="adj" fmla="val 20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138160" y="1463040"/>
            <a:ext cx="3474719" cy="54864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138160" y="1463040"/>
            <a:ext cx="3474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本研究方法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2103120"/>
            <a:ext cx="3474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This 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訊號自動濾波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對數模型逐錨 P₀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41248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加權最小二乘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41248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位置 Kalman + 地圖站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64108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64108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 &lt;2m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7532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+ 上位機整合 + 閉環</a:t>
            </a:r>
            <a:endParaRPr lang="en-US" sz="1000" dirty="0"/>
          </a:p>
        </p:txBody>
      </p:sp>
      <p:sp>
        <p:nvSpPr>
          <p:cNvPr id="44" name="页脚占位符 43">
            <a:extLst>
              <a:ext uri="{FF2B5EF4-FFF2-40B4-BE49-F238E27FC236}">
                <a16:creationId xmlns:a16="http://schemas.microsoft.com/office/drawing/2014/main" id="{B0DD087F-7A17-460C-B370-3E9E497712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5" name="灯片编号占位符 44">
            <a:extLst>
              <a:ext uri="{FF2B5EF4-FFF2-40B4-BE49-F238E27FC236}">
                <a16:creationId xmlns:a16="http://schemas.microsoft.com/office/drawing/2014/main" id="{BB44B8F3-CFAA-42FE-BD08-AFC46F523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34</a:t>
            </a:fld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實機影片(四):室內定位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【影片位置:此處替換為定位系統截圖】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44805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建議片段:四錨部署 → 上位機地圖 → 移動信標 → 軌跡跟隨 → 濾波前後對比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影片同時呈現可行性與實際的軌跡波動,目前精度為示範等級</a:t>
            </a:r>
            <a:endParaRPr lang="en-US" sz="1000" dirty="0"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D5D41613-E22F-4352-AE8B-B5FC1C2F6A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EB00319C-EC85-4AFB-901F-A5D14E82A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35</a:t>
            </a:fld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系統功能的比較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4747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114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 MiniFly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0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30175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686800" y="1508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198424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114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95360" y="198424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0" y="1984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53288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單晶片飛控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23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114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253288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686800" y="2532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08152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40080" y="3081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支援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023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114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95360" y="308152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0" y="3081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✓(同板直插)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363016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3630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地面站協議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023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114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00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95360" y="363016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0" y="36301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✓(移植保留)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17880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40080" y="4178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室內定位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23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114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309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95360" y="417880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686800" y="41788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✓(四錨+引擎)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472744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40080" y="4727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單遙控多機(廣播架構)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023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114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09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00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595360" y="472744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6868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✓(三機制實測)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40080" y="5276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023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114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部分(調參)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309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6400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595360" y="527608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686800" y="5276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✓(地圖+標定+控制)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本研究同時具備三項:主控晶片可更換、沿用原廠協議、加入定位與多機控制</a:t>
            </a:r>
            <a:endParaRPr lang="en-US" sz="1150" dirty="0"/>
          </a:p>
        </p:txBody>
      </p:sp>
      <p:sp>
        <p:nvSpPr>
          <p:cNvPr id="74" name="页脚占位符 73">
            <a:extLst>
              <a:ext uri="{FF2B5EF4-FFF2-40B4-BE49-F238E27FC236}">
                <a16:creationId xmlns:a16="http://schemas.microsoft.com/office/drawing/2014/main" id="{F7AFEBD5-DF88-4368-9D76-0DE3E12C3E0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75" name="灯片编号占位符 74">
            <a:extLst>
              <a:ext uri="{FF2B5EF4-FFF2-40B4-BE49-F238E27FC236}">
                <a16:creationId xmlns:a16="http://schemas.microsoft.com/office/drawing/2014/main" id="{EEC82386-CBCF-4846-B69D-43461A231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36</a:t>
            </a:fld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目前的量化數據(一):硬體與定位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個驅動模組完成移植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腳位、通訊、馬達、無線、USB、排程、感測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項系統層問題已解決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無線封包格式、USB 連線、排程時間單位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種主控晶片以同一塊電路板驗證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與 ESP32S3 可直接更換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個步驟的定位處理流程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訊號濾波、距離換算、座標交會、軌跡平滑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錨定位網路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閘道+四錨+上位機標定介面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&lt;2m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定位目標(對標文獻)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BLE同級 MAE 1.88m為對標目標,本研究精度待量化</a:t>
            </a:r>
            <a:endParaRPr lang="en-US" sz="10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E58A9AC8-D7D7-4DFC-8F22-CE63B28BC66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95F40685-65CA-48AF-8787-A4280B2F8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37</a:t>
            </a:fld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目前的量化數據(二):多機控制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種控制方式已實機驗證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個封包送達所有飛機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若改用輪流發送,兩架的更新速率就減半,而且指令會錯開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8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個位元組供每一架使用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編號、旗標、油門與三軸角度;兩架共 19、三架共 27 個位元組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架在同一封包下做不同動作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同一封包中 ATK 設手動、nRF 設懸停,結果只有 ATK 轉動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0.13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秒 目前操控那一架的狀態更新週期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點名開銷:在線約1ms(&lt;1%),掉線降頻最壞約4%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32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位元組 單包載荷上限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決定多工需定點壓縮,亦決定單包最多3台的擴展邊界</a:t>
            </a:r>
            <a:endParaRPr lang="en-US" sz="10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438B9E51-A31C-4F5D-82B4-C403F567C3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853598B6-E77B-44B5-9947-7019556D0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38</a:t>
            </a:fld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目前的限制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目前的限制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02082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020824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目前只到示範等級,受訊號強度本身的限制,適合大略定位,不適合精密定點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9169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291693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單一封包最多 32 個位元組,因此一個封包最多容納三架;兩架同時編隊飛行尚未完整展示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130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飛行包線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81304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目前以室內低速懸停為主,尚未測試較劇烈的飛行動作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80160" y="47091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環境依賴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4640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定位需重新標定 P₀/n 於新場地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限制的成因與後續方向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031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922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95160" y="20574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訊號強度定位的精度受物理特性限制,同級硬體的文獻也在公尺等級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0175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922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清楚界定系統能做什麼、不能做什麼,是後續改進的依據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39319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922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95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每條邊界皆對應明確的升級路徑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937760"/>
            <a:ext cx="4892040" cy="594360"/>
          </a:xfrm>
          <a:prstGeom prst="roundRect">
            <a:avLst>
              <a:gd name="adj" fmla="val 923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92240" y="493776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委員最怕誇大,最欣賞「知道自己在哪」</a:t>
            </a:r>
            <a:endParaRPr lang="en-US" sz="1150" dirty="0"/>
          </a:p>
        </p:txBody>
      </p:sp>
      <p:sp>
        <p:nvSpPr>
          <p:cNvPr id="40" name="页脚占位符 39">
            <a:extLst>
              <a:ext uri="{FF2B5EF4-FFF2-40B4-BE49-F238E27FC236}">
                <a16:creationId xmlns:a16="http://schemas.microsoft.com/office/drawing/2014/main" id="{F85682B7-F615-4816-A88D-33ECBD4CEA9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41" name="灯片编号占位符 40">
            <a:extLst>
              <a:ext uri="{FF2B5EF4-FFF2-40B4-BE49-F238E27FC236}">
                <a16:creationId xmlns:a16="http://schemas.microsoft.com/office/drawing/2014/main" id="{17A2EC6A-81FF-4289-8E08-DAF64E21D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39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0A4D6E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目前完成的工作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5156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自行設計製作,兩種主控可直接更換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09760" y="157276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0" y="15727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51560" y="2450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2450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由兩顆晶片改為單晶片,並解決三項系統問題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0" y="254203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509760" y="2542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310128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4198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完成處理流程的設計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09760" y="351129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9AA4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509760" y="35112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設計完成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279392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051560" y="4389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地圖顯示、錨點校正與飛行控制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50976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51560" y="53583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單一遙控器控制多架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535838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09760" y="544982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509760" y="5449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實測驗證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36" name="页脚占位符 35">
            <a:extLst>
              <a:ext uri="{FF2B5EF4-FFF2-40B4-BE49-F238E27FC236}">
                <a16:creationId xmlns:a16="http://schemas.microsoft.com/office/drawing/2014/main" id="{F61B8A52-3596-49C2-82E7-B611371FFFB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7" name="灯片编号占位符 36">
            <a:extLst>
              <a:ext uri="{FF2B5EF4-FFF2-40B4-BE49-F238E27FC236}">
                <a16:creationId xmlns:a16="http://schemas.microsoft.com/office/drawing/2014/main" id="{764EC1E7-119C-4D1E-BFB8-AAED0D522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40</a:t>
            </a:fld>
            <a:endParaRPr 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後續工作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後續方向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039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多機控制已完成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接著要做由上位機依定位結果自動控制兩架同時飛行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29352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定位精度量測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2826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完成環境參數的自動校正,並在實際場地量測誤差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8313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改用新版藍牙測距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98448" y="4178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新版藍牙內建較精確的測距功能,換用支援的主控晶片即可提升定位精度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4727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加入其他感測器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98448" y="5074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加入光流與雷射測距;電路板可作為教學套件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結語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00" dirty="0" err="1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本研究從自行設計電路板、移植飛控韌體,到室內定位與多機控制,建立了一套可以自行修改、也能繼續延伸的無人機平臺</a:t>
            </a:r>
            <a:r>
              <a:rPr lang="en-US" sz="1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3749040"/>
            <a:ext cx="466344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92240" y="39776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感謝指導教授悉心指導</a:t>
            </a:r>
            <a:endParaRPr lang="en-US" sz="1400" dirty="0"/>
          </a:p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感謝口試委員撥冗審閱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敬請各位委員指教</a:t>
            </a:r>
            <a:endParaRPr lang="en-US" sz="1900" dirty="0"/>
          </a:p>
        </p:txBody>
      </p:sp>
      <p:sp>
        <p:nvSpPr>
          <p:cNvPr id="33" name="页脚占位符 32">
            <a:extLst>
              <a:ext uri="{FF2B5EF4-FFF2-40B4-BE49-F238E27FC236}">
                <a16:creationId xmlns:a16="http://schemas.microsoft.com/office/drawing/2014/main" id="{BA25B72D-0460-42E6-A4B2-4C3F93D276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r>
              <a:rPr lang="en-US" altLang="zh-TW"/>
              <a:t>/20</a:t>
            </a:r>
            <a:endParaRPr lang="zh-TW" altLang="en-US" dirty="0"/>
          </a:p>
        </p:txBody>
      </p:sp>
      <p:sp>
        <p:nvSpPr>
          <p:cNvPr id="34" name="灯片编号占位符 33">
            <a:extLst>
              <a:ext uri="{FF2B5EF4-FFF2-40B4-BE49-F238E27FC236}">
                <a16:creationId xmlns:a16="http://schemas.microsoft.com/office/drawing/2014/main" id="{EE6E5473-CEA6-4622-B172-85C7663E1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1DA3A-6EA9-486D-B4E3-78B252162388}" type="slidenum">
              <a:rPr lang="en-US" altLang="zh-TW" smtClean="0"/>
              <a:pPr/>
              <a:t>41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7589</TotalTime>
  <Words>9548</Words>
  <Application>Microsoft Office PowerPoint</Application>
  <PresentationFormat>宽屏</PresentationFormat>
  <Paragraphs>1619</Paragraphs>
  <Slides>41</Slides>
  <Notes>41</Notes>
  <HiddenSlides>21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53" baseType="lpstr">
      <vt:lpstr>Google Sans Text</vt:lpstr>
      <vt:lpstr>Microsoft JhengHei</vt:lpstr>
      <vt:lpstr>Noto Sans CJK TC</vt:lpstr>
      <vt:lpstr>Noto Serif CJK TC</vt:lpstr>
      <vt:lpstr>宋体</vt:lpstr>
      <vt:lpstr>Arial</vt:lpstr>
      <vt:lpstr>Calibri</vt:lpstr>
      <vt:lpstr>Consolas</vt:lpstr>
      <vt:lpstr>Courier New</vt:lpstr>
      <vt:lpstr>Times New Roman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碩士論文口試</dc:creator>
  <cp:lastModifiedBy>垦 林</cp:lastModifiedBy>
  <cp:revision>440</cp:revision>
  <dcterms:created xsi:type="dcterms:W3CDTF">2026-07-21T07:02:54Z</dcterms:created>
  <dcterms:modified xsi:type="dcterms:W3CDTF">2026-08-25T02:43:23Z</dcterms:modified>
</cp:coreProperties>
</file>