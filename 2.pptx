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337" r:id="rId10"/>
    <p:sldId id="320" r:id="rId11"/>
    <p:sldId id="338" r:id="rId12"/>
    <p:sldId id="336" r:id="rId13"/>
    <p:sldId id="335" r:id="rId14"/>
    <p:sldId id="334" r:id="rId15"/>
    <p:sldId id="323" r:id="rId16"/>
    <p:sldId id="284" r:id="rId17"/>
    <p:sldId id="286" r:id="rId18"/>
    <p:sldId id="283" r:id="rId19"/>
    <p:sldId id="317" r:id="rId20"/>
    <p:sldId id="315" r:id="rId21"/>
    <p:sldId id="316" r:id="rId22"/>
    <p:sldId id="307" r:id="rId23"/>
    <p:sldId id="339" r:id="rId24"/>
    <p:sldId id="280" r:id="rId25"/>
    <p:sldId id="311" r:id="rId26"/>
    <p:sldId id="314" r:id="rId27"/>
    <p:sldId id="287" r:id="rId28"/>
    <p:sldId id="300" r:id="rId29"/>
    <p:sldId id="288" r:id="rId30"/>
    <p:sldId id="293" r:id="rId31"/>
    <p:sldId id="294" r:id="rId32"/>
    <p:sldId id="290" r:id="rId33"/>
    <p:sldId id="291" r:id="rId34"/>
    <p:sldId id="295" r:id="rId35"/>
    <p:sldId id="296" r:id="rId36"/>
    <p:sldId id="297" r:id="rId37"/>
    <p:sldId id="298" r:id="rId38"/>
    <p:sldId id="292" r:id="rId39"/>
    <p:sldId id="289" r:id="rId40"/>
    <p:sldId id="299" r:id="rId41"/>
    <p:sldId id="301" r:id="rId42"/>
    <p:sldId id="302" r:id="rId43"/>
    <p:sldId id="303" r:id="rId44"/>
    <p:sldId id="310" r:id="rId45"/>
    <p:sldId id="304" r:id="rId46"/>
    <p:sldId id="305" r:id="rId47"/>
    <p:sldId id="306" r:id="rId4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4CB"/>
    <a:srgbClr val="F5F9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 autoAdjust="0"/>
    <p:restoredTop sz="52867" autoAdjust="0"/>
  </p:normalViewPr>
  <p:slideViewPr>
    <p:cSldViewPr snapToGrid="0" snapToObjects="1">
      <p:cViewPr varScale="1">
        <p:scale>
          <a:sx n="91" d="100"/>
          <a:sy n="91" d="100"/>
        </p:scale>
        <p:origin x="114" y="18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8448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核心】一句話版</a:t>
            </a:r>
            <a:r>
              <a:rPr dirty="0"/>
              <a:t> 0 字≈0 秒 ｜ </a:t>
            </a:r>
            <a:r>
              <a:rPr dirty="0" err="1"/>
              <a:t>完整版</a:t>
            </a:r>
            <a:r>
              <a:rPr dirty="0"/>
              <a:t> 166 字≈0.8 分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怎麼講】停</a:t>
            </a:r>
            <a:r>
              <a:rPr dirty="0"/>
              <a:t> 3 </a:t>
            </a:r>
            <a:r>
              <a:rPr dirty="0" err="1"/>
              <a:t>秒讓委員讀完題目,不需逐字念。自我介紹後直接進目錄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【口頭示範】各位委員早安,</a:t>
            </a:r>
            <a:r>
              <a:rPr dirty="0" err="1"/>
              <a:t>我是〔姓名</a:t>
            </a:r>
            <a:r>
              <a:rPr dirty="0"/>
              <a:t>〕,</a:t>
            </a:r>
            <a:r>
              <a:rPr dirty="0" err="1"/>
              <a:t>指導教授是〔教授</a:t>
            </a:r>
            <a:r>
              <a:rPr dirty="0"/>
              <a:t>〕。</a:t>
            </a:r>
            <a:r>
              <a:rPr dirty="0" err="1"/>
              <a:t>今天報告的題目是「無人機系統整合與控制研究</a:t>
            </a:r>
            <a:r>
              <a:rPr dirty="0"/>
              <a:t>」— </a:t>
            </a:r>
            <a:r>
              <a:rPr dirty="0" err="1"/>
              <a:t>主要工作是把一套商用飛控移植到另一顆微控制器上,並在這個平台上延伸出室內定位與多機控制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【★ </a:t>
            </a:r>
            <a:r>
              <a:rPr dirty="0" err="1"/>
              <a:t>提醒】封面的姓名、教授、系所、日期務必在口試前填妥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「各位口試委員、教授好，我是林寗墾。今天我要報告的題目是</a:t>
            </a:r>
            <a:r>
              <a:rPr lang="en-US" altLang="zh-TW" dirty="0"/>
              <a:t>『</a:t>
            </a:r>
            <a:r>
              <a:rPr lang="zh-TW" altLang="en-US" dirty="0"/>
              <a:t>無人機系統整合與控制研究</a:t>
            </a:r>
            <a:r>
              <a:rPr lang="en-US" altLang="zh-TW" dirty="0"/>
              <a:t>』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這是今天的簡報大綱，主要分為五個部分： 首先是</a:t>
            </a:r>
            <a:r>
              <a:rPr lang="zh-TW" altLang="en-US" b="1" dirty="0"/>
              <a:t>研究背景與動機</a:t>
            </a:r>
            <a:r>
              <a:rPr lang="zh-TW" altLang="en-US" dirty="0"/>
              <a:t>，說明室內微型無人機開發面臨的痛點。 </a:t>
            </a:r>
            <a:endParaRPr lang="en-US" altLang="zh-TW" dirty="0"/>
          </a:p>
          <a:p>
            <a:r>
              <a:rPr lang="zh-TW" altLang="en-US" dirty="0"/>
              <a:t>接著進入核心實作，我會依序介紹硬體層面的</a:t>
            </a:r>
            <a:r>
              <a:rPr lang="zh-TW" altLang="en-US" b="1" dirty="0"/>
              <a:t>自製飛控電路板</a:t>
            </a:r>
            <a:r>
              <a:rPr lang="zh-TW" altLang="en-US" dirty="0"/>
              <a:t>、韌體層面的</a:t>
            </a:r>
            <a:r>
              <a:rPr lang="zh-TW" altLang="en-US" b="1" dirty="0"/>
              <a:t>飛控韌體移植</a:t>
            </a:r>
            <a:r>
              <a:rPr lang="zh-TW" altLang="en-US" dirty="0"/>
              <a:t>，以及應用層面的 </a:t>
            </a:r>
            <a:r>
              <a:rPr lang="en-US" altLang="zh-TW" b="1" dirty="0"/>
              <a:t>BLE </a:t>
            </a:r>
            <a:r>
              <a:rPr lang="zh-TW" altLang="en-US" b="1" dirty="0"/>
              <a:t>室內定位整合</a:t>
            </a:r>
            <a:r>
              <a:rPr lang="zh-TW" altLang="en-US" dirty="0"/>
              <a:t>。 最後則是</a:t>
            </a:r>
            <a:r>
              <a:rPr lang="zh-TW" altLang="en-US" b="1" dirty="0"/>
              <a:t>結論與未來展望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首先，讓我們進入第一部分：研究背景與動機。」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effectLst/>
                <a:latin typeface="Google Sans Text"/>
              </a:rPr>
              <a:t>「各位委員，在進行室內無人機開發與實驗時，我們主要面臨三項限制：</a:t>
            </a:r>
            <a:endParaRPr lang="en-US" altLang="zh-TW" dirty="0">
              <a:effectLst/>
              <a:latin typeface="Google Sans Text"/>
            </a:endParaRPr>
          </a:p>
          <a:p>
            <a:endParaRPr lang="zh-TW" altLang="en-US" dirty="0">
              <a:effectLst/>
              <a:latin typeface="Google Sans Text"/>
            </a:endParaRPr>
          </a:p>
          <a:p>
            <a:r>
              <a:rPr lang="zh-TW" altLang="en-US" dirty="0">
                <a:effectLst/>
                <a:latin typeface="Google Sans Text"/>
              </a:rPr>
              <a:t>第一，</a:t>
            </a:r>
            <a:r>
              <a:rPr lang="zh-TW" altLang="en-US" b="1" dirty="0">
                <a:effectLst/>
                <a:latin typeface="Google Sans Text"/>
              </a:rPr>
              <a:t>傳統硬體故障難以檢測與更換</a:t>
            </a:r>
            <a:r>
              <a:rPr lang="zh-TW" altLang="en-US" dirty="0">
                <a:effectLst/>
                <a:latin typeface="Google Sans Text"/>
              </a:rPr>
              <a:t>。市面上的微型飛控板大部分元件都是直接焊接固定在</a:t>
            </a:r>
            <a:r>
              <a:rPr lang="en-US" altLang="zh-TW" dirty="0">
                <a:effectLst/>
                <a:latin typeface="Google Sans Text"/>
              </a:rPr>
              <a:t>PCB</a:t>
            </a:r>
            <a:r>
              <a:rPr lang="zh-TW" altLang="en-US" dirty="0">
                <a:effectLst/>
                <a:latin typeface="Google Sans Text"/>
              </a:rPr>
              <a:t>上，一旦出現異常或硬體損壞，不僅極難單獨用儀器量測除錯，拆卸替換</a:t>
            </a:r>
            <a:r>
              <a:rPr lang="zh-CN" altLang="en-US" dirty="0">
                <a:effectLst/>
                <a:latin typeface="Google Sans Text"/>
              </a:rPr>
              <a:t>也需要較爲專業設備與手法</a:t>
            </a:r>
            <a:r>
              <a:rPr lang="zh-TW" altLang="en-US" dirty="0">
                <a:effectLst/>
                <a:latin typeface="Google Sans Text"/>
              </a:rPr>
              <a:t>。</a:t>
            </a:r>
            <a:endParaRPr lang="en-US" altLang="zh-TW" dirty="0">
              <a:effectLst/>
              <a:latin typeface="Google Sans Text"/>
            </a:endParaRPr>
          </a:p>
          <a:p>
            <a:endParaRPr lang="zh-TW" altLang="en-US" dirty="0">
              <a:effectLst/>
              <a:latin typeface="Google Sans Text"/>
            </a:endParaRPr>
          </a:p>
          <a:p>
            <a:r>
              <a:rPr lang="zh-TW" altLang="en-US" dirty="0">
                <a:effectLst/>
                <a:latin typeface="Google Sans Text"/>
              </a:rPr>
              <a:t>第二，</a:t>
            </a:r>
            <a:r>
              <a:rPr lang="zh-TW" altLang="en-US" b="1" dirty="0">
                <a:effectLst/>
                <a:latin typeface="Google Sans Text"/>
              </a:rPr>
              <a:t>通訊協定與射頻整合</a:t>
            </a:r>
            <a:r>
              <a:rPr lang="zh-TW" altLang="en-US" dirty="0">
                <a:effectLst/>
                <a:latin typeface="Google Sans Text"/>
              </a:rPr>
              <a:t>。傳統 </a:t>
            </a:r>
            <a:r>
              <a:rPr lang="en-US" altLang="zh-TW" dirty="0">
                <a:effectLst/>
                <a:latin typeface="Google Sans Text"/>
              </a:rPr>
              <a:t>MiniFly </a:t>
            </a:r>
            <a:r>
              <a:rPr lang="zh-TW" altLang="en-US" dirty="0">
                <a:effectLst/>
                <a:latin typeface="Google Sans Text"/>
              </a:rPr>
              <a:t>需外接 </a:t>
            </a:r>
            <a:r>
              <a:rPr lang="en-US" altLang="zh-TW" dirty="0">
                <a:effectLst/>
                <a:latin typeface="Google Sans Text"/>
              </a:rPr>
              <a:t>nRF24L01 RF </a:t>
            </a:r>
            <a:r>
              <a:rPr lang="zh-TW" altLang="en-US" dirty="0">
                <a:effectLst/>
                <a:latin typeface="Google Sans Text"/>
              </a:rPr>
              <a:t>模組，而常見 </a:t>
            </a:r>
            <a:r>
              <a:rPr lang="en-US" altLang="zh-TW" dirty="0">
                <a:effectLst/>
                <a:latin typeface="Google Sans Text"/>
              </a:rPr>
              <a:t>ESP </a:t>
            </a:r>
            <a:r>
              <a:rPr lang="zh-TW" altLang="en-US" dirty="0">
                <a:effectLst/>
                <a:latin typeface="Google Sans Text"/>
              </a:rPr>
              <a:t>平台又無法原生相容原廠 </a:t>
            </a:r>
            <a:r>
              <a:rPr lang="en-US" altLang="zh-TW" dirty="0">
                <a:effectLst/>
                <a:latin typeface="Google Sans Text"/>
              </a:rPr>
              <a:t>ESB </a:t>
            </a:r>
            <a:r>
              <a:rPr lang="zh-TW" altLang="en-US" dirty="0">
                <a:effectLst/>
                <a:latin typeface="Google Sans Text"/>
              </a:rPr>
              <a:t>協定。</a:t>
            </a:r>
            <a:endParaRPr lang="en-US" altLang="zh-TW" dirty="0">
              <a:effectLst/>
              <a:latin typeface="Google Sans Text"/>
            </a:endParaRPr>
          </a:p>
          <a:p>
            <a:endParaRPr lang="zh-TW" altLang="en-US" dirty="0">
              <a:effectLst/>
              <a:latin typeface="Google Sans Text"/>
            </a:endParaRPr>
          </a:p>
          <a:p>
            <a:r>
              <a:rPr lang="zh-TW" altLang="en-US" dirty="0">
                <a:effectLst/>
                <a:latin typeface="Google Sans Text"/>
              </a:rPr>
              <a:t>第三，</a:t>
            </a:r>
            <a:r>
              <a:rPr lang="zh-TW" altLang="en-US" b="1" dirty="0">
                <a:effectLst/>
                <a:latin typeface="Google Sans Text"/>
              </a:rPr>
              <a:t>室內無法使用衛星定位</a:t>
            </a:r>
            <a:r>
              <a:rPr lang="zh-TW" altLang="en-US" dirty="0">
                <a:effectLst/>
                <a:latin typeface="Google Sans Text"/>
              </a:rPr>
              <a:t>。在無 </a:t>
            </a:r>
            <a:r>
              <a:rPr lang="en-US" altLang="zh-TW" dirty="0">
                <a:effectLst/>
                <a:latin typeface="Google Sans Text"/>
              </a:rPr>
              <a:t>GNSS </a:t>
            </a:r>
            <a:r>
              <a:rPr lang="zh-TW" altLang="en-US" dirty="0">
                <a:effectLst/>
                <a:latin typeface="Google Sans Text"/>
              </a:rPr>
              <a:t>環境下，無人機必須依靠自主定位。 </a:t>
            </a:r>
            <a:endParaRPr lang="en-US" altLang="zh-TW" dirty="0">
              <a:effectLst/>
              <a:latin typeface="Google Sans Text"/>
            </a:endParaRPr>
          </a:p>
          <a:p>
            <a:endParaRPr lang="zh-TW" altLang="en-US" dirty="0">
              <a:effectLst/>
              <a:latin typeface="Google Sans Text"/>
            </a:endParaRPr>
          </a:p>
          <a:p>
            <a:r>
              <a:rPr lang="zh-TW" altLang="en-US" dirty="0">
                <a:effectLst/>
                <a:latin typeface="Google Sans Text"/>
              </a:rPr>
              <a:t>總結來說，本研究的做法就是</a:t>
            </a:r>
            <a:r>
              <a:rPr lang="zh-TW" altLang="en-US" b="1" dirty="0">
                <a:effectLst/>
                <a:latin typeface="Google Sans Text"/>
              </a:rPr>
              <a:t>自行設計易檢測與更換的</a:t>
            </a:r>
            <a:r>
              <a:rPr lang="en-US" altLang="zh-TW" b="1" dirty="0">
                <a:effectLst/>
                <a:latin typeface="Google Sans Text"/>
              </a:rPr>
              <a:t>PCB</a:t>
            </a:r>
            <a:r>
              <a:rPr lang="zh-TW" altLang="en-US" b="1" dirty="0">
                <a:effectLst/>
                <a:latin typeface="Google Sans Text"/>
              </a:rPr>
              <a:t>、移植韌體至 </a:t>
            </a:r>
            <a:r>
              <a:rPr lang="en-US" altLang="zh-TW" b="1" dirty="0">
                <a:effectLst/>
                <a:latin typeface="Google Sans Text"/>
              </a:rPr>
              <a:t>nRF52840</a:t>
            </a:r>
            <a:r>
              <a:rPr lang="zh-TW" altLang="en-US" b="1" dirty="0">
                <a:effectLst/>
                <a:latin typeface="Google Sans Text"/>
              </a:rPr>
              <a:t>，並整合 </a:t>
            </a:r>
            <a:r>
              <a:rPr lang="en-US" altLang="zh-TW" b="1" dirty="0">
                <a:effectLst/>
                <a:latin typeface="Google Sans Text"/>
              </a:rPr>
              <a:t>BLE </a:t>
            </a:r>
            <a:r>
              <a:rPr lang="zh-TW" altLang="en-US" b="1" dirty="0">
                <a:effectLst/>
                <a:latin typeface="Google Sans Text"/>
              </a:rPr>
              <a:t>室內定位</a:t>
            </a:r>
            <a:r>
              <a:rPr lang="zh-TW" altLang="en-US" dirty="0">
                <a:effectLst/>
                <a:latin typeface="Google Sans Text"/>
              </a:rPr>
              <a:t>，打造高擴充性的無人機實驗平台。」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「本研究的核心目標與貢獻可歸納為三個部分：</a:t>
            </a:r>
            <a:endParaRPr lang="en-US" altLang="zh-TW" dirty="0"/>
          </a:p>
          <a:p>
            <a:endParaRPr lang="zh-TW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第一是</a:t>
            </a:r>
            <a:r>
              <a:rPr lang="zh-TW" altLang="en-US" b="1" dirty="0"/>
              <a:t>自製飛控電路板</a:t>
            </a:r>
            <a:r>
              <a:rPr lang="zh-TW" altLang="en-US" dirty="0"/>
              <a:t>。</a:t>
            </a:r>
            <a:r>
              <a:rPr lang="en-US" altLang="zh-TW" dirty="0">
                <a:effectLst/>
                <a:latin typeface="Google Sans Text"/>
              </a:rPr>
              <a:t>layout</a:t>
            </a:r>
            <a:r>
              <a:rPr lang="zh-TW" altLang="en-US" dirty="0"/>
              <a:t>可拆卸的插拔式載板，大幅降低過去硬體損壞時難以檢測與更換的門檻。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第二是</a:t>
            </a:r>
            <a:r>
              <a:rPr lang="zh-TW" altLang="en-US" b="1" dirty="0"/>
              <a:t>韌體移植</a:t>
            </a:r>
            <a:r>
              <a:rPr lang="zh-TW" altLang="en-US" dirty="0"/>
              <a:t>。我們將 </a:t>
            </a:r>
            <a:r>
              <a:rPr lang="en-US" altLang="zh-TW" dirty="0"/>
              <a:t>MiniFly </a:t>
            </a:r>
            <a:r>
              <a:rPr lang="zh-TW" altLang="en-US" dirty="0"/>
              <a:t>飛控韌體完整移植到 </a:t>
            </a:r>
            <a:r>
              <a:rPr lang="en-US" altLang="zh-TW" b="1" dirty="0"/>
              <a:t>nRF52840</a:t>
            </a:r>
            <a:r>
              <a:rPr lang="zh-TW" altLang="en-US" dirty="0"/>
              <a:t> 晶片上，在單晶片內整合 </a:t>
            </a:r>
            <a:r>
              <a:rPr lang="en-US" altLang="zh-TW" dirty="0"/>
              <a:t>2.4GHz RF</a:t>
            </a:r>
            <a:r>
              <a:rPr lang="zh-TW" altLang="en-US" dirty="0"/>
              <a:t>，並相容原廠的 </a:t>
            </a:r>
            <a:r>
              <a:rPr lang="en-US" altLang="zh-TW" dirty="0"/>
              <a:t>ATK ESB </a:t>
            </a:r>
            <a:r>
              <a:rPr lang="zh-TW" altLang="en-US" dirty="0"/>
              <a:t>通訊協定。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第三則是</a:t>
            </a:r>
            <a:r>
              <a:rPr lang="zh-TW" altLang="en-US" b="1" dirty="0"/>
              <a:t>整合 </a:t>
            </a:r>
            <a:r>
              <a:rPr lang="en-US" altLang="zh-TW" b="1" dirty="0"/>
              <a:t>BLE </a:t>
            </a:r>
            <a:r>
              <a:rPr lang="zh-TW" altLang="en-US" b="1" dirty="0"/>
              <a:t>室內定位</a:t>
            </a:r>
            <a:r>
              <a:rPr lang="zh-TW" altLang="en-US" dirty="0"/>
              <a:t>，補足無 </a:t>
            </a:r>
            <a:r>
              <a:rPr lang="en-US" altLang="zh-TW" dirty="0"/>
              <a:t>GNSS </a:t>
            </a:r>
            <a:r>
              <a:rPr lang="zh-TW" altLang="en-US" dirty="0"/>
              <a:t>環境下的自主定位能力。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接下來，我將依序介紹硬體電路設計、韌體移植過程與定位實作細節</a:t>
            </a:r>
            <a:r>
              <a:rPr lang="en-US" altLang="zh-TW" dirty="0"/>
              <a:t>……</a:t>
            </a:r>
            <a:r>
              <a:rPr lang="zh-TW" altLang="en-US" dirty="0"/>
              <a:t>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「</a:t>
            </a:r>
            <a:r>
              <a:rPr lang="zh-CN" altLang="en-US" dirty="0"/>
              <a:t>本</a:t>
            </a:r>
            <a:r>
              <a:rPr lang="zh-TW" altLang="en-US" dirty="0"/>
              <a:t>頁展示的是本研究的</a:t>
            </a:r>
            <a:r>
              <a:rPr lang="zh-TW" altLang="en-US" b="1" dirty="0"/>
              <a:t>系統總架構</a:t>
            </a:r>
            <a:r>
              <a:rPr lang="zh-TW" altLang="en-US" dirty="0"/>
              <a:t>，整體分為</a:t>
            </a:r>
            <a:r>
              <a:rPr lang="en-US" altLang="zh-TW" dirty="0"/>
              <a:t>『</a:t>
            </a:r>
            <a:r>
              <a:rPr lang="zh-TW" altLang="en-US" dirty="0"/>
              <a:t>控制</a:t>
            </a:r>
            <a:r>
              <a:rPr lang="en-US" altLang="zh-TW" dirty="0"/>
              <a:t>』</a:t>
            </a:r>
            <a:r>
              <a:rPr lang="zh-TW" altLang="en-US" dirty="0"/>
              <a:t>與</a:t>
            </a:r>
            <a:r>
              <a:rPr lang="en-US" altLang="zh-TW" dirty="0"/>
              <a:t>『</a:t>
            </a:r>
            <a:r>
              <a:rPr lang="zh-TW" altLang="en-US" dirty="0"/>
              <a:t>定位</a:t>
            </a:r>
            <a:r>
              <a:rPr lang="en-US" altLang="zh-TW" dirty="0"/>
              <a:t>』</a:t>
            </a:r>
            <a:r>
              <a:rPr lang="zh-TW" altLang="en-US" dirty="0"/>
              <a:t>兩條鏈路：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首先在控制鏈路上，最上層是 </a:t>
            </a:r>
            <a:r>
              <a:rPr lang="en-US" altLang="zh-TW" b="1" dirty="0"/>
              <a:t>PC </a:t>
            </a:r>
            <a:r>
              <a:rPr lang="zh-TW" altLang="en-US" b="1" dirty="0"/>
              <a:t>上位機</a:t>
            </a:r>
            <a:r>
              <a:rPr lang="zh-TW" altLang="en-US" dirty="0"/>
              <a:t>，作為系統的運算，負責地圖顯示、定位解算與生成控制指令。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指令下傳給</a:t>
            </a:r>
            <a:r>
              <a:rPr lang="zh-CN" altLang="en-US" dirty="0"/>
              <a:t>飛控子系統 </a:t>
            </a:r>
            <a:r>
              <a:rPr lang="zh-TW" altLang="en-US" dirty="0"/>
              <a:t>的 </a:t>
            </a:r>
            <a:r>
              <a:rPr lang="en-US" altLang="zh-TW" b="1" dirty="0"/>
              <a:t>ATK </a:t>
            </a:r>
            <a:r>
              <a:rPr lang="zh-TW" altLang="en-US" b="1" dirty="0"/>
              <a:t>遙控器</a:t>
            </a:r>
            <a:r>
              <a:rPr lang="zh-TW" altLang="en-US" dirty="0"/>
              <a:t>，透過 </a:t>
            </a:r>
            <a:r>
              <a:rPr lang="en-US" altLang="zh-TW" dirty="0"/>
              <a:t>2.4GHz ESB </a:t>
            </a:r>
            <a:r>
              <a:rPr lang="zh-TW" altLang="en-US" dirty="0"/>
              <a:t>協定，指令會傳送給：</a:t>
            </a:r>
            <a:r>
              <a:rPr lang="zh-TW" altLang="en-US" b="1" dirty="0"/>
              <a:t>飛機 </a:t>
            </a:r>
            <a:r>
              <a:rPr lang="en-US" altLang="zh-TW" b="1" dirty="0"/>
              <a:t>A</a:t>
            </a:r>
            <a:r>
              <a:rPr lang="zh-TW" altLang="en-US" dirty="0"/>
              <a:t> 是原廠機；</a:t>
            </a:r>
            <a:r>
              <a:rPr lang="zh-TW" altLang="en-US" b="1" dirty="0"/>
              <a:t>飛機 </a:t>
            </a:r>
            <a:r>
              <a:rPr lang="en-US" altLang="zh-TW" b="1" dirty="0"/>
              <a:t>B</a:t>
            </a:r>
            <a:r>
              <a:rPr lang="zh-TW" altLang="en-US" dirty="0"/>
              <a:t> 是我們的自製載板插上 </a:t>
            </a:r>
            <a:r>
              <a:rPr lang="en-US" altLang="zh-TW" b="1" dirty="0"/>
              <a:t>nRF52840</a:t>
            </a:r>
            <a:r>
              <a:rPr lang="zh-TW" altLang="en-US" dirty="0"/>
              <a:t>，驗證韌體移植；</a:t>
            </a:r>
            <a:endParaRPr lang="en-US" altLang="zh-TW" dirty="0"/>
          </a:p>
          <a:p>
            <a:endParaRPr lang="en-US" altLang="zh-TW" b="1" dirty="0"/>
          </a:p>
          <a:p>
            <a:r>
              <a:rPr lang="zh-TW" altLang="en-US" b="1" dirty="0"/>
              <a:t>飛機 </a:t>
            </a:r>
            <a:r>
              <a:rPr lang="en-US" altLang="zh-TW" b="1" dirty="0"/>
              <a:t>C</a:t>
            </a:r>
            <a:r>
              <a:rPr lang="zh-TW" altLang="en-US" dirty="0"/>
              <a:t> 則是同一塊載板直接換插 </a:t>
            </a:r>
            <a:r>
              <a:rPr lang="en-US" altLang="zh-TW" b="1" dirty="0"/>
              <a:t>ESP32S3</a:t>
            </a:r>
            <a:r>
              <a:rPr lang="zh-TW" altLang="en-US" dirty="0"/>
              <a:t>，驗證硬體模組化更換的能力。</a:t>
            </a:r>
            <a:r>
              <a:rPr lang="zh-CN" altLang="en-US" dirty="0"/>
              <a:t>指令由上位機透過 </a:t>
            </a:r>
            <a:r>
              <a:rPr lang="en-US" altLang="zh-TW" b="1" dirty="0"/>
              <a:t>ESP32S3</a:t>
            </a:r>
            <a:r>
              <a:rPr lang="zh-CN" altLang="en-US" b="1" dirty="0"/>
              <a:t>中繼站 </a:t>
            </a:r>
            <a:r>
              <a:rPr lang="zh-TW" altLang="en-US" dirty="0"/>
              <a:t>透</a:t>
            </a:r>
            <a:r>
              <a:rPr lang="zh-CN" altLang="en-US" dirty="0"/>
              <a:t>過 </a:t>
            </a:r>
            <a:r>
              <a:rPr lang="en-US" altLang="zh-CN" dirty="0"/>
              <a:t>ESP-NOW </a:t>
            </a:r>
            <a:r>
              <a:rPr lang="zh-CN" altLang="en-US" dirty="0"/>
              <a:t>協定傳輸給 ：</a:t>
            </a:r>
            <a:r>
              <a:rPr lang="zh-TW" altLang="en-US" b="1" dirty="0"/>
              <a:t>飛機 </a:t>
            </a:r>
            <a:r>
              <a:rPr lang="en-US" altLang="zh-TW" b="1" dirty="0"/>
              <a:t>C</a:t>
            </a:r>
            <a:r>
              <a:rPr lang="zh-TW" altLang="en-US" dirty="0"/>
              <a:t> </a:t>
            </a:r>
            <a:endParaRPr lang="en-US" altLang="zh-TW" b="1" dirty="0"/>
          </a:p>
          <a:p>
            <a:endParaRPr lang="zh-TW" altLang="en-US" dirty="0"/>
          </a:p>
          <a:p>
            <a:r>
              <a:rPr lang="zh-TW" altLang="en-US" dirty="0"/>
              <a:t>最後是</a:t>
            </a:r>
            <a:r>
              <a:rPr lang="zh-TW" altLang="en-US" b="1" dirty="0"/>
              <a:t>定位鏈路</a:t>
            </a:r>
            <a:r>
              <a:rPr lang="zh-TW" altLang="en-US" dirty="0"/>
              <a:t>：三架飛機在飛行時都會廣播 </a:t>
            </a:r>
            <a:r>
              <a:rPr lang="en-US" altLang="zh-TW" dirty="0"/>
              <a:t>BLE </a:t>
            </a:r>
            <a:r>
              <a:rPr lang="zh-TW" altLang="en-US" dirty="0"/>
              <a:t>信標，由場地周圍的 </a:t>
            </a:r>
            <a:r>
              <a:rPr lang="en-US" altLang="zh-TW" b="1" dirty="0"/>
              <a:t>4 </a:t>
            </a:r>
            <a:r>
              <a:rPr lang="zh-TW" altLang="en-US" b="1" dirty="0"/>
              <a:t>個 </a:t>
            </a:r>
            <a:r>
              <a:rPr lang="en-US" altLang="zh-TW" b="1" dirty="0"/>
              <a:t>ESP32 </a:t>
            </a:r>
            <a:r>
              <a:rPr lang="zh-TW" altLang="en-US" b="1" dirty="0"/>
              <a:t>錨點</a:t>
            </a:r>
            <a:r>
              <a:rPr lang="zh-TW" altLang="en-US" dirty="0"/>
              <a:t>進行被動掃描，再透過 </a:t>
            </a:r>
            <a:r>
              <a:rPr lang="en-US" altLang="zh-TW" b="1" dirty="0"/>
              <a:t>ESP</a:t>
            </a:r>
            <a:r>
              <a:rPr lang="zh-CN" altLang="en-US" b="1" dirty="0"/>
              <a:t>中繼站 </a:t>
            </a:r>
            <a:r>
              <a:rPr lang="zh-TW" altLang="en-US" dirty="0"/>
              <a:t>將強度數據傳回 </a:t>
            </a:r>
            <a:r>
              <a:rPr lang="en-US" altLang="zh-TW" dirty="0"/>
              <a:t>PC </a:t>
            </a:r>
            <a:r>
              <a:rPr lang="zh-TW" altLang="en-US" dirty="0"/>
              <a:t>上位機進行計算。</a:t>
            </a:r>
          </a:p>
          <a:p>
            <a:r>
              <a:rPr lang="zh-TW" altLang="en-US" dirty="0"/>
              <a:t>這套架構成功建立了兼具多機控制與室內定位能力的實驗平台。」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「第</a:t>
            </a:r>
            <a:r>
              <a:rPr lang="zh-CN" altLang="en-US" dirty="0"/>
              <a:t>七</a:t>
            </a:r>
            <a:r>
              <a:rPr lang="zh-TW" altLang="en-US" dirty="0"/>
              <a:t>頁展示的是我們自製飛控板的四項硬體設計重點：</a:t>
            </a:r>
          </a:p>
          <a:p>
            <a:r>
              <a:rPr lang="zh-TW" altLang="en-US" dirty="0"/>
              <a:t>第一是</a:t>
            </a:r>
            <a:r>
              <a:rPr lang="zh-TW" altLang="en-US" b="1" dirty="0"/>
              <a:t>模組化設計</a:t>
            </a:r>
            <a:r>
              <a:rPr lang="zh-TW" altLang="en-US" dirty="0"/>
              <a:t>，</a:t>
            </a:r>
            <a:r>
              <a:rPr lang="en-US" altLang="zh-CN" dirty="0"/>
              <a:t>MCU</a:t>
            </a:r>
            <a:r>
              <a:rPr lang="zh-TW" altLang="en-US" dirty="0"/>
              <a:t>和 </a:t>
            </a:r>
            <a:r>
              <a:rPr lang="en-US" altLang="zh-TW" dirty="0"/>
              <a:t>GY-91 </a:t>
            </a:r>
            <a:r>
              <a:rPr lang="zh-TW" altLang="en-US" dirty="0"/>
              <a:t>感測器都採用排母連接，方便獨立拆裝與訊號量測。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第二是</a:t>
            </a:r>
            <a:r>
              <a:rPr lang="zh-TW" altLang="en-US" b="1" dirty="0"/>
              <a:t>機臂一體化</a:t>
            </a:r>
            <a:r>
              <a:rPr lang="zh-TW" altLang="en-US" dirty="0"/>
              <a:t>，直接用 </a:t>
            </a:r>
            <a:r>
              <a:rPr lang="en-US" altLang="zh-TW" dirty="0"/>
              <a:t>PCB </a:t>
            </a:r>
            <a:r>
              <a:rPr lang="zh-TW" altLang="en-US" dirty="0"/>
              <a:t>當作機身結構與馬達座，實現輕量化。</a:t>
            </a:r>
          </a:p>
          <a:p>
            <a:endParaRPr lang="en-US" altLang="zh-TW" dirty="0"/>
          </a:p>
          <a:p>
            <a:r>
              <a:rPr lang="zh-TW" altLang="en-US" dirty="0"/>
              <a:t>第</a:t>
            </a:r>
            <a:r>
              <a:rPr lang="zh-CN" altLang="en-US" dirty="0"/>
              <a:t>三</a:t>
            </a:r>
            <a:r>
              <a:rPr lang="zh-TW" altLang="en-US" dirty="0"/>
              <a:t>是</a:t>
            </a:r>
            <a:r>
              <a:rPr lang="zh-TW" altLang="en-US" b="1" dirty="0"/>
              <a:t>重心平衡與空間利用</a:t>
            </a:r>
            <a:r>
              <a:rPr lang="zh-TW" altLang="en-US" dirty="0"/>
              <a:t>，</a:t>
            </a:r>
            <a:r>
              <a:rPr lang="zh-CN" altLang="en-US" dirty="0"/>
              <a:t>母排</a:t>
            </a:r>
            <a:r>
              <a:rPr lang="zh-TW" altLang="en-US" dirty="0"/>
              <a:t>架下方空隙</a:t>
            </a:r>
            <a:r>
              <a:rPr lang="zh-CN" altLang="en-US" dirty="0"/>
              <a:t>放</a:t>
            </a:r>
            <a:r>
              <a:rPr lang="zh-TW" altLang="en-US" dirty="0"/>
              <a:t>置元件</a:t>
            </a:r>
            <a:r>
              <a:rPr lang="zh-CN" altLang="en-US" dirty="0"/>
              <a:t>，可使用較大顆元件容易更換和維護，提升高利用率</a:t>
            </a:r>
            <a:r>
              <a:rPr lang="zh-TW" altLang="en-US" dirty="0"/>
              <a:t>，並對稱擺放模組，確保整體重心</a:t>
            </a:r>
            <a:r>
              <a:rPr lang="zh-CN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較平衡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第</a:t>
            </a:r>
            <a:r>
              <a:rPr lang="zh-CN" altLang="en-US" dirty="0"/>
              <a:t>四</a:t>
            </a:r>
            <a:r>
              <a:rPr lang="zh-TW" altLang="en-US" dirty="0"/>
              <a:t>是</a:t>
            </a:r>
            <a:r>
              <a:rPr lang="zh-TW" altLang="en-US" b="1" dirty="0"/>
              <a:t>降低電磁干擾</a:t>
            </a:r>
            <a:r>
              <a:rPr lang="zh-TW" altLang="en-US" dirty="0"/>
              <a:t>。將馬達插座配置於背面，</a:t>
            </a:r>
            <a:r>
              <a:rPr lang="en-US" altLang="zh-TW" dirty="0"/>
              <a:t>PCB </a:t>
            </a:r>
            <a:r>
              <a:rPr lang="zh-TW" altLang="en-US" dirty="0"/>
              <a:t>厚度與母</a:t>
            </a:r>
            <a:r>
              <a:rPr lang="zh-CN" altLang="en-US" dirty="0"/>
              <a:t>排</a:t>
            </a:r>
            <a:r>
              <a:rPr lang="zh-TW" altLang="en-US" dirty="0"/>
              <a:t>高度拉開距離，降低高電流切換的電磁； 於馬達採用 </a:t>
            </a:r>
            <a:r>
              <a:rPr lang="en-US" altLang="zh-TW" dirty="0"/>
              <a:t>N-MOSFET </a:t>
            </a:r>
            <a:r>
              <a:rPr lang="zh-TW" altLang="en-US" dirty="0"/>
              <a:t>進行低側驅動，並於馬達兩端並聯 </a:t>
            </a:r>
            <a:r>
              <a:rPr lang="en-US" altLang="zh-TW" dirty="0"/>
              <a:t>SS14 </a:t>
            </a:r>
            <a:r>
              <a:rPr lang="zh-TW" altLang="en-US" dirty="0"/>
              <a:t>續流二極體。當 </a:t>
            </a:r>
            <a:r>
              <a:rPr lang="en-US" altLang="zh-TW" dirty="0"/>
              <a:t>MOSFET </a:t>
            </a:r>
            <a:r>
              <a:rPr lang="zh-TW" altLang="en-US" dirty="0"/>
              <a:t>切換關閉時，馬達會產生反電動勢，二極體能提供電流迴路，防止汲極</a:t>
            </a:r>
            <a:r>
              <a:rPr lang="zh-CN" altLang="en-US" dirty="0"/>
              <a:t>（</a:t>
            </a:r>
            <a:r>
              <a:rPr lang="en-US" altLang="zh-TW" dirty="0"/>
              <a:t>Drain </a:t>
            </a:r>
            <a:r>
              <a:rPr lang="zh-CN" altLang="en-US" dirty="0"/>
              <a:t>）</a:t>
            </a:r>
            <a:r>
              <a:rPr lang="zh-TW" altLang="en-US" dirty="0"/>
              <a:t>腳位產生高壓擊穿 </a:t>
            </a:r>
            <a:r>
              <a:rPr lang="en-US" altLang="zh-TW" dirty="0"/>
              <a:t>MOSFET</a:t>
            </a:r>
            <a:r>
              <a:rPr lang="zh-TW" altLang="en-US" dirty="0"/>
              <a:t>；同時搭配 </a:t>
            </a:r>
            <a:r>
              <a:rPr lang="en-US" altLang="zh-TW" dirty="0"/>
              <a:t>100 </a:t>
            </a:r>
            <a:r>
              <a:rPr lang="en-US" altLang="zh-TW" dirty="0" err="1"/>
              <a:t>nF</a:t>
            </a:r>
            <a:r>
              <a:rPr lang="en-US" altLang="zh-TW" dirty="0"/>
              <a:t> </a:t>
            </a:r>
            <a:r>
              <a:rPr lang="zh-TW" altLang="en-US" dirty="0"/>
              <a:t>去耦電容濾除高頻切換雜訊，避免干擾經由電源與接地路徑耦合至 </a:t>
            </a:r>
            <a:r>
              <a:rPr lang="en-US" altLang="zh-TW" dirty="0"/>
              <a:t>IMU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dirty="0"/>
          </a:p>
          <a:p>
            <a:r>
              <a:rPr dirty="0" err="1"/>
              <a:t>接下來第八頁，我將說明本研究使用的三個飛控平台</a:t>
            </a:r>
            <a:r>
              <a:rPr dirty="0"/>
              <a:t>……」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「第八頁是本研究實際使用的三個飛控平台對照。</a:t>
            </a:r>
          </a:p>
          <a:p>
            <a:endParaRPr/>
          </a:p>
          <a:p>
            <a:r>
              <a:t>第一列是 ATK-MiniFly 原機。主控是 STM32F411，96 MHz 的 Cortex-M4，無線另外掛一顆 nRF51822 加上 RFX2401C 功率放大晶片，跑的是原廠韌體。它在本研究裡有兩個角色：一是韌體移植的來源，二是後面多機控制的其中一架受控機。</a:t>
            </a:r>
          </a:p>
          <a:p>
            <a:endParaRPr/>
          </a:p>
          <a:p>
            <a:r>
              <a:t>第二列是自製電路板插上 XIAO nRF52840。這顆是 64 MHz 的 Cortex-M4F，帶浮點運算單元，並且內建 RADIO 無線電，所以主控與無線合併在同一顆晶片上，不需要外掛射頻晶片。韌體是本研究移植的版本，這一列是本研究的主要對象。</a:t>
            </a:r>
          </a:p>
          <a:p>
            <a:endParaRPr/>
          </a:p>
          <a:p>
            <a:r>
              <a:t>第三列是同一塊自製電路板，換插 XIAO ESP32S3，改用 WiFi 與 BLE，跑的是開源的 ESP-FC 韌體。</a:t>
            </a:r>
          </a:p>
          <a:p>
            <a:endParaRPr/>
          </a:p>
          <a:p>
            <a:r>
              <a:t>這裡要請委員注意的是，第二列和第三列用的是同一塊電路板，只是換插不同的主控模組。這正好驗證了上一頁講的模組化設計——排母引出腳位之後，主控確實可以整顆更換。</a:t>
            </a:r>
          </a:p>
          <a:p>
            <a:endParaRPr/>
          </a:p>
          <a:p>
            <a:r>
              <a:t>第三列之所以不列為本研究的移植成果，是因為 ESP32 的飛控生態已經成熟，再做一次沒有研究上的增量，所以直接採用開源方案，把力氣集中在 nRF52840 這一顆上。</a:t>
            </a:r>
          </a:p>
          <a:p>
            <a:endParaRPr/>
          </a:p>
          <a:p>
            <a:r>
              <a:t>接下來第九頁，我將說明原廠的系統框架……」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「第九頁是原廠 </a:t>
            </a:r>
            <a:r>
              <a:rPr lang="en-US" altLang="zh-TW" dirty="0"/>
              <a:t>ATK-</a:t>
            </a:r>
            <a:r>
              <a:rPr lang="en-US" altLang="zh-TW" dirty="0" err="1"/>
              <a:t>MiniFly</a:t>
            </a:r>
            <a:r>
              <a:rPr lang="zh-TW" altLang="en-US" dirty="0"/>
              <a:t> 的系統框架，這張圖出自原廠開發指南的圖 </a:t>
            </a:r>
            <a:r>
              <a:rPr lang="en-US" altLang="zh-TW" dirty="0"/>
              <a:t>4.1.1</a:t>
            </a:r>
            <a:r>
              <a:rPr lang="zh-TW" altLang="en-US" dirty="0"/>
              <a:t>。</a:t>
            </a:r>
          </a:p>
          <a:p>
            <a:endParaRPr lang="zh-TW" altLang="en-US" dirty="0"/>
          </a:p>
          <a:p>
            <a:r>
              <a:rPr lang="zh-TW" altLang="en-US" dirty="0"/>
              <a:t>從圖上可以看到，原廠採用的是雙 </a:t>
            </a:r>
            <a:r>
              <a:rPr lang="en-US" altLang="zh-TW" dirty="0"/>
              <a:t>MCU </a:t>
            </a:r>
            <a:r>
              <a:rPr lang="zh-TW" altLang="en-US" dirty="0"/>
              <a:t>架構。左邊這顆 </a:t>
            </a:r>
            <a:r>
              <a:rPr lang="en-US" altLang="zh-TW" dirty="0"/>
              <a:t>NRF51822 </a:t>
            </a:r>
            <a:r>
              <a:rPr lang="zh-TW" altLang="en-US" dirty="0"/>
              <a:t>是 </a:t>
            </a:r>
            <a:r>
              <a:rPr lang="en-US" altLang="zh-TW" dirty="0"/>
              <a:t>Cortex-M0</a:t>
            </a:r>
            <a:r>
              <a:rPr lang="zh-TW" altLang="en-US" dirty="0"/>
              <a:t>，負責無線通訊與電源管理，前面另外掛了一顆 </a:t>
            </a:r>
            <a:r>
              <a:rPr lang="en-US" altLang="zh-TW" dirty="0"/>
              <a:t>RF </a:t>
            </a:r>
            <a:r>
              <a:rPr lang="zh-TW" altLang="en-US" dirty="0"/>
              <a:t>功率放大晶片；右邊這顆 </a:t>
            </a:r>
            <a:r>
              <a:rPr lang="en-US" altLang="zh-TW" dirty="0"/>
              <a:t>STM32F411 </a:t>
            </a:r>
            <a:r>
              <a:rPr lang="zh-TW" altLang="en-US" dirty="0"/>
              <a:t>是 </a:t>
            </a:r>
            <a:r>
              <a:rPr lang="en-US" altLang="zh-TW" dirty="0"/>
              <a:t>Cortex-M4</a:t>
            </a:r>
            <a:r>
              <a:rPr lang="zh-TW" altLang="en-US" dirty="0"/>
              <a:t>，負責感測器讀取、資料融合、</a:t>
            </a:r>
            <a:r>
              <a:rPr lang="en-US" altLang="zh-TW" dirty="0"/>
              <a:t>PID </a:t>
            </a:r>
            <a:r>
              <a:rPr lang="zh-TW" altLang="en-US" dirty="0"/>
              <a:t>控制與馬達輸出。</a:t>
            </a:r>
          </a:p>
          <a:p>
            <a:endParaRPr lang="zh-TW" altLang="en-US" dirty="0"/>
          </a:p>
          <a:p>
            <a:r>
              <a:rPr lang="zh-TW" altLang="en-US" dirty="0"/>
              <a:t>兩顆晶片之間以 </a:t>
            </a:r>
            <a:r>
              <a:rPr lang="en-US" altLang="zh-TW" dirty="0"/>
              <a:t>UART </a:t>
            </a:r>
            <a:r>
              <a:rPr lang="zh-TW" altLang="en-US" dirty="0"/>
              <a:t>相連。遙控器的訊號先由 </a:t>
            </a:r>
            <a:r>
              <a:rPr lang="en-US" altLang="zh-TW" dirty="0"/>
              <a:t>NRF51822 </a:t>
            </a:r>
            <a:r>
              <a:rPr lang="zh-TW" altLang="en-US" dirty="0"/>
              <a:t>接收，再經串口轉發給 </a:t>
            </a:r>
            <a:r>
              <a:rPr lang="en-US" altLang="zh-TW" dirty="0"/>
              <a:t>STM32 </a:t>
            </a:r>
            <a:r>
              <a:rPr lang="zh-TW" altLang="en-US" dirty="0"/>
              <a:t>處理。</a:t>
            </a:r>
          </a:p>
          <a:p>
            <a:endParaRPr lang="zh-TW" altLang="en-US" dirty="0"/>
          </a:p>
          <a:p>
            <a:r>
              <a:rPr lang="zh-TW" altLang="en-US" dirty="0"/>
              <a:t>右邊接的是十軸感測器，包含三軸加速度計、三軸陀螺儀、三軸磁力計與氣壓計，透過 </a:t>
            </a:r>
            <a:r>
              <a:rPr lang="en-US" altLang="zh-TW" dirty="0"/>
              <a:t>IIC </a:t>
            </a:r>
            <a:r>
              <a:rPr lang="zh-TW" altLang="en-US" dirty="0"/>
              <a:t>匯流排連到主控。</a:t>
            </a:r>
          </a:p>
          <a:p>
            <a:endParaRPr lang="zh-TW" altLang="en-US" dirty="0"/>
          </a:p>
          <a:p>
            <a:r>
              <a:rPr lang="zh-TW" altLang="en-US" dirty="0"/>
              <a:t>下方這一排是電源部分，包含電源管理、充電電路與 </a:t>
            </a:r>
            <a:r>
              <a:rPr lang="en-US" altLang="zh-TW" dirty="0"/>
              <a:t>USB </a:t>
            </a:r>
            <a:r>
              <a:rPr lang="zh-TW" altLang="en-US" dirty="0"/>
              <a:t>介面。原廠在這裡用了 </a:t>
            </a:r>
            <a:r>
              <a:rPr lang="en-US" altLang="zh-TW" dirty="0"/>
              <a:t>TP4059 </a:t>
            </a:r>
            <a:r>
              <a:rPr lang="zh-TW" altLang="en-US" dirty="0"/>
              <a:t>充電晶片與兩顆 </a:t>
            </a:r>
            <a:r>
              <a:rPr lang="en-US" altLang="zh-TW" dirty="0"/>
              <a:t>XC6204 </a:t>
            </a:r>
            <a:r>
              <a:rPr lang="zh-TW" altLang="en-US" dirty="0"/>
              <a:t>穩壓晶片。</a:t>
            </a:r>
          </a:p>
          <a:p>
            <a:endParaRPr lang="zh-TW" altLang="en-US" dirty="0"/>
          </a:p>
          <a:p>
            <a:r>
              <a:rPr lang="zh-TW" altLang="en-US" dirty="0"/>
              <a:t>之所以先看原廠的框架，是因為接下來第十頁我會用同樣的畫法呈現本研究的架構，兩張圖並排就能看出差異在哪裡。</a:t>
            </a:r>
          </a:p>
          <a:p>
            <a:endParaRPr lang="zh-TW" altLang="en-US" dirty="0"/>
          </a:p>
          <a:p>
            <a:r>
              <a:rPr lang="zh-TW" altLang="en-US" dirty="0"/>
              <a:t>接下來第十頁，我將說明本研究的系統框架</a:t>
            </a:r>
            <a:r>
              <a:rPr lang="en-US" altLang="zh-TW" dirty="0"/>
              <a:t>……</a:t>
            </a:r>
            <a:r>
              <a:rPr lang="zh-TW" altLang="en-US" dirty="0"/>
              <a:t>」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9816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「</a:t>
            </a:r>
            <a:r>
              <a:rPr dirty="0" err="1"/>
              <a:t>第九頁是原廠</a:t>
            </a:r>
            <a:r>
              <a:rPr dirty="0"/>
              <a:t> ATK-</a:t>
            </a:r>
            <a:r>
              <a:rPr dirty="0" err="1"/>
              <a:t>MiniFly</a:t>
            </a:r>
            <a:r>
              <a:rPr dirty="0"/>
              <a:t> </a:t>
            </a:r>
            <a:r>
              <a:rPr dirty="0" err="1"/>
              <a:t>的系統框架，這張圖出自原廠開發指南的圖</a:t>
            </a:r>
            <a:r>
              <a:rPr dirty="0"/>
              <a:t> 4.1.1。</a:t>
            </a:r>
          </a:p>
          <a:p>
            <a:endParaRPr dirty="0"/>
          </a:p>
          <a:p>
            <a:r>
              <a:rPr dirty="0" err="1"/>
              <a:t>從圖上可以看到，原廠採用的是雙</a:t>
            </a:r>
            <a:r>
              <a:rPr dirty="0"/>
              <a:t> MCU </a:t>
            </a:r>
            <a:r>
              <a:rPr dirty="0" err="1"/>
              <a:t>架構。左邊這顆</a:t>
            </a:r>
            <a:r>
              <a:rPr dirty="0"/>
              <a:t> NRF51822 是 Cortex-M0，負責無線通訊與電源管理，前面另外掛了一顆 RF </a:t>
            </a:r>
            <a:r>
              <a:rPr dirty="0" err="1"/>
              <a:t>功率放大晶片；右邊這顆</a:t>
            </a:r>
            <a:r>
              <a:rPr dirty="0"/>
              <a:t> STM32F411 是 Cortex-M4，負責感測器讀取、資料融合、PID </a:t>
            </a:r>
            <a:r>
              <a:rPr dirty="0" err="1"/>
              <a:t>控制與馬達輸出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兩顆晶片之間以</a:t>
            </a:r>
            <a:r>
              <a:rPr dirty="0"/>
              <a:t> UART </a:t>
            </a:r>
            <a:r>
              <a:rPr dirty="0" err="1"/>
              <a:t>相連。遙控器的訊號先由</a:t>
            </a:r>
            <a:r>
              <a:rPr dirty="0"/>
              <a:t> NRF51822 </a:t>
            </a:r>
            <a:r>
              <a:rPr dirty="0" err="1"/>
              <a:t>接收，再經串口轉發給</a:t>
            </a:r>
            <a:r>
              <a:rPr dirty="0"/>
              <a:t> STM32 </a:t>
            </a:r>
            <a:r>
              <a:rPr dirty="0" err="1"/>
              <a:t>處理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右邊接的是十軸感測器，包含三軸加速度計、三軸陀螺儀、三軸磁力計與氣壓計，透過</a:t>
            </a:r>
            <a:r>
              <a:rPr dirty="0"/>
              <a:t> IIC </a:t>
            </a:r>
            <a:r>
              <a:rPr dirty="0" err="1"/>
              <a:t>匯流排連到主控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下方這一排是電源部分，包含電源管理、充電電路與</a:t>
            </a:r>
            <a:r>
              <a:rPr dirty="0"/>
              <a:t> USB </a:t>
            </a:r>
            <a:r>
              <a:rPr dirty="0" err="1"/>
              <a:t>介面。原廠在這裡用了</a:t>
            </a:r>
            <a:r>
              <a:rPr dirty="0"/>
              <a:t> TP4059 </a:t>
            </a:r>
            <a:r>
              <a:rPr dirty="0" err="1"/>
              <a:t>充電晶片與兩顆</a:t>
            </a:r>
            <a:r>
              <a:rPr dirty="0"/>
              <a:t> XC6204 </a:t>
            </a:r>
            <a:r>
              <a:rPr dirty="0" err="1"/>
              <a:t>穩壓晶片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之所以先看原廠的框架，是因為接下來第十頁我會用同樣的畫法呈現本研究的架構，兩張圖並排就能看出差異在哪裡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接下來第十頁，我將說明本研究的系統框架</a:t>
            </a:r>
            <a:r>
              <a:rPr dirty="0"/>
              <a:t>……」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5769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ESB 是 Nordic 專有的 2.4GHz 點對點協議,支援雙向傳輸、自動回覆與遺失封包自動重傳。</a:t>
            </a:r>
          </a:p>
          <a:p>
            <a:endParaRPr/>
          </a:p>
          <a:p>
            <a:r>
              <a:t>關鍵在於:這個協議在 nRF24L 系列(遙控器用的那顆)是硬體內建的,但 nRF5 系列沒有這個硬體。移植時必須用 RADIO 外設自行把封包格式設定成一模一樣,才能與遙控器互通 —— 這就是無線層必須從暫存器層重建的原因。</a:t>
            </a:r>
          </a:p>
          <a:p>
            <a:endParaRPr/>
          </a:p>
          <a:p>
            <a:r>
              <a:t>可能被問:</a:t>
            </a:r>
          </a:p>
          <a:p>
            <a:endParaRPr/>
          </a:p>
          <a:p>
            <a:r>
              <a:t>Q:資料傳輸需要 CRC 嗎?為什麼只有一個?</a:t>
            </a:r>
          </a:p>
          <a:p>
            <a:r>
              <a:t>A:空中封包由 ESB 的 CRC 負責,設定為 CRC16-CCITT(多項式 0x11021、初值 0xFFFF),由硬體自動計算與檢查,錯誤封包直接丟棄不會進到軟體。</a:t>
            </a:r>
          </a:p>
          <a:p>
            <a:endParaRPr/>
          </a:p>
          <a:p>
            <a:r>
              <a:t>ATKP 協議本身另有一個「求和取低 8 位」的校驗位元組,但那是走 USB 時用的。經無線傳送時,空中封包的載荷只放 msgID、dataLen 與 data 三部分,不帶 ATKP 的起始碼與校驗和 —— 因為位址欄已經負責識別、CRC 已經負責檢查,再加一層是多餘的。</a:t>
            </a:r>
          </a:p>
          <a:p>
            <a:endParaRPr/>
          </a:p>
          <a:p>
            <a:r>
              <a:t>所以是一層 CRC,不是兩層;兩層校驗只出現在 USB 路徑(ATKP 校驗和)與無線路徑(ESB CRC)各自的鏈路上。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「第十六頁說明上位機送往飛控的封包格式。</a:t>
            </a:r>
          </a:p>
          <a:p>
            <a:endParaRPr/>
          </a:p>
          <a:p>
            <a:r>
              <a:t>整包由六個欄位組成：兩個起始碼、功能字、長度、資料，最後是校驗和。橘框圈起來的三格——功能字、長度、資料——才是原廠定義的 ATKP 封包本體；兩端的起始碼與校驗和，是走 USB 時才加上去的。</a:t>
            </a:r>
          </a:p>
          <a:p>
            <a:endParaRPr/>
          </a:p>
          <a:p>
            <a:r>
              <a:t>下方是解鎖指令的實際例子：AA AF 01 01 A1 FC。AA AF 是起始碼，01 是命令封包的功能字，第二個 01 表示資料只有一個 Byte，A1 是解鎖的命令碼，最後的 FC 是把前面五個 Byte 相加取低 8 位得到的校驗值。</a:t>
            </a:r>
          </a:p>
          <a:p>
            <a:endParaRPr/>
          </a:p>
          <a:p>
            <a:r>
              <a:t>這個封包如果走無線，就是裝在上一頁 ESB 封包的載荷裡，起始碼與校驗和都不帶。</a:t>
            </a:r>
          </a:p>
          <a:p>
            <a:endParaRPr/>
          </a:p>
          <a:p>
            <a:r>
              <a:t>可能被問:</a:t>
            </a:r>
          </a:p>
          <a:p>
            <a:endParaRPr/>
          </a:p>
          <a:p>
            <a:r>
              <a:t>Q:起始碼為什麼是兩個?</a:t>
            </a:r>
          </a:p>
          <a:p>
            <a:r>
              <a:t>A:第一個固定 0xAA，第二個用來標示方向。原廠定義 0xAF 是上位機送往飛控這個方向，0xAA 則是飛控回送上位機。同樣一套 ATKP 封包，靠第二個起始碼就能分辨是誰送給誰。</a:t>
            </a:r>
          </a:p>
          <a:p>
            <a:endParaRPr/>
          </a:p>
          <a:p>
            <a:r>
              <a:t>Q:無線既然不用帧頭，為什麼原廠手冊的方向表裡有「四軸←遙控器」這一項?</a:t>
            </a:r>
          </a:p>
          <a:p>
            <a:r>
              <a:t>A:因為那指的不是空中的形態。原廠手冊寫明，遙控器與 NRF51822 之間走無線，直接傳 ATKP 封包不加帧頭；但 NRF51822 收到後要再經串口轉發給 STM32F411，而「NRF51822 與 STM32F411 通信使用的串口方式，數據格式跟 usblink 鏈路一樣」，也就是要補上帧頭與校驗。</a:t>
            </a:r>
          </a:p>
          <a:p>
            <a:endParaRPr/>
          </a:p>
          <a:p>
            <a:r>
              <a:t>所以帧頭是給有線那一段用的。這一點在本研究反而消失了——合併成單晶片之後，那段串口不存在，RADIO 收到的 ATKP 直接進控制流程，不需要再框一次。</a:t>
            </a:r>
          </a:p>
          <a:p>
            <a:endParaRPr/>
          </a:p>
          <a:p>
            <a:r>
              <a:t>接下來第十七頁，我將播放移植後的實機飛行影片……」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24 字≈7 秒 ｜ 完整版 331 字≈1.5 分</a:t>
            </a:r>
          </a:p>
          <a:p>
            <a:endParaRPr/>
          </a:p>
          <a:p>
            <a:r>
              <a:t>【一句話】移植成果的整體驗證:從上電到降落,全程沒有剪接。</a:t>
            </a:r>
          </a:p>
          <a:p>
            <a:endParaRPr/>
          </a:p>
          <a:p>
            <a:r>
              <a:t>【播放時要說的】</a:t>
            </a:r>
          </a:p>
          <a:p>
            <a:r>
              <a:t>① **開機自檢** — 七個驅動模組依序通過,LED 指示狀態。這一段對應驅動層移植那頁。</a:t>
            </a:r>
          </a:p>
          <a:p>
            <a:r>
              <a:t>② **遙控器配對成功** — 這代表 ESB 空中相容的三項對齊(位序反轉、動態載荷、速率)全部做對了,否則連不上。</a:t>
            </a:r>
          </a:p>
          <a:p>
            <a:r>
              <a:t>③ **起飛、定高懸停** — 對應高度估計鏈的三項增強。</a:t>
            </a:r>
          </a:p>
          <a:p>
            <a:r>
              <a:t>④ **斷訊維持** — 我故意讓訊號中斷,注意**高度沒有掉**,訊號回來後無縫續飛。</a:t>
            </a:r>
          </a:p>
          <a:p>
            <a:r>
              <a:t>⑤ 降落。</a:t>
            </a:r>
          </a:p>
          <a:p>
            <a:endParaRPr/>
          </a:p>
          <a:p>
            <a:r>
              <a:t>【★ 這支影片放在這裡的原因】</a:t>
            </a:r>
          </a:p>
          <a:p>
            <a:r>
              <a:t>到這一頁為止,單機的所有內容(硬體、移植、三大挑戰、控制、安全)都講完了。這支影片是它們的**綜合驗證** — 每一個環節在影片裡都看得到對應的畫面。下一章才進入多機。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Q:為什麼特別展示斷訊維持?</a:t>
            </a:r>
          </a:p>
          <a:p>
            <a:r>
              <a:t>A:它是多機控制的安全基礎。廣播模式下每台本來就會有短暫收不到指令的空檔(點名那一下),這個機制把「輪空」定義為正常狀態,多機才可行。這也是為什麼這支影片排在多機章之前。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40 字≈11 秒 ｜ 完整版 702 字≈3.2 分</a:t>
            </a:r>
          </a:p>
          <a:p>
            <a:endParaRPr/>
          </a:p>
          <a:p>
            <a:r>
              <a:t>【一句話】核心概念是廣播定址:一份指令廣播出去,兩台同時收到,再由飛機自己判斷要不要執行。</a:t>
            </a:r>
          </a:p>
          <a:p>
            <a:endParaRPr/>
          </a:p>
          <a:p>
            <a:r>
              <a:t>【★ 為什麼是「飛機自己判斷」而不是「遙控器只發給某一台」】</a:t>
            </a:r>
          </a:p>
          <a:p>
            <a:r>
              <a:t>這是整章的關鍵設計思想。若由發射端決定收件人(那就是分時尋址),帶寬必然 O(N)、各機指令必然錯開。改成「一包全體同收、由接收端自己判斷」之後,發送次數與台數無關 — **這是 O(1) 與 O(N) 的分野,也是編隊能不能同步的分野**。</a:t>
            </a:r>
          </a:p>
          <a:p>
            <a:endParaRPr/>
          </a:p>
          <a:p>
            <a:r>
              <a:t>【資料鏈路】PC 上位機做定位與決策 → 經 USB 以 ATKP 格式交給遙控器 → 遙控器原樣廣播 → 兩台飛機各有自己的 ID 與私有位址;兩台同時也都發 BLE 信標給四個錨點,所以能同時被定位。</a:t>
            </a:r>
          </a:p>
          <a:p>
            <a:endParaRPr/>
          </a:p>
          <a:p>
            <a:r>
              <a:t>【三個機制,都已實機驗證】</a:t>
            </a:r>
          </a:p>
          <a:p>
            <a:r>
              <a:t>① **廣播選台(模式 A 擴展)** — 一包全體同收,包尾附目標字節;選中的執行、其餘懸停待命。</a:t>
            </a:r>
          </a:p>
          <a:p>
            <a:r>
              <a:t>② **多工廣播(模式 B)** — 一個廣播包裡裝兩台各自獨立的指令段,兩機同收後各取自己那段,**可同時做不同動作**。這是本研究的亮點。</a:t>
            </a:r>
          </a:p>
          <a:p>
            <a:r>
              <a:t>③ **廣播點名** — 廣播是單向不回 ACK 的,遙控器看不到飛機狀態,所以每隔約 0.13 秒切一次私有去探詢一台,把電量與在線狀態取回來。</a:t>
            </a:r>
          </a:p>
          <a:p>
            <a:endParaRPr/>
          </a:p>
          <a:p>
            <a:r>
              <a:t>【★ 三者不是三選一,而是分層並存】</a:t>
            </a:r>
          </a:p>
          <a:p>
            <a:r>
              <a:t>· 模式 A 供人手操作(遙控器只有一份搖桿值)</a:t>
            </a:r>
          </a:p>
          <a:p>
            <a:r>
              <a:t>· 模式 B 供 PC 自動編隊(指令來源能算出各機不同目標)</a:t>
            </a:r>
          </a:p>
          <a:p>
            <a:r>
              <a:t>· 私有模式供逐台調參與讀狀態</a:t>
            </a:r>
          </a:p>
          <a:p>
            <a:r>
              <a:t>它們用不同的 msgID 與位址,飛機端依 msgID 分流,可即時切換而不衝突。</a:t>
            </a:r>
          </a:p>
          <a:p>
            <a:endParaRPr/>
          </a:p>
          <a:p>
            <a:r>
              <a:t>【先給個伏筆】這三個機制不是一開始就這樣設計的 — 下一頁先講協議基礎,再下一頁講我走過的彎路。</a:t>
            </a:r>
          </a:p>
          <a:p>
            <a:endParaRPr/>
          </a:p>
          <a:p>
            <a:r>
              <a:t>【備詢·不念】</a:t>
            </a:r>
          </a:p>
          <a:p>
            <a:r>
              <a:t>Q:現在能同時飛兩台嗎?</a:t>
            </a:r>
          </a:p>
          <a:p>
            <a:r>
              <a:t>A:三個機制都有實機影片。但「機制通了」和「兩台一起編隊飛完一段航線」是兩件事,後者尚未完整演示 — 我在系統邊界那頁也是這樣標的。</a:t>
            </a:r>
          </a:p>
          <a:p>
            <a:endParaRPr/>
          </a:p>
          <a:p>
            <a:r>
              <a:t>Q:為什麼遙控器要原樣轉發而不解析?</a:t>
            </a:r>
          </a:p>
          <a:p>
            <a:r>
              <a:t>A:讓遙控器保持單純的無線橋,PC 的擴展不需要動遙控器韌體。模式 B 就是這樣加進來的 — 遙控器一行控制邏輯都沒改。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【核心】一句話版 27 字≈7 秒 ｜ 完整版 429 字≈1.9 分</a:t>
            </a:r>
          </a:p>
          <a:p>
            <a:endParaRPr/>
          </a:p>
          <a:p>
            <a:r>
              <a:t>【一句話】核心洞察只有一句:一切差異的根源是「要不要 ACK」。</a:t>
            </a:r>
          </a:p>
          <a:p>
            <a:r>
              <a:t>【展開這句話】</a:t>
            </a:r>
          </a:p>
          <a:p>
            <a:r>
              <a:t>· 要 ACK → 有回傳、有硬體重傳,可以逐台偵測丟包;但**必須逐台發送,指令必然錯開**。</a:t>
            </a:r>
          </a:p>
          <a:p>
            <a:r>
              <a:t>· 不要 ACK → 才能一包全體同收、真正同步;代價是**遙控器完全看不到飛機**。</a:t>
            </a:r>
          </a:p>
          <a:p>
            <a:endParaRPr/>
          </a:p>
          <a:p>
            <a:r>
              <a:t>【左邊 帶寬與同步性對照】</a:t>
            </a:r>
          </a:p>
          <a:p>
            <a:r>
              <a:t>· 私有要發 N 次,廣播只發 1 次</a:t>
            </a:r>
          </a:p>
          <a:p>
            <a:r>
              <a:t>· 私有各機錯開,廣播同時到達</a:t>
            </a:r>
          </a:p>
          <a:p>
            <a:r>
              <a:t>· 狀態回傳只有私有原生具備</a:t>
            </a:r>
          </a:p>
          <a:p>
            <a:endParaRPr/>
          </a:p>
          <a:p>
            <a:r>
              <a:t>【右邊 三種機制各自的定位】</a:t>
            </a:r>
          </a:p>
          <a:p>
            <a:r>
              <a:t>① 模式 C 私有 ACK 一對一 — 適合逐台調參與讀狀態</a:t>
            </a:r>
          </a:p>
          <a:p>
            <a:r>
              <a:t>② 模式 A 擴展 廣播選台 — 一次控一台、其餘懸停</a:t>
            </a:r>
          </a:p>
          <a:p>
            <a:r>
              <a:t>③ 模式 B 多工廣播 — 一包內各機獨立指令,帶寬仍是 O(1) 但可同時做不同動作</a:t>
            </a:r>
          </a:p>
          <a:p>
            <a:endParaRPr/>
          </a:p>
          <a:p>
            <a:r>
              <a:t>【結論】編隊同步場景廣播壓倒性勝出;需要逐台狀態時仍需私有 — 所以我三種都保留,而且可以即時切換。</a:t>
            </a:r>
          </a:p>
          <a:p>
            <a:endParaRPr/>
          </a:p>
          <a:p>
            <a:r>
              <a:t>【這頁的方法論價值】機制選擇服從研究目標,沒有絕對優劣。這是我想強調的判斷方式,也是全篇最像研究結論的一句話。</a:t>
            </a:r>
          </a:p>
          <a:p>
            <a:endParaRPr/>
          </a:p>
          <a:p>
            <a:r>
              <a:t>【備詢·不念】</a:t>
            </a:r>
          </a:p>
          <a:p>
            <a:r>
              <a:t>Q:三種機制會不會互相干擾?</a:t>
            </a:r>
          </a:p>
          <a:p>
            <a:r>
              <a:t>A:不會。它們用不同的 msgID 與位址,飛機端依 msgID 分流;而且同一時刻只有一種模式生效,可由遙控器即時切換。</a:t>
            </a:r>
          </a:p>
          <a:p>
            <a:endParaRPr/>
          </a:p>
          <a:p>
            <a:r>
              <a:t>Q:為什麼不只保留最好的那一種?</a:t>
            </a:r>
          </a:p>
          <a:p>
            <a:r>
              <a:t>A:沒有絕對最好的。編隊同步要廣播、逐台讀狀態要私有 — 機制選擇服從使用情境,這正是本頁想表達的方法論。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38 字≈10 秒 ｜ 完整版 674 字≈3.1 分</a:t>
            </a:r>
          </a:p>
          <a:p>
            <a:endParaRPr/>
          </a:p>
          <a:p>
            <a:r>
              <a:t>【一句話】訊號中斷不等於一定要墜落 — 這頁同時是單機安全的核心,也是多機控制的地基。</a:t>
            </a:r>
          </a:p>
          <a:p>
            <a:endParaRPr/>
          </a:p>
          <a:p>
            <a:r>
              <a:t>【核心問題】遙控訊號中斷時,飛機該怎麼辦?「立刻切斷馬達」最保守,但**多數中斷是短暫的**(天線遮擋、瞬時干擾、封包碰撞),直接停機等於把一次可恢復的抖動變成一次墜機。</a:t>
            </a:r>
          </a:p>
          <a:p>
            <a:endParaRPr/>
          </a:p>
          <a:p>
            <a:r>
              <a:t>【★ 為什麼需要三種而不是一種】</a:t>
            </a:r>
          </a:p>
          <a:p>
            <a:r>
              <a:t>因為「最好的策略」取決於場景,不存在通用解:</a:t>
            </a:r>
          </a:p>
          <a:p>
            <a:r>
              <a:t>· **模式 0 斷線寬限續飛** — 中斷後維持定高最多 2 秒,訊號回來即無縫續飛,超時才轉緩降。適合**訊號本來就會間歇中斷**的場合。</a:t>
            </a:r>
          </a:p>
          <a:p>
            <a:r>
              <a:t>· **模式 1 懸停等待再緩降** — 原地懸停約 8 秒,留出操作者反應與接管的時間窗,超時再受控緩降。適合**有人監看的手動飛行**。</a:t>
            </a:r>
          </a:p>
          <a:p>
            <a:r>
              <a:t>· **模式 2 立即緩降** — 中斷即受控緩降、觸地自動停機,不等待。適合**未知環境或不容許漂移**的場合。</a:t>
            </a:r>
          </a:p>
          <a:p>
            <a:endParaRPr/>
          </a:p>
          <a:p>
            <a:r>
              <a:t>【三者的共同點】都是**同一套失控保護狀態機**,差別只在「等多久」與「等的時候做什麼」。不是三份獨立程式碼,而是同一個狀態機的三組參數 — 所以未來可由上位機即時切換。</a:t>
            </a:r>
          </a:p>
          <a:p>
            <a:endParaRPr/>
          </a:p>
          <a:p>
            <a:r>
              <a:t>【★ 關鍵銜接 — 這頁存在的真正理由】</a:t>
            </a:r>
          </a:p>
          <a:p>
            <a:r>
              <a:t>模式 0 的「寬限等待」正是多機廣播控制的地基。廣播模式下每台飛機**本來就會有短暫收不到指令的空檔** — 點名那一下就是(約 0.13 秒)。若沒有寬限維持,每次輪空都會觸發失控保護,多機根本不成立。</a:t>
            </a:r>
          </a:p>
          <a:p>
            <a:r>
              <a:t>寬限維持把「輪空」重新定義為**正常狀態**,而不是異常。這是單機安全設計反過來成就多機能力的例子。</a:t>
            </a:r>
          </a:p>
          <a:p>
            <a:endParaRPr/>
          </a:p>
          <a:p>
            <a:r>
              <a:t>【現場播放三支實測影片】模式0.mp4、模式1.mp4、模式2.mp4</a:t>
            </a:r>
          </a:p>
          <a:p>
            <a:endParaRPr/>
          </a:p>
          <a:p>
            <a:r>
              <a:t>【備詢·不念】</a:t>
            </a:r>
          </a:p>
          <a:p>
            <a:r>
              <a:t>Q:2 秒的寬限怎麼定的?</a:t>
            </a:r>
          </a:p>
          <a:p>
            <a:r>
              <a:t>A:實測經驗值。太短會因偶發丟包誤觸發降落,太長則真失聯時遲遲不處置。2 秒是兩者的平衡點,而且遠大於點名輪空的 0.13 秒,留有充足餘裕。</a:t>
            </a:r>
          </a:p>
          <a:p>
            <a:endParaRPr/>
          </a:p>
          <a:p>
            <a:r>
              <a:t>Q:三種策略怎麼選?</a:t>
            </a:r>
          </a:p>
          <a:p>
            <a:r>
              <a:t>A:目前是編譯期選定。設計上可由上位機即時切換,這是未來工作。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【核心】一句話版 44 字≈12 秒 ｜ 完整版 262 字≈1.2 分</a:t>
            </a:r>
          </a:p>
          <a:p>
            <a:endParaRPr/>
          </a:p>
          <a:p>
            <a:r>
              <a:t>【一句話】切 M1 只有 ATK 動、切 M2 只有 nRF 動,而未被選中的那台原地懸停不掉高。</a:t>
            </a:r>
          </a:p>
          <a:p>
            <a:endParaRPr/>
          </a:p>
          <a:p>
            <a:r>
              <a:t>【播放時要說的】</a:t>
            </a:r>
          </a:p>
          <a:p>
            <a:r>
              <a:t>① 先切 M1:推搖桿,只有 ATK 響應,nRF 停在原處不動。</a:t>
            </a:r>
          </a:p>
          <a:p>
            <a:r>
              <a:t>② 再切 M2:同一支搖桿,換成只有 nRF 響應。</a:t>
            </a:r>
          </a:p>
          <a:p>
            <a:r>
              <a:t>③ **重點看未被選中的那台** — 它不是關機、不是緩降,而是**穩定懸停在原高度**。那是包尾目標字節不符時自動轉入的懸停待命。</a:t>
            </a:r>
          </a:p>
          <a:p>
            <a:endParaRPr/>
          </a:p>
          <a:p>
            <a:r>
              <a:t>【★ 這段驗證的是什麼】</a:t>
            </a:r>
          </a:p>
          <a:p>
            <a:r>
              <a:t>驗證模式 A 的三件事:目標字節能正確分流、待命機能維持高度、切換即時生效(下一個廣播週期就換人,約 10 毫秒)。</a:t>
            </a:r>
          </a:p>
          <a:p>
            <a:endParaRPr/>
          </a:p>
          <a:p>
            <a:r>
              <a:t>【備詢·不念】</a:t>
            </a:r>
          </a:p>
          <a:p>
            <a:r>
              <a:t>Q:切換的瞬間會不會有空檔?</a:t>
            </a:r>
          </a:p>
          <a:p>
            <a:r>
              <a:t>A:不會。兩台每一拍都收到同一個廣播包,差別只在誰執行、誰待命 — 切換只是目標字節的值變了,沒有任何重新建立連線的過程。</a:t>
            </a:r>
          </a:p>
          <a:p>
            <a:endParaRPr/>
          </a:p>
          <a:p>
            <a:r>
              <a:t>Q:待命那台為什麼不會因為「沒收到指令」而觸發失控保護?</a:t>
            </a:r>
          </a:p>
          <a:p>
            <a:r>
              <a:t>A:它其實**有**收到指令 — 收到的是「待命」這個指令,而且鏈路時間戳照常刷新。對飛機而言鏈路一直是活的。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【核心】一句話版 24 字≈7 秒 ｜ 完整版 296 字≈1.3 分</a:t>
            </a:r>
          </a:p>
          <a:p>
            <a:endParaRPr/>
          </a:p>
          <a:p>
            <a:r>
              <a:t>【一句話】兩台飛機接收的是同一個封包,卻執行了不同的動作。</a:t>
            </a:r>
          </a:p>
          <a:p>
            <a:endParaRPr/>
          </a:p>
          <a:p>
            <a:r>
              <a:t>【播放時要說的】</a:t>
            </a:r>
          </a:p>
          <a:p>
            <a:r>
              <a:t>① 上位機下發一個 msgID=0x60 的封包,裡面有兩段:ATK 那段設手動油門、nRF 那段設懸停待命旗標。</a:t>
            </a:r>
          </a:p>
          <a:p>
            <a:r>
              <a:t>② 結果只有 ATK 轉動,nRF 靜止不動。</a:t>
            </a:r>
          </a:p>
          <a:p>
            <a:r>
              <a:t>③ 角色對調(改成 nRF 手動、ATK 待命)再發一次,結果一致 — 證明分流確實是按段內 ID,不是巧合或單向的偏差。</a:t>
            </a:r>
          </a:p>
          <a:p>
            <a:endParaRPr/>
          </a:p>
          <a:p>
            <a:r>
              <a:t>【★ 播完必說的一句】</a:t>
            </a:r>
          </a:p>
          <a:p>
            <a:r>
              <a:t>這是多工廣播相對於一般廣播的**唯一證據**。一般廣播只能讓所有飛機做同一件事;分時尋址雖能分別控制,卻要發 N 次、各機指令必然錯開。這裡是**一個封包、同時到達、各自不同** — 三者兼得。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Q:為什麼要用上位機發,不用遙控器?</a:t>
            </a:r>
          </a:p>
          <a:p>
            <a:r>
              <a:t>A:遙控器物理上只有兩根搖桿,只能產生一份數值,裝不滿兩段不同的指令。模式 B 的能力要在「指令來源能算出各機不同目標」時才有意義 — 那就是 PC 端,也正是本研究定位系統的下游應用。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延伸】一句話版</a:t>
            </a:r>
            <a:r>
              <a:rPr dirty="0"/>
              <a:t> 45 字≈12 秒 ｜ </a:t>
            </a:r>
            <a:r>
              <a:rPr dirty="0" err="1"/>
              <a:t>完整版</a:t>
            </a:r>
            <a:r>
              <a:rPr dirty="0"/>
              <a:t> 165 字≈0.8 分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一句話】接下來進系統二:定位。從</a:t>
            </a:r>
            <a:r>
              <a:rPr dirty="0"/>
              <a:t> RSSI </a:t>
            </a:r>
            <a:r>
              <a:rPr dirty="0" err="1"/>
              <a:t>這個訊號本身,到九步定位引擎,再到與文獻的對照與改進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怎麼講】這一章的順序是:先給四步全貌,再依序展開硬體、位置閉環、RSSI</a:t>
            </a:r>
            <a:r>
              <a:rPr dirty="0"/>
              <a:t> </a:t>
            </a:r>
            <a:r>
              <a:rPr dirty="0" err="1"/>
              <a:t>的三層深入、時槽寄生信標,最後是濾波三部曲與文獻對照。這裡要先提醒委員一件事:定位是本論文的支撐貢獻,不是主貢獻</a:t>
            </a:r>
            <a:r>
              <a:rPr dirty="0"/>
              <a:t> — </a:t>
            </a:r>
            <a:r>
              <a:rPr dirty="0" err="1"/>
              <a:t>主軸仍在跨</a:t>
            </a:r>
            <a:r>
              <a:rPr dirty="0"/>
              <a:t> MCU </a:t>
            </a:r>
            <a:r>
              <a:rPr dirty="0" err="1"/>
              <a:t>的韌體重構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延伸】一句話版</a:t>
            </a:r>
            <a:r>
              <a:rPr dirty="0"/>
              <a:t> 27 字≈7 秒 ｜ </a:t>
            </a:r>
            <a:r>
              <a:rPr dirty="0" err="1"/>
              <a:t>完整版</a:t>
            </a:r>
            <a:r>
              <a:rPr dirty="0"/>
              <a:t> 320 字≈1.5 分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一句話】先給一張全景圖,再進細節</a:t>
            </a:r>
            <a:r>
              <a:rPr dirty="0"/>
              <a:t> — </a:t>
            </a:r>
            <a:r>
              <a:rPr dirty="0" err="1"/>
              <a:t>定位這一大塊分四個步驟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四個步驟</a:t>
            </a:r>
            <a:r>
              <a:rPr dirty="0"/>
              <a:t>】</a:t>
            </a:r>
          </a:p>
          <a:p>
            <a:r>
              <a:rPr dirty="0"/>
              <a:t>① </a:t>
            </a:r>
            <a:r>
              <a:rPr dirty="0" err="1"/>
              <a:t>訊號採集</a:t>
            </a:r>
            <a:r>
              <a:rPr dirty="0"/>
              <a:t> — </a:t>
            </a:r>
            <a:r>
              <a:rPr dirty="0" err="1"/>
              <a:t>四個固定錨點持續廣播,信標接收各錨的訊號強度</a:t>
            </a:r>
            <a:r>
              <a:rPr dirty="0"/>
              <a:t>(RSSI)</a:t>
            </a:r>
          </a:p>
          <a:p>
            <a:r>
              <a:rPr dirty="0"/>
              <a:t>② </a:t>
            </a:r>
            <a:r>
              <a:rPr dirty="0" err="1"/>
              <a:t>距離換算</a:t>
            </a:r>
            <a:r>
              <a:rPr dirty="0"/>
              <a:t> — </a:t>
            </a:r>
            <a:r>
              <a:rPr dirty="0" err="1"/>
              <a:t>用對數距離模型把訊號強度轉為到各錨的估計距離</a:t>
            </a:r>
            <a:endParaRPr dirty="0"/>
          </a:p>
          <a:p>
            <a:r>
              <a:rPr dirty="0"/>
              <a:t>③ </a:t>
            </a:r>
            <a:r>
              <a:rPr dirty="0" err="1"/>
              <a:t>濾波處理</a:t>
            </a:r>
            <a:r>
              <a:rPr dirty="0"/>
              <a:t> — </a:t>
            </a:r>
            <a:r>
              <a:rPr dirty="0" err="1"/>
              <a:t>自適應</a:t>
            </a:r>
            <a:r>
              <a:rPr dirty="0"/>
              <a:t> </a:t>
            </a:r>
            <a:r>
              <a:rPr dirty="0" err="1"/>
              <a:t>Kalman:靜止強平滑、移動快跟手,對抗</a:t>
            </a:r>
            <a:r>
              <a:rPr dirty="0"/>
              <a:t> RSSI </a:t>
            </a:r>
            <a:r>
              <a:rPr dirty="0" err="1"/>
              <a:t>先天波動</a:t>
            </a:r>
            <a:endParaRPr dirty="0"/>
          </a:p>
          <a:p>
            <a:r>
              <a:rPr dirty="0"/>
              <a:t>④ </a:t>
            </a:r>
            <a:r>
              <a:rPr dirty="0" err="1"/>
              <a:t>定位解算</a:t>
            </a:r>
            <a:r>
              <a:rPr dirty="0"/>
              <a:t> — </a:t>
            </a:r>
            <a:r>
              <a:rPr dirty="0" err="1"/>
              <a:t>多錨距離交會出座標,上位機地圖即時顯示軌跡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接下來的展開順序】定位網路硬體</a:t>
            </a:r>
            <a:r>
              <a:rPr dirty="0"/>
              <a:t> → </a:t>
            </a:r>
            <a:r>
              <a:rPr dirty="0" err="1"/>
              <a:t>位置閉環</a:t>
            </a:r>
            <a:r>
              <a:rPr dirty="0"/>
              <a:t> → RSSI </a:t>
            </a:r>
            <a:r>
              <a:rPr dirty="0" err="1"/>
              <a:t>三層深入</a:t>
            </a:r>
            <a:r>
              <a:rPr dirty="0"/>
              <a:t> → </a:t>
            </a:r>
            <a:r>
              <a:rPr dirty="0" err="1"/>
              <a:t>時槽寄生信標</a:t>
            </a:r>
            <a:r>
              <a:rPr dirty="0"/>
              <a:t> → </a:t>
            </a:r>
            <a:r>
              <a:rPr dirty="0" err="1"/>
              <a:t>濾波三部曲</a:t>
            </a:r>
            <a:r>
              <a:rPr dirty="0"/>
              <a:t> → </a:t>
            </a:r>
            <a:r>
              <a:rPr dirty="0" err="1"/>
              <a:t>文獻對照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要先提醒委員一件事】定位是本論文的</a:t>
            </a:r>
            <a:r>
              <a:rPr dirty="0"/>
              <a:t>**</a:t>
            </a:r>
            <a:r>
              <a:rPr dirty="0" err="1"/>
              <a:t>支撐貢獻</a:t>
            </a:r>
            <a:r>
              <a:rPr dirty="0"/>
              <a:t>**,</a:t>
            </a:r>
            <a:r>
              <a:rPr dirty="0" err="1"/>
              <a:t>不是主貢獻</a:t>
            </a:r>
            <a:r>
              <a:rPr dirty="0"/>
              <a:t> — </a:t>
            </a:r>
            <a:r>
              <a:rPr dirty="0" err="1"/>
              <a:t>主軸仍在跨</a:t>
            </a:r>
            <a:r>
              <a:rPr dirty="0"/>
              <a:t> MCU </a:t>
            </a:r>
            <a:r>
              <a:rPr dirty="0" err="1"/>
              <a:t>的韌體重構。這樣講可以避免委員把評分重心放錯地方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36 字≈10 秒 ｜ 完整版 368 字≈1.7 分</a:t>
            </a:r>
          </a:p>
          <a:p>
            <a:endParaRPr/>
          </a:p>
          <a:p>
            <a:r>
              <a:t>【一句話】定位網路的硬體很簡單:一個閘道加四個錨點,全部用同一顆 ESP32S3。</a:t>
            </a:r>
          </a:p>
          <a:p>
            <a:endParaRPr/>
          </a:p>
          <a:p>
            <a:r>
              <a:t>【硬體組成】</a:t>
            </a:r>
          </a:p>
          <a:p>
            <a:r>
              <a:t>· **閘道 ×1** — 接收四錨的 RSSI 批次上報,經 USB 轉發至上位機。使用獨立幀格式加校驗確保傳輸可靠。</a:t>
            </a:r>
          </a:p>
          <a:p>
            <a:r>
              <a:t>· **錨點 ×4** — 固定在已知座標,以 NimBLE 被動掃描量測各飛機信標的 RSSI,再經 ESP-NOW 上報閘道。</a:t>
            </a:r>
          </a:p>
          <a:p>
            <a:endParaRPr/>
          </a:p>
          <a:p>
            <a:r>
              <a:t>【為什麼用被動掃描而非建立連線】</a:t>
            </a:r>
          </a:p>
          <a:p>
            <a:r>
              <a:t>被動掃描不需建連,因此**錨點的服務對象數量沒有上限** — 一次掃描即可收齊三台飛機的訊號。若採連線式,四個錨要各自與每台飛機建連,台數增加就會撐不住。這是多機同時定位的前提。</a:t>
            </a:r>
          </a:p>
          <a:p>
            <a:endParaRPr/>
          </a:p>
          <a:p>
            <a:r>
              <a:t>【部署要點】四個錨的天線型號與朝向必須一致。實測天線朝向差異可造成接近 20 dB 的 RSSI 落差,換算成距離是數倍的誤差 — 這比濾波演算法的影響大得多。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Q:為什麼錨點也用 ESP32S3?</a:t>
            </a:r>
          </a:p>
          <a:p>
            <a:r>
              <a:t>A:與第三台飛控平台同型,採購與韌體維護成本低;且其 BLE 掃描效能足夠。</a:t>
            </a:r>
          </a:p>
          <a:p>
            <a:endParaRPr/>
          </a:p>
          <a:p>
            <a:r>
              <a:t>Q:四個錨怎麼決定擺位?</a:t>
            </a:r>
          </a:p>
          <a:p>
            <a:r>
              <a:t>A:盡量圍成矩形、避免共線 — 共線會使幾何精度因子(GDOP)劣化,交會出的位置誤差被放大。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51 字≈14 秒 ｜ 完整版 853 字≈3.9 分</a:t>
            </a:r>
          </a:p>
          <a:p>
            <a:endParaRPr/>
          </a:p>
          <a:p>
            <a:r>
              <a:t>【一句話】讓同一顆 RADIO 分時跑兩種協議 — ESB 收發遙控,並在通信空隙插入 BLE 廣播當定位信標。</a:t>
            </a:r>
          </a:p>
          <a:p>
            <a:endParaRPr/>
          </a:p>
          <a:p>
            <a:r>
              <a:t>【為什麼這件事可行】關鍵是遙控通信的**時間結構**。ESB 是一問一答:遙控器發一包 → 飛機回 ACK → 然後雙方都閒著,直到下一包。遙控迴圈約 100Hz,也就是每 10 毫秒一輪,而一次收發加 ACK 只佔其中不到 1 毫秒。**剩下 9 毫秒 RADIO 完全空閒** — 那個空隙足夠塞進一個 BLE 廣播封包(約 0.3 毫秒)。</a:t>
            </a:r>
          </a:p>
          <a:p>
            <a:endParaRPr/>
          </a:p>
          <a:p>
            <a:r>
              <a:t>【切換要改哪些暫存器】ESB 和 BLE 雖然都在 2.4GHz,但封包格式完全不同,切換時要重配:</a:t>
            </a:r>
          </a:p>
          <a:p>
            <a:r>
              <a:t>· 頻率 — ESB 用約定的信道,BLE 廣播用 37/38/39 三個廣播信道</a:t>
            </a:r>
          </a:p>
          <a:p>
            <a:r>
              <a:t>· 封包格式(PCNF0/PCNF1)— 長度欄位數、S1 欄位數、位址長度都不同</a:t>
            </a:r>
          </a:p>
          <a:p>
            <a:r>
              <a:t>· CRC — 多項式與初值不同</a:t>
            </a:r>
          </a:p>
          <a:p>
            <a:r>
              <a:t>· 白化(whitening)— BLE 強制啟用資料白化避免長串相同位元,ESB 不用</a:t>
            </a:r>
          </a:p>
          <a:p>
            <a:endParaRPr/>
          </a:p>
          <a:p>
            <a:r>
              <a:t>發完 BLE 再把這些全部切回 ESB。整個切換是純暫存器寫入,微秒級。</a:t>
            </a:r>
          </a:p>
          <a:p>
            <a:endParaRPr/>
          </a:p>
          <a:p>
            <a:r>
              <a:t>【★ 時序保護:為什麼「寧可少發一次信標」】切換插在 radiolinkTask 確定的收發空隙內,而且窗口時長受控。原則是:**控制安全永遠優先於定位**。如果某一輪的空隙不夠(例如遙控封包來得密),就跳過這次信標 — 定位少一個取樣點只是精度略降,但如果因為在發信標而錯過遙控封包,飛機就會進失控保護。這個優先順序不能反。</a:t>
            </a:r>
          </a:p>
          <a:p>
            <a:endParaRPr/>
          </a:p>
          <a:p>
            <a:r>
              <a:t>【誠實邊界】這是 BLE **相容廣播** — 封包格式讓 NimBLE 掃描器認得、能測 RSSI,但沒有完整跑標準 BLE 的三頻道輪替與退避流程。對定位用途足夠(我們只需要錨點能收到並測強度),但論文裡如實說明,不宣稱是標準 BLE Beacon。</a:t>
            </a:r>
          </a:p>
          <a:p>
            <a:endParaRPr/>
          </a:p>
          <a:p>
            <a:r>
              <a:t>【這個設計的價值】異構機隊裡,ATK 原機要外掛信標模組才能被定位,而 nRF 平台用自身 RADIO 就做到了 — 不增加任何硬體、不佔板面積。這是單晶片架構帶來的額外好處。</a:t>
            </a:r>
          </a:p>
          <a:p>
            <a:endParaRPr/>
          </a:p>
          <a:p>
            <a:r>
              <a:t>【備詢·不念】</a:t>
            </a:r>
          </a:p>
          <a:p>
            <a:r>
              <a:t>Q:切換開銷會不會影響控制?</a:t>
            </a:r>
          </a:p>
          <a:p>
            <a:r>
              <a:t>A:微秒級的暫存器重配,而且插在確定的空隙,不影響 500Hz 控制迴圈。實測遙控手感無差異。</a:t>
            </a:r>
          </a:p>
          <a:p>
            <a:endParaRPr/>
          </a:p>
          <a:p>
            <a:r>
              <a:t>Q:為什麼不用獨立的信標模組?</a:t>
            </a:r>
          </a:p>
          <a:p>
            <a:r>
              <a:t>A:板端空間精簡是設計目標之一。用時槽寄生以單晶片完成,是更符合本研究「單晶片全能」主軸的做法。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37 字≈10 秒 ｜ 完整版 354 字≈1.6 分</a:t>
            </a:r>
          </a:p>
          <a:p>
            <a:endParaRPr/>
          </a:p>
          <a:p>
            <a:r>
              <a:t>【一句話】上一頁講「怎麼發」,這一頁講「發出去之後,一套錨點怎麼同時服務多台飛機」。</a:t>
            </a:r>
          </a:p>
          <a:p>
            <a:endParaRPr/>
          </a:p>
          <a:p>
            <a:r>
              <a:t>【關鍵在 droneId】信標內容是 FF FF 'M' 'F' droneId seq — **droneId 標明是哪一台**。三台飛機的信標格式完全統一,只差這一個字節。</a:t>
            </a:r>
          </a:p>
          <a:p>
            <a:endParaRPr/>
          </a:p>
          <a:p>
            <a:r>
              <a:t>【所以錨點不必為誰做特別處理】四個 ESP32S3 錨用 NimBLE 被動掃描,一次掃描就把三台的訊號都收齊,各自量到 RSSI,連同 droneId 一起經 ESP-NOW 上報閘道。上位機再按 droneId 分別解算、在同一張地圖上顯示整個機隊。</a:t>
            </a:r>
          </a:p>
          <a:p>
            <a:endParaRPr/>
          </a:p>
          <a:p>
            <a:r>
              <a:t>【為什麼「被動掃描」是關鍵】不建連線,所以錨點的服務對象數量沒有上限 — 這是兩機(乃至多機)能同時被定位的基礎。若採用連線式定位,四個錨要各自與每台飛機建連,台數一多就撐不住。</a:t>
            </a:r>
          </a:p>
          <a:p>
            <a:endParaRPr/>
          </a:p>
          <a:p>
            <a:r>
              <a:t>【備詢·不念】</a:t>
            </a:r>
          </a:p>
          <a:p>
            <a:r>
              <a:t>Q:三台飛機的信標會不會互相干擾?</a:t>
            </a:r>
          </a:p>
          <a:p>
            <a:r>
              <a:t>A:BLE 廣播本來就是無連線的短促發送,加上各機發送時機由自己的 RADIO 空隙決定,天然錯開;錨點靠 droneId 區分來源。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31 字≈8 秒 ｜ 完整版 324 字≈1.5 分</a:t>
            </a:r>
          </a:p>
          <a:p>
            <a:endParaRPr/>
          </a:p>
          <a:p>
            <a:r>
              <a:t>【一句話】先把 RSSI 這個訊號的真面目講清楚 — 它天生就是會抖的。</a:t>
            </a:r>
          </a:p>
          <a:p>
            <a:endParaRPr/>
          </a:p>
          <a:p>
            <a:r>
              <a:t>【RSSI 是什麼】接收訊號強度,單位 dBm,是對數刻度 — 每降 10 dB 代表功率變成十分之一。室內 BLE 典型範圍是 −40 到 −90 dBm。</a:t>
            </a:r>
          </a:p>
          <a:p>
            <a:endParaRPr/>
          </a:p>
          <a:p>
            <a:r>
              <a:t>【波動的三大來源】</a:t>
            </a:r>
          </a:p>
          <a:p>
            <a:r>
              <a:t>① 多徑反射疊加 — 訊號走不同路徑到達,互相干涉</a:t>
            </a:r>
          </a:p>
          <a:p>
            <a:r>
              <a:t>② 遮擋 — 5 到 15 dB</a:t>
            </a:r>
          </a:p>
          <a:p>
            <a:r>
              <a:t>③ 天線朝向 — 接近 20 dB</a:t>
            </a:r>
          </a:p>
          <a:p>
            <a:endParaRPr/>
          </a:p>
          <a:p>
            <a:r>
              <a:t>【右圖是實測(這頁最有說服力的部分)】信標完全靜止不動,讀值仍在 ±6 dB 內跳,還有偶發的 −71 離群值。換算成距離,差距超過 2 倍。</a:t>
            </a:r>
          </a:p>
          <a:p>
            <a:endParaRPr/>
          </a:p>
          <a:p>
            <a:r>
              <a:t>【所以】必須先濾波。這不是「訊號品質不好」,而是 RSSI 的物理特性 — 下一頁講怎麼把它轉成距離,再下一頁講怎麼濾。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38 字≈10 秒 ｜ 完整版 678 字≈3.1 分</a:t>
            </a:r>
          </a:p>
          <a:p>
            <a:endParaRPr/>
          </a:p>
          <a:p>
            <a:r>
              <a:t>【一句話】對數模型不是經驗公式,是從電波物理推出來的 — 而且有一個參數設錯就整場偏。</a:t>
            </a:r>
          </a:p>
          <a:p>
            <a:endParaRPr/>
          </a:p>
          <a:p>
            <a:r>
              <a:t>【三步推導】</a:t>
            </a:r>
          </a:p>
          <a:p>
            <a:r>
              <a:t>① 電波從天線發出後在空間中呈球面擴散。能量守恆,球面積 4πd² 隨距離平方增長,所以單位面積的功率密度 ∝ 1/d²。</a:t>
            </a:r>
          </a:p>
          <a:p>
            <a:r>
              <a:t>② RSSI 的單位 dBm 本身是對數刻度(dBm = 10·log₁₀(功率/1mW))。把 1/d² 這個冪次關係取對數,就變成「距離每增加十倍,訊號固定掉 20 dB」的線性關係。</a:t>
            </a:r>
          </a:p>
          <a:p>
            <a:r>
              <a:t>③ 但那是自由空間。室內有牆、有家具、有反射,衰減比自由空間快。所以把指數 2 換成一個可調的**環境衰減指數 n**。</a:t>
            </a:r>
          </a:p>
          <a:p>
            <a:endParaRPr/>
          </a:p>
          <a:p>
            <a:r>
              <a:t>【最終形式】RSSI = P₀ − 10·n·log₁₀(d)</a:t>
            </a:r>
          </a:p>
          <a:p>
            <a:r>
              <a:t>反解得 d = 10^((P₀ − RSSI) / (10n))</a:t>
            </a:r>
          </a:p>
          <a:p>
            <a:endParaRPr/>
          </a:p>
          <a:p>
            <a:r>
              <a:t>【兩個參數的意義完全不同】</a:t>
            </a:r>
          </a:p>
          <a:p>
            <a:r>
              <a:t>· **P₀** — 距離 1 米處量到的訊號強度,是這支錨點的「基準點」。它取決於天線增益、發射功率、朝向、周圍遮擋 — **每支錨都不一樣,必須逐錨標定**。共用一個 P₀ 就等於把錨之間的硬體差異全算成距離誤差。</a:t>
            </a:r>
          </a:p>
          <a:p>
            <a:r>
              <a:t>· **n** — 環境的「指紋」。自由空間是 2,典型室內 2.7~3.5,重遮擋大於 4。</a:t>
            </a:r>
          </a:p>
          <a:p>
            <a:endParaRPr/>
          </a:p>
          <a:p>
            <a:r>
              <a:t>【★ 為什麼 n 設錯救不回來】看反解式:n 在指數的分母。n 設偏 10%,距離就系統性偏差一個固定倍率,而且是**所有錨同方向偏**。濾波只能壓隨機雜訊,對這種系統性偏差完全無效 — 濾出來的是一個穩定但錯誤的位置。這正是「自適應 n」的動機:與其猜一個固定值,不如用錨與錨之間的互測(它們的距離是已知的)反算出當下環境的 n。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Q:為什麼不直接查表?</a:t>
            </a:r>
          </a:p>
          <a:p>
            <a:r>
              <a:t>A:對數模型只需要兩個參數就能覆蓋整個空間,而指紋庫(查表)需要事前在每個網格點採樣建庫,換場地就要重做。本研究要的是可快速部署的方案。</a:t>
            </a:r>
          </a:p>
          <a:p>
            <a:endParaRPr/>
          </a:p>
          <a:p>
            <a:r>
              <a:t>Q:P₀ 怎麼標定?</a:t>
            </a:r>
          </a:p>
          <a:p>
            <a:r>
              <a:t>A:上位機有逐錨標定介面 — 把信標放在距該錨 1 米處,讀當下的 RSSI 存為該錨的 P₀。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34 字≈9 秒 ｜ 完整版 417 字≈1.9 分</a:t>
            </a:r>
          </a:p>
          <a:p>
            <a:endParaRPr/>
          </a:p>
          <a:p>
            <a:r>
              <a:t>【一句話】先把問題講透,再講方法 — RSSI 有三個麻煩,而且它們互相衝突。</a:t>
            </a:r>
          </a:p>
          <a:p>
            <a:endParaRPr/>
          </a:p>
          <a:p>
            <a:r>
              <a:t>【三個麻煩】</a:t>
            </a:r>
          </a:p>
          <a:p>
            <a:r>
              <a:t>① 先天抖動 — 靜止不動,讀值仍在 ±2~3 dBm 跳。這是多徑反射造成的物理特性,消不掉。</a:t>
            </a:r>
          </a:p>
          <a:p>
            <a:r>
              <a:t>② 轉距離會放大 — RSSI 轉距離是 10 的 x 次方,指數運算。訊號域 1 dB 的小抖動,轉距離後放大成數十公分到公尺級。</a:t>
            </a:r>
          </a:p>
          <a:p>
            <a:r>
              <a:t>③ 靜止與移動的兩難 — 壓抖動要濾波「重」,跟上移動要濾波「輕」。固定參數無法兼顧。</a:t>
            </a:r>
          </a:p>
          <a:p>
            <a:endParaRPr/>
          </a:p>
          <a:p>
            <a:r>
              <a:t>【右邊的核心矛盾(這頁的重點)】</a:t>
            </a:r>
          </a:p>
          <a:p>
            <a:r>
              <a:t>靜止時 RSSI 一直抖 → 濾波太輕,圖標亂跳</a:t>
            </a:r>
          </a:p>
          <a:p>
            <a:r>
              <a:t>但濾波太重 → 又跟不上真的移動</a:t>
            </a:r>
          </a:p>
          <a:p>
            <a:endParaRPr/>
          </a:p>
          <a:p>
            <a:r>
              <a:t>【所以需要什麼】一個「會看情況」的濾波器:靜止時當它重、壓住抖動;偵測到真移動時當它輕、快速跟上。這就是下一頁自適應 Kalman 要解決的。</a:t>
            </a:r>
          </a:p>
          <a:p>
            <a:endParaRPr/>
          </a:p>
          <a:p>
            <a:r>
              <a:t>【為什麼要先講問題】因為如果直接講「我用了自適應 Kalman」,委員會問「為什麼不用一般的 Kalman」。先把兩難講清楚,方法的必要性就自然成立。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39 字≈11 秒 ｜ 完整版 655 字≈3.0 分</a:t>
            </a:r>
          </a:p>
          <a:p>
            <a:endParaRPr/>
          </a:p>
          <a:p>
            <a:r>
              <a:t>【一句話】自適應 Kalman 的核心是:用「創新」的方向性來分辨這是雜訊還是真的在動。</a:t>
            </a:r>
          </a:p>
          <a:p>
            <a:endParaRPr/>
          </a:p>
          <a:p>
            <a:r>
              <a:t>【先講基本結構】每支錨各配一個一維 Kalman 濾波器,狀態就是「這支錨量到的真實 RSSI」。每來一筆新讀值,計算**創新(innovation)= 新讀值 − 目前估計**,再用它修正估計。</a:t>
            </a:r>
          </a:p>
          <a:p>
            <a:endParaRPr/>
          </a:p>
          <a:p>
            <a:r>
              <a:t>【關鍵參數 Q 在做什麼】Q 是過程雜訊,它代表「我認為真實值本身有多容易變」。</a:t>
            </a:r>
          </a:p>
          <a:p>
            <a:r>
              <a:t>· Q 小 → 濾波器認為真值很穩定 → 傾向相信自己的估計,新讀值只能小幅修正 → 平滑但遲鈍</a:t>
            </a:r>
          </a:p>
          <a:p>
            <a:r>
              <a:t>· Q 大 → 濾波器認為真值隨時在變 → 傾向相信新讀值 → 跟手但會抖</a:t>
            </a:r>
          </a:p>
          <a:p>
            <a:endParaRPr/>
          </a:p>
          <a:p>
            <a:r>
              <a:t>【★ 怎麼分辨移動與雜訊(全頁最關鍵)】</a:t>
            </a:r>
          </a:p>
          <a:p>
            <a:r>
              <a:t>· **雜訊的創新沒有方向性**:多徑干涉造成的抖動是隨機的,創新忽正忽負,累加起來會互相抵消,長期趨近零。</a:t>
            </a:r>
          </a:p>
          <a:p>
            <a:r>
              <a:t>· **移動的創新有方向性**:機體真的靠近錨點,RSSI 就會持續變強,創新連續同號,累加起來越來越大。</a:t>
            </a:r>
          </a:p>
          <a:p>
            <a:endParaRPr/>
          </a:p>
          <a:p>
            <a:r>
              <a:t>所以判準是:**把創新累加起來看它會不會發散**。累積同向創新超過閾值 → 判定為真移動 → 臨時把 Q 放大;累積量回落 → 切回小 Q。</a:t>
            </a:r>
          </a:p>
          <a:p>
            <a:endParaRPr/>
          </a:p>
          <a:p>
            <a:r>
              <a:t>【兩個模式】</a:t>
            </a:r>
          </a:p>
          <a:p>
            <a:r>
              <a:t>· 靜止模式(小 Q):壓住 ±2~3 dBm 的先天抖動,圖標穩住</a:t>
            </a:r>
          </a:p>
          <a:p>
            <a:r>
              <a:t>· 移動模式(放大 Q):快速跟上,不滯後</a:t>
            </a:r>
          </a:p>
          <a:p>
            <a:endParaRPr/>
          </a:p>
          <a:p>
            <a:r>
              <a:t>【為什麼這比「固定三級濾波」聰明】固定三級只是預先準備三種平滑強度,還是要人去判斷現在該用哪一級。自適應的做法是讓濾波器自己從創新的統計特性判斷 — 它真正解決了「靜止要重、移動要輕」這個兩難,而不是把選擇權丟給使用者。</a:t>
            </a:r>
          </a:p>
          <a:p>
            <a:endParaRPr/>
          </a:p>
          <a:p>
            <a:r>
              <a:t>【備詢·不念】</a:t>
            </a:r>
          </a:p>
          <a:p>
            <a:r>
              <a:t>Q:閾值怎麼定?</a:t>
            </a:r>
          </a:p>
          <a:p>
            <a:r>
              <a:t>A:在 config 可調,依實測的 RSSI 抖動幅度整定 — 要大於雜訊的累積量,又要小於真移動的累積量。</a:t>
            </a:r>
          </a:p>
          <a:p>
            <a:endParaRPr/>
          </a:p>
          <a:p>
            <a:r>
              <a:t>Q:為什麼每支錨各一個濾波器?</a:t>
            </a:r>
          </a:p>
          <a:p>
            <a:r>
              <a:t>A:各錨的距離、朝向、遮擋都不同,抖動特性也不同。共用一個濾波器會把差異平均掉。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30 字≈8 秒 ｜ 完整版 418 字≈1.9 分</a:t>
            </a:r>
          </a:p>
          <a:p>
            <a:endParaRPr/>
          </a:p>
          <a:p>
            <a:r>
              <a:t>【一句話】一次真實的除錯過程 — 真實的問題、真實的診斷、真實的修復。</a:t>
            </a:r>
          </a:p>
          <a:p>
            <a:endParaRPr/>
          </a:p>
          <a:p>
            <a:r>
              <a:t>【現象(v1.14)】標定完成後,藍色的 raw 點在動,但無人機圖標卡在原位、嚴重滯後,看起來像「定住了」。</a:t>
            </a:r>
          </a:p>
          <a:p>
            <a:endParaRPr/>
          </a:p>
          <a:p>
            <a:r>
              <a:t>【根因診斷】為了壓 RSSI 抖動,我把 Kalman 的 Q 設得極小(0.001)→ 濾波過度。機體一移動,濾波後的 RSSI 要 20 多步才跟上,圖標看起來就是卡住 — **壓噪與跟手失衡**。</a:t>
            </a:r>
          </a:p>
          <a:p>
            <a:endParaRPr/>
          </a:p>
          <a:p>
            <a:r>
              <a:t>【修復(v1.14.1)】</a:t>
            </a:r>
          </a:p>
          <a:p>
            <a:r>
              <a:t>① 改成自適應 Q:偵測到真移動就放大 Q 快跟,靜止才用小 Q 強平滑</a:t>
            </a:r>
          </a:p>
          <a:p>
            <a:r>
              <a:t>② 位置層再加「連續大跳變 N 次就重播種」— 治標定搬動後追不上的問題</a:t>
            </a:r>
          </a:p>
          <a:p>
            <a:endParaRPr/>
          </a:p>
          <a:p>
            <a:r>
              <a:t>【修復效果三者兼得】靜止時抖動明顯收斂、穩態時解算穩定停在對的位置、移動時圖標跟手不卡。</a:t>
            </a:r>
          </a:p>
          <a:p>
            <a:endParaRPr/>
          </a:p>
          <a:p>
            <a:r>
              <a:t>【★ 這裡我要特別誠實(重要)】以上是除錯過程中在軟體與仿真層觀察到的**定性改善**,不是真實硬體的精度數字。真實硬體的定位精度實驗還沒做完,要等完整聯通後才能量化。</a:t>
            </a:r>
          </a:p>
          <a:p>
            <a:endParaRPr/>
          </a:p>
          <a:p>
            <a:r>
              <a:t>【備詢·不念】</a:t>
            </a:r>
          </a:p>
          <a:p>
            <a:r>
              <a:t>Q:定位精度是多少?</a:t>
            </a:r>
          </a:p>
          <a:p>
            <a:r>
              <a:t>A:誠實答 — 定位鏈路已打通,但硬體精度實驗仍在進行,我不給未經實測的數字。這比編一個數字然後被追問來源更穩。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41 字≈11 秒 ｜ 完整版 597 字≈2.7 分</a:t>
            </a:r>
          </a:p>
          <a:p>
            <a:endParaRPr/>
          </a:p>
          <a:p>
            <a:r>
              <a:t>【一句話】位置層 Kalman 在做的事:在「模型預測」與「量測結果」之間,自動決定該信誰。</a:t>
            </a:r>
          </a:p>
          <a:p>
            <a:endParaRPr/>
          </a:p>
          <a:p>
            <a:r>
              <a:t>【每一拍有兩個位置說法】</a:t>
            </a:r>
          </a:p>
          <a:p>
            <a:r>
              <a:t>· **預測** — 按上一拍的位置加速度外推:「照這個速度,現在應該在這裡」。它平滑,但如果運動模型不準就會漂。</a:t>
            </a:r>
          </a:p>
          <a:p>
            <a:r>
              <a:t>· **量測** — 這一拍三邊定位解出的座標。它貼近真實,但因為 RSSI 抖動而劇烈跳動。</a:t>
            </a:r>
          </a:p>
          <a:p>
            <a:endParaRPr/>
          </a:p>
          <a:p>
            <a:r>
              <a:t>【輸出怎麼算】輸出 = 預測 + K ×(量測 − 預測)</a:t>
            </a:r>
          </a:p>
          <a:p>
            <a:endParaRPr/>
          </a:p>
          <a:p>
            <a:r>
              <a:t>K 叫卡爾曼增益,它是自動算出來的信任比例:</a:t>
            </a:r>
          </a:p>
          <a:p>
            <a:r>
              <a:t>· 量測雜訊 R 大(訊號很吵)→ K 變小 → 更信預測</a:t>
            </a:r>
          </a:p>
          <a:p>
            <a:r>
              <a:t>· 過程雜訊 Q 大(模型不可靠)→ K 變大 → 更信量測</a:t>
            </a:r>
          </a:p>
          <a:p>
            <a:endParaRPr/>
          </a:p>
          <a:p>
            <a:r>
              <a:t>**K 不是人設的,是濾波器每一拍根據當前的不確定度自己算的** — 這是 Kalman 相對於固定權重平均的根本差別。</a:t>
            </a:r>
          </a:p>
          <a:p>
            <a:endParaRPr/>
          </a:p>
          <a:p>
            <a:r>
              <a:t>【本系統的設定】狀態向量包含位置與速度,採用勻速模型。</a:t>
            </a:r>
          </a:p>
          <a:p>
            <a:r>
              <a:t>**為什麼要帶速度**:只有位置的話,預測就是「和上一拍一樣」,每次都是事後追;帶了速度,預測才能沿著運動方向外推,跟隨才不會滯後。</a:t>
            </a:r>
          </a:p>
          <a:p>
            <a:endParaRPr/>
          </a:p>
          <a:p>
            <a:r>
              <a:t>【★ 誠實邊界(一定要講)】Kalman 救的是**跳動**,救不了**系統性偏差**。如果某支錨的 P₀ 標定錯了,或 n 設偏了,整場的解算都會朝同一個方向偏 — 而 Kalman 只會平滑地跟著偏,輸出一個「很穩定的錯誤位置」。所以標定才是根基,濾波是在標定正確的前提下改善穩定性,兩者不能互相替代。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Q:為什麼不用更高階的模型(帶加速度)?</a:t>
            </a:r>
          </a:p>
          <a:p>
            <a:r>
              <a:t>A:室內近懸停以低速運動為主,勻速模型已足夠。模型階數越高,狀態維度越多、對雜訊越敏感,反而不穩。</a:t>
            </a:r>
          </a:p>
          <a:p>
            <a:endParaRPr/>
          </a:p>
          <a:p>
            <a:r>
              <a:t>Q:兩層 Kalman(訊號域一層、位置域一層)會不會重複?</a:t>
            </a:r>
          </a:p>
          <a:p>
            <a:r>
              <a:t>A:治的是不同東西。訊號域治的是 RSSI 的輸入雜訊,位置域治的是幾何解算本身的不穩定 — 即使 RSSI 完全乾淨,四錨交會的幾何也會因為錨的分布而放大誤差。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33 字≈9 秒 ｜ 完整版 351 字≈1.6 分</a:t>
            </a:r>
          </a:p>
          <a:p>
            <a:endParaRPr/>
          </a:p>
          <a:p>
            <a:r>
              <a:t>【一句話】九步定位引擎 — 從這頁可以看出它不是「普通的 RSSI 定位」。</a:t>
            </a:r>
          </a:p>
          <a:p>
            <a:endParaRPr/>
          </a:p>
          <a:p>
            <a:r>
              <a:t>【九步順序】</a:t>
            </a:r>
          </a:p>
          <a:p>
            <a:r>
              <a:t>信標廣播 → 四錨採集 → **自適應 Kalman 濾波(訊號域)** → 對數模型逐錨 P₀ 轉距離 → 自適應 n(錨間互測反算)→ 加權最小二乘解算 → 位置 Kalman 平滑軌跡</a:t>
            </a:r>
          </a:p>
          <a:p>
            <a:endParaRPr/>
          </a:p>
          <a:p>
            <a:r>
              <a:t>【★ 順序本身就是設計決定】注意濾波在「轉距離之前」。原因是:訊號域 1 dB 的波動,轉成距離後會被指數放大成數十公分到公尺級。**先濾再轉**,才不會把小抖動放大成大誤差。這個順序如果顛倒,後面再怎麼濾都救不回來。</a:t>
            </a:r>
          </a:p>
          <a:p>
            <a:endParaRPr/>
          </a:p>
          <a:p>
            <a:r>
              <a:t>【橙色標的部分】自適應 RSSI 濾波是本文的改進重點,接下來三頁展開:</a:t>
            </a:r>
          </a:p>
          <a:p>
            <a:r>
              <a:t>① 先看清問題(RSSI 到底難在哪)</a:t>
            </a:r>
          </a:p>
          <a:p>
            <a:r>
              <a:t>② 再講自適應 Kalman 這個方法</a:t>
            </a:r>
          </a:p>
          <a:p>
            <a:r>
              <a:t>③ 最後是一次真實除錯的故事與數據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Q:為什麼要兩層 Kalman(訊號域一層、位置域一層)?</a:t>
            </a:r>
          </a:p>
          <a:p>
            <a:r>
              <a:t>A:兩層治的是不同問題 — 訊號域治 RSSI 抖動,位置域治解算結果的跳動。前者是輸入雜訊,後者是幾何解算的不穩定。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33 字≈9 秒 ｜ 完整版 404 字≈1.8 分</a:t>
            </a:r>
          </a:p>
          <a:p>
            <a:endParaRPr/>
          </a:p>
          <a:p>
            <a:r>
              <a:t>【一句話】拿到座標之後,怎麼把它變成飛機的動作 — 這是位置閉環的四個步驟。</a:t>
            </a:r>
          </a:p>
          <a:p>
            <a:endParaRPr/>
          </a:p>
          <a:p>
            <a:r>
              <a:t>【四步】</a:t>
            </a:r>
          </a:p>
          <a:p>
            <a:r>
              <a:t>① **位置誤差** — 目標座標減去目前座標,得到還差多少。</a:t>
            </a:r>
          </a:p>
          <a:p>
            <a:r>
              <a:t>② **限速指令** — 誤差乘上增益轉為期望速度,並施加上限。不限速的話,誤差大時會要求飛機以極高速度衝過去,超出可控範圍。</a:t>
            </a:r>
          </a:p>
          <a:p>
            <a:r>
              <a:t>③ **座標轉換** — **這一步最關鍵**:誤差是在場地座標系(世界座標)算的,但飛機的 roll/pitch 是相對自身機體的。必須依當前航向把世界座標的期望速度旋轉到機體座標系,否則飛機會朝錯誤方向飛。</a:t>
            </a:r>
          </a:p>
          <a:p>
            <a:r>
              <a:t>④ **姿態指令** — 期望速度轉為 roll/pitch 目標角,交給既有的串級 PID。</a:t>
            </a:r>
          </a:p>
          <a:p>
            <a:endParaRPr/>
          </a:p>
          <a:p>
            <a:r>
              <a:t>【上位機的四項功能】即時地圖顯示、點選導航、逐錨標定介面、參數調整。</a:t>
            </a:r>
          </a:p>
          <a:p>
            <a:endParaRPr/>
          </a:p>
          <a:p>
            <a:r>
              <a:t>【★ 誠實邊界】此閉環已完成設計與實作,但完整的閉環自由飛行尚未驗證 — 目前定位精度為演示等級,直接用於閉環控制會使飛機在目標點附近震盪。</a:t>
            </a:r>
          </a:p>
          <a:p>
            <a:endParaRPr/>
          </a:p>
          <a:p>
            <a:r>
              <a:t>【備詢·不念】</a:t>
            </a:r>
          </a:p>
          <a:p>
            <a:r>
              <a:t>Q:座標轉換錯了會怎樣?</a:t>
            </a:r>
          </a:p>
          <a:p>
            <a:r>
              <a:t>A:飛機會朝偏差一個航向角的方向飛,而且誤差越大偏得越遠 — 這是位置閉環最常見的錯誤來源。</a:t>
            </a:r>
          </a:p>
          <a:p>
            <a:endParaRPr/>
          </a:p>
          <a:p>
            <a:r>
              <a:t>Q:為什麼要限速?</a:t>
            </a:r>
          </a:p>
          <a:p>
            <a:r>
              <a:t>A:位置環的輸出是速度指令,不限速時大誤差會產生超出機體能力的指令,導致姿態失控。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【延伸】一句話版 36 字≈10 秒 ｜ 完整版 435 字≈2.0 分</a:t>
            </a:r>
          </a:p>
          <a:p>
            <a:endParaRPr/>
          </a:p>
          <a:p>
            <a:r>
              <a:t>【一句話】三欄對照:傳統做法、對標文獻、本文方法 — 而且要把「誰的實測」講清楚。</a:t>
            </a:r>
          </a:p>
          <a:p>
            <a:endParaRPr/>
          </a:p>
          <a:p>
            <a:r>
              <a:t>【三欄】</a:t>
            </a:r>
          </a:p>
          <a:p>
            <a:r>
              <a:t>① 傳統做法:原始 RSSI 直接轉距離、三邊定位、無濾波 → 誤差 3 米以上,跳動劇烈無法閉環</a:t>
            </a:r>
          </a:p>
          <a:p>
            <a:r>
              <a:t>② 對標文獻(王琳 2025,NTUST 碩論):同級 ESP32 硬體,RSSI 濾波 + Kalman + 自適應 n + 最小二乘 → 實測 MAE 1.88 米</a:t>
            </a:r>
          </a:p>
          <a:p>
            <a:r>
              <a:t>③ 本文方法:自適應 Kalman 濾 RSSI → 對數模型逐錨 P₀ 轉距離 → 加權最小二乘 → 位置 Kalman,再加上位機地圖整合與閉環控制 → 目標 2 米內</a:t>
            </a:r>
          </a:p>
          <a:p>
            <a:endParaRPr/>
          </a:p>
          <a:p>
            <a:r>
              <a:t>【★ 必須主動區分清楚的兩件事】</a:t>
            </a:r>
          </a:p>
          <a:p>
            <a:r>
              <a:t>① 硬體不同:文獻用 ESP32 WiFi-RSSI,我用 BLE-RSSI。</a:t>
            </a:r>
          </a:p>
          <a:p>
            <a:r>
              <a:t>② **1.88m 是她的實測,是我的對標目標,不是我的成績。** 我的定位目前完成設計與實作,精度待量化。</a:t>
            </a:r>
          </a:p>
          <a:p>
            <a:endParaRPr/>
          </a:p>
          <a:p>
            <a:r>
              <a:t>【為什麼這樣講】主動說明比被問到再解釋好。委員最在意的就是「這個數字是誰的」,先講清楚反而建立可信度。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26 字≈7 秒 ｜ 完整版 269 字≈1.2 分</a:t>
            </a:r>
          </a:p>
          <a:p>
            <a:endParaRPr/>
          </a:p>
          <a:p>
            <a:r>
              <a:t>【一句話】定位系統的實機影片,同時展示可行性與真實的波動情況。</a:t>
            </a:r>
          </a:p>
          <a:p>
            <a:endParaRPr/>
          </a:p>
          <a:p>
            <a:r>
              <a:t>【建議片段順序】</a:t>
            </a:r>
          </a:p>
          <a:p>
            <a:r>
              <a:t>① 四錨部署現場 — 讓委員看到實際的場地規模與錨點擺位</a:t>
            </a:r>
          </a:p>
          <a:p>
            <a:r>
              <a:t>② 上位機地圖顯示 — 四錨座標與飛機位置</a:t>
            </a:r>
          </a:p>
          <a:p>
            <a:r>
              <a:t>③ 手持信標移動 — 沿已知路徑走一段</a:t>
            </a:r>
          </a:p>
          <a:p>
            <a:r>
              <a:t>④ 地圖軌跡跟隨 — 觀察圖標是否跟得上</a:t>
            </a:r>
          </a:p>
          <a:p>
            <a:r>
              <a:t>⑤ 濾波前後對比 — 這段最有價值,直接看出自適應 Kalman 的效果</a:t>
            </a:r>
          </a:p>
          <a:p>
            <a:endParaRPr/>
          </a:p>
          <a:p>
            <a:r>
              <a:t>【★ 播放時要主動說的一句】請注意軌跡仍有可見的波動 — 這是 BLE-RSSI 的物理限制,文獻同級硬體也在米級。影片呈現的是**演示等級**的定位,不是精密定位。我不會宣稱它比實際更好。</a:t>
            </a:r>
          </a:p>
          <a:p>
            <a:endParaRPr/>
          </a:p>
          <a:p>
            <a:r>
              <a:t>【備詢·不念】</a:t>
            </a:r>
          </a:p>
          <a:p>
            <a:r>
              <a:t>Q:看起來還是會飄,能用嗎?</a:t>
            </a:r>
          </a:p>
          <a:p>
            <a:r>
              <a:t>A:取決於用途。用於「知道飛機大致在場地哪一區」足夠;用於精密定點則不足,那需要 UWB 或視覺定位。這條邊界我在系統邊界那頁也明確標註。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延伸】一句話版</a:t>
            </a:r>
            <a:r>
              <a:rPr dirty="0"/>
              <a:t> 23 字≈6 秒 ｜ </a:t>
            </a:r>
            <a:r>
              <a:rPr dirty="0" err="1"/>
              <a:t>完整版</a:t>
            </a:r>
            <a:r>
              <a:rPr dirty="0"/>
              <a:t> 368 字≈1.7 分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一句話】功能矩陣直接回答一個問題:你比現有的多了什麼</a:t>
            </a:r>
            <a:r>
              <a:rPr dirty="0"/>
              <a:t>。</a:t>
            </a:r>
          </a:p>
          <a:p>
            <a:r>
              <a:rPr dirty="0"/>
              <a:t>【</a:t>
            </a:r>
            <a:r>
              <a:rPr dirty="0" err="1"/>
              <a:t>逐列講</a:t>
            </a:r>
            <a:r>
              <a:rPr dirty="0"/>
              <a:t>】</a:t>
            </a:r>
          </a:p>
          <a:p>
            <a:r>
              <a:rPr dirty="0"/>
              <a:t>· </a:t>
            </a:r>
            <a:r>
              <a:rPr dirty="0" err="1"/>
              <a:t>可換</a:t>
            </a:r>
            <a:r>
              <a:rPr dirty="0"/>
              <a:t> MCU </a:t>
            </a:r>
            <a:r>
              <a:rPr dirty="0" err="1"/>
              <a:t>載板</a:t>
            </a:r>
            <a:r>
              <a:rPr dirty="0"/>
              <a:t> — </a:t>
            </a:r>
            <a:r>
              <a:rPr dirty="0" err="1"/>
              <a:t>只有本研究有</a:t>
            </a:r>
            <a:endParaRPr dirty="0"/>
          </a:p>
          <a:p>
            <a:r>
              <a:rPr dirty="0"/>
              <a:t>· nRF52840 </a:t>
            </a:r>
            <a:r>
              <a:rPr dirty="0" err="1"/>
              <a:t>單晶片飛控</a:t>
            </a:r>
            <a:r>
              <a:rPr dirty="0"/>
              <a:t> — </a:t>
            </a:r>
            <a:r>
              <a:rPr dirty="0" err="1"/>
              <a:t>本文的移植成果</a:t>
            </a:r>
            <a:endParaRPr dirty="0"/>
          </a:p>
          <a:p>
            <a:r>
              <a:rPr dirty="0"/>
              <a:t>· ESP32S3 </a:t>
            </a:r>
            <a:r>
              <a:rPr dirty="0" err="1"/>
              <a:t>支援</a:t>
            </a:r>
            <a:r>
              <a:rPr dirty="0"/>
              <a:t> — </a:t>
            </a:r>
            <a:r>
              <a:rPr dirty="0" err="1"/>
              <a:t>本研究同板直插</a:t>
            </a:r>
            <a:r>
              <a:rPr dirty="0"/>
              <a:t>(</a:t>
            </a:r>
            <a:r>
              <a:rPr dirty="0" err="1"/>
              <a:t>注意這一列</a:t>
            </a:r>
            <a:r>
              <a:rPr dirty="0"/>
              <a:t> ESP-FC </a:t>
            </a:r>
            <a:r>
              <a:rPr dirty="0" err="1"/>
              <a:t>也有</a:t>
            </a:r>
            <a:r>
              <a:rPr dirty="0"/>
              <a:t> ✓,</a:t>
            </a:r>
            <a:r>
              <a:rPr dirty="0" err="1"/>
              <a:t>我沒有選擇性呈現</a:t>
            </a:r>
            <a:r>
              <a:rPr dirty="0"/>
              <a:t>)</a:t>
            </a:r>
          </a:p>
          <a:p>
            <a:r>
              <a:rPr dirty="0"/>
              <a:t>· ATKP </a:t>
            </a:r>
            <a:r>
              <a:rPr dirty="0" err="1"/>
              <a:t>地面站協議</a:t>
            </a:r>
            <a:r>
              <a:rPr dirty="0"/>
              <a:t> — </a:t>
            </a:r>
            <a:r>
              <a:rPr dirty="0" err="1"/>
              <a:t>從原廠移植保留</a:t>
            </a:r>
            <a:endParaRPr dirty="0"/>
          </a:p>
          <a:p>
            <a:r>
              <a:rPr dirty="0"/>
              <a:t>· BLE-RSSI </a:t>
            </a:r>
            <a:r>
              <a:rPr dirty="0" err="1"/>
              <a:t>室內定位</a:t>
            </a:r>
            <a:r>
              <a:rPr dirty="0"/>
              <a:t> — </a:t>
            </a:r>
            <a:r>
              <a:rPr dirty="0" err="1"/>
              <a:t>本研究新增</a:t>
            </a:r>
            <a:r>
              <a:rPr dirty="0"/>
              <a:t>(</a:t>
            </a:r>
            <a:r>
              <a:rPr dirty="0" err="1"/>
              <a:t>四錨</a:t>
            </a:r>
            <a:r>
              <a:rPr dirty="0"/>
              <a:t> + </a:t>
            </a:r>
            <a:r>
              <a:rPr dirty="0" err="1"/>
              <a:t>引擎</a:t>
            </a:r>
            <a:r>
              <a:rPr dirty="0"/>
              <a:t>)</a:t>
            </a:r>
          </a:p>
          <a:p>
            <a:r>
              <a:rPr dirty="0"/>
              <a:t>· </a:t>
            </a:r>
            <a:r>
              <a:rPr dirty="0" err="1"/>
              <a:t>單遙控多機</a:t>
            </a:r>
            <a:r>
              <a:rPr dirty="0"/>
              <a:t>(</a:t>
            </a:r>
            <a:r>
              <a:rPr dirty="0" err="1"/>
              <a:t>廣播架構</a:t>
            </a:r>
            <a:r>
              <a:rPr dirty="0"/>
              <a:t>) — </a:t>
            </a:r>
            <a:r>
              <a:rPr dirty="0" err="1"/>
              <a:t>本研究新增,三機制實測</a:t>
            </a:r>
            <a:endParaRPr dirty="0"/>
          </a:p>
          <a:p>
            <a:r>
              <a:rPr dirty="0"/>
              <a:t>· </a:t>
            </a:r>
            <a:r>
              <a:rPr dirty="0" err="1"/>
              <a:t>上位機整合</a:t>
            </a:r>
            <a:r>
              <a:rPr dirty="0"/>
              <a:t> — </a:t>
            </a:r>
            <a:r>
              <a:rPr dirty="0" err="1"/>
              <a:t>地圖</a:t>
            </a:r>
            <a:r>
              <a:rPr dirty="0"/>
              <a:t> + </a:t>
            </a:r>
            <a:r>
              <a:rPr dirty="0" err="1"/>
              <a:t>標定</a:t>
            </a:r>
            <a:r>
              <a:rPr dirty="0"/>
              <a:t> + </a:t>
            </a:r>
            <a:r>
              <a:rPr dirty="0" err="1"/>
              <a:t>控制一體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一句話收束】本研究</a:t>
            </a:r>
            <a:r>
              <a:rPr dirty="0"/>
              <a:t> = </a:t>
            </a:r>
            <a:r>
              <a:rPr dirty="0" err="1"/>
              <a:t>硬體彈性</a:t>
            </a:r>
            <a:r>
              <a:rPr dirty="0"/>
              <a:t>(</a:t>
            </a:r>
            <a:r>
              <a:rPr dirty="0" err="1"/>
              <a:t>可換</a:t>
            </a:r>
            <a:r>
              <a:rPr dirty="0"/>
              <a:t> MCU)+ </a:t>
            </a:r>
            <a:r>
              <a:rPr dirty="0" err="1"/>
              <a:t>協議傳承</a:t>
            </a:r>
            <a:r>
              <a:rPr dirty="0"/>
              <a:t>(ATKP)+ </a:t>
            </a:r>
            <a:r>
              <a:rPr dirty="0" err="1"/>
              <a:t>能力擴展</a:t>
            </a:r>
            <a:r>
              <a:rPr dirty="0"/>
              <a:t>(</a:t>
            </a:r>
            <a:r>
              <a:rPr dirty="0" err="1"/>
              <a:t>定位</a:t>
            </a:r>
            <a:r>
              <a:rPr dirty="0"/>
              <a:t>/</a:t>
            </a:r>
            <a:r>
              <a:rPr dirty="0" err="1"/>
              <a:t>多機</a:t>
            </a:r>
            <a:r>
              <a:rPr dirty="0"/>
              <a:t>/</a:t>
            </a:r>
            <a:r>
              <a:rPr dirty="0" err="1"/>
              <a:t>分級失控保護</a:t>
            </a:r>
            <a:r>
              <a:rPr dirty="0"/>
              <a:t>)</a:t>
            </a:r>
            <a:r>
              <a:rPr dirty="0" err="1"/>
              <a:t>的交集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【要主動提的一點】ESP32S3 </a:t>
            </a:r>
            <a:r>
              <a:rPr dirty="0" err="1"/>
              <a:t>那一列</a:t>
            </a:r>
            <a:r>
              <a:rPr dirty="0"/>
              <a:t> ESP-FC </a:t>
            </a:r>
            <a:r>
              <a:rPr dirty="0" err="1"/>
              <a:t>是勝出的</a:t>
            </a:r>
            <a:r>
              <a:rPr dirty="0"/>
              <a:t> — </a:t>
            </a:r>
            <a:r>
              <a:rPr dirty="0" err="1"/>
              <a:t>我沒有刻意隱藏。誠實呈現對照,比全部打勾更可信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備詢·不念</a:t>
            </a:r>
            <a:r>
              <a:rPr dirty="0"/>
              <a:t>】</a:t>
            </a:r>
          </a:p>
          <a:p>
            <a:r>
              <a:rPr dirty="0"/>
              <a:t>Q:ESP-FC 在 ESP32S3 </a:t>
            </a:r>
            <a:r>
              <a:rPr dirty="0" err="1"/>
              <a:t>那一列也打勾,那你的優勢在哪</a:t>
            </a:r>
            <a:r>
              <a:rPr dirty="0"/>
              <a:t>?</a:t>
            </a:r>
          </a:p>
          <a:p>
            <a:r>
              <a:rPr dirty="0"/>
              <a:t>A:我沒有隱藏這一點。ESP-FC </a:t>
            </a:r>
            <a:r>
              <a:rPr dirty="0" err="1"/>
              <a:t>是成熟的開源方案,我直接採用它當第三平台。本研究的價值在</a:t>
            </a:r>
            <a:r>
              <a:rPr dirty="0"/>
              <a:t>**</a:t>
            </a:r>
            <a:r>
              <a:rPr dirty="0" err="1"/>
              <a:t>可換</a:t>
            </a:r>
            <a:r>
              <a:rPr dirty="0"/>
              <a:t> MCU </a:t>
            </a:r>
            <a:r>
              <a:rPr dirty="0" err="1"/>
              <a:t>的載板</a:t>
            </a:r>
            <a:r>
              <a:rPr dirty="0"/>
              <a:t>**與**跨 MCU </a:t>
            </a:r>
            <a:r>
              <a:rPr dirty="0" err="1"/>
              <a:t>的韌體重構</a:t>
            </a:r>
            <a:r>
              <a:rPr dirty="0"/>
              <a:t>** — </a:t>
            </a:r>
            <a:r>
              <a:rPr dirty="0" err="1"/>
              <a:t>讓不同晶片能在同一物理基底上被公平評估,這是既有方案都沒有的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Q:原廠 MiniFly </a:t>
            </a:r>
            <a:r>
              <a:rPr dirty="0" err="1"/>
              <a:t>也能飛,你的差別是什麼</a:t>
            </a:r>
            <a:r>
              <a:rPr dirty="0"/>
              <a:t>?</a:t>
            </a:r>
          </a:p>
          <a:p>
            <a:r>
              <a:rPr dirty="0"/>
              <a:t>A:原廠是封閉的雙 MCU </a:t>
            </a:r>
            <a:r>
              <a:rPr dirty="0" err="1"/>
              <a:t>架構,無法更換主控、無法擴展定位與多機。本研究把它重建成可自行掌握、可繼續延伸的平台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21 字≈6 秒 ｜ 完整版 396 字≈1.8 分</a:t>
            </a:r>
          </a:p>
          <a:p>
            <a:endParaRPr/>
          </a:p>
          <a:p>
            <a:r>
              <a:t>【一句話】每個數字都可追溯,而且不給未經實測的數字。</a:t>
            </a:r>
          </a:p>
          <a:p>
            <a:endParaRPr/>
          </a:p>
          <a:p>
            <a:r>
              <a:t>【系統一(上排)】</a:t>
            </a:r>
          </a:p>
          <a:p>
            <a:r>
              <a:t>· 7 個驅動模組完成移植 — GPIO/I2C/PWM/無線/USB/排程/感測</a:t>
            </a:r>
          </a:p>
          <a:p>
            <a:r>
              <a:t>· 3 層系統級問題解決 — 無線封包 / USB 死鎖 / 排程歸零</a:t>
            </a:r>
          </a:p>
          <a:p>
            <a:r>
              <a:t>· 2 個飛控平台同板實證 — nRF52840 + ESP32S3 直插可換</a:t>
            </a:r>
          </a:p>
          <a:p>
            <a:endParaRPr/>
          </a:p>
          <a:p>
            <a:r>
              <a:t>【系統二(下排)】</a:t>
            </a:r>
          </a:p>
          <a:p>
            <a:r>
              <a:t>· 7 步定位處理鏈 — 自適應 KF + 對數模型 + 加權 LSQ + 位置 Kalman</a:t>
            </a:r>
          </a:p>
          <a:p>
            <a:r>
              <a:t>· 4 錨定位網路 — 閘道 + 四錨 + 上位機標定介面</a:t>
            </a:r>
          </a:p>
          <a:p>
            <a:r>
              <a:t>· &lt;2m 定位目標 — 對標王琳 2025 的 BLE 同級 MAE 1.88m</a:t>
            </a:r>
          </a:p>
          <a:p>
            <a:endParaRPr/>
          </a:p>
          <a:p>
            <a:r>
              <a:t>【★ 最後一項要主動說明】1.88m 是文獻的**實測值**,是我的**對標目標**,不是我的成績。她用 ESP32 WiFi、我用 BLE,硬體也不同。我的精度待量化。</a:t>
            </a:r>
          </a:p>
          <a:p>
            <a:endParaRPr/>
          </a:p>
          <a:p>
            <a:r>
              <a:t>【下一頁】多機控制的量化指標單獨一頁。</a:t>
            </a:r>
          </a:p>
          <a:p>
            <a:endParaRPr/>
          </a:p>
          <a:p>
            <a:r>
              <a:t>【備詢·不念】</a:t>
            </a:r>
          </a:p>
          <a:p>
            <a:r>
              <a:t>Q:七個驅動模組是怎麼算的?</a:t>
            </a:r>
          </a:p>
          <a:p>
            <a:r>
              <a:t>A:GPIO、I2C、PWM、無線、USB、排程、感測共七層,每層都有對應的實作與驗證。</a:t>
            </a:r>
          </a:p>
          <a:p>
            <a:endParaRPr/>
          </a:p>
          <a:p>
            <a:r>
              <a:t>Q:定位目標 &lt;2m 有把握達到嗎?</a:t>
            </a:r>
          </a:p>
          <a:p>
            <a:r>
              <a:t>A:對標文獻用同級硬體達到 1.88m,所以物理上可行。但我的精度尚未實測,不會先給承諾。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【延伸】一句話版 18 字≈5 秒 ｜ 完整版 351 字≈1.6 分</a:t>
            </a:r>
          </a:p>
          <a:p>
            <a:endParaRPr/>
          </a:p>
          <a:p>
            <a:r>
              <a:t>【一句話】把前面的設計聲明,換成可查核的數字。</a:t>
            </a:r>
          </a:p>
          <a:p>
            <a:r>
              <a:t>【六個數字】</a:t>
            </a:r>
          </a:p>
          <a:p>
            <a:r>
              <a:t>· 3 — 三種控制機制實測通過(廣播選台、多工廣播、廣播點名)</a:t>
            </a:r>
          </a:p>
          <a:p>
            <a:r>
              <a:t>· 1 — 一個包送達 N 台,帶寬 O(1);對照分時尋址的 O(N),兩台就砍半且指令必然錯開</a:t>
            </a:r>
          </a:p>
          <a:p>
            <a:r>
              <a:t>· 8 — 每台 8 字節指令段;兩台 19、三台 27 字節,都在單包內</a:t>
            </a:r>
          </a:p>
          <a:p>
            <a:r>
              <a:t>· **2 — 台同包異動實證**:同一廣播包內 ATK 手動油門、nRF 懸停,結果只有 ATK 動作</a:t>
            </a:r>
          </a:p>
          <a:p>
            <a:r>
              <a:t>· 0.13 — 秒,選中機的狀態刷新週期</a:t>
            </a:r>
          </a:p>
          <a:p>
            <a:r>
              <a:t>· 32 — 字節單包載荷上限</a:t>
            </a:r>
          </a:p>
          <a:p>
            <a:endParaRPr/>
          </a:p>
          <a:p>
            <a:r>
              <a:t>【★ 最關鍵的是「2」】它是多工廣播相對於一般廣播的唯一證據 — 一般廣播做不到。</a:t>
            </a:r>
          </a:p>
          <a:p>
            <a:endParaRPr/>
          </a:p>
          <a:p>
            <a:r>
              <a:t>【★ 「32」是誠實的邊界】它同時決定兩件事:為什麼要定點壓縮,以及單包最多 3 台的擴展上限。委員問擴展性時,這就是答案。</a:t>
            </a:r>
          </a:p>
          <a:p>
            <a:endParaRPr/>
          </a:p>
          <a:p>
            <a:r>
              <a:t>【備詢·不念】</a:t>
            </a:r>
          </a:p>
          <a:p>
            <a:r>
              <a:t>Q:0.13 秒的開銷會不會影響控制?</a:t>
            </a:r>
          </a:p>
          <a:p>
            <a:r>
              <a:t>A:飛機在線時應答約 1 毫秒,佔比不到 1%;掉線機自動降頻,最壞約 4%,實測手感無差異。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26 字≈7 秒 ｜ 完整版 357 字≈1.6 分</a:t>
            </a:r>
          </a:p>
          <a:p>
            <a:endParaRPr/>
          </a:p>
          <a:p>
            <a:r>
              <a:t>【一句話】誠實界定四條邊界 — 而且每條都對應明確的升級路徑。</a:t>
            </a:r>
          </a:p>
          <a:p>
            <a:r>
              <a:t>【四條邊界】</a:t>
            </a:r>
          </a:p>
          <a:p>
            <a:r>
              <a:t>① 定位精度 — 演示等級,受 RSSI 物理限制,適合粗定位而非精密定點</a:t>
            </a:r>
          </a:p>
          <a:p>
            <a:r>
              <a:t>② 多機控制 — **單包載荷 32 字節 → 單包最多 3 台;雙機同時編隊飛行尚未完整演示**</a:t>
            </a:r>
          </a:p>
          <a:p>
            <a:r>
              <a:t>③ 飛行包線 — 室內近懸停為主,未做激烈機動驗證</a:t>
            </a:r>
          </a:p>
          <a:p>
            <a:r>
              <a:t>④ 環境依賴 — 換新場地需重新標定 P₀/n</a:t>
            </a:r>
          </a:p>
          <a:p>
            <a:endParaRPr/>
          </a:p>
          <a:p>
            <a:r>
              <a:t>【★ 第②條要說清楚】三個機制都已實測,但「機制通了」和「兩台一起編隊飛完一段航線」是兩件事 — 後者還沒做。我在進度頁也是這樣標的,前後一致。</a:t>
            </a:r>
          </a:p>
          <a:p>
            <a:endParaRPr/>
          </a:p>
          <a:p>
            <a:r>
              <a:t>【為什麼誠實反而加分】</a:t>
            </a:r>
          </a:p>
          <a:p>
            <a:r>
              <a:t>① RSSI 精度是物理限制,文獻同級硬體也在米級 — 不是實作缺陷</a:t>
            </a:r>
          </a:p>
          <a:p>
            <a:r>
              <a:t>② 邊界清楚 = 知道系統能做什麼、不能做什麼,這正是工程能力</a:t>
            </a:r>
          </a:p>
          <a:p>
            <a:r>
              <a:t>③ 每條邊界都對應明確的升級路徑(下頁未來工作)</a:t>
            </a:r>
          </a:p>
          <a:p>
            <a:endParaRPr/>
          </a:p>
          <a:p>
            <a:r>
              <a:t>【備詢·不念】</a:t>
            </a:r>
          </a:p>
          <a:p>
            <a:r>
              <a:t>Q:這些限制怎麼解?</a:t>
            </a:r>
          </a:p>
          <a:p>
            <a:r>
              <a:t>A:定位可換 UWB 或 BLE 6.0 通道探測;多機台數受載荷限制,可改分組多包;飛行包線需更大機架與外部定位;重標定可做自動化流程。每條都有路。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延伸】一句話版</a:t>
            </a:r>
            <a:r>
              <a:rPr dirty="0"/>
              <a:t> 28 字≈8 秒 ｜ </a:t>
            </a:r>
            <a:r>
              <a:rPr dirty="0" err="1"/>
              <a:t>完整版</a:t>
            </a:r>
            <a:r>
              <a:rPr dirty="0"/>
              <a:t> 457 字≈2.1 分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一句話】五項工作、各自的真實狀態</a:t>
            </a:r>
            <a:r>
              <a:rPr dirty="0"/>
              <a:t> — </a:t>
            </a:r>
            <a:r>
              <a:rPr dirty="0" err="1"/>
              <a:t>注意兩處標籤是有意區分的</a:t>
            </a:r>
            <a:r>
              <a:rPr dirty="0"/>
              <a:t>。</a:t>
            </a:r>
          </a:p>
          <a:p>
            <a:r>
              <a:rPr dirty="0"/>
              <a:t>【</a:t>
            </a:r>
            <a:r>
              <a:rPr dirty="0" err="1"/>
              <a:t>逐項</a:t>
            </a:r>
            <a:r>
              <a:rPr dirty="0"/>
              <a:t>】</a:t>
            </a:r>
          </a:p>
          <a:p>
            <a:r>
              <a:rPr dirty="0"/>
              <a:t>① </a:t>
            </a:r>
            <a:r>
              <a:rPr dirty="0" err="1"/>
              <a:t>可換</a:t>
            </a:r>
            <a:r>
              <a:rPr dirty="0"/>
              <a:t> MCU </a:t>
            </a:r>
            <a:r>
              <a:rPr dirty="0" err="1"/>
              <a:t>飛控載板</a:t>
            </a:r>
            <a:r>
              <a:rPr dirty="0"/>
              <a:t> — </a:t>
            </a:r>
            <a:r>
              <a:rPr dirty="0" err="1"/>
              <a:t>已完成</a:t>
            </a:r>
            <a:r>
              <a:rPr dirty="0"/>
              <a:t>(</a:t>
            </a:r>
            <a:r>
              <a:rPr dirty="0" err="1"/>
              <a:t>自製</a:t>
            </a:r>
            <a:r>
              <a:rPr dirty="0"/>
              <a:t> PCB + </a:t>
            </a:r>
            <a:r>
              <a:rPr dirty="0" err="1"/>
              <a:t>雙平台直插實證</a:t>
            </a:r>
            <a:r>
              <a:rPr dirty="0"/>
              <a:t>)</a:t>
            </a:r>
          </a:p>
          <a:p>
            <a:r>
              <a:rPr dirty="0"/>
              <a:t>② 跨 MCU </a:t>
            </a:r>
            <a:r>
              <a:rPr dirty="0" err="1"/>
              <a:t>韌體移植</a:t>
            </a:r>
            <a:r>
              <a:rPr dirty="0"/>
              <a:t> — </a:t>
            </a:r>
            <a:r>
              <a:rPr dirty="0" err="1"/>
              <a:t>已完成</a:t>
            </a:r>
            <a:r>
              <a:rPr dirty="0"/>
              <a:t>(雙 </a:t>
            </a:r>
            <a:r>
              <a:rPr dirty="0" err="1"/>
              <a:t>MCU→單晶片</a:t>
            </a:r>
            <a:r>
              <a:rPr dirty="0"/>
              <a:t> + </a:t>
            </a:r>
            <a:r>
              <a:rPr dirty="0" err="1"/>
              <a:t>三層系統問題</a:t>
            </a:r>
            <a:r>
              <a:rPr dirty="0"/>
              <a:t>)</a:t>
            </a:r>
          </a:p>
          <a:p>
            <a:r>
              <a:rPr dirty="0"/>
              <a:t>③ BLE </a:t>
            </a:r>
            <a:r>
              <a:rPr dirty="0" err="1"/>
              <a:t>定位引擎</a:t>
            </a:r>
            <a:r>
              <a:rPr dirty="0"/>
              <a:t> — **</a:t>
            </a:r>
            <a:r>
              <a:rPr dirty="0" err="1"/>
              <a:t>設計完成</a:t>
            </a:r>
            <a:r>
              <a:rPr dirty="0"/>
              <a:t>**(</a:t>
            </a:r>
            <a:r>
              <a:rPr dirty="0" err="1"/>
              <a:t>九步處理鏈</a:t>
            </a:r>
            <a:r>
              <a:rPr dirty="0"/>
              <a:t> + </a:t>
            </a:r>
            <a:r>
              <a:rPr dirty="0" err="1"/>
              <a:t>文獻對照</a:t>
            </a:r>
            <a:r>
              <a:rPr dirty="0"/>
              <a:t>),</a:t>
            </a:r>
            <a:r>
              <a:rPr dirty="0" err="1"/>
              <a:t>精度尚待量化</a:t>
            </a:r>
            <a:endParaRPr dirty="0"/>
          </a:p>
          <a:p>
            <a:r>
              <a:rPr dirty="0"/>
              <a:t>④ </a:t>
            </a:r>
            <a:r>
              <a:rPr dirty="0" err="1"/>
              <a:t>地面站整合</a:t>
            </a:r>
            <a:r>
              <a:rPr dirty="0"/>
              <a:t> — </a:t>
            </a:r>
            <a:r>
              <a:rPr dirty="0" err="1"/>
              <a:t>已完成</a:t>
            </a:r>
            <a:r>
              <a:rPr dirty="0"/>
              <a:t>(</a:t>
            </a:r>
            <a:r>
              <a:rPr dirty="0" err="1"/>
              <a:t>地圖</a:t>
            </a:r>
            <a:r>
              <a:rPr dirty="0"/>
              <a:t> + </a:t>
            </a:r>
            <a:r>
              <a:rPr dirty="0" err="1"/>
              <a:t>標定</a:t>
            </a:r>
            <a:r>
              <a:rPr dirty="0"/>
              <a:t> + </a:t>
            </a:r>
            <a:r>
              <a:rPr dirty="0" err="1"/>
              <a:t>控制一體</a:t>
            </a:r>
            <a:r>
              <a:rPr dirty="0"/>
              <a:t>)</a:t>
            </a:r>
          </a:p>
          <a:p>
            <a:r>
              <a:rPr dirty="0"/>
              <a:t>⑤ </a:t>
            </a:r>
            <a:r>
              <a:rPr dirty="0" err="1"/>
              <a:t>單遙控多機</a:t>
            </a:r>
            <a:r>
              <a:rPr dirty="0"/>
              <a:t> — **</a:t>
            </a:r>
            <a:r>
              <a:rPr dirty="0" err="1"/>
              <a:t>實測驗證</a:t>
            </a:r>
            <a:r>
              <a:rPr dirty="0"/>
              <a:t>**(</a:t>
            </a:r>
            <a:r>
              <a:rPr dirty="0" err="1"/>
              <a:t>廣播定址</a:t>
            </a:r>
            <a:r>
              <a:rPr dirty="0"/>
              <a:t> + </a:t>
            </a:r>
            <a:r>
              <a:rPr dirty="0" err="1"/>
              <a:t>多工廣播</a:t>
            </a:r>
            <a:r>
              <a:rPr dirty="0"/>
              <a:t> + </a:t>
            </a:r>
            <a:r>
              <a:rPr dirty="0" err="1"/>
              <a:t>點名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【★ </a:t>
            </a:r>
            <a:r>
              <a:rPr dirty="0" err="1"/>
              <a:t>第③和第⑤的標籤不同,這是刻意的</a:t>
            </a:r>
            <a:r>
              <a:rPr dirty="0"/>
              <a:t>】</a:t>
            </a:r>
          </a:p>
          <a:p>
            <a:r>
              <a:rPr dirty="0" err="1"/>
              <a:t>定位標「設計完成」而不是「實測驗證</a:t>
            </a:r>
            <a:r>
              <a:rPr dirty="0"/>
              <a:t>」,</a:t>
            </a:r>
            <a:r>
              <a:rPr dirty="0" err="1"/>
              <a:t>因為硬體精度實驗還沒做完</a:t>
            </a:r>
            <a:r>
              <a:rPr dirty="0"/>
              <a:t> — </a:t>
            </a:r>
            <a:r>
              <a:rPr dirty="0" err="1"/>
              <a:t>我不會把設計完成說成實測完成</a:t>
            </a:r>
            <a:r>
              <a:rPr dirty="0"/>
              <a:t>。</a:t>
            </a:r>
          </a:p>
          <a:p>
            <a:r>
              <a:rPr dirty="0" err="1"/>
              <a:t>多機標「實測驗證</a:t>
            </a:r>
            <a:r>
              <a:rPr dirty="0"/>
              <a:t>」,</a:t>
            </a:r>
            <a:r>
              <a:rPr dirty="0" err="1"/>
              <a:t>因為三個機制都有實機影片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收束的話】這份研究把一套封閉的商用飛控,拆解到暫存器層級再重建在另一顆晶片上;過程中做出了可換</a:t>
            </a:r>
            <a:r>
              <a:rPr dirty="0"/>
              <a:t> MCU </a:t>
            </a:r>
            <a:r>
              <a:rPr dirty="0" err="1"/>
              <a:t>的硬體載板,也把平台能力延伸到室內定位與多機控制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它不是一個做完就結束的系統,而是一個我完全掌握、可以繼續往上加東西的平台</a:t>
            </a:r>
            <a:r>
              <a:rPr dirty="0"/>
              <a:t> — </a:t>
            </a:r>
            <a:r>
              <a:rPr dirty="0" err="1"/>
              <a:t>這是我認為最有價值的部分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備詢·不念</a:t>
            </a:r>
            <a:r>
              <a:rPr dirty="0"/>
              <a:t>】</a:t>
            </a:r>
          </a:p>
          <a:p>
            <a:r>
              <a:rPr dirty="0"/>
              <a:t>Q:為什麼定位標「設計完成」而多機標「實測驗證」?</a:t>
            </a:r>
          </a:p>
          <a:p>
            <a:r>
              <a:rPr dirty="0"/>
              <a:t>A:標準一致 — </a:t>
            </a:r>
            <a:r>
              <a:rPr dirty="0" err="1"/>
              <a:t>有實機驗證的才標實測。多機三個機制都有實機影片;定位鏈路雖已打通,但精度數字尚未量化,所以只標設計完成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Q:五項工作哪一項最重要?</a:t>
            </a:r>
          </a:p>
          <a:p>
            <a:r>
              <a:rPr dirty="0"/>
              <a:t>A:跨 MCU </a:t>
            </a:r>
            <a:r>
              <a:rPr dirty="0" err="1"/>
              <a:t>韌體移植。它是全篇的技術核心,其餘四項都建立在這個平台之上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核心】一句話版</a:t>
            </a:r>
            <a:r>
              <a:rPr dirty="0"/>
              <a:t> 31 字≈8 秒 ｜ </a:t>
            </a:r>
            <a:r>
              <a:rPr dirty="0" err="1"/>
              <a:t>完整版</a:t>
            </a:r>
            <a:r>
              <a:rPr dirty="0"/>
              <a:t> 362 字≈1.6 分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一句話】三個方向的未來工作,其中一個正好證明可換</a:t>
            </a:r>
            <a:r>
              <a:rPr dirty="0"/>
              <a:t> MCU </a:t>
            </a:r>
            <a:r>
              <a:rPr dirty="0" err="1"/>
              <a:t>載板的價值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未來工作</a:t>
            </a:r>
            <a:r>
              <a:rPr dirty="0"/>
              <a:t>】</a:t>
            </a:r>
          </a:p>
          <a:p>
            <a:r>
              <a:rPr dirty="0"/>
              <a:t>① </a:t>
            </a:r>
            <a:r>
              <a:rPr dirty="0" err="1"/>
              <a:t>完成</a:t>
            </a:r>
            <a:r>
              <a:rPr dirty="0"/>
              <a:t> PC </a:t>
            </a:r>
            <a:r>
              <a:rPr dirty="0" err="1"/>
              <a:t>端自動編隊</a:t>
            </a:r>
            <a:r>
              <a:rPr dirty="0"/>
              <a:t> — </a:t>
            </a:r>
            <a:r>
              <a:rPr dirty="0" err="1"/>
              <a:t>以定位回授驅動多工廣播,這是模式</a:t>
            </a:r>
            <a:r>
              <a:rPr dirty="0"/>
              <a:t> B </a:t>
            </a:r>
            <a:r>
              <a:rPr dirty="0" err="1"/>
              <a:t>打通後最直接的延伸</a:t>
            </a:r>
            <a:endParaRPr dirty="0"/>
          </a:p>
          <a:p>
            <a:r>
              <a:rPr dirty="0"/>
              <a:t>② </a:t>
            </a:r>
            <a:r>
              <a:rPr dirty="0" err="1"/>
              <a:t>定位精度實測與量化</a:t>
            </a:r>
            <a:r>
              <a:rPr dirty="0"/>
              <a:t> — </a:t>
            </a:r>
            <a:r>
              <a:rPr dirty="0" err="1"/>
              <a:t>目前唯一的量化空缺</a:t>
            </a:r>
            <a:endParaRPr dirty="0"/>
          </a:p>
          <a:p>
            <a:r>
              <a:rPr dirty="0"/>
              <a:t>③ BLE 6.0 </a:t>
            </a:r>
            <a:r>
              <a:rPr dirty="0" err="1"/>
              <a:t>通道探測</a:t>
            </a:r>
            <a:r>
              <a:rPr dirty="0"/>
              <a:t> — </a:t>
            </a:r>
            <a:r>
              <a:rPr dirty="0" err="1"/>
              <a:t>這是新標準內建的高精度測距。要升級只需換一顆支援的</a:t>
            </a:r>
            <a:r>
              <a:rPr dirty="0"/>
              <a:t> MCU </a:t>
            </a:r>
            <a:r>
              <a:rPr dirty="0" err="1"/>
              <a:t>插上去</a:t>
            </a:r>
            <a:r>
              <a:rPr dirty="0"/>
              <a:t> ← **</a:t>
            </a:r>
            <a:r>
              <a:rPr dirty="0" err="1"/>
              <a:t>這正是可換</a:t>
            </a:r>
            <a:r>
              <a:rPr dirty="0"/>
              <a:t> MCU </a:t>
            </a:r>
            <a:r>
              <a:rPr dirty="0" err="1"/>
              <a:t>載板的優勢,呼應主貢獻二</a:t>
            </a:r>
            <a:r>
              <a:rPr dirty="0"/>
              <a:t>**</a:t>
            </a:r>
          </a:p>
          <a:p>
            <a:r>
              <a:rPr dirty="0"/>
              <a:t>④ </a:t>
            </a:r>
            <a:r>
              <a:rPr dirty="0" err="1"/>
              <a:t>光流、雷射測距與平台化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結語】這份研究把一套封閉的商用飛控,拆解到暫存器層級再重建在另一顆晶片上;過程中做出了可換</a:t>
            </a:r>
            <a:r>
              <a:rPr dirty="0"/>
              <a:t> MCU </a:t>
            </a:r>
            <a:r>
              <a:rPr dirty="0" err="1"/>
              <a:t>的硬體載板,也把平台能力延伸到室內定位與多機控制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它不是一個做完就結束的系統,而是一個我完全掌握、可以繼續往上加東西的平台</a:t>
            </a:r>
            <a:r>
              <a:rPr dirty="0"/>
              <a:t> — </a:t>
            </a:r>
            <a:r>
              <a:rPr dirty="0" err="1"/>
              <a:t>這是我認為最有價值的部分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感謝教授指導,感謝各位委員,敬請指教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備詢·不念</a:t>
            </a:r>
            <a:r>
              <a:rPr dirty="0"/>
              <a:t>】</a:t>
            </a:r>
          </a:p>
          <a:p>
            <a:r>
              <a:rPr dirty="0"/>
              <a:t>Q:未來工作有優先順序嗎?</a:t>
            </a:r>
          </a:p>
          <a:p>
            <a:r>
              <a:rPr dirty="0"/>
              <a:t>A:第一是定位精度實測與量化,那是目前唯一的空缺;第二是 PC </a:t>
            </a:r>
            <a:r>
              <a:rPr dirty="0" err="1"/>
              <a:t>端自動編隊,模式</a:t>
            </a:r>
            <a:r>
              <a:rPr dirty="0"/>
              <a:t> B </a:t>
            </a:r>
            <a:r>
              <a:rPr dirty="0" err="1"/>
              <a:t>打通後這是最直接的延伸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Q:BLE 6.0 </a:t>
            </a:r>
            <a:r>
              <a:rPr dirty="0" err="1"/>
              <a:t>通道探測要換硬體嗎</a:t>
            </a:r>
            <a:r>
              <a:rPr dirty="0"/>
              <a:t>?</a:t>
            </a:r>
          </a:p>
          <a:p>
            <a:r>
              <a:rPr dirty="0"/>
              <a:t>A:要換一顆支援的 MCU — </a:t>
            </a:r>
            <a:r>
              <a:rPr dirty="0" err="1"/>
              <a:t>而這正好是可換</a:t>
            </a:r>
            <a:r>
              <a:rPr dirty="0"/>
              <a:t> MCU </a:t>
            </a:r>
            <a:r>
              <a:rPr dirty="0" err="1"/>
              <a:t>載板的價值:只需拔插主控,不必重做整塊板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microsoft.com/office/2007/relationships/hdphoto" Target="../media/hdphoto1.wdp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645920"/>
            <a:ext cx="5486400" cy="5486400"/>
          </a:xfrm>
          <a:prstGeom prst="ellipse">
            <a:avLst/>
          </a:prstGeom>
          <a:solidFill>
            <a:srgbClr val="0A4D6E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875520" y="3200400"/>
            <a:ext cx="3657600" cy="3657600"/>
          </a:xfrm>
          <a:prstGeom prst="ellipse">
            <a:avLst/>
          </a:prstGeom>
          <a:solidFill>
            <a:srgbClr val="2389A8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2389A8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3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碩士學位論文口試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無人機系統整合</a:t>
            </a:r>
            <a:endParaRPr lang="en-US" sz="4000" dirty="0"/>
          </a:p>
          <a:p>
            <a:pPr marL="0" indent="0" algn="l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與控制研究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49808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Research on UAV System Integration and Control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526280"/>
            <a:ext cx="5943600" cy="0"/>
          </a:xfrm>
          <a:prstGeom prst="line">
            <a:avLst/>
          </a:prstGeom>
          <a:noFill/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研究生:</a:t>
            </a:r>
            <a:r>
              <a:rPr lang="en-US" sz="15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[你的姓名]</a:t>
            </a:r>
            <a:r>
              <a:rPr lang="en-US" sz="15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指導教授:</a:t>
            </a:r>
            <a:r>
              <a:rPr lang="en-US" sz="15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[教授姓名] 博士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[系所名稱]中華民國 [○○○] 年 [○] 月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目錄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39" y="14630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95577" y="1636776"/>
            <a:ext cx="475488" cy="475488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95577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6514" y="1682750"/>
            <a:ext cx="990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研究背景與動機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9273" y="2395728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95577" y="2569464"/>
            <a:ext cx="475488" cy="475488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95577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6514" y="2614930"/>
            <a:ext cx="990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4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系統架構與硬體設計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9273" y="3328416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95577" y="3502152"/>
            <a:ext cx="475488" cy="475488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95577" y="3502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6514" y="3547110"/>
            <a:ext cx="990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4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韌體移植與通訊協定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9273" y="4261104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95577" y="4434840"/>
            <a:ext cx="475488" cy="475488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95577" y="4434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6514" y="4479290"/>
            <a:ext cx="990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BLE </a:t>
            </a:r>
            <a:r>
              <a:rPr lang="zh-TW" altLang="en-US" sz="14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49273" y="5193792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95577" y="5367528"/>
            <a:ext cx="475488" cy="475488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95577" y="5367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26514" y="5411470"/>
            <a:ext cx="990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4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結論與未來展望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研究背景與動機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77240" y="1847088"/>
            <a:ext cx="603504" cy="60350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77240" y="1847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1664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傳統硬體故障難以檢測與更換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06654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傳統微型飛控將</a:t>
            </a:r>
            <a:r>
              <a:rPr lang="en-US" altLang="zh-TW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MCU</a:t>
            </a: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與感測器直接焊接於</a:t>
            </a:r>
            <a:r>
              <a:rPr lang="zh-CN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載板上</a:t>
            </a: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，當元件損壞或異常時難以單獨量測除錯，且無法拆卸更換。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99232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77240" y="3383279"/>
            <a:ext cx="603504" cy="60350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3383279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0020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開源平台的 </a:t>
            </a:r>
            <a:r>
              <a:rPr lang="en-US" altLang="zh-TW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RF </a:t>
            </a:r>
            <a:r>
              <a:rPr lang="zh-TW" alt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協定與晶片架構受到硬體限制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360273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 </a:t>
            </a:r>
            <a:r>
              <a:rPr lang="en-US" altLang="zh-TW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MiniFly </a:t>
            </a: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需外接射頻模塊（</a:t>
            </a:r>
            <a:r>
              <a:rPr lang="en-US" altLang="zh-TW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RF </a:t>
            </a: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模組），且常見的 </a:t>
            </a:r>
            <a:r>
              <a:rPr lang="en-US" altLang="zh-TW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 </a:t>
            </a: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平台硬體底層難以原生支援 </a:t>
            </a:r>
            <a:r>
              <a:rPr lang="en-US" altLang="zh-TW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 ESB </a:t>
            </a: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通訊協定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35424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77240" y="4919472"/>
            <a:ext cx="603504" cy="60350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77240" y="49194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00200" y="47365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室內無法使用衛星定位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51389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室內、隧道與倉儲環境收不到 </a:t>
            </a:r>
            <a:r>
              <a:rPr lang="en-US" altLang="zh-TW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GNSS </a:t>
            </a: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衛星訊號。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146304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685800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本研究的做法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0" y="1773936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zh-TW" altLang="en-US" sz="1400" dirty="0">
                <a:solidFill>
                  <a:schemeClr val="bg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自主設計一款</a:t>
            </a:r>
            <a:r>
              <a:rPr lang="zh-TW" altLang="en-US" sz="15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支援可更換 </a:t>
            </a:r>
            <a:r>
              <a:rPr lang="en-US" sz="15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MCU </a:t>
            </a:r>
            <a:r>
              <a:rPr lang="zh-TW" altLang="en-US" sz="15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核心板</a:t>
            </a:r>
            <a:r>
              <a:rPr lang="en-US" sz="1400" dirty="0">
                <a:solidFill>
                  <a:schemeClr val="bg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的PCB</a:t>
            </a:r>
            <a:r>
              <a:rPr lang="en-US" sz="15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,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zh-TW" altLang="en-US" sz="14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並將商用飛控韌體移植至 </a:t>
            </a:r>
            <a:r>
              <a:rPr lang="en-US" altLang="zh-TW" sz="14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nRF52840 SoC </a:t>
            </a:r>
            <a:r>
              <a:rPr lang="zh-TW" altLang="en-US" sz="14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平台，</a:t>
            </a:r>
            <a:endParaRPr lang="en-US" altLang="zh-TW" sz="1400" dirty="0">
              <a:solidFill>
                <a:srgbClr val="FFFFFF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zh-TW" altLang="en-US" sz="14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同時於該平台上導入 </a:t>
            </a:r>
            <a:r>
              <a:rPr lang="en-US" altLang="zh-TW" sz="14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BLE-RSSI </a:t>
            </a:r>
            <a:r>
              <a:rPr lang="zh-TW" altLang="en-US" sz="14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室內定位系統。</a:t>
            </a:r>
            <a:endParaRPr lang="en-US" sz="155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99EA73AE-6D6E-4E98-9F2B-C9C8F69EF9CF}"/>
              </a:ext>
            </a:extLst>
          </p:cNvPr>
          <p:cNvSpPr/>
          <p:nvPr/>
        </p:nvSpPr>
        <p:spPr>
          <a:xfrm>
            <a:off x="685800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22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研究貢獻</a:t>
            </a:r>
            <a:endParaRPr lang="en-US" sz="2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8D849FB7-B18B-479C-9310-2B24D8C5F42E}"/>
              </a:ext>
            </a:extLst>
          </p:cNvPr>
          <p:cNvSpPr/>
          <p:nvPr/>
        </p:nvSpPr>
        <p:spPr>
          <a:xfrm>
            <a:off x="6858000" y="3762756"/>
            <a:ext cx="45720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zh-TW" altLang="en-US" sz="1400" dirty="0">
                <a:solidFill>
                  <a:schemeClr val="bg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建立兼具高自主修改度、方便檢測更換、原廠通訊相容性與室內定位能力的微型無人機實驗平台。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研究貢獻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94E5FA17-FC17-481B-9146-CAFC7200EA69}"/>
              </a:ext>
            </a:extLst>
          </p:cNvPr>
          <p:cNvSpPr/>
          <p:nvPr/>
        </p:nvSpPr>
        <p:spPr>
          <a:xfrm>
            <a:off x="548640" y="1463040"/>
            <a:ext cx="110642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4D070E44-C7BD-4430-92F9-E08F2A516C65}"/>
              </a:ext>
            </a:extLst>
          </p:cNvPr>
          <p:cNvSpPr/>
          <p:nvPr/>
        </p:nvSpPr>
        <p:spPr>
          <a:xfrm>
            <a:off x="548640" y="1463040"/>
            <a:ext cx="146304" cy="1353312"/>
          </a:xfrm>
          <a:prstGeom prst="roundRect">
            <a:avLst>
              <a:gd name="adj" fmla="val 31250"/>
            </a:avLst>
          </a:prstGeom>
          <a:solidFill>
            <a:srgbClr val="0A4D6E"/>
          </a:solidFill>
          <a:ln/>
        </p:spPr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068FE900-A2C4-43AF-A30A-26AFC4169D35}"/>
              </a:ext>
            </a:extLst>
          </p:cNvPr>
          <p:cNvSpPr/>
          <p:nvPr/>
        </p:nvSpPr>
        <p:spPr>
          <a:xfrm>
            <a:off x="914400" y="1847088"/>
            <a:ext cx="603504" cy="603504"/>
          </a:xfrm>
          <a:prstGeom prst="ellipse">
            <a:avLst/>
          </a:prstGeom>
          <a:solidFill>
            <a:srgbClr val="0A4D6E"/>
          </a:solidFill>
          <a:ln/>
        </p:spPr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E1F31D7D-CF7E-4834-8E7F-8D5FCBB7829E}"/>
              </a:ext>
            </a:extLst>
          </p:cNvPr>
          <p:cNvSpPr/>
          <p:nvPr/>
        </p:nvSpPr>
        <p:spPr>
          <a:xfrm>
            <a:off x="914400" y="1847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F96755BA-2F93-4602-AD7A-D47392B7E4C4}"/>
              </a:ext>
            </a:extLst>
          </p:cNvPr>
          <p:cNvSpPr/>
          <p:nvPr/>
        </p:nvSpPr>
        <p:spPr>
          <a:xfrm>
            <a:off x="1783080" y="16459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7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自製飛控電路板（硬體層面）</a:t>
            </a:r>
            <a:endParaRPr lang="en-US" sz="17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32B77CB8-637F-4E4F-90D7-CADE5F102232}"/>
              </a:ext>
            </a:extLst>
          </p:cNvPr>
          <p:cNvSpPr/>
          <p:nvPr/>
        </p:nvSpPr>
        <p:spPr>
          <a:xfrm>
            <a:off x="1783080" y="2084832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zh-TW" alt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解決傳統飛控焊接難以儀器檢測與單獨替換痛點，提升實驗擴充與維護性。</a:t>
            </a:r>
            <a:endParaRPr lang="en-US" sz="14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84FB756C-84CF-400E-9E82-70BA0ADAA2EB}"/>
              </a:ext>
            </a:extLst>
          </p:cNvPr>
          <p:cNvSpPr/>
          <p:nvPr/>
        </p:nvSpPr>
        <p:spPr>
          <a:xfrm>
            <a:off x="9464040" y="19202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主貢獻</a:t>
            </a:r>
            <a:endParaRPr lang="en-US" sz="1250" dirty="0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84AD2A24-5577-4BE0-917F-C86DC6036FE7}"/>
              </a:ext>
            </a:extLst>
          </p:cNvPr>
          <p:cNvSpPr/>
          <p:nvPr/>
        </p:nvSpPr>
        <p:spPr>
          <a:xfrm>
            <a:off x="548640" y="2907792"/>
            <a:ext cx="110642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0E223A43-97C3-49C6-AF09-6D27DDCCBB79}"/>
              </a:ext>
            </a:extLst>
          </p:cNvPr>
          <p:cNvSpPr/>
          <p:nvPr/>
        </p:nvSpPr>
        <p:spPr>
          <a:xfrm>
            <a:off x="548640" y="2907792"/>
            <a:ext cx="146304" cy="1353312"/>
          </a:xfrm>
          <a:prstGeom prst="roundRect">
            <a:avLst>
              <a:gd name="adj" fmla="val 31250"/>
            </a:avLst>
          </a:prstGeom>
          <a:solidFill>
            <a:srgbClr val="2389A8"/>
          </a:solidFill>
          <a:ln/>
        </p:spPr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727FDCD2-C3D4-403D-9D8A-6639FB27EE1E}"/>
              </a:ext>
            </a:extLst>
          </p:cNvPr>
          <p:cNvSpPr/>
          <p:nvPr/>
        </p:nvSpPr>
        <p:spPr>
          <a:xfrm>
            <a:off x="914400" y="3291840"/>
            <a:ext cx="603504" cy="603504"/>
          </a:xfrm>
          <a:prstGeom prst="ellipse">
            <a:avLst/>
          </a:prstGeom>
          <a:solidFill>
            <a:srgbClr val="0A4D6E"/>
          </a:solidFill>
          <a:ln/>
        </p:spPr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D56D99B6-4B58-4FA6-BD20-F44540958339}"/>
              </a:ext>
            </a:extLst>
          </p:cNvPr>
          <p:cNvSpPr/>
          <p:nvPr/>
        </p:nvSpPr>
        <p:spPr>
          <a:xfrm>
            <a:off x="914400" y="3291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50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2980B869-7BFE-483B-B81D-9789382E42F4}"/>
              </a:ext>
            </a:extLst>
          </p:cNvPr>
          <p:cNvSpPr/>
          <p:nvPr/>
        </p:nvSpPr>
        <p:spPr>
          <a:xfrm>
            <a:off x="1783080" y="309067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7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飛控韌體移植（韌體與通訊層面）</a:t>
            </a:r>
            <a:endParaRPr lang="en-US" sz="1700" dirty="0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00968B82-DC34-4CB4-ABB7-8BCB99AACEB9}"/>
              </a:ext>
            </a:extLst>
          </p:cNvPr>
          <p:cNvSpPr/>
          <p:nvPr/>
        </p:nvSpPr>
        <p:spPr>
          <a:xfrm>
            <a:off x="1783080" y="3529584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zh-TW" alt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整合 </a:t>
            </a:r>
            <a:r>
              <a:rPr lang="en-US" altLang="zh-TW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2.4GHz RF </a:t>
            </a:r>
            <a:r>
              <a:rPr lang="zh-TW" alt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並原生支援 </a:t>
            </a:r>
            <a:r>
              <a:rPr lang="en-US" altLang="zh-TW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 ESB </a:t>
            </a:r>
            <a:r>
              <a:rPr lang="zh-TW" alt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通訊協定，完全相容原廠遙控生態。</a:t>
            </a:r>
            <a:endParaRPr lang="en-US" sz="14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A9A03510-DDAC-42BC-90E7-3E2C3C87D63F}"/>
              </a:ext>
            </a:extLst>
          </p:cNvPr>
          <p:cNvSpPr/>
          <p:nvPr/>
        </p:nvSpPr>
        <p:spPr>
          <a:xfrm>
            <a:off x="9464040" y="336499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主貢獻</a:t>
            </a:r>
            <a:endParaRPr lang="en-US" sz="1250" dirty="0"/>
          </a:p>
        </p:txBody>
      </p:sp>
      <p:sp>
        <p:nvSpPr>
          <p:cNvPr id="36" name="Shape 20">
            <a:extLst>
              <a:ext uri="{FF2B5EF4-FFF2-40B4-BE49-F238E27FC236}">
                <a16:creationId xmlns:a16="http://schemas.microsoft.com/office/drawing/2014/main" id="{C53590D6-CC96-4067-A057-ED70B4C85248}"/>
              </a:ext>
            </a:extLst>
          </p:cNvPr>
          <p:cNvSpPr/>
          <p:nvPr/>
        </p:nvSpPr>
        <p:spPr>
          <a:xfrm>
            <a:off x="548640" y="4352544"/>
            <a:ext cx="110642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</p:sp>
      <p:sp>
        <p:nvSpPr>
          <p:cNvPr id="37" name="Shape 21">
            <a:extLst>
              <a:ext uri="{FF2B5EF4-FFF2-40B4-BE49-F238E27FC236}">
                <a16:creationId xmlns:a16="http://schemas.microsoft.com/office/drawing/2014/main" id="{43A419DA-FE00-4DFB-98B8-8B166DCB444D}"/>
              </a:ext>
            </a:extLst>
          </p:cNvPr>
          <p:cNvSpPr/>
          <p:nvPr/>
        </p:nvSpPr>
        <p:spPr>
          <a:xfrm>
            <a:off x="548640" y="4352544"/>
            <a:ext cx="146304" cy="1353312"/>
          </a:xfrm>
          <a:prstGeom prst="roundRect">
            <a:avLst>
              <a:gd name="adj" fmla="val 31250"/>
            </a:avLst>
          </a:prstGeom>
          <a:solidFill>
            <a:srgbClr val="00B894"/>
          </a:solidFill>
          <a:ln/>
        </p:spPr>
      </p:sp>
      <p:sp>
        <p:nvSpPr>
          <p:cNvPr id="38" name="Shape 22">
            <a:extLst>
              <a:ext uri="{FF2B5EF4-FFF2-40B4-BE49-F238E27FC236}">
                <a16:creationId xmlns:a16="http://schemas.microsoft.com/office/drawing/2014/main" id="{A72934C9-4513-4631-ABD3-EFE99FA75DCC}"/>
              </a:ext>
            </a:extLst>
          </p:cNvPr>
          <p:cNvSpPr/>
          <p:nvPr/>
        </p:nvSpPr>
        <p:spPr>
          <a:xfrm>
            <a:off x="914400" y="4736592"/>
            <a:ext cx="603504" cy="603504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8428737E-743B-4315-B884-15F46E373337}"/>
              </a:ext>
            </a:extLst>
          </p:cNvPr>
          <p:cNvSpPr/>
          <p:nvPr/>
        </p:nvSpPr>
        <p:spPr>
          <a:xfrm>
            <a:off x="914400" y="47365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500" dirty="0"/>
          </a:p>
        </p:txBody>
      </p:sp>
      <p:sp>
        <p:nvSpPr>
          <p:cNvPr id="40" name="Text 24">
            <a:extLst>
              <a:ext uri="{FF2B5EF4-FFF2-40B4-BE49-F238E27FC236}">
                <a16:creationId xmlns:a16="http://schemas.microsoft.com/office/drawing/2014/main" id="{59A5D810-C694-4E2E-A78F-5F0D98E539C7}"/>
              </a:ext>
            </a:extLst>
          </p:cNvPr>
          <p:cNvSpPr/>
          <p:nvPr/>
        </p:nvSpPr>
        <p:spPr>
          <a:xfrm>
            <a:off x="1783080" y="453542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BLE </a:t>
            </a:r>
            <a:r>
              <a:rPr lang="zh-TW" altLang="en-US" sz="17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室內定位整合（應用層面）</a:t>
            </a:r>
            <a:endParaRPr lang="en-US" sz="1700" dirty="0"/>
          </a:p>
        </p:txBody>
      </p:sp>
      <p:sp>
        <p:nvSpPr>
          <p:cNvPr id="41" name="Text 25">
            <a:extLst>
              <a:ext uri="{FF2B5EF4-FFF2-40B4-BE49-F238E27FC236}">
                <a16:creationId xmlns:a16="http://schemas.microsoft.com/office/drawing/2014/main" id="{35B19DFB-11F3-4A4C-90FE-37DABDB6A47A}"/>
              </a:ext>
            </a:extLst>
          </p:cNvPr>
          <p:cNvSpPr/>
          <p:nvPr/>
        </p:nvSpPr>
        <p:spPr>
          <a:xfrm>
            <a:off x="1783080" y="4974336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zh-TW" alt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實現微型無人機於室內環境之自主定位與控制能力。</a:t>
            </a:r>
            <a:endParaRPr lang="en-US" sz="1400" dirty="0"/>
          </a:p>
        </p:txBody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3A260918-3638-44ED-8035-5E79E3C9DE56}"/>
              </a:ext>
            </a:extLst>
          </p:cNvPr>
          <p:cNvSpPr/>
          <p:nvPr/>
        </p:nvSpPr>
        <p:spPr>
          <a:xfrm>
            <a:off x="9464040" y="480974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支撐貢獻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系統總架構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108960" y="1463040"/>
            <a:ext cx="5943600" cy="73152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108960" y="14630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上位機:顯示地圖、解算位置、下達指令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0" y="2194560"/>
            <a:ext cx="0" cy="457200"/>
          </a:xfrm>
          <a:prstGeom prst="line">
            <a:avLst/>
          </a:prstGeom>
          <a:noFill/>
          <a:ln w="1905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0" y="2194560"/>
            <a:ext cx="0" cy="457200"/>
          </a:xfrm>
          <a:prstGeom prst="line">
            <a:avLst/>
          </a:prstGeom>
          <a:noFill/>
          <a:ln w="1905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5212080" cy="3063240"/>
          </a:xfrm>
          <a:prstGeom prst="roundRect">
            <a:avLst>
              <a:gd name="adj" fmla="val 2388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飛控系統(系統一)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333756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3337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</a:t>
            </a:r>
            <a:r>
              <a:rPr 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遙控器(</a:t>
            </a:r>
            <a:r>
              <a:rPr lang="zh-CN" alt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連接電腦與發送控制信號</a:t>
            </a:r>
            <a:r>
              <a:rPr 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4069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 2.4GHz ESB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438912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438912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飛機A</a:t>
            </a:r>
            <a:endParaRPr lang="en-US" sz="12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ATK原機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46120" y="438912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246120" y="438912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飛機B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自製板+nRF52840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2697480"/>
            <a:ext cx="5669280" cy="3063240"/>
          </a:xfrm>
          <a:prstGeom prst="roundRect">
            <a:avLst>
              <a:gd name="adj" fmla="val 2388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943600" y="2697480"/>
            <a:ext cx="5669280" cy="502920"/>
          </a:xfrm>
          <a:prstGeom prst="roundRect">
            <a:avLst>
              <a:gd name="adj" fmla="val 14545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943600" y="26974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定位系統(系統二)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172200" y="333756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172200" y="33375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125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ESP32 </a:t>
            </a:r>
            <a:r>
              <a:rPr lang="zh-TW" altLang="en-US" sz="125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中繼站</a:t>
            </a:r>
            <a:r>
              <a:rPr lang="en-US" sz="125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(連接無線與電腦)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172200" y="4069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 ESP-</a:t>
            </a:r>
            <a:r>
              <a:rPr lang="en-US" altLang="zh-CN" sz="1100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4389120"/>
            <a:ext cx="914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172200" y="44988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</a:t>
            </a:r>
            <a:r>
              <a:rPr lang="en-US" sz="1100" b="1" dirty="0"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</a:t>
            </a: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4983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RSSI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78040" y="4389120"/>
            <a:ext cx="914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178040" y="44988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ESP錨2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78040" y="4983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RSSI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83880" y="4389120"/>
            <a:ext cx="914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183880" y="44988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ESP錨3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83880" y="4983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RSSI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189720" y="4389120"/>
            <a:ext cx="914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9189720" y="44988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ESP錨4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89720" y="4983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RSSI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401300" y="4389120"/>
            <a:ext cx="914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10401300" y="44348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飛機C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ESP-FC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943600" cy="5943600"/>
          </a:xfrm>
          <a:prstGeom prst="ellipse">
            <a:avLst/>
          </a:prstGeom>
          <a:solidFill>
            <a:srgbClr val="0A4D6E">
              <a:alpha val="5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2389A8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kern="0" spc="400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自製電路板與</a:t>
            </a:r>
            <a:r>
              <a:rPr lang="zh-CN" alt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系統架構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49808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電路板設計</a:t>
            </a:r>
            <a:r>
              <a:rPr lang="en-US" altLang="zh-TW" sz="17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、 </a:t>
            </a:r>
            <a:r>
              <a:rPr lang="zh-CN" altLang="en-US" sz="17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系統架構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4343400"/>
            <a:ext cx="5486400" cy="0"/>
          </a:xfrm>
          <a:prstGeom prst="line">
            <a:avLst/>
          </a:prstGeom>
          <a:noFill/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飛控電路板設計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23731"/>
            <a:ext cx="3931920" cy="464347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4663440" y="1423731"/>
            <a:ext cx="6949440" cy="4643469"/>
          </a:xfrm>
          <a:prstGeom prst="roundRect">
            <a:avLst>
              <a:gd name="adj" fmla="val 1702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4937760" y="16459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7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四項核心硬體設計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937760" y="2103119"/>
            <a:ext cx="6400800" cy="984123"/>
          </a:xfrm>
          <a:prstGeom prst="roundRect">
            <a:avLst>
              <a:gd name="adj" fmla="val 7317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5120640" y="2331720"/>
            <a:ext cx="384048" cy="384048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512064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50992" y="219456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模組</a:t>
            </a: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可更換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50992" y="2487167"/>
            <a:ext cx="55321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採用雙排母引出腳位，支援</a:t>
            </a:r>
            <a:r>
              <a:rPr lang="en-US" altLang="zh-CN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MCU</a:t>
            </a:r>
            <a:r>
              <a:rPr lang="zh-TW" alt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模組 與 </a:t>
            </a:r>
            <a:r>
              <a:rPr lang="en-US" altLang="zh-TW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GY-91 </a:t>
            </a:r>
            <a:r>
              <a:rPr lang="zh-TW" alt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感測模組獨立拆裝與訊號檢測。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937760" y="3166680"/>
            <a:ext cx="6400800" cy="86410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5120640" y="3349561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5120640" y="33495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650992" y="3237012"/>
            <a:ext cx="5532120" cy="292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板框一體化輕量結構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650992" y="3550729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PCB </a:t>
            </a: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本體兼具機身結構與機臂，端點直接整合馬達固定座，實現結構輕量化</a:t>
            </a:r>
            <a:r>
              <a:rPr lang="zh-CN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937760" y="5050570"/>
            <a:ext cx="6400800" cy="86410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>
            <a:off x="5120640" y="5233450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5120640" y="523345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650992" y="5142009"/>
            <a:ext cx="5532120" cy="292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降低電磁干擾</a:t>
            </a:r>
            <a:r>
              <a:rPr lang="zh-CN" altLang="en-US" sz="13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</a:t>
            </a:r>
            <a:r>
              <a:rPr lang="en-US" altLang="zh-CN" sz="13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EMI</a:t>
            </a:r>
            <a:r>
              <a:rPr lang="zh-CN" altLang="en-US" sz="13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）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650992" y="5526056"/>
            <a:ext cx="553212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M1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～</a:t>
            </a:r>
            <a:r>
              <a:rPr lang="en-US" altLang="zh-TW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M4 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插座置於背面、</a:t>
            </a:r>
            <a:r>
              <a:rPr lang="en-US" altLang="zh-TW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IMU 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置於正面； </a:t>
            </a:r>
            <a:r>
              <a:rPr lang="en-US" altLang="zh-TW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PCB 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板厚與母</a:t>
            </a:r>
            <a:r>
              <a:rPr lang="zh-CN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排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高度增加 </a:t>
            </a:r>
            <a:r>
              <a:rPr lang="en-US" altLang="zh-TW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 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軸距離，降低電磁耦合。</a:t>
            </a:r>
            <a:endParaRPr lang="en-US" altLang="zh-TW" sz="1000" dirty="0">
              <a:solidFill>
                <a:srgbClr val="5A6575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馬達端配置 </a:t>
            </a:r>
            <a:r>
              <a:rPr lang="en-US" altLang="zh-TW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SS14 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續流二極體與去耦電容，吸收</a:t>
            </a:r>
            <a:r>
              <a:rPr lang="zh-CN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瞬間電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</a:t>
            </a:r>
            <a:r>
              <a:rPr lang="zh-CN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變化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與高頻雜訊。</a:t>
            </a:r>
            <a:endParaRPr lang="en-US" altLang="zh-TW" sz="1000" dirty="0">
              <a:solidFill>
                <a:srgbClr val="5A6575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937760" y="4095022"/>
            <a:ext cx="6400800" cy="86410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4"/>
          <p:cNvSpPr/>
          <p:nvPr/>
        </p:nvSpPr>
        <p:spPr>
          <a:xfrm>
            <a:off x="5120640" y="4277902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5120640" y="427790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</a:rPr>
              <a:t>3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650992" y="4186462"/>
            <a:ext cx="5532120" cy="28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重心平衡</a:t>
            </a:r>
            <a:r>
              <a:rPr lang="zh-CN" altLang="en-US" sz="13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與空間利用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650992" y="447907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利用</a:t>
            </a:r>
            <a:r>
              <a:rPr lang="zh-CN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母排架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r>
              <a:rPr lang="en-US" altLang="zh-TW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GY-91 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模組產生的下方空隙佈置被動元件，提高 </a:t>
            </a:r>
            <a:r>
              <a:rPr lang="en-US" altLang="zh-TW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PCB 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板面利用率。</a:t>
            </a:r>
            <a:endParaRPr lang="en-US" altLang="zh-TW" sz="1000" dirty="0">
              <a:solidFill>
                <a:srgbClr val="5A6575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對稱佈置主控與感測器，確保安裝後重心</a:t>
            </a:r>
            <a:r>
              <a:rPr lang="zh-CN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比較平衡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000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73761266-4EA9-40DA-A391-20BCEDF14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13636" y="1913928"/>
            <a:ext cx="2562387" cy="3741851"/>
          </a:xfrm>
          <a:prstGeom prst="rect">
            <a:avLst/>
          </a:prstGeom>
        </p:spPr>
      </p:pic>
      <p:pic>
        <p:nvPicPr>
          <p:cNvPr id="34" name="Image 1" descr="img/pcb_back.png">
            <a:extLst>
              <a:ext uri="{FF2B5EF4-FFF2-40B4-BE49-F238E27FC236}">
                <a16:creationId xmlns:a16="http://schemas.microsoft.com/office/drawing/2014/main" id="{C2645FC4-D408-4EA2-BEA0-3F0956DABBB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75344" y="3621023"/>
            <a:ext cx="2330496" cy="2401716"/>
          </a:xfrm>
          <a:prstGeom prst="rect">
            <a:avLst/>
          </a:prstGeom>
        </p:spPr>
      </p:pic>
      <p:sp>
        <p:nvSpPr>
          <p:cNvPr id="36" name="Text 7">
            <a:extLst>
              <a:ext uri="{FF2B5EF4-FFF2-40B4-BE49-F238E27FC236}">
                <a16:creationId xmlns:a16="http://schemas.microsoft.com/office/drawing/2014/main" id="{0CBE9AF6-31FF-46E5-B999-27DE9317DDC0}"/>
              </a:ext>
            </a:extLst>
          </p:cNvPr>
          <p:cNvSpPr/>
          <p:nvPr/>
        </p:nvSpPr>
        <p:spPr>
          <a:xfrm>
            <a:off x="788276" y="5125896"/>
            <a:ext cx="1780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背面(馬達連接器 M1–M4)</a:t>
            </a:r>
            <a:endParaRPr lang="en-US" sz="1100" dirty="0"/>
          </a:p>
        </p:txBody>
      </p:sp>
      <p:pic>
        <p:nvPicPr>
          <p:cNvPr id="7" name="Image 0" descr="img/pcb_front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1598" y="1546544"/>
            <a:ext cx="2330496" cy="24649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52592" y="2115049"/>
            <a:ext cx="1927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電路板正面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飛控平台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自製飛控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697480" cy="502920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21792" y="1554480"/>
            <a:ext cx="2551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554480"/>
            <a:ext cx="2377440" cy="502920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319272" y="155448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主控 MCU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23560" y="1554480"/>
            <a:ext cx="2011680" cy="502920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696712" y="155448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無線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35240" y="1554480"/>
            <a:ext cx="1828800" cy="502920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708392" y="155448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韌體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464040" y="1554480"/>
            <a:ext cx="2148840" cy="502920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537192" y="1554480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角色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057400"/>
            <a:ext cx="26974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21792" y="2057400"/>
            <a:ext cx="2551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ATK-MiniFly 原機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2057400"/>
            <a:ext cx="2377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319272" y="2057400"/>
            <a:ext cx="22311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STM32F411(M4)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 nRF51822(M0)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23560" y="2057400"/>
            <a:ext cx="20116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696712" y="2057400"/>
            <a:ext cx="18653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 2.4G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(專用晶片+PA)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35240" y="2057400"/>
            <a:ext cx="18288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708392" y="2057400"/>
            <a:ext cx="16824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原廠韌體</a:t>
            </a:r>
            <a:r>
              <a:rPr lang="zh-CN" alt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（被移植）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464040" y="2057400"/>
            <a:ext cx="21488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537192" y="2057400"/>
            <a:ext cx="20025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對照組,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也是多機控制的一員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291840"/>
            <a:ext cx="2697480" cy="12344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21792" y="3291840"/>
            <a:ext cx="2551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自製板 + XIAO nRF52840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46120" y="3291840"/>
            <a:ext cx="2377440" cy="12344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319272" y="3291840"/>
            <a:ext cx="22311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nRF52840(M4F)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單晶片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23560" y="3291840"/>
            <a:ext cx="2011680" cy="12344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696712" y="3291840"/>
            <a:ext cx="18653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 2.4G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(內建 RADIO)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635240" y="3291840"/>
            <a:ext cx="1828800" cy="12344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7708392" y="3291840"/>
            <a:ext cx="16824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移植</a:t>
            </a:r>
            <a:r>
              <a:rPr lang="en-US" altLang="zh-CN" sz="105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ATK-MiniFLY</a:t>
            </a:r>
            <a:r>
              <a:rPr lang="en-US" altLang="zh-CN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464040" y="3291840"/>
            <a:ext cx="2148840" cy="12344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537192" y="3291840"/>
            <a:ext cx="20025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 err="1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研究對象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4526280"/>
            <a:ext cx="2697480" cy="11201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21792" y="4526280"/>
            <a:ext cx="2551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自製板 + XIAO ESP32S3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46120" y="4526280"/>
            <a:ext cx="2377440" cy="11201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3319272" y="4526280"/>
            <a:ext cx="223113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ESP32S3(LX7)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單晶片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623560" y="4526280"/>
            <a:ext cx="2011680" cy="11201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5696712" y="4526280"/>
            <a:ext cx="18653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WiFi / BLE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635240" y="4526280"/>
            <a:ext cx="1828800" cy="11201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7708392" y="4526280"/>
            <a:ext cx="168249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開源 ESP-FC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464040" y="4526280"/>
            <a:ext cx="2148840" cy="11201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9537192" y="4526280"/>
            <a:ext cx="200253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驗證主控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可更換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3000" b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本研究硬體架構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系統一·移植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2395CAC-08D8-40D2-9983-DA6A4213C989}"/>
              </a:ext>
            </a:extLst>
          </p:cNvPr>
          <p:cNvGrpSpPr/>
          <p:nvPr/>
        </p:nvGrpSpPr>
        <p:grpSpPr>
          <a:xfrm>
            <a:off x="912419" y="1389899"/>
            <a:ext cx="7953270" cy="4464154"/>
            <a:chOff x="2413000" y="1422400"/>
            <a:chExt cx="8599389" cy="4368800"/>
          </a:xfrm>
        </p:grpSpPr>
        <p:sp>
          <p:nvSpPr>
            <p:cNvPr id="8" name="Rectangle 7"/>
            <p:cNvSpPr/>
            <p:nvPr/>
          </p:nvSpPr>
          <p:spPr>
            <a:xfrm>
              <a:off x="4445000" y="1422400"/>
              <a:ext cx="2286000" cy="609600"/>
            </a:xfrm>
            <a:prstGeom prst="rect">
              <a:avLst/>
            </a:prstGeom>
            <a:solidFill>
              <a:srgbClr val="9BD3EE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0" dirty="0" err="1">
                  <a:solidFill>
                    <a:srgbClr val="111111"/>
                  </a:solidFill>
                </a:rPr>
                <a:t>馬達驅動</a:t>
              </a:r>
              <a:endParaRPr sz="1600" b="0" dirty="0">
                <a:solidFill>
                  <a:srgbClr val="11111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2413000" y="2235200"/>
              <a:ext cx="4318000" cy="2717800"/>
            </a:xfrm>
            <a:prstGeom prst="rect">
              <a:avLst/>
            </a:prstGeom>
            <a:solidFill>
              <a:srgbClr val="E8F1FB"/>
            </a:solidFill>
            <a:ln w="15240">
              <a:solidFill>
                <a:srgbClr val="333333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endParaRPr sz="240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489200" y="2286000"/>
              <a:ext cx="2789033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1">
                  <a:solidFill>
                    <a:srgbClr val="111111"/>
                  </a:solidFill>
                </a:rPr>
                <a:t>XIAO nRF52840 Sense 模組(可插拔更換)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590800" y="2540000"/>
              <a:ext cx="3962400" cy="965200"/>
            </a:xfrm>
            <a:prstGeom prst="rect">
              <a:avLst/>
            </a:prstGeom>
            <a:solidFill>
              <a:srgbClr val="7B9FE0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1" dirty="0">
                  <a:solidFill>
                    <a:srgbClr val="111111"/>
                  </a:solidFill>
                </a:rPr>
                <a:t>nRF52840</a:t>
              </a:r>
            </a:p>
            <a:p>
              <a:pPr algn="ctr"/>
              <a:r>
                <a:rPr sz="1400" b="0" dirty="0">
                  <a:solidFill>
                    <a:srgbClr val="111111"/>
                  </a:solidFill>
                </a:rPr>
                <a:t>64MHz Cortex-M4F</a:t>
              </a:r>
            </a:p>
            <a:p>
              <a:pPr algn="ctr"/>
              <a:r>
                <a:rPr sz="1400" b="0" dirty="0">
                  <a:solidFill>
                    <a:srgbClr val="111111"/>
                  </a:solidFill>
                </a:rPr>
                <a:t>1MB FLASH ｜ 256KB RAM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590800" y="3606800"/>
              <a:ext cx="1905000" cy="584200"/>
            </a:xfrm>
            <a:prstGeom prst="rect">
              <a:avLst/>
            </a:prstGeom>
            <a:solidFill>
              <a:srgbClr val="B8D9F2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400" b="0" dirty="0" err="1">
                  <a:solidFill>
                    <a:srgbClr val="111111"/>
                  </a:solidFill>
                </a:rPr>
                <a:t>板載晶片天線</a:t>
              </a:r>
              <a:endParaRPr sz="1400" b="0" dirty="0">
                <a:solidFill>
                  <a:srgbClr val="11111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48200" y="3606800"/>
              <a:ext cx="1905000" cy="584200"/>
            </a:xfrm>
            <a:prstGeom prst="rect">
              <a:avLst/>
            </a:prstGeom>
            <a:solidFill>
              <a:srgbClr val="B8D9F2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400" b="0" dirty="0">
                  <a:solidFill>
                    <a:srgbClr val="111111"/>
                  </a:solidFill>
                </a:rPr>
                <a:t>LSM6DS3TR-C</a:t>
              </a:r>
            </a:p>
            <a:p>
              <a:pPr algn="ctr"/>
              <a:r>
                <a:rPr sz="1200" b="0" dirty="0" err="1">
                  <a:solidFill>
                    <a:srgbClr val="111111"/>
                  </a:solidFill>
                </a:rPr>
                <a:t>板載六軸</a:t>
              </a:r>
              <a:endParaRPr sz="1200" b="0" dirty="0">
                <a:solidFill>
                  <a:srgbClr val="11111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590800" y="4292600"/>
              <a:ext cx="3962400" cy="533400"/>
            </a:xfrm>
            <a:prstGeom prst="rect">
              <a:avLst/>
            </a:prstGeom>
            <a:solidFill>
              <a:srgbClr val="B8D9F2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0">
                  <a:solidFill>
                    <a:srgbClr val="111111"/>
                  </a:solidFill>
                </a:rPr>
                <a:t>內建充電電路(BQ25101)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493000" y="2362200"/>
              <a:ext cx="2286000" cy="1397000"/>
            </a:xfrm>
            <a:prstGeom prst="rect">
              <a:avLst/>
            </a:prstGeom>
            <a:solidFill>
              <a:srgbClr val="9BD3EE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1" dirty="0">
                  <a:solidFill>
                    <a:srgbClr val="111111"/>
                  </a:solidFill>
                </a:rPr>
                <a:t>GY-91　10DOF</a:t>
              </a:r>
            </a:p>
            <a:p>
              <a:pPr algn="ctr"/>
              <a:r>
                <a:rPr sz="1400" b="0" dirty="0" err="1">
                  <a:solidFill>
                    <a:srgbClr val="111111"/>
                  </a:solidFill>
                </a:rPr>
                <a:t>三軸加速度計</a:t>
              </a:r>
              <a:endParaRPr sz="1400" b="0" dirty="0">
                <a:solidFill>
                  <a:srgbClr val="111111"/>
                </a:solidFill>
              </a:endParaRPr>
            </a:p>
            <a:p>
              <a:pPr algn="ctr"/>
              <a:r>
                <a:rPr sz="1400" b="0" dirty="0" err="1">
                  <a:solidFill>
                    <a:srgbClr val="111111"/>
                  </a:solidFill>
                </a:rPr>
                <a:t>三軸陀螺儀</a:t>
              </a:r>
              <a:endParaRPr sz="1400" b="0" dirty="0">
                <a:solidFill>
                  <a:srgbClr val="111111"/>
                </a:solidFill>
              </a:endParaRPr>
            </a:p>
            <a:p>
              <a:pPr algn="ctr"/>
              <a:r>
                <a:rPr sz="1400" b="0" dirty="0" err="1">
                  <a:solidFill>
                    <a:srgbClr val="111111"/>
                  </a:solidFill>
                </a:rPr>
                <a:t>三軸磁力計</a:t>
              </a:r>
              <a:endParaRPr sz="1400" b="0" dirty="0">
                <a:solidFill>
                  <a:srgbClr val="111111"/>
                </a:solidFill>
              </a:endParaRPr>
            </a:p>
            <a:p>
              <a:pPr algn="ctr"/>
              <a:r>
                <a:rPr sz="1400" b="0" dirty="0" err="1">
                  <a:solidFill>
                    <a:srgbClr val="111111"/>
                  </a:solidFill>
                </a:rPr>
                <a:t>氣壓計</a:t>
              </a:r>
              <a:endParaRPr sz="1400" b="0" dirty="0">
                <a:solidFill>
                  <a:srgbClr val="11111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93000" y="4038600"/>
              <a:ext cx="2286000" cy="787400"/>
            </a:xfrm>
            <a:prstGeom prst="rect">
              <a:avLst/>
            </a:prstGeom>
            <a:solidFill>
              <a:srgbClr val="9BD3EE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0" dirty="0" err="1">
                  <a:solidFill>
                    <a:srgbClr val="111111"/>
                  </a:solidFill>
                </a:rPr>
                <a:t>鋰電池</a:t>
              </a:r>
              <a:endParaRPr sz="1600" b="0" dirty="0">
                <a:solidFill>
                  <a:srgbClr val="111111"/>
                </a:solidFill>
              </a:endParaRPr>
            </a:p>
            <a:p>
              <a:pPr algn="ctr"/>
              <a:r>
                <a:rPr sz="1200" b="0" dirty="0">
                  <a:solidFill>
                    <a:srgbClr val="111111"/>
                  </a:solidFill>
                </a:rPr>
                <a:t>(</a:t>
              </a:r>
              <a:r>
                <a:rPr lang="zh-CN" altLang="en-US" sz="1200" b="0" dirty="0">
                  <a:solidFill>
                    <a:srgbClr val="111111"/>
                  </a:solidFill>
                </a:rPr>
                <a:t>可</a:t>
              </a:r>
              <a:r>
                <a:rPr sz="1200" b="0" dirty="0" err="1">
                  <a:solidFill>
                    <a:srgbClr val="111111"/>
                  </a:solidFill>
                </a:rPr>
                <a:t>經模組內建電路充電</a:t>
              </a:r>
              <a:r>
                <a:rPr sz="1200" b="0" dirty="0">
                  <a:solidFill>
                    <a:srgbClr val="111111"/>
                  </a:solidFill>
                </a:rPr>
                <a:t>)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413000" y="5181600"/>
              <a:ext cx="2286000" cy="609600"/>
            </a:xfrm>
            <a:prstGeom prst="rect">
              <a:avLst/>
            </a:prstGeom>
            <a:solidFill>
              <a:srgbClr val="9BD3EE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0">
                  <a:solidFill>
                    <a:srgbClr val="111111"/>
                  </a:solidFill>
                </a:rPr>
                <a:t>USB 接口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967569" y="2032000"/>
              <a:ext cx="460062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>
                  <a:solidFill>
                    <a:srgbClr val="111111"/>
                  </a:solidFill>
                </a:rPr>
                <a:t>PWM×4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937272" y="2819400"/>
              <a:ext cx="349456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>
                  <a:solidFill>
                    <a:srgbClr val="111111"/>
                  </a:solidFill>
                </a:rPr>
                <a:t>TWIM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786590" y="4191000"/>
              <a:ext cx="650820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>
                  <a:solidFill>
                    <a:srgbClr val="111111"/>
                  </a:solidFill>
                </a:rPr>
                <a:t>BAT+/BAT−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936924" y="4953000"/>
              <a:ext cx="508152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>
                  <a:solidFill>
                    <a:srgbClr val="111111"/>
                  </a:solidFill>
                </a:rPr>
                <a:t>CDC / 5V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 flipV="1">
              <a:off x="5588000" y="2032000"/>
              <a:ext cx="0" cy="203200"/>
            </a:xfrm>
            <a:prstGeom prst="line">
              <a:avLst/>
            </a:prstGeom>
            <a:ln w="16510">
              <a:solidFill>
                <a:srgbClr val="33333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6731000" y="3060700"/>
              <a:ext cx="762000" cy="0"/>
            </a:xfrm>
            <a:prstGeom prst="line">
              <a:avLst/>
            </a:prstGeom>
            <a:ln w="16510">
              <a:solidFill>
                <a:srgbClr val="333333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6731000" y="4432300"/>
              <a:ext cx="762000" cy="0"/>
            </a:xfrm>
            <a:prstGeom prst="line">
              <a:avLst/>
            </a:prstGeom>
            <a:ln w="16510">
              <a:solidFill>
                <a:srgbClr val="333333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3556000" y="4953000"/>
              <a:ext cx="0" cy="228600"/>
            </a:xfrm>
            <a:prstGeom prst="line">
              <a:avLst/>
            </a:prstGeom>
            <a:ln w="16510">
              <a:solidFill>
                <a:srgbClr val="33333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9779000" y="4432300"/>
              <a:ext cx="762000" cy="0"/>
            </a:xfrm>
            <a:prstGeom prst="line">
              <a:avLst/>
            </a:prstGeom>
            <a:ln w="16510">
              <a:solidFill>
                <a:srgbClr val="3333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 flipV="1">
              <a:off x="10541000" y="1727200"/>
              <a:ext cx="0" cy="2705100"/>
            </a:xfrm>
            <a:prstGeom prst="line">
              <a:avLst/>
            </a:prstGeom>
            <a:ln w="16510">
              <a:solidFill>
                <a:srgbClr val="3333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 flipH="1">
              <a:off x="6731000" y="1727200"/>
              <a:ext cx="3810000" cy="0"/>
            </a:xfrm>
            <a:prstGeom prst="line">
              <a:avLst/>
            </a:prstGeom>
            <a:ln w="16510">
              <a:solidFill>
                <a:srgbClr val="33333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10704611" y="2930634"/>
              <a:ext cx="307778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 dirty="0">
                  <a:solidFill>
                    <a:srgbClr val="111111"/>
                  </a:solidFill>
                </a:rPr>
                <a:t>VBAT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C595DE-8A25-4B62-A378-8531CF6AB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467" y="987722"/>
            <a:ext cx="2566293" cy="191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mazon.com: GY-91 MPU9250 BMP280 10DOF 羅盤加速陀螺儀感測器模組9 軸態度感測器9 軸適用於Arduino : 工業與科學">
            <a:extLst>
              <a:ext uri="{FF2B5EF4-FFF2-40B4-BE49-F238E27FC236}">
                <a16:creationId xmlns:a16="http://schemas.microsoft.com/office/drawing/2014/main" id="{94E6B216-0664-46B7-998B-18B24EB37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865" y="3823116"/>
            <a:ext cx="2583589" cy="2057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603BEA0D-BDF6-4228-B87A-DC4549B451FB}"/>
              </a:ext>
            </a:extLst>
          </p:cNvPr>
          <p:cNvSpPr txBox="1"/>
          <p:nvPr/>
        </p:nvSpPr>
        <p:spPr>
          <a:xfrm>
            <a:off x="9288333" y="2702108"/>
            <a:ext cx="2921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b="1" dirty="0">
                <a:solidFill>
                  <a:srgbClr val="111111"/>
                </a:solidFill>
              </a:rPr>
              <a:t>XIAO nRF52840 Sense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132C182-50D1-47FF-8AA6-35F8244E6D09}"/>
              </a:ext>
            </a:extLst>
          </p:cNvPr>
          <p:cNvSpPr txBox="1"/>
          <p:nvPr/>
        </p:nvSpPr>
        <p:spPr>
          <a:xfrm>
            <a:off x="9497060" y="5895098"/>
            <a:ext cx="2448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solidFill>
                  <a:srgbClr val="111111"/>
                </a:solidFill>
              </a:rPr>
              <a:t>GY-91</a:t>
            </a:r>
            <a:endParaRPr lang="en-US" altLang="zh-TW" sz="1800" b="1" dirty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原廠系統框架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系統一·移植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pic>
        <p:nvPicPr>
          <p:cNvPr id="8" name="Picture 7" descr="atk_framework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" y="1905000"/>
            <a:ext cx="11064240" cy="4058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47472"/>
            <a:ext cx="8595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6984"/>
                </a:solidFill>
                <a:latin typeface="Microsoft JhengHei"/>
              </a:rPr>
              <a:t>韌體移植流程：從功能拆解到逐項驗證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384048"/>
            <a:ext cx="2240280" cy="36576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移植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27384"/>
                </a:solidFill>
                <a:latin typeface="Microsoft JhengHei"/>
              </a:rPr>
              <a:t>先把原廠雙 MCU 的功能邊界拆開，再映射到 XIAO nRF52840。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3017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273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27384"/>
                </a:solidFill>
                <a:latin typeface="Microsoft JhengHe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72768"/>
            <a:ext cx="248716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411480" cy="41148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1664208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83052"/>
                </a:solidFill>
                <a:latin typeface="Microsoft JhengHei"/>
              </a:rPr>
              <a:t>功能拆解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2011680"/>
            <a:ext cx="1737360" cy="14538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27384"/>
                </a:solidFill>
                <a:latin typeface="Microsoft JhengHei"/>
              </a:rPr>
              <a:t>GPIO / PWM
I²C / Sensor
ESB / USB / Timer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81528" y="2560320"/>
            <a:ext cx="274320" cy="0"/>
          </a:xfrm>
          <a:prstGeom prst="line">
            <a:avLst/>
          </a:prstGeom>
          <a:ln w="25400">
            <a:solidFill>
              <a:srgbClr val="E7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55848" y="1572768"/>
            <a:ext cx="248716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1691640"/>
            <a:ext cx="411480" cy="411480"/>
          </a:xfrm>
          <a:prstGeom prst="roundRect">
            <a:avLst/>
          </a:prstGeom>
          <a:solidFill>
            <a:srgbClr val="3199B4"/>
          </a:solidFill>
          <a:ln w="12700">
            <a:solidFill>
              <a:srgbClr val="319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1664208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83052"/>
                </a:solidFill>
                <a:latin typeface="Microsoft JhengHei"/>
              </a:rPr>
              <a:t>硬體映射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011680"/>
            <a:ext cx="1737360" cy="14538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27384"/>
                </a:solidFill>
                <a:latin typeface="Microsoft JhengHei"/>
              </a:rPr>
              <a:t>XIAO 腳位
TWIM / RADIO
Motor / USB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43016" y="2560320"/>
            <a:ext cx="274320" cy="0"/>
          </a:xfrm>
          <a:prstGeom prst="line">
            <a:avLst/>
          </a:prstGeom>
          <a:ln w="25400">
            <a:solidFill>
              <a:srgbClr val="E7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17336" y="1572768"/>
            <a:ext cx="248716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6207" y="1691640"/>
            <a:ext cx="411480" cy="411480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7" y="1664208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83052"/>
                </a:solidFill>
                <a:latin typeface="Microsoft JhengHei"/>
              </a:rPr>
              <a:t>API 重建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7" y="2011680"/>
            <a:ext cx="1737360" cy="14538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27384"/>
                </a:solidFill>
                <a:latin typeface="Microsoft JhengHei"/>
              </a:rPr>
              <a:t>Arduino / XIAO BSP
保留 ATKP 與控制邏輯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04504" y="2560320"/>
            <a:ext cx="274320" cy="0"/>
          </a:xfrm>
          <a:prstGeom prst="line">
            <a:avLst/>
          </a:prstGeom>
          <a:ln w="25400">
            <a:solidFill>
              <a:srgbClr val="E7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878824" y="1572768"/>
            <a:ext cx="248716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97696" y="1691640"/>
            <a:ext cx="411480" cy="411480"/>
          </a:xfrm>
          <a:prstGeom prst="roundRect">
            <a:avLst/>
          </a:prstGeom>
          <a:solidFill>
            <a:srgbClr val="388F6C"/>
          </a:solidFill>
          <a:ln w="12700">
            <a:solidFill>
              <a:srgbClr val="388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0615" y="1664208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83052"/>
                </a:solidFill>
                <a:latin typeface="Microsoft JhengHei"/>
              </a:rPr>
              <a:t>單元驗證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0615" y="2011680"/>
            <a:ext cx="1737360" cy="14538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27384"/>
                </a:solidFill>
                <a:latin typeface="Microsoft JhengHei"/>
              </a:rPr>
              <a:t>通訊 → 感測 → 馬達
最後整合飛控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886200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3052"/>
                </a:solidFill>
                <a:latin typeface="Microsoft JhengHei"/>
              </a:rPr>
              <a:t>開發環境的必要改變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315968"/>
            <a:ext cx="1234440" cy="457200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83052"/>
                </a:solidFill>
                <a:latin typeface="Microsoft JhengHei"/>
              </a:rPr>
              <a:t>原廠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38528" y="4315968"/>
            <a:ext cx="92811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3364C"/>
                </a:solidFill>
                <a:latin typeface="Microsoft JhengHei"/>
              </a:rPr>
              <a:t>Keil MDK / ST-Link / USB-TTL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846320"/>
            <a:ext cx="1234440" cy="457200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83052"/>
                </a:solidFill>
                <a:latin typeface="Microsoft JhengHei"/>
              </a:rPr>
              <a:t>本研究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38528" y="4846320"/>
            <a:ext cx="92811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3364C"/>
                </a:solidFill>
                <a:latin typeface="Microsoft JhengHei"/>
              </a:rPr>
              <a:t>VS Code + PlatformIO / USB Bootloader / USB CDC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376672"/>
            <a:ext cx="1234440" cy="457200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83052"/>
                </a:solidFill>
                <a:latin typeface="Microsoft JhengHei"/>
              </a:rPr>
              <a:t>原因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38528" y="5376672"/>
            <a:ext cx="92811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3364C"/>
                </a:solidFill>
                <a:latin typeface="Microsoft JhengHei"/>
              </a:rPr>
              <a:t>XIAO 官方 BSP 以 Arduino 框架為基礎，PlatformIO 提供對應開發環境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943600"/>
            <a:ext cx="10652760" cy="438912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移植重點：不是「換編譯器」，而是把驅動、通訊與控制功能重新映射到單一 nRF52840。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47472"/>
            <a:ext cx="8595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6984"/>
                </a:solidFill>
                <a:latin typeface="Microsoft JhengHei"/>
              </a:rPr>
              <a:t>主控整合：雙 MCU → 單 MCU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384048"/>
            <a:ext cx="2240280" cy="36576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移植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27384"/>
                </a:solidFill>
                <a:latin typeface="Microsoft JhengHei"/>
              </a:rPr>
              <a:t>原廠分工的兩顆 MCU，在本研究由 nRF52840 統一承擔飛控核心工作。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3017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273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27384"/>
                </a:solidFill>
                <a:latin typeface="Microsoft Jheng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3052"/>
                </a:solidFill>
                <a:latin typeface="Microsoft JhengHei"/>
              </a:rPr>
              <a:t>原廠 ATK MiniFly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55648"/>
            <a:ext cx="2331720" cy="1024128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83052"/>
                </a:solidFill>
                <a:latin typeface="Microsoft JhengHei"/>
              </a:rPr>
              <a:t>nRF51822
Cortex-M0 · 16 MHz
256 KB FLASH / 16 KB 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999232"/>
            <a:ext cx="2331720" cy="1024128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83052"/>
                </a:solidFill>
                <a:latin typeface="Microsoft JhengHei"/>
              </a:rPr>
              <a:t>STM32F411
Cortex-M4 · 96 MHz
512 KB FLASH / 128 KB RAM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55648" y="2779776"/>
            <a:ext cx="0" cy="210312"/>
          </a:xfrm>
          <a:prstGeom prst="line">
            <a:avLst/>
          </a:prstGeom>
          <a:ln w="25400">
            <a:solidFill>
              <a:srgbClr val="E7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090672" y="2359152"/>
            <a:ext cx="1325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E78937"/>
                </a:solidFill>
                <a:latin typeface="Microsoft JhengHei"/>
              </a:rPr>
              <a:t>UART
指令轉發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1353312"/>
            <a:ext cx="2468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46984"/>
                </a:solidFill>
                <a:latin typeface="Microsoft JhengHei"/>
              </a:rPr>
              <a:t>本研究：XIAO nRF52840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36592" y="1755648"/>
            <a:ext cx="2834640" cy="2267712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Cortex-M4F · 64 MHz
1 MB FLASH / 256 KB RAM
RADIO · Sensor · Fusion / PID
Motor · USB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69080" y="2834640"/>
            <a:ext cx="594360" cy="0"/>
          </a:xfrm>
          <a:prstGeom prst="line">
            <a:avLst/>
          </a:prstGeom>
          <a:ln w="38100">
            <a:solidFill>
              <a:srgbClr val="E7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01000" y="1755648"/>
            <a:ext cx="3200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83052"/>
                </a:solidFill>
                <a:latin typeface="Microsoft JhengHei"/>
              </a:rPr>
              <a:t>無跨晶片 UART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697480"/>
            <a:ext cx="3200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83052"/>
                </a:solidFill>
                <a:latin typeface="Microsoft JhengHei"/>
              </a:rPr>
              <a:t>單一韌體・一次燒錄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3639312"/>
            <a:ext cx="3200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83052"/>
                </a:solidFill>
                <a:latin typeface="Microsoft JhengHei"/>
              </a:rPr>
              <a:t>資料在同一 MCU 內流動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943600"/>
            <a:ext cx="10652760" cy="438912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核心改變：不是單純更換 MCU，而是消除晶片間轉發，將 RADIO、感測、控制與 USB 收斂到同一執行環境。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47472"/>
            <a:ext cx="8595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6984"/>
                </a:solidFill>
                <a:latin typeface="Microsoft JhengHei"/>
              </a:rPr>
              <a:t>感測移植：介面重建＋模組化＋備援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384048"/>
            <a:ext cx="2240280" cy="36576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移植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27384"/>
                </a:solidFill>
                <a:latin typeface="Microsoft JhengHei"/>
              </a:rPr>
              <a:t>感測器移植同時處理「怎麼接、怎麼讀、失效怎麼辦」。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3017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273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27384"/>
                </a:solidFill>
                <a:latin typeface="Microsoft JhengHe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81328"/>
            <a:ext cx="3246120" cy="475488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① 主感測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56816"/>
            <a:ext cx="32461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121408"/>
            <a:ext cx="29077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83052"/>
                </a:solidFill>
                <a:latin typeface="Microsoft JhengHei"/>
              </a:rPr>
              <a:t>GY-91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78608"/>
            <a:ext cx="2880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27384"/>
                </a:solidFill>
                <a:latin typeface="Microsoft JhengHei"/>
              </a:rPr>
              <a:t>MPU9250 + BMP280
模組化排針連接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87368" y="1481328"/>
            <a:ext cx="3246120" cy="475488"/>
          </a:xfrm>
          <a:prstGeom prst="roundRect">
            <a:avLst/>
          </a:prstGeom>
          <a:solidFill>
            <a:srgbClr val="3199B4"/>
          </a:solidFill>
          <a:ln w="12700">
            <a:solidFill>
              <a:srgbClr val="319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② 讀取介面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956816"/>
            <a:ext cx="32461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59" y="2121408"/>
            <a:ext cx="29077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83052"/>
                </a:solidFill>
                <a:latin typeface="Microsoft JhengHei"/>
              </a:rPr>
              <a:t>TWIM + EasyDMA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2578608"/>
            <a:ext cx="2880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27384"/>
                </a:solidFill>
                <a:latin typeface="Microsoft JhengHei"/>
              </a:rPr>
              <a:t>RXD.PTR / MAXCNT
由硬體搬運資料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0375" y="1481328"/>
            <a:ext cx="3246120" cy="475488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③ 備援機制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0375" y="1956816"/>
            <a:ext cx="32461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7" y="2121408"/>
            <a:ext cx="29077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83052"/>
                </a:solidFill>
                <a:latin typeface="Microsoft JhengHei"/>
              </a:rPr>
              <a:t>LSM6DS3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63255" y="2578608"/>
            <a:ext cx="2880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27384"/>
                </a:solidFill>
                <a:latin typeface="Microsoft JhengHei"/>
              </a:rPr>
              <a:t>主感測失效
自動接手六軸姿態量測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611880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3052"/>
                </a:solidFill>
                <a:latin typeface="Microsoft JhengHei"/>
              </a:rPr>
              <a:t>與原廠的關鍵差異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05072"/>
            <a:ext cx="1234440" cy="475488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83052"/>
                </a:solidFill>
                <a:latin typeface="Microsoft JhengHei"/>
              </a:rPr>
              <a:t>原廠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38528" y="4005072"/>
            <a:ext cx="92811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3364C"/>
                </a:solidFill>
                <a:latin typeface="Microsoft JhengHei"/>
              </a:rPr>
              <a:t>九軸掛主控 I²C；讀取採中斷 + DMA + 信號量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572000"/>
            <a:ext cx="1234440" cy="475488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83052"/>
                </a:solidFill>
                <a:latin typeface="Microsoft JhengHei"/>
              </a:rPr>
              <a:t>本研究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38528" y="4572000"/>
            <a:ext cx="92811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3364C"/>
                </a:solidFill>
                <a:latin typeface="Microsoft JhengHei"/>
              </a:rPr>
              <a:t>TWIM + EasyDMA；開機探測 0x68 / 0x69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138928"/>
            <a:ext cx="1234440" cy="475488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83052"/>
                </a:solidFill>
                <a:latin typeface="Microsoft JhengHei"/>
              </a:rPr>
              <a:t>可維護性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38528" y="5138928"/>
            <a:ext cx="92811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3364C"/>
                </a:solidFill>
                <a:latin typeface="Microsoft JhengHei"/>
              </a:rPr>
              <a:t>排針可插拔更換，不再把感測器直接焊死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943600"/>
            <a:ext cx="10652760" cy="438912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感測移植 = 驅動介面重建 + 模組化硬體 + 故障備援；不是只把原廠感測器「換一塊板」。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47472"/>
            <a:ext cx="8595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6984"/>
                </a:solidFill>
                <a:latin typeface="Microsoft JhengHei"/>
              </a:rPr>
              <a:t>無線移植：從 nRF51 ESB 到 nRF52840 RADIO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384048"/>
            <a:ext cx="2240280" cy="36576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移植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27384"/>
                </a:solidFill>
                <a:latin typeface="Microsoft JhengHei"/>
              </a:rPr>
              <a:t>原廠有現成 ESB 函式庫；本研究必須直接設定 RADIO，重新建立相容傳輸行為。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3017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273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27384"/>
                </a:solidFill>
                <a:latin typeface="Microsoft JhengHe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2560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3052"/>
                </a:solidFill>
                <a:latin typeface="Microsoft JhengHei"/>
              </a:rPr>
              <a:t>原廠：雙晶片轉發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55648"/>
            <a:ext cx="2606040" cy="78638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83052"/>
                </a:solidFill>
                <a:latin typeface="Microsoft JhengHei"/>
              </a:rPr>
              <a:t>遙控器
nRF51822 + RFX2401C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907792"/>
            <a:ext cx="2606040" cy="78638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83052"/>
                </a:solidFill>
                <a:latin typeface="Microsoft JhengHei"/>
              </a:rPr>
              <a:t>UART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675887"/>
            <a:ext cx="2606040" cy="78638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83052"/>
                </a:solidFill>
                <a:latin typeface="Microsoft JhengHei"/>
              </a:rPr>
              <a:t>STM32F411
radiolink 解析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2542032"/>
            <a:ext cx="0" cy="310896"/>
          </a:xfrm>
          <a:prstGeom prst="line">
            <a:avLst/>
          </a:prstGeom>
          <a:ln w="25400">
            <a:solidFill>
              <a:srgbClr val="E7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901952" y="3602736"/>
            <a:ext cx="0" cy="91440"/>
          </a:xfrm>
          <a:prstGeom prst="line">
            <a:avLst/>
          </a:prstGeom>
          <a:ln w="25400">
            <a:solidFill>
              <a:srgbClr val="E7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886200" y="1325880"/>
            <a:ext cx="3017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46984"/>
                </a:solidFill>
                <a:latin typeface="Microsoft JhengHei"/>
              </a:rPr>
              <a:t>本研究：直接收發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1755648"/>
            <a:ext cx="3017520" cy="1078992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nRF52840 RADIO
頻率・封包格式・CRC・白化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3054096"/>
            <a:ext cx="2331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78937"/>
                </a:solidFill>
                <a:latin typeface="Microsoft JhengHei"/>
              </a:rPr>
              <a:t>ESB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3456432"/>
            <a:ext cx="30175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83052"/>
                </a:solidFill>
                <a:latin typeface="Microsoft JhengHei"/>
              </a:rPr>
              <a:t>Address
PCF 9 bit
Payload 0–32 B
CRC 2 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1755648"/>
            <a:ext cx="3840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78937"/>
                </a:solidFill>
                <a:latin typeface="Microsoft JhengHei"/>
              </a:rPr>
              <a:t>250 Kbps → 1 Mbps
兩端韌體同步修改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880360"/>
            <a:ext cx="3840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83052"/>
                </a:solidFill>
                <a:latin typeface="Microsoft JhengHei"/>
              </a:rPr>
              <a:t>無現成 ESB 函式庫
→ 直接操作 RADIO 暫存器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4005072"/>
            <a:ext cx="3840480" cy="914400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46984"/>
                </a:solidFill>
                <a:latin typeface="Microsoft JhengHei"/>
              </a:rPr>
              <a:t>相容性：Address / PCF /
Payload / CRC / 速率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943600"/>
            <a:ext cx="10652760" cy="438912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下一頁只做一件事：把 ESB 封包拆開，說清楚 Payload 與 PCF 各自負責什麼。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47472"/>
            <a:ext cx="8595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6984"/>
                </a:solidFill>
                <a:latin typeface="Microsoft JhengHei"/>
              </a:rPr>
              <a:t>ESB 無線協定：封包結構與相容條件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384048"/>
            <a:ext cx="2240280" cy="36576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無線移植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27384"/>
                </a:solidFill>
                <a:latin typeface="Microsoft JhengHei"/>
              </a:rPr>
              <a:t>先看無線層；Payload 只是載荷，真正的飛控資料在下一頁再展開。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3017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273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27384"/>
                </a:solidFill>
                <a:latin typeface="Microsoft JhengHe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54480"/>
            <a:ext cx="914400" cy="1051560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00784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前導碼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75688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1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00200" y="1554480"/>
            <a:ext cx="1234440" cy="105156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700784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位址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075688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5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1554480"/>
            <a:ext cx="1234440" cy="1051560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1700784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PCF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075688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9 bit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554480"/>
            <a:ext cx="3383280" cy="1051560"/>
          </a:xfrm>
          <a:prstGeom prst="roundRect">
            <a:avLst/>
          </a:prstGeom>
          <a:solidFill>
            <a:srgbClr val="3199B4"/>
          </a:solidFill>
          <a:ln w="12700">
            <a:solidFill>
              <a:srgbClr val="319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1700784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Payload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2075688"/>
            <a:ext cx="3383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0–32 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80" y="1554480"/>
            <a:ext cx="960120" cy="1051560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80" y="1700784"/>
            <a:ext cx="960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CRC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80" y="2075688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2 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971800"/>
            <a:ext cx="4572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172968"/>
            <a:ext cx="4069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3052"/>
                </a:solidFill>
                <a:latin typeface="Microsoft JhengHei"/>
              </a:rPr>
              <a:t>PCF = 9 bit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3639312"/>
            <a:ext cx="105156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8937"/>
                </a:solidFill>
                <a:latin typeface="Microsoft JhengHei"/>
              </a:rPr>
              <a:t>Length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3639312"/>
            <a:ext cx="6858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3364C"/>
                </a:solidFill>
                <a:latin typeface="Microsoft JhengHei"/>
              </a:rPr>
              <a:t>6 bit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3639312"/>
            <a:ext cx="219456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27384"/>
                </a:solidFill>
                <a:latin typeface="Microsoft JhengHei"/>
              </a:rPr>
              <a:t>載荷長度 0–32 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050791"/>
            <a:ext cx="105156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8937"/>
                </a:solidFill>
                <a:latin typeface="Microsoft JhengHei"/>
              </a:rPr>
              <a:t>PID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4050791"/>
            <a:ext cx="6858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3364C"/>
                </a:solidFill>
                <a:latin typeface="Microsoft JhengHei"/>
              </a:rPr>
              <a:t>2 bit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050791"/>
            <a:ext cx="219456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27384"/>
                </a:solidFill>
                <a:latin typeface="Microsoft JhengHei"/>
              </a:rPr>
              <a:t>分辨新包／重送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462272"/>
            <a:ext cx="105156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8937"/>
                </a:solidFill>
                <a:latin typeface="Microsoft JhengHei"/>
              </a:rPr>
              <a:t>NO_ACK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4462272"/>
            <a:ext cx="6858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3364C"/>
                </a:solidFill>
                <a:latin typeface="Microsoft JhengHei"/>
              </a:rPr>
              <a:t>1 bit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4462272"/>
            <a:ext cx="219456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27384"/>
                </a:solidFill>
                <a:latin typeface="Microsoft JhengHei"/>
              </a:rPr>
              <a:t>1 = 不要求回覆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13248" y="2971800"/>
            <a:ext cx="5806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50992" y="3172968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3052"/>
                </a:solidFill>
                <a:latin typeface="Microsoft JhengHei"/>
              </a:rPr>
              <a:t>相容性要對齊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50992" y="3639312"/>
            <a:ext cx="12344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6984"/>
                </a:solidFill>
                <a:latin typeface="Microsoft JhengHei"/>
              </a:rPr>
              <a:t>Address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639312"/>
            <a:ext cx="3977639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3364C"/>
                </a:solidFill>
                <a:latin typeface="Microsoft JhengHei"/>
              </a:rPr>
              <a:t>5 Byte；本研究另設廣播位址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50992" y="4050791"/>
            <a:ext cx="12344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6984"/>
                </a:solidFill>
                <a:latin typeface="Microsoft JhengHei"/>
              </a:rPr>
              <a:t>位元順序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050791"/>
            <a:ext cx="3977639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3364C"/>
                </a:solidFill>
                <a:latin typeface="Microsoft JhengHei"/>
              </a:rPr>
              <a:t>寫入位址前需逐 bit 鏡像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50992" y="4462272"/>
            <a:ext cx="12344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6984"/>
                </a:solidFill>
                <a:latin typeface="Microsoft JhengHei"/>
              </a:rPr>
              <a:t>CRC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462272"/>
            <a:ext cx="3977639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3364C"/>
                </a:solidFill>
                <a:latin typeface="Microsoft JhengHei"/>
              </a:rPr>
              <a:t>2 Byte；由 RADIO 硬體校驗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5943600"/>
            <a:ext cx="10652760" cy="438912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ESB 負責「怎麼送」；ATKP 負責「送什麼」。因此下一頁從 Payload 往內拆。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47472"/>
            <a:ext cx="8595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6984"/>
                </a:solidFill>
                <a:latin typeface="Microsoft JhengHei"/>
              </a:rPr>
              <a:t>ATKP 封包：ESB Payload 裡承載的飛控資料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384048"/>
            <a:ext cx="2240280" cy="36576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無線移植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27384"/>
                </a:solidFill>
                <a:latin typeface="Microsoft JhengHei"/>
              </a:rPr>
              <a:t>上位機端的完整 ATKP 有起始碼與校驗；進入 ESB Payload 時，傳輸只保留實際資料欄位。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3017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273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27384"/>
                </a:solidFill>
                <a:latin typeface="Microsoft JhengHe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3052"/>
                </a:solidFill>
                <a:latin typeface="Microsoft JhengHei"/>
              </a:rPr>
              <a:t>上位機 → 飛控的完整 ATKP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19072"/>
            <a:ext cx="777240" cy="822960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7772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12264"/>
            <a:ext cx="7772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起始碼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53895" y="1719072"/>
            <a:ext cx="777240" cy="822960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53895" y="1828800"/>
            <a:ext cx="7772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AF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3895" y="2112264"/>
            <a:ext cx="7772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起始碼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13432" y="1719072"/>
            <a:ext cx="1143000" cy="82296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13432" y="1828800"/>
            <a:ext cx="11430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功能字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3432" y="2112264"/>
            <a:ext cx="11430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CMD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38728" y="1719072"/>
            <a:ext cx="1051560" cy="822960"/>
          </a:xfrm>
          <a:prstGeom prst="roundRect">
            <a:avLst/>
          </a:prstGeom>
          <a:solidFill>
            <a:srgbClr val="3199B4"/>
          </a:solidFill>
          <a:ln w="12700">
            <a:solidFill>
              <a:srgbClr val="319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8728" y="1828800"/>
            <a:ext cx="105156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長度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8" y="2112264"/>
            <a:ext cx="105156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Data Byte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72584" y="1719072"/>
            <a:ext cx="2057400" cy="822960"/>
          </a:xfrm>
          <a:prstGeom prst="roundRect">
            <a:avLst/>
          </a:prstGeom>
          <a:solidFill>
            <a:srgbClr val="388F6C"/>
          </a:solidFill>
          <a:ln w="12700">
            <a:solidFill>
              <a:srgbClr val="388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72584" y="1828800"/>
            <a:ext cx="20574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資料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112264"/>
            <a:ext cx="20574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0–N Byte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1719072"/>
            <a:ext cx="1188720" cy="822960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1828800"/>
            <a:ext cx="118872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校驗和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112264"/>
            <a:ext cx="118872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低 8 bit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2907792"/>
            <a:ext cx="59893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081528"/>
            <a:ext cx="5532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052"/>
                </a:solidFill>
                <a:latin typeface="Microsoft JhengHei"/>
              </a:rPr>
              <a:t>範例：解鎖 ARM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493008"/>
            <a:ext cx="5532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46984"/>
                </a:solidFill>
                <a:latin typeface="Microsoft JhengHei"/>
              </a:rPr>
              <a:t>AA  AF  01  01  A1  FC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904487"/>
            <a:ext cx="5532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27384"/>
                </a:solidFill>
                <a:latin typeface="Microsoft JhengHei"/>
              </a:rPr>
              <a:t>起始碼   功能字  長度  資料  校驗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39712" y="2907792"/>
            <a:ext cx="4370832" cy="1481328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68312" y="3090672"/>
            <a:ext cx="3886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052"/>
                </a:solidFill>
                <a:latin typeface="Microsoft JhengHei"/>
              </a:rPr>
              <a:t>進入 ESB Payload 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8312" y="3493008"/>
            <a:ext cx="3886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46984"/>
                </a:solidFill>
                <a:latin typeface="Microsoft JhengHei"/>
              </a:rPr>
              <a:t>功能字 + 長度 + 資料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8312" y="3877056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27384"/>
                </a:solidFill>
                <a:latin typeface="Microsoft JhengHei"/>
              </a:rPr>
              <a:t>起始碼／校驗和屬於 USB 封包格式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709160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052"/>
                </a:solidFill>
                <a:latin typeface="Microsoft JhengHei"/>
              </a:rPr>
              <a:t>資料分層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03120" y="4572000"/>
            <a:ext cx="1920240" cy="530352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USB / 上位機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041648" y="4837176"/>
            <a:ext cx="329184" cy="0"/>
          </a:xfrm>
          <a:prstGeom prst="line">
            <a:avLst/>
          </a:prstGeom>
          <a:ln w="25400">
            <a:solidFill>
              <a:srgbClr val="E7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462272" y="4572000"/>
            <a:ext cx="1920240" cy="530352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ATKP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400800" y="4837176"/>
            <a:ext cx="329184" cy="0"/>
          </a:xfrm>
          <a:prstGeom prst="line">
            <a:avLst/>
          </a:prstGeom>
          <a:ln w="25400">
            <a:solidFill>
              <a:srgbClr val="E7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821424" y="4572000"/>
            <a:ext cx="1920240" cy="530352"/>
          </a:xfrm>
          <a:prstGeom prst="roundRect">
            <a:avLst/>
          </a:prstGeom>
          <a:solidFill>
            <a:srgbClr val="3199B4"/>
          </a:solidFill>
          <a:ln w="12700">
            <a:solidFill>
              <a:srgbClr val="319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ESB Payload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5943600"/>
            <a:ext cx="10652760" cy="438912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這個分層讓後續多機控制可以集中修改 Payload，而不必重新設計整個 ESB 傳輸層。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47472"/>
            <a:ext cx="8595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6984"/>
                </a:solidFill>
                <a:latin typeface="Microsoft JhengHei"/>
              </a:rPr>
              <a:t>移植完成：飛行實機驗證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384048"/>
            <a:ext cx="2240280" cy="36576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實機驗證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27384"/>
                </a:solidFill>
                <a:latin typeface="Microsoft JhengHei"/>
              </a:rPr>
              <a:t>驗證不只看「能不能編譯」，而是確認通訊、控制、定高與斷訊後行為。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3017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273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27384"/>
                </a:solidFill>
                <a:latin typeface="Microsoft JhengHe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89888"/>
            <a:ext cx="6995160" cy="4160520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3611880" y="2743200"/>
            <a:ext cx="749808" cy="749808"/>
          </a:xfrm>
          <a:prstGeom prst="triangle">
            <a:avLst/>
          </a:prstGeom>
          <a:solidFill>
            <a:srgbClr val="3199B4"/>
          </a:solidFill>
          <a:ln>
            <a:solidFill>
              <a:srgbClr val="319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736592"/>
            <a:ext cx="6263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此處放置「移植後飛行」影片／截圖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1389888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052"/>
                </a:solidFill>
                <a:latin typeface="Microsoft JhengHei"/>
              </a:rPr>
              <a:t>影片應觀察 5 個節點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1828800"/>
            <a:ext cx="420624" cy="384048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1810512"/>
            <a:ext cx="2423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3364C"/>
                </a:solidFill>
                <a:latin typeface="Microsoft JhengHei"/>
              </a:rPr>
              <a:t>開機自檢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82127" y="2487168"/>
            <a:ext cx="420624" cy="384048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468879"/>
            <a:ext cx="2423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3364C"/>
                </a:solidFill>
                <a:latin typeface="Microsoft JhengHei"/>
              </a:rPr>
              <a:t>遙控器配對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82127" y="3145536"/>
            <a:ext cx="420624" cy="384048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3127248"/>
            <a:ext cx="2423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3364C"/>
                </a:solidFill>
                <a:latin typeface="Microsoft JhengHei"/>
              </a:rPr>
              <a:t>起飛／定高懸停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7" y="3803904"/>
            <a:ext cx="420624" cy="384048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3785616"/>
            <a:ext cx="2423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3364C"/>
                </a:solidFill>
                <a:latin typeface="Microsoft JhengHei"/>
              </a:rPr>
              <a:t>訊號中斷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82127" y="4462272"/>
            <a:ext cx="420624" cy="384048"/>
          </a:xfrm>
          <a:prstGeom prst="roundRect">
            <a:avLst/>
          </a:prstGeom>
          <a:solidFill>
            <a:srgbClr val="388F6C"/>
          </a:solidFill>
          <a:ln w="12700">
            <a:solidFill>
              <a:srgbClr val="388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4443984"/>
            <a:ext cx="2423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3364C"/>
                </a:solidFill>
                <a:latin typeface="Microsoft JhengHei"/>
              </a:rPr>
              <a:t>訊號恢復／降落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943600"/>
            <a:ext cx="10652760" cy="438912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驗證重點：訊號中斷期間高度不掉落；訊號恢復後可繼續飛行。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47472"/>
            <a:ext cx="8595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6984"/>
                </a:solidFill>
                <a:latin typeface="Microsoft JhengHei"/>
              </a:rPr>
              <a:t>多機控制架構：一個遙控器管理兩架飛控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384048"/>
            <a:ext cx="2240280" cy="36576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多機控制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27384"/>
                </a:solidFill>
                <a:latin typeface="Microsoft JhengHei"/>
              </a:rPr>
              <a:t>在完成單機移植後，再把同一套 ATKP / ESB 鏈路擴展到異構雙機。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3017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273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27384"/>
                </a:solidFill>
                <a:latin typeface="Microsoft JhengHe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71600"/>
            <a:ext cx="2057400" cy="777240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上位機
定位／決策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371600"/>
            <a:ext cx="2057400" cy="77724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遙控器
廣播轉發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371600"/>
            <a:ext cx="2057400" cy="777240"/>
          </a:xfrm>
          <a:prstGeom prst="roundRect">
            <a:avLst/>
          </a:prstGeom>
          <a:solidFill>
            <a:srgbClr val="3199B4"/>
          </a:solidFill>
          <a:ln w="12700">
            <a:solidFill>
              <a:srgbClr val="319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飛機 A
ATK 原機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1371600"/>
            <a:ext cx="2057400" cy="777240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飛機 B
nRF 自製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1764792"/>
            <a:ext cx="530352" cy="0"/>
          </a:xfrm>
          <a:prstGeom prst="line">
            <a:avLst/>
          </a:prstGeom>
          <a:ln w="25400">
            <a:solidFill>
              <a:srgbClr val="E7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1764792"/>
            <a:ext cx="530352" cy="0"/>
          </a:xfrm>
          <a:prstGeom prst="line">
            <a:avLst/>
          </a:prstGeom>
          <a:ln w="25400">
            <a:solidFill>
              <a:srgbClr val="E7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55279" y="1764792"/>
            <a:ext cx="530353" cy="0"/>
          </a:xfrm>
          <a:prstGeom prst="line">
            <a:avLst/>
          </a:prstGeom>
          <a:ln w="25400">
            <a:solidFill>
              <a:srgbClr val="E7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74720" y="2267712"/>
            <a:ext cx="1600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27384"/>
                </a:solidFill>
                <a:latin typeface="Microsoft JhengHei"/>
              </a:rPr>
              <a:t>USB / ATKP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017520"/>
            <a:ext cx="32461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3017520"/>
            <a:ext cx="3246120" cy="457200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廣播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621024"/>
            <a:ext cx="290779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83052"/>
                </a:solidFill>
                <a:latin typeface="Microsoft JhengHei"/>
              </a:rPr>
              <a:t>指定其中一架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087368"/>
            <a:ext cx="28346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27384"/>
                </a:solidFill>
                <a:latin typeface="Microsoft JhengHei"/>
              </a:rPr>
              <a:t>同一封包兩架都收到；尾端標註目標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6512" y="3017520"/>
            <a:ext cx="32461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096512" y="3017520"/>
            <a:ext cx="3246120" cy="457200"/>
          </a:xfrm>
          <a:prstGeom prst="roundRect">
            <a:avLst/>
          </a:prstGeom>
          <a:solidFill>
            <a:srgbClr val="3199B4"/>
          </a:solidFill>
          <a:ln w="12700">
            <a:solidFill>
              <a:srgbClr val="319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廣播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1104" y="3621024"/>
            <a:ext cx="290779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83052"/>
                </a:solidFill>
                <a:latin typeface="Microsoft JhengHei"/>
              </a:rPr>
              <a:t>一次指揮多架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087368"/>
            <a:ext cx="28346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27384"/>
                </a:solidFill>
                <a:latin typeface="Microsoft JhengHei"/>
              </a:rPr>
              <a:t>一包放各機指令；各機取自己的段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98664" y="3017520"/>
            <a:ext cx="32461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98664" y="3017520"/>
            <a:ext cx="3246120" cy="45720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狀態查詢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3621024"/>
            <a:ext cx="290779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83052"/>
                </a:solidFill>
                <a:latin typeface="Microsoft JhengHei"/>
              </a:rPr>
              <a:t>輪流取得狀態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9832" y="4087368"/>
            <a:ext cx="28346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27384"/>
                </a:solidFill>
                <a:latin typeface="Microsoft JhengHei"/>
              </a:rPr>
              <a:t>每約 0.13 秒切回一對一查詢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943600"/>
            <a:ext cx="10652760" cy="438912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三項功能皆已完成實機驗證：指定單機、多機獨立指令、輪流狀態查詢。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47472"/>
            <a:ext cx="8595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6984"/>
                </a:solidFill>
                <a:latin typeface="Microsoft JhengHei"/>
              </a:rPr>
              <a:t>廣播模式 A：指定單機，其餘保持懸停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384048"/>
            <a:ext cx="2240280" cy="36576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多機控制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27384"/>
                </a:solidFill>
                <a:latin typeface="Microsoft JhengHei"/>
              </a:rPr>
              <a:t>沿用已確認可飛的原廠遙控封包，只在尾端增加 1 Byte 目標資訊。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3017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273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27384"/>
                </a:solidFill>
                <a:latin typeface="Microsoft JhengHe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052"/>
                </a:solidFill>
                <a:latin typeface="Microsoft JhengHei"/>
              </a:rPr>
              <a:t>封包：原廠格式 + 目標 Byte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685800" cy="749808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AA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53312" y="1737360"/>
            <a:ext cx="685800" cy="749808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AF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12264" y="1737360"/>
            <a:ext cx="1234440" cy="749808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0x50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1737360"/>
            <a:ext cx="1005840" cy="749808"/>
          </a:xfrm>
          <a:prstGeom prst="roundRect">
            <a:avLst/>
          </a:prstGeom>
          <a:solidFill>
            <a:srgbClr val="3199B4"/>
          </a:solidFill>
          <a:ln w="12700">
            <a:solidFill>
              <a:srgbClr val="319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長度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1737360"/>
            <a:ext cx="1874519" cy="749808"/>
          </a:xfrm>
          <a:prstGeom prst="roundRect">
            <a:avLst/>
          </a:prstGeom>
          <a:solidFill>
            <a:srgbClr val="388F6C"/>
          </a:solidFill>
          <a:ln w="12700">
            <a:solidFill>
              <a:srgbClr val="388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remoterData_t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737360"/>
            <a:ext cx="2788920" cy="749808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3464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052"/>
                </a:solidFill>
                <a:latin typeface="Microsoft JhengHei"/>
              </a:rPr>
              <a:t>飛機端判斷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46120"/>
            <a:ext cx="25146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" y="3364991"/>
            <a:ext cx="411480" cy="41148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37560"/>
            <a:ext cx="17647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83052"/>
                </a:solidFill>
                <a:latin typeface="Microsoft JhengHei"/>
              </a:rPr>
              <a:t>看長度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685031"/>
            <a:ext cx="1764792" cy="1088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27384"/>
                </a:solidFill>
                <a:latin typeface="Microsoft JhengHei"/>
              </a:rPr>
              <a:t>多 1 Byte → 廣播封包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08960" y="4023360"/>
            <a:ext cx="228600" cy="0"/>
          </a:xfrm>
          <a:prstGeom prst="line">
            <a:avLst/>
          </a:prstGeom>
          <a:ln w="25400">
            <a:solidFill>
              <a:srgbClr val="E7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355848" y="3246120"/>
            <a:ext cx="25146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74720" y="3364991"/>
            <a:ext cx="411480" cy="411480"/>
          </a:xfrm>
          <a:prstGeom prst="roundRect">
            <a:avLst/>
          </a:prstGeom>
          <a:solidFill>
            <a:srgbClr val="3199B4"/>
          </a:solidFill>
          <a:ln w="12700">
            <a:solidFill>
              <a:srgbClr val="319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337560"/>
            <a:ext cx="17647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83052"/>
                </a:solidFill>
                <a:latin typeface="Microsoft JhengHei"/>
              </a:rPr>
              <a:t>讀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3685031"/>
            <a:ext cx="1764792" cy="1088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27384"/>
                </a:solidFill>
                <a:latin typeface="Microsoft JhengHei"/>
              </a:rPr>
              <a:t>取得尾端目標編號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870448" y="4023360"/>
            <a:ext cx="228600" cy="0"/>
          </a:xfrm>
          <a:prstGeom prst="line">
            <a:avLst/>
          </a:prstGeom>
          <a:ln w="25400">
            <a:solidFill>
              <a:srgbClr val="E7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17336" y="3246120"/>
            <a:ext cx="25146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36207" y="3364991"/>
            <a:ext cx="411480" cy="411480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9127" y="3337560"/>
            <a:ext cx="17647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83052"/>
                </a:solidFill>
                <a:latin typeface="Microsoft JhengHei"/>
              </a:rPr>
              <a:t>符合？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9127" y="3685031"/>
            <a:ext cx="1764792" cy="1088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27384"/>
                </a:solidFill>
                <a:latin typeface="Microsoft JhengHei"/>
              </a:rPr>
              <a:t>全體或本機 → 執行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31936" y="4023360"/>
            <a:ext cx="228600" cy="0"/>
          </a:xfrm>
          <a:prstGeom prst="line">
            <a:avLst/>
          </a:prstGeom>
          <a:ln w="25400">
            <a:solidFill>
              <a:srgbClr val="E7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878824" y="3246120"/>
            <a:ext cx="25146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97696" y="3364991"/>
            <a:ext cx="411480" cy="411480"/>
          </a:xfrm>
          <a:prstGeom prst="roundRect">
            <a:avLst/>
          </a:prstGeom>
          <a:solidFill>
            <a:srgbClr val="388F6C"/>
          </a:solidFill>
          <a:ln w="12700">
            <a:solidFill>
              <a:srgbClr val="388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0615" y="3337560"/>
            <a:ext cx="17647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83052"/>
                </a:solidFill>
                <a:latin typeface="Microsoft JhengHei"/>
              </a:rPr>
              <a:t>不符合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0615" y="3685031"/>
            <a:ext cx="1764792" cy="1088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27384"/>
                </a:solidFill>
                <a:latin typeface="Microsoft JhengHei"/>
              </a:rPr>
              <a:t>傾角歸零、油門懸停、定高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138928"/>
            <a:ext cx="5074920" cy="530352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83052"/>
                </a:solidFill>
                <a:latin typeface="Microsoft JhengHei"/>
              </a:rPr>
              <a:t>等待時仍更新連線時間 → 不會誤判失聯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97880" y="5138928"/>
            <a:ext cx="53492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46984"/>
                </a:solidFill>
                <a:latin typeface="Microsoft JhengHei"/>
              </a:rPr>
              <a:t>一對一封包少 1 Byte → 自動走原流程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943600"/>
            <a:ext cx="10652760" cy="438912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設計取捨：改動最小、容易除錯；一次只能操控一架。起飛、降落、緊急停止則指定全體。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47472"/>
            <a:ext cx="8595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6984"/>
                </a:solidFill>
                <a:latin typeface="Microsoft JhengHei"/>
              </a:rPr>
              <a:t>廣播模式 B：單封包承載多機獨立指令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384048"/>
            <a:ext cx="2240280" cy="36576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多機控制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27384"/>
                </a:solidFill>
                <a:latin typeface="Microsoft JhengHei"/>
              </a:rPr>
              <a:t>ESB Payload 上限 32 Byte，因此把每架指令壓縮成固定 8 Byte，再由 ID 對應。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3017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273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27384"/>
                </a:solidFill>
                <a:latin typeface="Microsoft JhengHe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052"/>
                </a:solidFill>
                <a:latin typeface="Microsoft JhengHei"/>
              </a:rPr>
              <a:t>封包：架數 + 每架 8 Byte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685800" cy="713232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31136"/>
            <a:ext cx="685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架數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53312" y="1737360"/>
            <a:ext cx="1874519" cy="713232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ID1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231136"/>
            <a:ext cx="1874519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8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0984" y="1737360"/>
            <a:ext cx="1874519" cy="713232"/>
          </a:xfrm>
          <a:prstGeom prst="roundRect">
            <a:avLst/>
          </a:prstGeom>
          <a:solidFill>
            <a:srgbClr val="3199B4"/>
          </a:solidFill>
          <a:ln w="12700">
            <a:solidFill>
              <a:srgbClr val="319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ID2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0984" y="2231136"/>
            <a:ext cx="1874519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8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48656" y="1737360"/>
            <a:ext cx="1874519" cy="713232"/>
          </a:xfrm>
          <a:prstGeom prst="roundRect">
            <a:avLst/>
          </a:prstGeom>
          <a:solidFill>
            <a:srgbClr val="388F6C"/>
          </a:solidFill>
          <a:ln w="12700">
            <a:solidFill>
              <a:srgbClr val="388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ID3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656" y="2231136"/>
            <a:ext cx="1874519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8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737360"/>
            <a:ext cx="3566160" cy="713232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83052"/>
                </a:solidFill>
                <a:latin typeface="Microsoft JhengHei"/>
              </a:rPr>
              <a:t>兩架 = 19 B
三架 = 27 B；四架超過限制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78892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052"/>
                </a:solidFill>
                <a:latin typeface="Microsoft JhengHei"/>
              </a:rPr>
              <a:t>飛機端取用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182112"/>
            <a:ext cx="25146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00984"/>
            <a:ext cx="411480" cy="41148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273552"/>
            <a:ext cx="17647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83052"/>
                </a:solidFill>
                <a:latin typeface="Microsoft JhengHei"/>
              </a:rPr>
              <a:t>讀架數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621024"/>
            <a:ext cx="1764792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27384"/>
                </a:solidFill>
                <a:latin typeface="Microsoft JhengHei"/>
              </a:rPr>
              <a:t>決定要檢查幾段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08960" y="3968496"/>
            <a:ext cx="228600" cy="0"/>
          </a:xfrm>
          <a:prstGeom prst="line">
            <a:avLst/>
          </a:prstGeom>
          <a:ln w="25400">
            <a:solidFill>
              <a:srgbClr val="E7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355848" y="3182112"/>
            <a:ext cx="25146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74720" y="3300984"/>
            <a:ext cx="411480" cy="411480"/>
          </a:xfrm>
          <a:prstGeom prst="roundRect">
            <a:avLst/>
          </a:prstGeom>
          <a:solidFill>
            <a:srgbClr val="3199B4"/>
          </a:solidFill>
          <a:ln w="12700">
            <a:solidFill>
              <a:srgbClr val="319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3273552"/>
            <a:ext cx="17647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83052"/>
                </a:solidFill>
                <a:latin typeface="Microsoft JhengHei"/>
              </a:rPr>
              <a:t>每 8 Byte 一段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3621024"/>
            <a:ext cx="1764792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27384"/>
                </a:solidFill>
                <a:latin typeface="Microsoft JhengHei"/>
              </a:rPr>
              <a:t>依序走訪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870448" y="3968496"/>
            <a:ext cx="228600" cy="0"/>
          </a:xfrm>
          <a:prstGeom prst="line">
            <a:avLst/>
          </a:prstGeom>
          <a:ln w="25400">
            <a:solidFill>
              <a:srgbClr val="E7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117336" y="3182112"/>
            <a:ext cx="25146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36207" y="3300984"/>
            <a:ext cx="411480" cy="411480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39127" y="3273552"/>
            <a:ext cx="17647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83052"/>
                </a:solidFill>
                <a:latin typeface="Microsoft JhengHei"/>
              </a:rPr>
              <a:t>比對 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39127" y="3621024"/>
            <a:ext cx="1764792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27384"/>
                </a:solidFill>
                <a:latin typeface="Microsoft JhengHei"/>
              </a:rPr>
              <a:t>找到自己的段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31936" y="3968496"/>
            <a:ext cx="228600" cy="0"/>
          </a:xfrm>
          <a:prstGeom prst="line">
            <a:avLst/>
          </a:prstGeom>
          <a:ln w="25400">
            <a:solidFill>
              <a:srgbClr val="E7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878824" y="3182112"/>
            <a:ext cx="25146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997696" y="3300984"/>
            <a:ext cx="411480" cy="411480"/>
          </a:xfrm>
          <a:prstGeom prst="roundRect">
            <a:avLst/>
          </a:prstGeom>
          <a:solidFill>
            <a:srgbClr val="388F6C"/>
          </a:solidFill>
          <a:ln w="12700">
            <a:solidFill>
              <a:srgbClr val="388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0615" y="3273552"/>
            <a:ext cx="17647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83052"/>
                </a:solidFill>
                <a:latin typeface="Microsoft JhengHei"/>
              </a:rPr>
              <a:t>取用／忽略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0615" y="3621024"/>
            <a:ext cx="1764792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27384"/>
                </a:solidFill>
                <a:latin typeface="Microsoft JhengHei"/>
              </a:rPr>
              <a:t>找到就執行；沒有就忽略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074920"/>
            <a:ext cx="512064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3364C"/>
                </a:solidFill>
                <a:latin typeface="Microsoft JhengHei"/>
              </a:rPr>
              <a:t>壓縮範圍：傾角 ±30°、轉速 ±200°/s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25312" y="5074920"/>
            <a:ext cx="5276088" cy="60350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83052"/>
                </a:solidFill>
                <a:latin typeface="Microsoft JhengHei"/>
              </a:rPr>
              <a:t>注意：沒找到自己的段，不代表失聯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943600"/>
            <a:ext cx="10652760" cy="438912"/>
          </a:xfrm>
          <a:prstGeom prst="roundRect">
            <a:avLst/>
          </a:prstGeom>
          <a:solidFill>
            <a:srgbClr val="3199B4"/>
          </a:solidFill>
          <a:ln w="12700">
            <a:solidFill>
              <a:srgbClr val="319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核心差異：模式 A 用「封包尾端 Target」指定誰；模式 B 用「每段開頭 ID」讓多架各取自己的指令。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47472"/>
            <a:ext cx="8595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6984"/>
                </a:solidFill>
                <a:latin typeface="Microsoft JhengHei"/>
              </a:rPr>
              <a:t>廣播狀態回報：控制同步與狀態取得分開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384048"/>
            <a:ext cx="2240280" cy="36576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多機控制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27384"/>
                </a:solidFill>
                <a:latin typeface="Microsoft JhengHei"/>
              </a:rPr>
              <a:t>廣播不回覆以避免多機同時應答；但仍需知道電量與連線狀態，因此低頻率插入一對一查詢。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3017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273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27384"/>
                </a:solidFill>
                <a:latin typeface="Microsoft JhengHe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052"/>
                </a:solidFill>
                <a:latin typeface="Microsoft JhengHei"/>
              </a:rPr>
              <a:t>控制時序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10512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24712" y="1810512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55064" y="1810512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85416" y="1810512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5768" y="1810512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810512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76472" y="1810512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1810512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37176" y="1810512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67528" y="1810512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1810512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28232" y="1810512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68312" y="1810512"/>
            <a:ext cx="658368" cy="502920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423160"/>
            <a:ext cx="6492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3364C"/>
                </a:solidFill>
                <a:latin typeface="Microsoft JhengHei"/>
              </a:rPr>
              <a:t>B：廣播控制 ×12　　Q：一對一點名 ×1　　約每 0.13 秒插入一次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816352"/>
            <a:ext cx="6492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27384"/>
                </a:solidFill>
                <a:latin typeface="Microsoft JhengHei"/>
              </a:rPr>
              <a:t>查到狀態後立即切回廣播，不讓查詢長時間占用控制通道。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383280"/>
            <a:ext cx="3246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8952" y="3547872"/>
            <a:ext cx="411480" cy="41148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493008"/>
            <a:ext cx="2331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83052"/>
                </a:solidFill>
                <a:latin typeface="Microsoft JhengHei"/>
              </a:rPr>
              <a:t>只查目前操控的飛機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4069080"/>
            <a:ext cx="290779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27384"/>
                </a:solidFill>
                <a:latin typeface="Microsoft JhengHei"/>
              </a:rPr>
              <a:t>未操控機體不需要即時狀態，省下查詢次數。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96512" y="3383280"/>
            <a:ext cx="3246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61104" y="3547872"/>
            <a:ext cx="411480" cy="411480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2312" y="3493008"/>
            <a:ext cx="2331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83052"/>
                </a:solidFill>
                <a:latin typeface="Microsoft JhengHei"/>
              </a:rPr>
              <a:t>等待上限 50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61104" y="4069080"/>
            <a:ext cx="290779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27384"/>
                </a:solidFill>
                <a:latin typeface="Microsoft JhengHei"/>
              </a:rPr>
              <a:t>在線約 1 ms 回覆；失聯時才可能等滿。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98664" y="3383280"/>
            <a:ext cx="3246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63256" y="3547872"/>
            <a:ext cx="411480" cy="411480"/>
          </a:xfrm>
          <a:prstGeom prst="roundRect">
            <a:avLst/>
          </a:prstGeom>
          <a:solidFill>
            <a:srgbClr val="388F6C"/>
          </a:solidFill>
          <a:ln w="12700">
            <a:solidFill>
              <a:srgbClr val="388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3493008"/>
            <a:ext cx="2331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83052"/>
                </a:solidFill>
                <a:latin typeface="Microsoft JhengHei"/>
              </a:rPr>
              <a:t>只保留最新一筆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63256" y="4069080"/>
            <a:ext cx="290779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27384"/>
                </a:solidFill>
                <a:latin typeface="Microsoft JhengHei"/>
              </a:rPr>
              <a:t>避免回傳佇列造成數十秒前的舊狀態。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943600"/>
            <a:ext cx="10652760" cy="438912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在線回覆約 1 ms、占用不到 1%；連續 3 次查詢失敗後，查詢頻率降至 1/4，避免失聯機體拖慢控制。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47472"/>
            <a:ext cx="8595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6984"/>
                </a:solidFill>
                <a:latin typeface="Microsoft JhengHei"/>
              </a:rPr>
              <a:t>三種控制方式：同步性、可靠性與狀態回覆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384048"/>
            <a:ext cx="2240280" cy="36576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多機控制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27384"/>
                </a:solidFill>
                <a:latin typeface="Microsoft JhengHei"/>
              </a:rPr>
              <a:t>用同一個問題比較三種方式：要同步、要確認，還是要一次控制多架？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3017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273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27384"/>
                </a:solidFill>
                <a:latin typeface="Microsoft JhengHe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1645920" cy="530352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評估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13432" y="1417320"/>
            <a:ext cx="2971800" cy="530352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一對一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58384" y="1417320"/>
            <a:ext cx="2971800" cy="530352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廣播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03336" y="1417320"/>
            <a:ext cx="2971800" cy="530352"/>
          </a:xfrm>
          <a:prstGeom prst="roundRect">
            <a:avLst/>
          </a:prstGeom>
          <a:solidFill>
            <a:srgbClr val="3199B4"/>
          </a:solidFill>
          <a:ln w="12700">
            <a:solidFill>
              <a:srgbClr val="319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廣播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057400"/>
            <a:ext cx="164592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130552"/>
            <a:ext cx="14996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83052"/>
                </a:solidFill>
                <a:latin typeface="Microsoft JhengHei"/>
              </a:rPr>
              <a:t>發送次數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13432" y="2057400"/>
            <a:ext cx="29718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6584" y="2130552"/>
            <a:ext cx="2825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3364C"/>
                </a:solidFill>
                <a:latin typeface="Microsoft JhengHei"/>
              </a:rPr>
              <a:t>N 次（逐架）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58384" y="2057400"/>
            <a:ext cx="29718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31536" y="2130552"/>
            <a:ext cx="2825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3364C"/>
                </a:solidFill>
                <a:latin typeface="Microsoft JhengHei"/>
              </a:rPr>
              <a:t>1 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03336" y="2057400"/>
            <a:ext cx="29718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6488" y="2130552"/>
            <a:ext cx="2825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3364C"/>
                </a:solidFill>
                <a:latin typeface="Microsoft JhengHei"/>
              </a:rPr>
              <a:t>1 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724912"/>
            <a:ext cx="1645920" cy="60350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2798064"/>
            <a:ext cx="14996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83052"/>
                </a:solidFill>
                <a:latin typeface="Microsoft JhengHei"/>
              </a:rPr>
              <a:t>指令同步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13432" y="2724912"/>
            <a:ext cx="2971800" cy="60350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86584" y="2798064"/>
            <a:ext cx="2825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3364C"/>
                </a:solidFill>
                <a:latin typeface="Microsoft JhengHei"/>
              </a:rPr>
              <a:t>各架錯開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58384" y="2724912"/>
            <a:ext cx="2971800" cy="60350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1536" y="2798064"/>
            <a:ext cx="2825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3364C"/>
                </a:solidFill>
                <a:latin typeface="Microsoft JhengHei"/>
              </a:rPr>
              <a:t>同時到達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03336" y="2724912"/>
            <a:ext cx="2971800" cy="60350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6488" y="2798064"/>
            <a:ext cx="2825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3364C"/>
                </a:solidFill>
                <a:latin typeface="Microsoft JhengHei"/>
              </a:rPr>
              <a:t>同時到達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92424"/>
            <a:ext cx="164592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3465576"/>
            <a:ext cx="14996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83052"/>
                </a:solidFill>
                <a:latin typeface="Microsoft JhengHei"/>
              </a:rPr>
              <a:t>狀態回覆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13432" y="3392424"/>
            <a:ext cx="29718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6584" y="3465576"/>
            <a:ext cx="2825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3364C"/>
                </a:solidFill>
                <a:latin typeface="Microsoft JhengHei"/>
              </a:rPr>
              <a:t>有／可重送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58384" y="3392424"/>
            <a:ext cx="29718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31536" y="3465576"/>
            <a:ext cx="2825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3364C"/>
                </a:solidFill>
                <a:latin typeface="Microsoft JhengHei"/>
              </a:rPr>
              <a:t>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03336" y="3392424"/>
            <a:ext cx="29718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76488" y="3465576"/>
            <a:ext cx="2825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3364C"/>
                </a:solidFill>
                <a:latin typeface="Microsoft JhengHei"/>
              </a:rPr>
              <a:t>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059935"/>
            <a:ext cx="1645920" cy="60350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4133087"/>
            <a:ext cx="14996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83052"/>
                </a:solidFill>
                <a:latin typeface="Microsoft JhengHei"/>
              </a:rPr>
              <a:t>同時操控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13432" y="4059935"/>
            <a:ext cx="2971800" cy="60350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86584" y="4133087"/>
            <a:ext cx="2825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3364C"/>
                </a:solidFill>
                <a:latin typeface="Microsoft JhengHei"/>
              </a:rPr>
              <a:t>1 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58384" y="4059935"/>
            <a:ext cx="2971800" cy="60350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31536" y="4133087"/>
            <a:ext cx="2825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3364C"/>
                </a:solidFill>
                <a:latin typeface="Microsoft JhengHei"/>
              </a:rPr>
              <a:t>1 架；其餘懸停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03336" y="4059935"/>
            <a:ext cx="2971800" cy="60350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76488" y="4133087"/>
            <a:ext cx="2825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3364C"/>
                </a:solidFill>
                <a:latin typeface="Microsoft JhengHei"/>
              </a:rPr>
              <a:t>多架；可不同動作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074920"/>
            <a:ext cx="10579608" cy="658368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選擇規則：要同步動作 → 廣播；要逐架確認／讀狀態 → 一對一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5943600"/>
            <a:ext cx="10652760" cy="438912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本研究三種方式都保留並可切換：廣播解決同步與發送效率，一對一保留確認與重送能力。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47472"/>
            <a:ext cx="8595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6984"/>
                </a:solidFill>
                <a:latin typeface="Microsoft JhengHei"/>
              </a:rPr>
              <a:t>斷聯風險：暫時輪空 ≠ 真正失聯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384048"/>
            <a:ext cx="2240280" cy="36576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多機控制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27384"/>
                </a:solidFill>
                <a:latin typeface="Microsoft JhengHei"/>
              </a:rPr>
              <a:t>廣播控制下，某架短暫收不到這一拍並不代表無線鏈路中斷。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3017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273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27384"/>
                </a:solidFill>
                <a:latin typeface="Microsoft JhengHei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89888"/>
            <a:ext cx="10579608" cy="713232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83052"/>
                </a:solidFill>
                <a:latin typeface="Microsoft JhengHei"/>
              </a:rPr>
              <a:t>廣播控制 → 定期切回一對一查詢 → 查詢別台時，其他飛機會短暫輪空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487168"/>
            <a:ext cx="324612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" y="2670048"/>
            <a:ext cx="420624" cy="420624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264408"/>
            <a:ext cx="29077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83052"/>
                </a:solidFill>
                <a:latin typeface="Microsoft JhengHei"/>
              </a:rPr>
              <a:t>發送端一次只能對一架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822191"/>
            <a:ext cx="2834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27384"/>
                </a:solidFill>
                <a:latin typeface="Microsoft JhengHei"/>
              </a:rPr>
              <a:t>ESB 只有一組 TX 位址暫存器；切換目標需先改寫位址。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96512" y="2487168"/>
            <a:ext cx="324612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61104" y="2670048"/>
            <a:ext cx="420624" cy="420624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3264408"/>
            <a:ext cx="29077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83052"/>
                </a:solidFill>
                <a:latin typeface="Microsoft JhengHei"/>
              </a:rPr>
              <a:t>架數越多，輪空越久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822191"/>
            <a:ext cx="2834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27384"/>
                </a:solidFill>
                <a:latin typeface="Microsoft JhengHei"/>
              </a:rPr>
              <a:t>目前一輪點名 2～3 架；架數增加，輪一圈時間等比拉長。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98664" y="2487168"/>
            <a:ext cx="324612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63256" y="2670048"/>
            <a:ext cx="420624" cy="420624"/>
          </a:xfrm>
          <a:prstGeom prst="roundRect">
            <a:avLst/>
          </a:prstGeom>
          <a:solidFill>
            <a:srgbClr val="C24C46"/>
          </a:solidFill>
          <a:ln w="12700">
            <a:solidFill>
              <a:srgbClr val="C2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63256" y="3264408"/>
            <a:ext cx="29077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83052"/>
                </a:solidFill>
                <a:latin typeface="Microsoft JhengHei"/>
              </a:rPr>
              <a:t>輪空若被判失聯會墜機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9832" y="3822191"/>
            <a:ext cx="2834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27384"/>
                </a:solidFill>
                <a:latin typeface="Microsoft JhengHei"/>
              </a:rPr>
              <a:t>可能觸發降落／停機，因此必須分開判斷輪空與失聯。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074920"/>
            <a:ext cx="5102352" cy="566928"/>
          </a:xfrm>
          <a:prstGeom prst="roundRect">
            <a:avLst/>
          </a:prstGeom>
          <a:solidFill>
            <a:srgbClr val="388F6C"/>
          </a:solidFill>
          <a:ln w="12700">
            <a:solidFill>
              <a:srgbClr val="388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短暫輪空 → 保持現狀／等待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71616" y="5074920"/>
            <a:ext cx="5102352" cy="566928"/>
          </a:xfrm>
          <a:prstGeom prst="roundRect">
            <a:avLst/>
          </a:prstGeom>
          <a:solidFill>
            <a:srgbClr val="C24C46"/>
          </a:solidFill>
          <a:ln w="12700">
            <a:solidFill>
              <a:srgbClr val="C2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持續超時 → 才進入失聯保護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943600"/>
            <a:ext cx="10652760" cy="438912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這個風險直接導向下一頁：用時間門檻把「暫時收不到」與「真正失聯」分開。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47472"/>
            <a:ext cx="8595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6984"/>
                </a:solidFill>
                <a:latin typeface="Microsoft JhengHei"/>
              </a:rPr>
              <a:t>斷聯保護流程：三種失聯處置模式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384048"/>
            <a:ext cx="2240280" cy="36576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飛行安全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27384"/>
                </a:solidFill>
                <a:latin typeface="Microsoft JhengHei"/>
              </a:rPr>
              <a:t>共同原則：短暫中斷先維持安全狀態，超過門檻才執行對應保護。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3017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273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27384"/>
                </a:solidFill>
                <a:latin typeface="Microsoft JhengHei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017520" cy="749808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正常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65376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持續收到指令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11879" y="1792224"/>
            <a:ext cx="292609" cy="0"/>
          </a:xfrm>
          <a:prstGeom prst="line">
            <a:avLst/>
          </a:prstGeom>
          <a:ln w="25400">
            <a:solidFill>
              <a:srgbClr val="E7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87368" y="1417320"/>
            <a:ext cx="3017520" cy="749808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8" y="1536192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短暫中斷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1865376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開始計時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04888" y="1792224"/>
            <a:ext cx="292608" cy="0"/>
          </a:xfrm>
          <a:prstGeom prst="line">
            <a:avLst/>
          </a:prstGeom>
          <a:ln w="25400">
            <a:solidFill>
              <a:srgbClr val="E78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80375" y="1417320"/>
            <a:ext cx="3017520" cy="749808"/>
          </a:xfrm>
          <a:prstGeom prst="roundRect">
            <a:avLst/>
          </a:prstGeom>
          <a:solidFill>
            <a:srgbClr val="C24C46"/>
          </a:solidFill>
          <a:ln w="12700">
            <a:solidFill>
              <a:srgbClr val="C2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17536" y="1536192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超時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7536" y="1865376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執行保護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697480"/>
            <a:ext cx="3246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2697480"/>
            <a:ext cx="3246120" cy="45720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模式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355848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83052"/>
                </a:solidFill>
                <a:latin typeface="Microsoft JhengHei"/>
              </a:rPr>
              <a:t>保持高度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813048"/>
            <a:ext cx="2880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6984"/>
                </a:solidFill>
                <a:latin typeface="Microsoft JhengHei"/>
              </a:rPr>
              <a:t>最多 2 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51960"/>
            <a:ext cx="2880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27384"/>
                </a:solidFill>
                <a:latin typeface="Microsoft JhengHei"/>
              </a:rPr>
              <a:t>訊號回來 → 繼續飛；超時 → 緩慢下降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96512" y="2697480"/>
            <a:ext cx="3246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096512" y="2697480"/>
            <a:ext cx="3246120" cy="457200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模式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9392" y="3355848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83052"/>
                </a:solidFill>
                <a:latin typeface="Microsoft JhengHei"/>
              </a:rPr>
              <a:t>原地懸停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3813048"/>
            <a:ext cx="2880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E78937"/>
                </a:solidFill>
                <a:latin typeface="Microsoft JhengHei"/>
              </a:rPr>
              <a:t>約 8 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4251960"/>
            <a:ext cx="2880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27384"/>
                </a:solidFill>
                <a:latin typeface="Microsoft JhengHei"/>
              </a:rPr>
              <a:t>給操作者反應時間；超時 → 緩慢下降落地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98664" y="2697480"/>
            <a:ext cx="3246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598664" y="2697480"/>
            <a:ext cx="3246120" cy="457200"/>
          </a:xfrm>
          <a:prstGeom prst="roundRect">
            <a:avLst/>
          </a:prstGeom>
          <a:solidFill>
            <a:srgbClr val="C24C46"/>
          </a:solidFill>
          <a:ln w="12700">
            <a:solidFill>
              <a:srgbClr val="C2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模式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1544" y="3355848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83052"/>
                </a:solidFill>
                <a:latin typeface="Microsoft JhengHei"/>
              </a:rPr>
              <a:t>立即緩慢下降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81544" y="3813048"/>
            <a:ext cx="2880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C24C46"/>
                </a:solidFill>
                <a:latin typeface="Microsoft JhengHei"/>
              </a:rPr>
              <a:t>立即執行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81544" y="4251960"/>
            <a:ext cx="2880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27384"/>
                </a:solidFill>
                <a:latin typeface="Microsoft JhengHei"/>
              </a:rPr>
              <a:t>觸地自動停機，不等待訊號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943600"/>
            <a:ext cx="10652760" cy="438912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三種模式都是「訊號中斷後的安全策略」；差異在於等待時間與處置強度。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47472"/>
            <a:ext cx="8595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6984"/>
                </a:solidFill>
                <a:latin typeface="Microsoft JhengHei"/>
              </a:rPr>
              <a:t>實機驗證：廣播模式 A｜指定單機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384048"/>
            <a:ext cx="2240280" cy="36576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實機驗證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27384"/>
                </a:solidFill>
                <a:latin typeface="Microsoft JhengHei"/>
              </a:rPr>
              <a:t>驗證條件：同一個廣播封包送到兩架飛機，只有 Target ID 對應的飛機執行。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3017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273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27384"/>
                </a:solidFill>
                <a:latin typeface="Microsoft JhengHei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71600"/>
            <a:ext cx="6903720" cy="4251960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3474720" y="2743200"/>
            <a:ext cx="749808" cy="749808"/>
          </a:xfrm>
          <a:prstGeom prst="triangle">
            <a:avLst/>
          </a:prstGeom>
          <a:solidFill>
            <a:srgbClr val="3199B4"/>
          </a:solidFill>
          <a:ln>
            <a:solidFill>
              <a:srgbClr val="319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773168"/>
            <a:ext cx="6217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此處放置「廣播模式 A」實機影片／截圖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371600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052"/>
                </a:solidFill>
                <a:latin typeface="Microsoft JhengHei"/>
              </a:rPr>
              <a:t>驗證操作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847088"/>
            <a:ext cx="475488" cy="475488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M1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828800"/>
            <a:ext cx="2606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83052"/>
                </a:solidFill>
                <a:latin typeface="Microsoft JhengHei"/>
              </a:rPr>
              <a:t>指定 ATK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194560"/>
            <a:ext cx="2606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27384"/>
                </a:solidFill>
                <a:latin typeface="Microsoft JhengHei"/>
              </a:rPr>
              <a:t>ATK 有反應；nRF 懸停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852928"/>
            <a:ext cx="475488" cy="475488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M2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834640"/>
            <a:ext cx="2606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83052"/>
                </a:solidFill>
                <a:latin typeface="Microsoft JhengHei"/>
              </a:rPr>
              <a:t>指定 nRF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200400"/>
            <a:ext cx="2606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27384"/>
                </a:solidFill>
                <a:latin typeface="Microsoft JhengHei"/>
              </a:rPr>
              <a:t>nRF 有反應；ATK 懸停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3858768"/>
            <a:ext cx="475488" cy="475488"/>
          </a:xfrm>
          <a:prstGeom prst="roundRect">
            <a:avLst/>
          </a:prstGeom>
          <a:solidFill>
            <a:srgbClr val="388F6C"/>
          </a:solidFill>
          <a:ln w="12700">
            <a:solidFill>
              <a:srgbClr val="388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840480"/>
            <a:ext cx="2606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83052"/>
                </a:solidFill>
                <a:latin typeface="Microsoft JhengHei"/>
              </a:rPr>
              <a:t>切換測試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206240"/>
            <a:ext cx="2606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27384"/>
                </a:solidFill>
                <a:latin typeface="Microsoft JhengHei"/>
              </a:rPr>
              <a:t>結果隨 Target ID 改變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943600"/>
            <a:ext cx="10652760" cy="438912"/>
          </a:xfrm>
          <a:prstGeom prst="roundRect">
            <a:avLst/>
          </a:prstGeom>
          <a:solidFill>
            <a:srgbClr val="388F6C"/>
          </a:solidFill>
          <a:ln w="12700">
            <a:solidFill>
              <a:srgbClr val="388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驗證結果：未被指定的飛機保持懸停、高度不掉；Target ID 能正確區分執行對象。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47472"/>
            <a:ext cx="8595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6984"/>
                </a:solidFill>
                <a:latin typeface="Microsoft JhengHei"/>
              </a:rPr>
              <a:t>實機驗證：廣播模式 B｜多機獨立指令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384048"/>
            <a:ext cx="2240280" cy="36576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實機驗證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27384"/>
                </a:solidFill>
                <a:latin typeface="Microsoft JhengHei"/>
              </a:rPr>
              <a:t>驗證條件：一個封包同時包含兩架指令，各機只取出自己的 8 Byte 指令段。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3017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273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27384"/>
                </a:solidFill>
                <a:latin typeface="Microsoft JhengHei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71600"/>
            <a:ext cx="6903720" cy="4251960"/>
          </a:xfrm>
          <a:prstGeom prst="roundRect">
            <a:avLst/>
          </a:prstGeom>
          <a:solidFill>
            <a:srgbClr val="183052"/>
          </a:solidFill>
          <a:ln w="1270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3474720" y="2743200"/>
            <a:ext cx="749808" cy="749808"/>
          </a:xfrm>
          <a:prstGeom prst="triangle">
            <a:avLst/>
          </a:prstGeom>
          <a:solidFill>
            <a:srgbClr val="3199B4"/>
          </a:solidFill>
          <a:ln>
            <a:solidFill>
              <a:srgbClr val="319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773168"/>
            <a:ext cx="6217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此處放置「廣播模式 B」實機影片／上位機封包截圖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371600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052"/>
                </a:solidFill>
                <a:latin typeface="Microsoft JhengHei"/>
              </a:rPr>
              <a:t>驗證設計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847088"/>
            <a:ext cx="475488" cy="475488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828800"/>
            <a:ext cx="2606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83052"/>
                </a:solidFill>
                <a:latin typeface="Microsoft JhengHei"/>
              </a:rPr>
              <a:t>ATK 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194560"/>
            <a:ext cx="2606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27384"/>
                </a:solidFill>
                <a:latin typeface="Microsoft JhengHei"/>
              </a:rPr>
              <a:t>設定為手動油門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852928"/>
            <a:ext cx="475488" cy="475488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834640"/>
            <a:ext cx="2606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83052"/>
                </a:solidFill>
                <a:latin typeface="Microsoft JhengHei"/>
              </a:rPr>
              <a:t>nRF 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200400"/>
            <a:ext cx="2606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27384"/>
                </a:solidFill>
                <a:latin typeface="Microsoft JhengHei"/>
              </a:rPr>
              <a:t>設定為懸停等待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3858768"/>
            <a:ext cx="475488" cy="475488"/>
          </a:xfrm>
          <a:prstGeom prst="roundRect">
            <a:avLst/>
          </a:prstGeom>
          <a:solidFill>
            <a:srgbClr val="388F6C"/>
          </a:solidFill>
          <a:ln w="12700">
            <a:solidFill>
              <a:srgbClr val="388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840480"/>
            <a:ext cx="2606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83052"/>
                </a:solidFill>
                <a:latin typeface="Microsoft JhengHei"/>
              </a:rPr>
              <a:t>交換兩段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206240"/>
            <a:ext cx="2606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27384"/>
                </a:solidFill>
                <a:latin typeface="Microsoft JhengHei"/>
              </a:rPr>
              <a:t>結果跟著 ID 改變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943600"/>
            <a:ext cx="10652760" cy="438912"/>
          </a:xfrm>
          <a:prstGeom prst="roundRect">
            <a:avLst/>
          </a:prstGeom>
          <a:solidFill>
            <a:srgbClr val="388F6C"/>
          </a:solidFill>
          <a:ln w="12700">
            <a:solidFill>
              <a:srgbClr val="388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驗證結果：兩架同時收到同一封包，但只執行各自 ID 對應的指令；交換資料段後結果同步交換。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C30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052560" y="-1097280"/>
            <a:ext cx="4" cy="4"/>
          </a:xfrm>
          <a:prstGeom prst="ellipse">
            <a:avLst/>
          </a:prstGeom>
          <a:solidFill>
            <a:srgbClr val="13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937760"/>
            <a:ext cx="3" cy="3"/>
          </a:xfrm>
          <a:prstGeom prst="ellipse">
            <a:avLst/>
          </a:prstGeom>
          <a:solidFill>
            <a:srgbClr val="2A8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201168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A8FAA"/>
                </a:solidFill>
                <a:latin typeface="Microsoft JhengHei"/>
              </a:rPr>
              <a:t>系統二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487168"/>
            <a:ext cx="8046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JhengHei"/>
              </a:rPr>
              <a:t>室內定位系統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246120"/>
            <a:ext cx="79552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DCE8EF"/>
                </a:solidFill>
                <a:latin typeface="Microsoft JhengHei"/>
              </a:rPr>
              <a:t>從 RSSI 訊號強度 → 距離估計 → 座標解算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3886200"/>
            <a:ext cx="2971800" cy="54864"/>
          </a:xfrm>
          <a:prstGeom prst="rect">
            <a:avLst/>
          </a:prstGeom>
          <a:solidFill>
            <a:srgbClr val="2A8FAA"/>
          </a:solidFill>
          <a:ln w="12700">
            <a:solidFill>
              <a:srgbClr val="2A8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5376672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下一段：建立四錨點定位鏈路，解決室內位置取得問題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4C6D3"/>
                </a:solidFill>
                <a:latin typeface="Microsoft Jheng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定位的四個步驟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737360"/>
            <a:ext cx="10515600" cy="987552"/>
          </a:xfrm>
          <a:prstGeom prst="roundRect">
            <a:avLst>
              <a:gd name="adj" fmla="val 7407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051560" y="1956816"/>
            <a:ext cx="548640" cy="548640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51560" y="1956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874520" y="186537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接收訊號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86537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飛機發出藍牙訊號,四個固定位置的錨點接收並量測訊號強度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325880" y="2724912"/>
            <a:ext cx="0" cy="118872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22960" y="2834640"/>
            <a:ext cx="105156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51560" y="3054096"/>
            <a:ext cx="548640" cy="548640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51560" y="3054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874520" y="296265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換算距離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296265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以訊號強度與距離的關係式,推算飛機到每個錨點的距離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325880" y="3822192"/>
            <a:ext cx="0" cy="118872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22960" y="3931920"/>
            <a:ext cx="10515600" cy="987552"/>
          </a:xfrm>
          <a:prstGeom prst="roundRect">
            <a:avLst>
              <a:gd name="adj" fmla="val 7407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051560" y="4151376"/>
            <a:ext cx="548640" cy="548640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51560" y="4151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874520" y="405993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濾除雜訊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92040" y="405993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訊號強度本身會跳動,靜止時加強平滑、移動時加快反應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325880" y="4919472"/>
            <a:ext cx="0" cy="118872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22960" y="5029200"/>
            <a:ext cx="105156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1051560" y="5248656"/>
            <a:ext cx="548640" cy="548640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051560" y="5248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874520" y="515721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計算座標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892040" y="515721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由四個距離交會出位置,並在上位機地圖上即時顯示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定位網路硬體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閘道(一台)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1488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接收四個錨點回報的訊號強度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65176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6517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USB 轉送到上位機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154679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154679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使用獨立的封包格式並加上校驗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6576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6576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LED 顯示連線狀態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343400"/>
            <a:ext cx="4937760" cy="1143000"/>
          </a:xfrm>
          <a:prstGeom prst="roundRect">
            <a:avLst>
              <a:gd name="adj" fmla="val 4800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60120" y="43434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架設時四個錨點的天線型號、朝向與高度必須一致。實測朝向不同可差到近 20 分貝,直接影響精度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146304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00800" y="16276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錨點(四個,位置固定且已知)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0" y="2194560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537960" y="23042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37960" y="2633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只接收不連線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06840" y="2194560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144000" y="23042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0" y="2633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被動掃描·批次上報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3154679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537960" y="32644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37960" y="35935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被動掃描·批次上報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006840" y="3154679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144000" y="32644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0" y="35935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被動掃描·批次上報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4343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錨點只接收、不建立連線,因此可以同時服務多架飛機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以同一顆無線晶片兼發定位訊號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遙控通訊是一問一答,兩次收發之間無線晶片處於閒置。本研究利用這段空檔,讓同一顆晶片切換去發出一個藍牙訊號供錨點接收,發完再切回遙控。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3230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無線晶片的時間分配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16352"/>
            <a:ext cx="1788453" cy="868680"/>
          </a:xfrm>
          <a:prstGeom prst="rect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816352"/>
            <a:ext cx="178845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收遙控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73669" y="2816352"/>
            <a:ext cx="990003" cy="868680"/>
          </a:xfrm>
          <a:prstGeom prst="rect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373669" y="2816352"/>
            <a:ext cx="9900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回覆確認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00248" y="2816352"/>
            <a:ext cx="2130646" cy="868680"/>
          </a:xfrm>
          <a:prstGeom prst="rect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400248" y="2816352"/>
            <a:ext cx="21306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切BLE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廣播信標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67471" y="2816352"/>
            <a:ext cx="990003" cy="868680"/>
          </a:xfrm>
          <a:prstGeom prst="rect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567471" y="2816352"/>
            <a:ext cx="9900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切回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94049" y="2816352"/>
            <a:ext cx="1788453" cy="868680"/>
          </a:xfrm>
          <a:prstGeom prst="rect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594049" y="2816352"/>
            <a:ext cx="178845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收遙控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419079" y="2816352"/>
            <a:ext cx="990003" cy="868680"/>
          </a:xfrm>
          <a:prstGeom prst="rect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419079" y="2816352"/>
            <a:ext cx="9900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回覆確認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445658" y="2816352"/>
            <a:ext cx="2130646" cy="868680"/>
          </a:xfrm>
          <a:prstGeom prst="rect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45658" y="2816352"/>
            <a:ext cx="21306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切BLE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廣播信標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749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青色是插入的定位訊號,借用遙控的空檔發出,錨點即可收到並量測強度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114800"/>
            <a:ext cx="3602736" cy="1600200"/>
          </a:xfrm>
          <a:prstGeom prst="roundRect">
            <a:avLst>
              <a:gd name="adj" fmla="val 4571"/>
            </a:avLst>
          </a:prstGeom>
          <a:solidFill>
            <a:srgbClr val="2389A8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13232" y="4242816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切換方式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" y="4645152"/>
            <a:ext cx="3273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切換時重新設定頻率、封包格式與校驗方式,發完再切回遙控,全程插在確定的空檔內。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79392" y="4114800"/>
            <a:ext cx="3602736" cy="1600200"/>
          </a:xfrm>
          <a:prstGeom prst="roundRect">
            <a:avLst>
              <a:gd name="adj" fmla="val 4571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443984" y="4242816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時間保護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43984" y="4645152"/>
            <a:ext cx="3273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若當下空檔不足就跳過這次定位訊號,不占用接收遙控指令的時機。飛行安全優先於定位。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10144" y="4114800"/>
            <a:ext cx="3602736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174736" y="4242816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適用範圍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74736" y="4645152"/>
            <a:ext cx="3273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發出的是與藍牙格式相容的訊號,錨點掃描得到並可量測強度,用於定位已足夠。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5870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好處是不必另外加裝定位模組,同一顆晶片就能同時處理遙控與定位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多架飛機共用錨點的方式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三架飛機發出的訊號格式相同,只差一個編號,因此一套錨點就能同時服務多架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31520" y="2414016"/>
            <a:ext cx="402336" cy="402336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1520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3408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飛機發出訊號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0" y="2340864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利用遙控空檔發出藍牙訊號,內容包含一個編號,用來表示是哪一架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32688" y="2944368"/>
            <a:ext cx="0" cy="128016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48640" y="307238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31520" y="3200400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1520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1272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四個錨點接收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14800" y="3127248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四個錨點各自收到這個訊號,並分別量測到的強度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32688" y="3730752"/>
            <a:ext cx="0" cy="128016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48640" y="385876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31520" y="3986784"/>
            <a:ext cx="402336" cy="402336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31520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39136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錨點回報給上位機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114800" y="3913632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錨點把「哪一架、強度多少」回報給閘道,閘道再以 USB 轉送到上位機,每秒十次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32688" y="4517136"/>
            <a:ext cx="0" cy="128016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548640" y="464515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31520" y="4773168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31520" y="4773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0" y="47000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上位機計算座標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114800" y="4700016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先濾除訊號雜訊,換算成距離,再由四個距離交會出座標,最後平滑軌跡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32688" y="5303520"/>
            <a:ext cx="0" cy="128016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548640" y="543153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731520" y="5559552"/>
            <a:ext cx="402336" cy="402336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31520" y="5559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80160" y="5486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地圖顯示與控制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114800" y="5486400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地圖上即時顯示飛機位置,算出的座標也可回頭用來控制飛行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錨點一次掃描就能收齊三架的訊號,上位機分別計算後顯示在同一張地圖上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訊號強度的波動特性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4937760" cy="2011680"/>
          </a:xfrm>
          <a:prstGeom prst="roundRect">
            <a:avLst>
              <a:gd name="adj" fmla="val 3636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00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訊號強度(RSSI)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接收到的訊號強弱,單位是 dBm。每降低 10 分貝代表功率變成十分之一。室內藍牙常見範圍約 -40(很近)到 -90(很遠)。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3794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跳動的三個原因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4206240"/>
            <a:ext cx="329184" cy="32918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4206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416966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訊號經多條路徑到達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416966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訊號經牆面與地面反射後,多條路徑疊在一起互相干擾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4736592"/>
            <a:ext cx="329184" cy="32918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77240" y="4736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47000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被遮擋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470001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人體或機身擋住時,強度可差 5 到 15 分貝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5266944"/>
            <a:ext cx="329184" cy="32918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77240" y="5266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52303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天線朝向不同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52303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天線朝向不同會造成明顯落差,實際數值待量測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06440" y="1463040"/>
            <a:ext cx="5806440" cy="4343400"/>
          </a:xfrm>
          <a:prstGeom prst="roundRect">
            <a:avLst>
              <a:gd name="adj" fmla="val 1684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035040" y="160934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訊號強度跳動示意(飛機靜止不動)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0" y="2194560"/>
            <a:ext cx="0" cy="2651760"/>
          </a:xfrm>
          <a:prstGeom prst="line">
            <a:avLst/>
          </a:prstGeom>
          <a:noFill/>
          <a:ln w="12700">
            <a:solidFill>
              <a:srgbClr val="5A65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400800" y="4846320"/>
            <a:ext cx="4846320" cy="0"/>
          </a:xfrm>
          <a:prstGeom prst="line">
            <a:avLst/>
          </a:prstGeom>
          <a:noFill/>
          <a:ln w="12700">
            <a:solidFill>
              <a:srgbClr val="5A65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897880" y="2057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97880" y="2932481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-60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97880" y="380756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-70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978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-80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29400" y="3078480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6942909" y="2901696"/>
            <a:ext cx="313509" cy="44196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7256417" y="3343656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7569926" y="2990088"/>
            <a:ext cx="313509" cy="176784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883434" y="3166872"/>
            <a:ext cx="313509" cy="44196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8196943" y="3608832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8510451" y="2813304"/>
            <a:ext cx="313509" cy="44196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8823960" y="3255264"/>
            <a:ext cx="313509" cy="176784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137469" y="3432048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9450977" y="2901696"/>
            <a:ext cx="313509" cy="1149096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9764486" y="4050792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10077994" y="3078480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10391503" y="2990088"/>
            <a:ext cx="313509" cy="530352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10705011" y="3520440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6583680" y="3032760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6897189" y="2855976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7210697" y="3297936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7524206" y="2944368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7837714" y="3121152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8151223" y="3563112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8464731" y="2767584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8778240" y="3209544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9091749" y="3386328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9405257" y="2855976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9718766" y="4005072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10032274" y="3032760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10345783" y="2944368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10659291" y="3474720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10972800" y="3121152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6629400" y="3078480"/>
            <a:ext cx="4389120" cy="0"/>
          </a:xfrm>
          <a:prstGeom prst="line">
            <a:avLst/>
          </a:prstGeom>
          <a:noFill/>
          <a:ln w="25400">
            <a:solidFill>
              <a:srgbClr val="00B89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9601200" y="2731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中值 ≈ -60 dBm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40080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連續取樣(飛機完全靜止)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035040" y="52120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即使飛機完全靜止,讀值仍會在數分貝內跳動,偶爾出現偏離很多的值。換算成距離後差距可達數倍,所以必須先濾波。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訊號強度與距離的換算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從物理現象推導出關係式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20756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電波往外擴散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207568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能量以球面往外擴散,功率與距離平方成反比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99232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77240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98448" y="2971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改用對數表示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88920" y="29718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訊號強度本身就是對數刻度,因此距離每增加十倍,強度就固定下降一定分貝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" y="3895344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77240" y="3895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38679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加入環境修正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88920" y="386791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室內有牆面與反射,衰減比自由空間快,因此用一個可調的衰減指數取代固定值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484632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77240" y="48463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RSSI(d) = P₀ − 10·n·log₁₀(d)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5303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反解:d = 10^((P₀−RSSI)/(10n))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0" y="1463040"/>
            <a:ext cx="5212080" cy="4343400"/>
          </a:xfrm>
          <a:prstGeom prst="roundRect">
            <a:avLst>
              <a:gd name="adj" fmla="val 1684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629400" y="16276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兩個參數的意義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29400" y="2103120"/>
            <a:ext cx="4754880" cy="1143000"/>
          </a:xfrm>
          <a:prstGeom prst="roundRect">
            <a:avLst>
              <a:gd name="adj" fmla="val 48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812280" y="22128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距離一公尺處的基準強度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12280" y="254203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由發射功率與天線共同決定,每個錨點都不一樣,必須各自在一公尺處實際量測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29400" y="3383280"/>
            <a:ext cx="4754880" cy="1417320"/>
          </a:xfrm>
          <a:prstGeom prst="roundRect">
            <a:avLst>
              <a:gd name="adj" fmla="val 387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812280" y="34930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衰減指數(反映環境特性)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903720" y="38404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8160" y="38404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無遮擋的理想情況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03720" y="41696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n=2.7~3.5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8160" y="41696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一般室內環境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03720" y="44988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n&gt;4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138160" y="44988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遮蔽物多、隔牆多的環境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29400" y="49834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i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衰減指數若設定不準,整場距離都會偏掉,這是需要自動調整的原因。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訊號濾波(1/3):問題說明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184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訊號強度的三個問題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075688"/>
            <a:ext cx="4937760" cy="1207008"/>
          </a:xfrm>
          <a:prstGeom prst="roundRect">
            <a:avLst>
              <a:gd name="adj" fmla="val 6061"/>
            </a:avLst>
          </a:prstGeom>
          <a:solidFill>
            <a:srgbClr val="2389A8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60120" y="21945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訊號本身就會跳動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253288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飛機停在原地不動,讀到的強度仍會在正負 2 到 3 分貝之間跳動。這是反射與環境干擾造成的,無法消除。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3392424"/>
            <a:ext cx="4937760" cy="1207008"/>
          </a:xfrm>
          <a:prstGeom prst="roundRect">
            <a:avLst>
              <a:gd name="adj" fmla="val 6061"/>
            </a:avLst>
          </a:prstGeom>
          <a:solidFill>
            <a:srgbClr val="E893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60120" y="35112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換算距離後會被放大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384962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強度換算成距離是指數運算,強度只差 1 分貝,換算後可能差到數十公分甚至一公尺以上。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4554220"/>
            <a:ext cx="4937760" cy="1207008"/>
          </a:xfrm>
          <a:prstGeom prst="roundRect">
            <a:avLst>
              <a:gd name="adj" fmla="val 6061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60120" y="48280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靜止與移動的需求相反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" y="5166359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要壓住跳動就得濾得重,要跟上移動就得濾得輕,同一組固定參數無法同時滿足。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146304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400800" y="1618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固定參數無法兩者兼顧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095500"/>
            <a:ext cx="5029200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靜止時訊號持續跳動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92240" y="3017520"/>
            <a:ext cx="4846320" cy="0"/>
          </a:xfrm>
          <a:prstGeom prst="line">
            <a:avLst/>
          </a:prstGeom>
          <a:noFill/>
          <a:ln w="12700">
            <a:solidFill>
              <a:srgbClr val="5A65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492240" y="2777744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932815" y="2540000"/>
            <a:ext cx="440575" cy="475488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373389" y="3015487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813964" y="2658872"/>
            <a:ext cx="440575" cy="237744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254538" y="2896615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695113" y="2540000"/>
            <a:ext cx="440575" cy="59436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9135687" y="3134359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576262" y="2777744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10016836" y="2658872"/>
            <a:ext cx="440575" cy="237744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10457411" y="2896615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10897985" y="2540000"/>
            <a:ext cx="440575" cy="475488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400800" y="32385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濾得太輕,畫面上的位置會跟著亂跳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393192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400800" y="3797300"/>
            <a:ext cx="5029200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移動時需要立即反應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400800" y="4229100"/>
            <a:ext cx="502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濾得太重,畫面上的位置會落後、跟不上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固定參數一定會犧牲其中一邊,因此需要能依情況自動調整強度的濾波方式。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訊號濾波(2/3):依情況調整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18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每個錨點各用一組濾波器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03911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每收到一筆新讀值,就用「新讀值與目前估計的差」來修正估計。這個差值的變化方式,可以用來判斷飛機是否真的在移動。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88036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60120" y="299008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靜止時:加強平滑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319272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差值在零附近來回擺動,代表飛機沒有真的移動。此時多倚重原本的估計,壓住跳動。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4178807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2389A8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60120" y="4288535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移動時:加快反應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46177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連續幾筆差值都偏向同一方向,代表飛機真的在動。此時改為多採信新讀值,讓位置快速跟上。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1463040"/>
            <a:ext cx="5440680" cy="2514600"/>
          </a:xfrm>
          <a:prstGeom prst="roundRect">
            <a:avLst>
              <a:gd name="adj" fmla="val 2909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0" y="1618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移動與雜訊的分辨方式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057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雜訊造成的差值忽正忽負,累加後互相抵消,沒有方向性。</a:t>
            </a:r>
            <a:endParaRPr lang="en-US" sz="10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真的移動時差值持續同號,累加後越來越大,有明確方向。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2834640"/>
            <a:ext cx="5120640" cy="1005840"/>
          </a:xfrm>
          <a:prstGeom prst="roundRect">
            <a:avLst>
              <a:gd name="adj" fmla="val 545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537960" y="2898648"/>
            <a:ext cx="4892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同方向的差值累積超過設定值</a:t>
            </a: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即判定為移動,濾波強度隨之切換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4069079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0" y="4178807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可調整的參數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0" y="4544568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靜止時的平滑程度、移動時的反應速度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移動判定的門檻、量測雜訊的估計值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訊號濾波(3/3):實際除錯過程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E893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94944" y="1591055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發生的現象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4944" y="2011679"/>
            <a:ext cx="3310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校正完成後,原始量測點持續更新,但畫面上的飛機圖示停在原地不動,明顯落後。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23944" y="2377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79392" y="146304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425696" y="1591055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找出的原因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25696" y="2011679"/>
            <a:ext cx="3310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為壓住跳動把濾波參數設得太小,移動時要二十多筆資料才跟得上,看起來就像停住。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54696" y="2377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10144" y="146304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2389A8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156448" y="1591055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修正方式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56448" y="2011679"/>
            <a:ext cx="3310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改為自動調整:移動時加快反應、靜止時加強平滑,並在連續大幅跳動數次後重新起算。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77240" y="4069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修正後的結果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68680" y="45262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68680" y="46177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" y="50840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抖動顯著收斂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53400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加強平滑後,畫面上的位置不再跳動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26280" y="45262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526280" y="46177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穩定後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26280" y="50840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位置穩定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17720" y="53400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計算結果不再發散,停在正確的位置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92439" y="45262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8183880" y="46177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移動時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183880" y="50840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位置跟得上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75320" y="53400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判定為移動後就加快反應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5779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以上是除錯過程中觀察到的改善。實際硬體的定位精度數字,要等上位機與遙控器完整連通後才能量測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位置的平滑處理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做法:把兩個來源加權平均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每次更新都有兩個位置來源: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246888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預測值:依上一次的位置與速度推算,平滑但會逐漸偏離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29184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14400" y="3291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量測值:這次由距離交會算出的座標,貼近真實但跳動大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416052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輸出 = 預測 + K ×(量測 − 預測)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617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括號中的比例會自動調整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5029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量測越不穩就多信預測,結果較平滑;推算越不準就多信量測,跟得較緊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1463040"/>
            <a:ext cx="5212080" cy="4343400"/>
          </a:xfrm>
          <a:prstGeom prst="roundRect">
            <a:avLst>
              <a:gd name="adj" fmla="val 1684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29400" y="16276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本系統的做法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2084832"/>
            <a:ext cx="4754880" cy="868680"/>
          </a:xfrm>
          <a:prstGeom prst="roundRect">
            <a:avLst>
              <a:gd name="adj" fmla="val 6316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812280" y="21762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同時估計位置與速度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2560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以等速度推算:新位置 = 目前位置 + 速度 × 時間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29400" y="3108960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6294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86600" y="3063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一併估計速度的原因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86600" y="34015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只平滑位置會落後;一併估計速度才能預判移動方向,跟得比較快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29400" y="4069080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62940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86600" y="4023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參數設定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086600" y="43616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一個代表推算的可信度,一個代表量測的可信度,依實際跳動情況設定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29400" y="5029200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766560" y="50749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i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這個方法能平滑隨機跳動,但無法修正整體偏移。錨點的基準值校正才是精度的基礎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定位處理的完整流程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飛機發訊號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252374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以藍牙廣播發出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651760"/>
            <a:ext cx="164592" cy="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456432" y="2011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456432" y="20116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502152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錨點接收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47872" y="252374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四個錨點量測訊號強度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08192" y="2651760"/>
            <a:ext cx="164592" cy="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272784" y="2011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272784" y="20116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318504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濾除雜訊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64224" y="252374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靜止時加強平滑,移動時加快反應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24544" y="2651760"/>
            <a:ext cx="164592" cy="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089136" y="2011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9089136" y="20116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134856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4. 換算距離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80576" y="2523744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依各錨的基準值換算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415016" y="3383280"/>
            <a:ext cx="0" cy="32004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2034540" y="37033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2034540" y="3703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208026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5. 修正環境參數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125980" y="421538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以錨點之間的已知距離反推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86300" y="4343400"/>
            <a:ext cx="164592" cy="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4850892" y="37033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850892" y="3703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4896612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6. 交會出座標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42332" y="421538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由四個距離計算位置,較近的錨點權重較高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02652" y="4343400"/>
            <a:ext cx="164592" cy="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667244" y="37033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7667244" y="3703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7712964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7. 平滑軌跡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758684" y="421538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讓顯示的移動軌跡連續不跳動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橙色是訊號濾波,是本研究著力的部分;藍色是位置計算;綠色是環境參數的修正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以定位座標控制飛行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2606040" cy="411480"/>
          </a:xfrm>
          <a:prstGeom prst="roundRect">
            <a:avLst>
              <a:gd name="adj" fmla="val 13333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計算誤差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目標位置減目前位置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2148840"/>
            <a:ext cx="274320" cy="0"/>
          </a:xfrm>
          <a:prstGeom prst="line">
            <a:avLst/>
          </a:prstGeom>
          <a:noFill/>
          <a:ln w="2540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42900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429000" y="1554480"/>
            <a:ext cx="2606040" cy="411480"/>
          </a:xfrm>
          <a:prstGeom prst="roundRect">
            <a:avLst>
              <a:gd name="adj" fmla="val 13333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42900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限制速度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2900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換算成期望的移動速度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148840"/>
            <a:ext cx="274320" cy="0"/>
          </a:xfrm>
          <a:prstGeom prst="line">
            <a:avLst/>
          </a:prstGeom>
          <a:noFill/>
          <a:ln w="2540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30936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309360" y="1554480"/>
            <a:ext cx="2606040" cy="411480"/>
          </a:xfrm>
          <a:prstGeom prst="roundRect">
            <a:avLst>
              <a:gd name="adj" fmla="val 13333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30936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轉換座標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0936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依飛機當前朝向換算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15400" y="2148840"/>
            <a:ext cx="274320" cy="0"/>
          </a:xfrm>
          <a:prstGeom prst="line">
            <a:avLst/>
          </a:prstGeom>
          <a:noFill/>
          <a:ln w="2540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18972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9189720" y="1554480"/>
            <a:ext cx="2606040" cy="411480"/>
          </a:xfrm>
          <a:prstGeom prst="roundRect">
            <a:avLst>
              <a:gd name="adj" fmla="val 13333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18972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送出傾角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8972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轉為飛機的傾斜角度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2880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定位算出的是場地上的座標,而飛機的傾斜是相對自己的方向,兩者必須依當前朝向換算,否則會飛錯方向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42900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77240" y="3566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上位機的四項功能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25880" y="4041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即時地圖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325880" y="44074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顯示場地、錨點位置與飛機朝向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20440" y="4114800"/>
            <a:ext cx="457200" cy="45720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35204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069080" y="4041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點選導航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069080" y="44074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選定飛機、點選目標位置,飛機自行前往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4114800"/>
            <a:ext cx="457200" cy="45720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263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812280" y="4041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錨點校正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812280" y="44074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在距離一公尺處量測各錨的基準值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006840" y="4114800"/>
            <a:ext cx="457200" cy="45720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90068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555480" y="4041648"/>
            <a:ext cx="2057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飛行控制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9555480" y="4407408"/>
            <a:ext cx="20573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解鎖、油門與緊急停止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724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目前定位精度只到示範等級,因此移動速度與傾角都刻意設得保守,避免定位跳動造成劇烈動作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定位方法的比較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5A657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傳統做法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傳統做法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原始 RSSI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2926079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直接轉距離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337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三邊定位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無濾波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51560" y="43434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5A657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51560" y="4343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誤差 3m+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983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跳動劇烈,無法閉環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43400" y="14630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343400" y="1463040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343400" y="14630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對標文獻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343400" y="2103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王琳2025 · NTUST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1772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ESP32 WiFi-RSSI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17720" y="2926079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Kalman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17720" y="3337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自適應 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617720" y="3749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最小二乘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43434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846320" y="4343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MAE 1.88m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80560" y="4983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她的實測值(非本研究成績)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38160" y="1463040"/>
            <a:ext cx="3474719" cy="4023360"/>
          </a:xfrm>
          <a:prstGeom prst="roundRect">
            <a:avLst>
              <a:gd name="adj" fmla="val 2078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8138160" y="1463040"/>
            <a:ext cx="3474719" cy="548640"/>
          </a:xfrm>
          <a:prstGeom prst="roundRect">
            <a:avLst>
              <a:gd name="adj" fmla="val 13333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138160" y="1463040"/>
            <a:ext cx="34747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本研究方法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138160" y="2103120"/>
            <a:ext cx="34747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This Work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41248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訊號自動濾波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412480" y="2926079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對數模型逐錨 P₀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412480" y="3337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加權最小二乘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412480" y="3749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位置 Kalman + 地圖站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641080" y="43434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8641080" y="4343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 &lt;2m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275320" y="4983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BLE + 上位機整合 + 閉環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實機影片(四):室內定位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0" y="1463040"/>
            <a:ext cx="9235440" cy="4023360"/>
          </a:xfrm>
          <a:prstGeom prst="roundRect">
            <a:avLst>
              <a:gd name="adj" fmla="val 1818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40680" y="2788920"/>
            <a:ext cx="1280160" cy="1280160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 rot="5400000">
            <a:off x="5806440" y="3108960"/>
            <a:ext cx="594360" cy="640080"/>
          </a:xfrm>
          <a:prstGeom prst="triangl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463040" y="1920239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【影片位置:此處替換為定位系統截圖】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448056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建議片段:四錨部署 → 上位機地圖 → 移動信標 → 軌跡跟隨 → 濾波前後對比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715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影片同時呈現可行性與實際的軌跡波動,目前精度為示範等級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系統功能的比較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474720" cy="475488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比較項目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23360" y="1508760"/>
            <a:ext cx="2286000" cy="475488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114800" y="15087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原廠 MiniFly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508760"/>
            <a:ext cx="2286000" cy="475488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0800" y="15087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ESP-FC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595360" y="1508760"/>
            <a:ext cx="3017520" cy="475488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686800" y="15087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本研究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1984248"/>
            <a:ext cx="34747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080" y="19842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可更換主控晶片的電路板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23360" y="198424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114800" y="19842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198424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00800" y="19842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95360" y="1984248"/>
            <a:ext cx="30175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86800" y="19842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2532888"/>
            <a:ext cx="3474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" y="25328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nRF52840 單晶片飛控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023360" y="253288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114800" y="25328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253288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00800" y="25328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95360" y="2532888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686800" y="25328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081528"/>
            <a:ext cx="34747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40080" y="30815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ESP32S3 支援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023360" y="308152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114800" y="3081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308152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400800" y="3081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595360" y="3081528"/>
            <a:ext cx="30175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686800" y="30815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✓(同板直插)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3630168"/>
            <a:ext cx="3474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40080" y="36301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ATKP 地面站協議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023360" y="363016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4114800" y="36301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09360" y="363016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400800" y="36301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595360" y="3630168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8686800" y="36301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✓(移植保留)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4178808"/>
            <a:ext cx="34747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640080" y="41788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BLE-RSSI 室內定位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023360" y="417880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4114800" y="41788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309360" y="417880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6400800" y="41788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595360" y="4178808"/>
            <a:ext cx="30175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8686800" y="41788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✓(四錨+引擎)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48640" y="4727448"/>
            <a:ext cx="3474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640080" y="47274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單遙控多機(廣播架構)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023360" y="472744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4114800" y="47274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309360" y="472744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6400800" y="47274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8595360" y="4727448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8686800" y="47274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✓(三機制實測)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48640" y="5276088"/>
            <a:ext cx="34747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640080" y="52760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上位機整合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023360" y="527608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4114800" y="52760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部分(調參)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309360" y="527608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6400800" y="52760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部分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8595360" y="5276088"/>
            <a:ext cx="30175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8686800" y="52760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✓(地圖+標定+控制)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本研究同時具備三項:主控晶片可更換、沿用原廠協議、加入定位與多機控制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目前的量化數據(一):硬體與定位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7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個驅動模組完成移植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腳位、通訊、馬達、無線、USB、排程、感測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15968" y="14630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315968" y="1627632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389A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315968" y="2514600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項系統層問題已解決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98848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無線封包格式、USB 連線、排程時間單位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83296" y="1463040"/>
            <a:ext cx="3529583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083296" y="1627632"/>
            <a:ext cx="35295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B89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083296" y="2514600"/>
            <a:ext cx="35295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種主控晶片以同一塊電路板驗證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66176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nRF52840 與 ESP32S3 可直接更換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685031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48640" y="3849624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7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548640" y="4736592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個步驟的定位處理流程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訊號濾波、距離換算、座標交會、軌跡平滑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15968" y="3685031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315968" y="3849624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389A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4315968" y="4736592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錨定位網路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98848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閘道+四錨+上位機標定介面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83296" y="3685031"/>
            <a:ext cx="3529583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083296" y="3849624"/>
            <a:ext cx="35295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9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&lt;2m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8083296" y="4736592"/>
            <a:ext cx="35295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定位目標(對標文獻)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66176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王琳2025 BLE同級 MAE 1.88m為對標目標,本研究精度待量化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目前的量化數據(二):多機控制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種控制方式已實機驗證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廣播模式 A、廣播模式 B、輪流查詢狀態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15968" y="14630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315968" y="1627632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389A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315968" y="2514600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個封包送達所有飛機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98848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若改用輪流發送,兩架的更新速率就減半,而且指令會錯開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83296" y="1463040"/>
            <a:ext cx="3529583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083296" y="1627632"/>
            <a:ext cx="35295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B89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8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083296" y="2514600"/>
            <a:ext cx="35295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個位元組供每一架使用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66176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編號、旗標、油門與三軸角度;兩架共 19、三架共 27 個位元組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685031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48640" y="3849624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548640" y="4736592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架在同一封包下做不同動作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同一封包中 ATK 設手動、nRF 設懸停,結果只有 ATK 轉動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15968" y="3685031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315968" y="3849624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389A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0.13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4315968" y="4736592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秒 目前操控那一架的狀態更新週期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98848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點名開銷:在線約1ms(&lt;1%),掉線降頻最壞約4%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83296" y="3685031"/>
            <a:ext cx="3529583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083296" y="3849624"/>
            <a:ext cx="35295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9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32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8083296" y="4736592"/>
            <a:ext cx="35295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位元組 單包載荷上限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66176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決定多工需定點壓縮,亦決定單包最多3台的擴展邊界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目前的限制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目前的限制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384048" cy="384048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202082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定位精度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2020824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目前只到示範等級,受訊號強度本身的限制,適合大略定位,不適合精密定點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953512"/>
            <a:ext cx="384048" cy="384048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91693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916936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單一封包最多 32 個位元組,因此一個封包最多容納三架;兩架同時編隊飛行尚未完整展示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3849624"/>
            <a:ext cx="384048" cy="384048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81304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飛行包線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38130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目前以室內低速懸停為主,尚未測試較劇烈的飛行動作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4745736"/>
            <a:ext cx="384048" cy="384048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7240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47091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環境依賴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47091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定位需重新標定 P₀/n 於新場地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14630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92240" y="16276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限制的成因與後續方向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92240" y="2103120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9224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95160" y="20574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訊號強度定位的精度受物理特性限制,同級硬體的文獻也在公尺等級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3017520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49224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95160" y="29718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清楚界定系統能做什麼、不能做什麼,是後續改進的依據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3931920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4922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95160" y="38862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每條邊界皆對應明確的升級路徑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92240" y="4937760"/>
            <a:ext cx="4892040" cy="594360"/>
          </a:xfrm>
          <a:prstGeom prst="roundRect">
            <a:avLst>
              <a:gd name="adj" fmla="val 923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492240" y="493776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委員最怕誇大,最欣賞「知道自己在哪」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0A4D6E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2389A8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目前完成的工作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4D6E">
              <a:alpha val="85000"/>
            </a:srgbClr>
          </a:solidFill>
          <a:ln w="12700">
            <a:solidFill>
              <a:srgbClr val="238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51560" y="14813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可更換主控晶片的電路板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20640" y="14813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自行設計製作,兩種主控可直接更換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509760" y="1572768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2FA6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509760" y="15727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340864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4D6E">
              <a:alpha val="85000"/>
            </a:srgbClr>
          </a:solidFill>
          <a:ln w="12700">
            <a:solidFill>
              <a:srgbClr val="238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51560" y="24505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韌體移植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24505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由兩顆晶片改為單晶片,並解決三項系統問題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509760" y="2542032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2FA6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509760" y="2542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310128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4D6E">
              <a:alpha val="85000"/>
            </a:srgbClr>
          </a:solidFill>
          <a:ln w="12700">
            <a:solidFill>
              <a:srgbClr val="238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51560" y="341985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室內定位系統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20640" y="341985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完成處理流程的設計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509760" y="3511296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9AA4B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509760" y="35112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設計完成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279392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4D6E">
              <a:alpha val="85000"/>
            </a:srgbClr>
          </a:solidFill>
          <a:ln w="12700">
            <a:solidFill>
              <a:srgbClr val="238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51560" y="43891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上位機整合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20640" y="43891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地圖顯示、錨點校正與飛行控制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509760" y="448056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2FA6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509760" y="4480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5248656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4D6E">
              <a:alpha val="85000"/>
            </a:srgbClr>
          </a:solidFill>
          <a:ln w="12700">
            <a:solidFill>
              <a:srgbClr val="238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051560" y="535838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單一遙控器控制多架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53583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廣播模式 A、廣播模式 B、輪流查詢狀態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509760" y="5449824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9509760" y="54498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實測驗證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46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後續工作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後續方向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402336" cy="402336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98448" y="20391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多機控制已完成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98448" y="23865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接著要做由上位機依定位結果自動控制兩架同時飛行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953512"/>
            <a:ext cx="402336" cy="402336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29352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定位精度量測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98448" y="32826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完成環境參數的自動校正,並在實際場地量測誤差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3849624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3849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98448" y="38313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改用新版藍牙測距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98448" y="41788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新版藍牙內建較精確的測距功能,換用支援的主控晶片即可提升定位精度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4745736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7240" y="4745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98448" y="47274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加入其他感測器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98448" y="5074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加入光流與雷射測距;電路板可作為教學套件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14630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92240" y="17373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結語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92240" y="237744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本研究從自行設計電路板、移植飛控韌體,到室內定位與多機控制,建立了一套可以自行修改、也能繼續延伸的無人機平台。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92240" y="3749040"/>
            <a:ext cx="4663440" cy="0"/>
          </a:xfrm>
          <a:prstGeom prst="line">
            <a:avLst/>
          </a:prstGeom>
          <a:noFill/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92240" y="39776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感謝指導教授悉心指導</a:t>
            </a:r>
            <a:endParaRPr lang="en-US" sz="14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感謝口試委員撥冗審閱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92240" y="48920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B89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敬請各位委員指教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2141</TotalTime>
  <Words>9112</Words>
  <Application>Microsoft Office PowerPoint</Application>
  <PresentationFormat>宽屏</PresentationFormat>
  <Paragraphs>1686</Paragraphs>
  <Slides>47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5" baseType="lpstr">
      <vt:lpstr>Google Sans Text</vt:lpstr>
      <vt:lpstr>Noto Sans CJK TC</vt:lpstr>
      <vt:lpstr>Noto Serif CJK TC</vt:lpstr>
      <vt:lpstr>Arial</vt:lpstr>
      <vt:lpstr>Calibri</vt:lpstr>
      <vt:lpstr>Courier New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碩士論文口試</dc:creator>
  <cp:lastModifiedBy>垦 林</cp:lastModifiedBy>
  <cp:revision>115</cp:revision>
  <dcterms:created xsi:type="dcterms:W3CDTF">2026-07-21T07:02:54Z</dcterms:created>
  <dcterms:modified xsi:type="dcterms:W3CDTF">2026-08-20T12:26:27Z</dcterms:modified>
</cp:coreProperties>
</file>