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337" r:id="rId10"/>
    <p:sldId id="320" r:id="rId11"/>
    <p:sldId id="338" r:id="rId12"/>
    <p:sldId id="336" r:id="rId13"/>
    <p:sldId id="335" r:id="rId14"/>
    <p:sldId id="334" r:id="rId15"/>
    <p:sldId id="323" r:id="rId16"/>
    <p:sldId id="284" r:id="rId17"/>
    <p:sldId id="286" r:id="rId18"/>
    <p:sldId id="283" r:id="rId19"/>
    <p:sldId id="307" r:id="rId20"/>
    <p:sldId id="317" r:id="rId21"/>
    <p:sldId id="315" r:id="rId22"/>
    <p:sldId id="339" r:id="rId23"/>
    <p:sldId id="280" r:id="rId24"/>
    <p:sldId id="311" r:id="rId25"/>
    <p:sldId id="314" r:id="rId26"/>
    <p:sldId id="287" r:id="rId27"/>
    <p:sldId id="300" r:id="rId28"/>
    <p:sldId id="288" r:id="rId29"/>
    <p:sldId id="293" r:id="rId30"/>
    <p:sldId id="294" r:id="rId31"/>
    <p:sldId id="290" r:id="rId32"/>
    <p:sldId id="291" r:id="rId33"/>
    <p:sldId id="295" r:id="rId34"/>
    <p:sldId id="296" r:id="rId35"/>
    <p:sldId id="297" r:id="rId36"/>
    <p:sldId id="298" r:id="rId37"/>
    <p:sldId id="292" r:id="rId38"/>
    <p:sldId id="289" r:id="rId39"/>
    <p:sldId id="299" r:id="rId40"/>
    <p:sldId id="301" r:id="rId41"/>
    <p:sldId id="302" r:id="rId42"/>
    <p:sldId id="303" r:id="rId43"/>
    <p:sldId id="310" r:id="rId44"/>
    <p:sldId id="304" r:id="rId45"/>
    <p:sldId id="305" r:id="rId46"/>
    <p:sldId id="306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6984"/>
    <a:srgbClr val="2389A8"/>
    <a:srgbClr val="C0C4CB"/>
    <a:srgbClr val="F5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 autoAdjust="0"/>
    <p:restoredTop sz="52867" autoAdjust="0"/>
  </p:normalViewPr>
  <p:slideViewPr>
    <p:cSldViewPr snapToGrid="0" snapToObjects="1">
      <p:cViewPr varScale="1">
        <p:scale>
          <a:sx n="91" d="100"/>
          <a:sy n="91" d="100"/>
        </p:scale>
        <p:origin x="114" y="1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4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44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核心】一句話版</a:t>
            </a:r>
            <a:r>
              <a:rPr dirty="0"/>
              <a:t> 0 字≈0 秒 ｜ </a:t>
            </a:r>
            <a:r>
              <a:rPr dirty="0" err="1"/>
              <a:t>完整版</a:t>
            </a:r>
            <a:r>
              <a:rPr dirty="0"/>
              <a:t> 166 字≈0.8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怎麼講】停</a:t>
            </a:r>
            <a:r>
              <a:rPr dirty="0"/>
              <a:t> 3 </a:t>
            </a:r>
            <a:r>
              <a:rPr dirty="0" err="1"/>
              <a:t>秒讓委員讀完題目,不需逐字念。自我介紹後直接進目錄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【口頭示範】各位委員早安,</a:t>
            </a:r>
            <a:r>
              <a:rPr dirty="0" err="1"/>
              <a:t>我是〔姓名</a:t>
            </a:r>
            <a:r>
              <a:rPr dirty="0"/>
              <a:t>〕,</a:t>
            </a:r>
            <a:r>
              <a:rPr dirty="0" err="1"/>
              <a:t>指導教授是〔教授</a:t>
            </a:r>
            <a:r>
              <a:rPr dirty="0"/>
              <a:t>〕。</a:t>
            </a:r>
            <a:r>
              <a:rPr dirty="0" err="1"/>
              <a:t>今天報告的題目是「無人機系統整合與控制研究</a:t>
            </a:r>
            <a:r>
              <a:t>」— 主要工作是把一套商用飛控移植到另一顆微控制器上,並在這個平臺上延伸出室內定位與多機控制。</a:t>
            </a:r>
            <a:endParaRPr dirty="0"/>
          </a:p>
          <a:p>
            <a:endParaRPr dirty="0"/>
          </a:p>
          <a:p>
            <a:r>
              <a:rPr dirty="0"/>
              <a:t>【★ </a:t>
            </a:r>
            <a:r>
              <a:rPr dirty="0" err="1"/>
              <a:t>提醒】封面的姓名、教授、系所、日期務必在口試前填妥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「各位口試委員、教授好，我是林寗墾。今天我要報告的題目是</a:t>
            </a:r>
            <a:r>
              <a:rPr lang="en-US" altLang="zh-TW" dirty="0"/>
              <a:t>『</a:t>
            </a:r>
            <a:r>
              <a:rPr lang="zh-TW" altLang="en-US" dirty="0"/>
              <a:t>無人機系統整合與控制研究</a:t>
            </a:r>
            <a:r>
              <a:rPr lang="en-US" altLang="zh-TW" dirty="0"/>
              <a:t>』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這是今天的簡報大綱，主要分為五個部分： 首先是</a:t>
            </a:r>
            <a:r>
              <a:rPr lang="zh-TW" altLang="en-US" b="1" dirty="0"/>
              <a:t>研究背景與動機</a:t>
            </a:r>
            <a:r>
              <a:rPr lang="zh-TW" altLang="en-US" dirty="0"/>
              <a:t>，說明室內微型無人機開發面臨的痛點。 </a:t>
            </a:r>
            <a:endParaRPr lang="en-US" altLang="zh-TW" dirty="0"/>
          </a:p>
          <a:p>
            <a:r>
              <a:rPr lang="zh-TW" altLang="en-US" dirty="0"/>
              <a:t>接著進入核心實作，我會依序介紹硬體層面的</a:t>
            </a:r>
            <a:r>
              <a:rPr lang="zh-TW" altLang="en-US" b="1" dirty="0"/>
              <a:t>自製飛控電路板</a:t>
            </a:r>
            <a:r>
              <a:rPr lang="zh-TW" altLang="en-US" dirty="0"/>
              <a:t>、韌體層面的</a:t>
            </a:r>
            <a:r>
              <a:rPr lang="zh-TW" altLang="en-US" b="1" dirty="0"/>
              <a:t>飛控韌體移植</a:t>
            </a:r>
            <a:r>
              <a:rPr lang="zh-TW" altLang="en-US" dirty="0"/>
              <a:t>，以及應用層面的 </a:t>
            </a:r>
            <a:r>
              <a:rPr lang="en-US" altLang="zh-TW" b="1" dirty="0"/>
              <a:t>BLE </a:t>
            </a:r>
            <a:r>
              <a:rPr lang="zh-TW" altLang="en-US" b="1" dirty="0"/>
              <a:t>室內定位整合</a:t>
            </a:r>
            <a:r>
              <a:rPr lang="zh-TW" altLang="en-US" dirty="0"/>
              <a:t>。 最後則是</a:t>
            </a:r>
            <a:r>
              <a:rPr lang="zh-TW" altLang="en-US" b="1" dirty="0"/>
              <a:t>結論與未來展望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首先，讓我們進入第一部分：研究背景與動機。」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effectLst/>
                <a:latin typeface="Google Sans Text"/>
              </a:rPr>
              <a:t>「各位委員，在進行室內無人機開發與實驗時，我們主要面臨三項限制：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第一，</a:t>
            </a:r>
            <a:r>
              <a:rPr lang="zh-TW" altLang="en-US" b="1" dirty="0">
                <a:effectLst/>
                <a:latin typeface="Google Sans Text"/>
              </a:rPr>
              <a:t>傳統硬體故障難以檢測與更換</a:t>
            </a:r>
            <a:r>
              <a:rPr lang="zh-TW" altLang="en-US" dirty="0">
                <a:effectLst/>
                <a:latin typeface="Google Sans Text"/>
              </a:rPr>
              <a:t>。市面上的微型飛控板大部分元件都是直接焊接固定在</a:t>
            </a:r>
            <a:r>
              <a:rPr lang="en-US" altLang="zh-TW" dirty="0">
                <a:effectLst/>
                <a:latin typeface="Google Sans Text"/>
              </a:rPr>
              <a:t>PCB</a:t>
            </a:r>
            <a:r>
              <a:rPr lang="zh-TW" altLang="en-US" dirty="0">
                <a:effectLst/>
                <a:latin typeface="Google Sans Text"/>
              </a:rPr>
              <a:t>上，一旦出現異常或硬體損壞，不僅極難單獨用儀器量測除錯，拆卸替換</a:t>
            </a:r>
            <a:r>
              <a:rPr lang="zh-CN" altLang="en-US" dirty="0">
                <a:effectLst/>
                <a:latin typeface="Google Sans Text"/>
              </a:rPr>
              <a:t>也需要較爲專業設備與手法</a:t>
            </a:r>
            <a:r>
              <a:rPr lang="zh-TW" altLang="en-US" dirty="0">
                <a:effectLst/>
                <a:latin typeface="Google Sans Text"/>
              </a:rPr>
              <a:t>。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第二，</a:t>
            </a:r>
            <a:r>
              <a:rPr lang="zh-TW" altLang="en-US" b="1" dirty="0">
                <a:effectLst/>
                <a:latin typeface="Google Sans Text"/>
              </a:rPr>
              <a:t>通訊協定與射頻整合</a:t>
            </a:r>
            <a:r>
              <a:rPr lang="zh-TW" altLang="en-US" dirty="0">
                <a:effectLst/>
                <a:latin typeface="Google Sans Text"/>
              </a:rPr>
              <a:t>。傳統 </a:t>
            </a:r>
            <a:r>
              <a:rPr lang="en-US" altLang="zh-TW" dirty="0">
                <a:effectLst/>
                <a:latin typeface="Google Sans Text"/>
              </a:rPr>
              <a:t>MiniFly </a:t>
            </a:r>
            <a:r>
              <a:rPr lang="zh-TW" altLang="en-US" dirty="0">
                <a:effectLst/>
                <a:latin typeface="Google Sans Text"/>
              </a:rPr>
              <a:t>需外接 </a:t>
            </a:r>
            <a:r>
              <a:rPr lang="en-US" altLang="zh-TW" dirty="0">
                <a:effectLst/>
                <a:latin typeface="Google Sans Text"/>
              </a:rPr>
              <a:t>nRF24L01 RF </a:t>
            </a:r>
            <a:r>
              <a:rPr lang="zh-TW" altLang="en-US" dirty="0">
                <a:effectLst/>
                <a:latin typeface="Google Sans Text"/>
              </a:rPr>
              <a:t>模組，而常見 </a:t>
            </a:r>
            <a:r>
              <a:rPr lang="en-US" altLang="zh-TW">
                <a:effectLst/>
                <a:latin typeface="Google Sans Text"/>
              </a:rPr>
              <a:t>ESP </a:t>
            </a:r>
            <a:r>
              <a:rPr lang="zh-TW" altLang="en-US">
                <a:effectLst/>
                <a:latin typeface="Google Sans Text"/>
              </a:rPr>
              <a:t>平臺又無法原生相容原廠 </a:t>
            </a:r>
            <a:r>
              <a:rPr lang="en-US" altLang="zh-TW">
                <a:effectLst/>
                <a:latin typeface="Google Sans Text"/>
              </a:rPr>
              <a:t>ESB </a:t>
            </a:r>
            <a:r>
              <a:rPr lang="zh-TW" altLang="en-US" dirty="0">
                <a:effectLst/>
                <a:latin typeface="Google Sans Text"/>
              </a:rPr>
              <a:t>協定。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第三，</a:t>
            </a:r>
            <a:r>
              <a:rPr lang="zh-TW" altLang="en-US" b="1" dirty="0">
                <a:effectLst/>
                <a:latin typeface="Google Sans Text"/>
              </a:rPr>
              <a:t>室內無法使用衛星定位</a:t>
            </a:r>
            <a:r>
              <a:rPr lang="zh-TW" altLang="en-US" dirty="0">
                <a:effectLst/>
                <a:latin typeface="Google Sans Text"/>
              </a:rPr>
              <a:t>。在無 </a:t>
            </a:r>
            <a:r>
              <a:rPr lang="en-US" altLang="zh-TW" dirty="0">
                <a:effectLst/>
                <a:latin typeface="Google Sans Text"/>
              </a:rPr>
              <a:t>GNSS </a:t>
            </a:r>
            <a:r>
              <a:rPr lang="zh-TW" altLang="en-US" dirty="0">
                <a:effectLst/>
                <a:latin typeface="Google Sans Text"/>
              </a:rPr>
              <a:t>環境下，無人機必須依靠自主定位。 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總結來說，本研究的做法就是</a:t>
            </a:r>
            <a:r>
              <a:rPr lang="zh-TW" altLang="en-US" b="1" dirty="0">
                <a:effectLst/>
                <a:latin typeface="Google Sans Text"/>
              </a:rPr>
              <a:t>自行設計易檢測與更換的</a:t>
            </a:r>
            <a:r>
              <a:rPr lang="en-US" altLang="zh-TW" b="1" dirty="0">
                <a:effectLst/>
                <a:latin typeface="Google Sans Text"/>
              </a:rPr>
              <a:t>PCB</a:t>
            </a:r>
            <a:r>
              <a:rPr lang="zh-TW" altLang="en-US" b="1" dirty="0">
                <a:effectLst/>
                <a:latin typeface="Google Sans Text"/>
              </a:rPr>
              <a:t>、移植韌體至 </a:t>
            </a:r>
            <a:r>
              <a:rPr lang="en-US" altLang="zh-TW" b="1" dirty="0">
                <a:effectLst/>
                <a:latin typeface="Google Sans Text"/>
              </a:rPr>
              <a:t>nRF52840</a:t>
            </a:r>
            <a:r>
              <a:rPr lang="zh-TW" altLang="en-US" b="1" dirty="0">
                <a:effectLst/>
                <a:latin typeface="Google Sans Text"/>
              </a:rPr>
              <a:t>，並整合 </a:t>
            </a:r>
            <a:r>
              <a:rPr lang="en-US" altLang="zh-TW" b="1" dirty="0">
                <a:effectLst/>
                <a:latin typeface="Google Sans Text"/>
              </a:rPr>
              <a:t>BLE </a:t>
            </a:r>
            <a:r>
              <a:rPr lang="zh-TW" altLang="en-US" b="1">
                <a:effectLst/>
                <a:latin typeface="Google Sans Text"/>
              </a:rPr>
              <a:t>室內定位</a:t>
            </a:r>
            <a:r>
              <a:rPr lang="zh-TW" altLang="en-US">
                <a:effectLst/>
                <a:latin typeface="Google Sans Text"/>
              </a:rPr>
              <a:t>，打造高擴充性的無人機實驗平臺。」 </a:t>
            </a:r>
            <a:endParaRPr lang="zh-TW" altLang="en-US" dirty="0">
              <a:effectLst/>
              <a:latin typeface="Google Sans Tex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「本研究的核心目標與貢獻可歸納為三個部分：</a:t>
            </a:r>
            <a:endParaRPr lang="en-US" altLang="zh-TW" dirty="0"/>
          </a:p>
          <a:p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第一是</a:t>
            </a:r>
            <a:r>
              <a:rPr lang="zh-TW" altLang="en-US" b="1" dirty="0"/>
              <a:t>自製飛控電路板</a:t>
            </a:r>
            <a:r>
              <a:rPr lang="zh-TW" altLang="en-US" dirty="0"/>
              <a:t>。</a:t>
            </a:r>
            <a:r>
              <a:rPr lang="en-US" altLang="zh-TW" dirty="0">
                <a:effectLst/>
                <a:latin typeface="Google Sans Text"/>
              </a:rPr>
              <a:t>layout</a:t>
            </a:r>
            <a:r>
              <a:rPr lang="zh-TW" altLang="en-US" dirty="0"/>
              <a:t>可拆卸的插拔式載板，大幅降低過去硬體損壞時難以檢測與更換的門檻。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第二是</a:t>
            </a:r>
            <a:r>
              <a:rPr lang="zh-TW" altLang="en-US" b="1" dirty="0"/>
              <a:t>韌體移植</a:t>
            </a:r>
            <a:r>
              <a:rPr lang="zh-TW" altLang="en-US" dirty="0"/>
              <a:t>。我們將 </a:t>
            </a:r>
            <a:r>
              <a:rPr lang="en-US" altLang="zh-TW" dirty="0"/>
              <a:t>MiniFly </a:t>
            </a:r>
            <a:r>
              <a:rPr lang="zh-TW" altLang="en-US" dirty="0"/>
              <a:t>飛控韌體完整移植到 </a:t>
            </a:r>
            <a:r>
              <a:rPr lang="en-US" altLang="zh-TW" b="1" dirty="0"/>
              <a:t>nRF52840</a:t>
            </a:r>
            <a:r>
              <a:rPr lang="zh-TW" altLang="en-US" dirty="0"/>
              <a:t> 晶片上，在單晶片內整合 </a:t>
            </a:r>
            <a:r>
              <a:rPr lang="en-US" altLang="zh-TW" dirty="0"/>
              <a:t>2.4GHz RF</a:t>
            </a:r>
            <a:r>
              <a:rPr lang="zh-TW" altLang="en-US" dirty="0"/>
              <a:t>，並相容原廠的 </a:t>
            </a:r>
            <a:r>
              <a:rPr lang="en-US" altLang="zh-TW" dirty="0"/>
              <a:t>ATK ESB </a:t>
            </a:r>
            <a:r>
              <a:rPr lang="zh-TW" altLang="en-US" dirty="0"/>
              <a:t>通訊協定。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第三則是</a:t>
            </a:r>
            <a:r>
              <a:rPr lang="zh-TW" altLang="en-US" b="1" dirty="0"/>
              <a:t>整合 </a:t>
            </a:r>
            <a:r>
              <a:rPr lang="en-US" altLang="zh-TW" b="1" dirty="0"/>
              <a:t>BLE </a:t>
            </a:r>
            <a:r>
              <a:rPr lang="zh-TW" altLang="en-US" b="1" dirty="0"/>
              <a:t>室內定位</a:t>
            </a:r>
            <a:r>
              <a:rPr lang="zh-TW" altLang="en-US" dirty="0"/>
              <a:t>，補足無 </a:t>
            </a:r>
            <a:r>
              <a:rPr lang="en-US" altLang="zh-TW" dirty="0"/>
              <a:t>GNSS </a:t>
            </a:r>
            <a:r>
              <a:rPr lang="zh-TW" altLang="en-US" dirty="0"/>
              <a:t>環境下的自主定位能力。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接下來，我將依序介紹硬體電路設計、韌體移植過程與定位實作細節</a:t>
            </a:r>
            <a:r>
              <a:rPr lang="en-US" altLang="zh-TW" dirty="0"/>
              <a:t>……</a:t>
            </a:r>
            <a:r>
              <a:rPr lang="zh-TW" altLang="en-US" dirty="0"/>
              <a:t>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</a:t>
            </a:r>
            <a:r>
              <a:rPr lang="zh-CN" altLang="en-US" dirty="0"/>
              <a:t>本</a:t>
            </a:r>
            <a:r>
              <a:rPr lang="zh-TW" altLang="en-US" dirty="0"/>
              <a:t>頁展示的是本研究的</a:t>
            </a:r>
            <a:r>
              <a:rPr lang="zh-TW" altLang="en-US" b="1" dirty="0"/>
              <a:t>系統總架構</a:t>
            </a:r>
            <a:r>
              <a:rPr lang="zh-TW" altLang="en-US" dirty="0"/>
              <a:t>，整體分為</a:t>
            </a:r>
            <a:r>
              <a:rPr lang="en-US" altLang="zh-TW" dirty="0"/>
              <a:t>『</a:t>
            </a:r>
            <a:r>
              <a:rPr lang="zh-TW" altLang="en-US" dirty="0"/>
              <a:t>控制</a:t>
            </a:r>
            <a:r>
              <a:rPr lang="en-US" altLang="zh-TW" dirty="0"/>
              <a:t>』</a:t>
            </a:r>
            <a:r>
              <a:rPr lang="zh-TW" altLang="en-US" dirty="0"/>
              <a:t>與</a:t>
            </a:r>
            <a:r>
              <a:rPr lang="en-US" altLang="zh-TW" dirty="0"/>
              <a:t>『</a:t>
            </a:r>
            <a:r>
              <a:rPr lang="zh-TW" altLang="en-US" dirty="0"/>
              <a:t>定位</a:t>
            </a:r>
            <a:r>
              <a:rPr lang="en-US" altLang="zh-TW" dirty="0"/>
              <a:t>』</a:t>
            </a:r>
            <a:r>
              <a:rPr lang="zh-TW" altLang="en-US" dirty="0"/>
              <a:t>兩條鏈路：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首先在控制鏈路上，最上層是 </a:t>
            </a:r>
            <a:r>
              <a:rPr lang="en-US" altLang="zh-TW" b="1" dirty="0"/>
              <a:t>PC </a:t>
            </a:r>
            <a:r>
              <a:rPr lang="zh-TW" altLang="en-US" b="1" dirty="0"/>
              <a:t>上位機</a:t>
            </a:r>
            <a:r>
              <a:rPr lang="zh-TW" altLang="en-US" dirty="0"/>
              <a:t>，作為系統的運算，負責地圖顯示、定位解算與生成控制指令。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指令下傳給</a:t>
            </a:r>
            <a:r>
              <a:rPr lang="zh-CN" altLang="en-US" dirty="0"/>
              <a:t>飛控子系統 </a:t>
            </a:r>
            <a:r>
              <a:rPr lang="zh-TW" altLang="en-US" dirty="0"/>
              <a:t>的 </a:t>
            </a:r>
            <a:r>
              <a:rPr lang="en-US" altLang="zh-TW" b="1" dirty="0"/>
              <a:t>ATK </a:t>
            </a:r>
            <a:r>
              <a:rPr lang="zh-TW" altLang="en-US" b="1" dirty="0"/>
              <a:t>遙控器</a:t>
            </a:r>
            <a:r>
              <a:rPr lang="zh-TW" altLang="en-US" dirty="0"/>
              <a:t>，透過 </a:t>
            </a:r>
            <a:r>
              <a:rPr lang="en-US" altLang="zh-TW" dirty="0"/>
              <a:t>2.4GHz ESB </a:t>
            </a:r>
            <a:r>
              <a:rPr lang="zh-TW" altLang="en-US" dirty="0"/>
              <a:t>協定，指令會傳送給：</a:t>
            </a:r>
            <a:r>
              <a:rPr lang="zh-TW" altLang="en-US" b="1" dirty="0"/>
              <a:t>飛機 </a:t>
            </a:r>
            <a:r>
              <a:rPr lang="en-US" altLang="zh-TW" b="1" dirty="0"/>
              <a:t>A</a:t>
            </a:r>
            <a:r>
              <a:rPr lang="zh-TW" altLang="en-US" dirty="0"/>
              <a:t> 是原廠機；</a:t>
            </a:r>
            <a:r>
              <a:rPr lang="zh-TW" altLang="en-US" b="1" dirty="0"/>
              <a:t>飛機 </a:t>
            </a:r>
            <a:r>
              <a:rPr lang="en-US" altLang="zh-TW" b="1" dirty="0"/>
              <a:t>B</a:t>
            </a:r>
            <a:r>
              <a:rPr lang="zh-TW" altLang="en-US" dirty="0"/>
              <a:t> 是我們的自製載板插上 </a:t>
            </a:r>
            <a:r>
              <a:rPr lang="en-US" altLang="zh-TW" b="1" dirty="0"/>
              <a:t>nRF52840</a:t>
            </a:r>
            <a:r>
              <a:rPr lang="zh-TW" altLang="en-US" dirty="0"/>
              <a:t>，驗證韌體移植；</a:t>
            </a:r>
            <a:endParaRPr lang="en-US" altLang="zh-TW" dirty="0"/>
          </a:p>
          <a:p>
            <a:endParaRPr lang="en-US" altLang="zh-TW" b="1" dirty="0"/>
          </a:p>
          <a:p>
            <a:r>
              <a:rPr lang="zh-TW" altLang="en-US" b="1" dirty="0"/>
              <a:t>飛機 </a:t>
            </a:r>
            <a:r>
              <a:rPr lang="en-US" altLang="zh-TW" b="1" dirty="0"/>
              <a:t>C</a:t>
            </a:r>
            <a:r>
              <a:rPr lang="zh-TW" altLang="en-US" dirty="0"/>
              <a:t> 則是同一塊載板直接換插 </a:t>
            </a:r>
            <a:r>
              <a:rPr lang="en-US" altLang="zh-TW" b="1" dirty="0"/>
              <a:t>ESP32S3</a:t>
            </a:r>
            <a:r>
              <a:rPr lang="zh-TW" altLang="en-US" dirty="0"/>
              <a:t>，驗證硬體模組化更換的能力。</a:t>
            </a:r>
            <a:r>
              <a:rPr lang="zh-CN" altLang="en-US" dirty="0"/>
              <a:t>指令由上位機透過 </a:t>
            </a:r>
            <a:r>
              <a:rPr lang="en-US" altLang="zh-TW" b="1" dirty="0"/>
              <a:t>ESP32S3</a:t>
            </a:r>
            <a:r>
              <a:rPr lang="zh-CN" altLang="en-US" b="1" dirty="0"/>
              <a:t>中繼站 </a:t>
            </a:r>
            <a:r>
              <a:rPr lang="zh-TW" altLang="en-US" dirty="0"/>
              <a:t>透</a:t>
            </a:r>
            <a:r>
              <a:rPr lang="zh-CN" altLang="en-US" dirty="0"/>
              <a:t>過 </a:t>
            </a:r>
            <a:r>
              <a:rPr lang="en-US" altLang="zh-CN" dirty="0"/>
              <a:t>ESP-NOW </a:t>
            </a:r>
            <a:r>
              <a:rPr lang="zh-CN" altLang="en-US" dirty="0"/>
              <a:t>協定傳輸給 ：</a:t>
            </a:r>
            <a:r>
              <a:rPr lang="zh-TW" altLang="en-US" b="1" dirty="0"/>
              <a:t>飛機 </a:t>
            </a:r>
            <a:r>
              <a:rPr lang="en-US" altLang="zh-TW" b="1" dirty="0"/>
              <a:t>C</a:t>
            </a:r>
            <a:r>
              <a:rPr lang="zh-TW" altLang="en-US" dirty="0"/>
              <a:t> </a:t>
            </a:r>
            <a:endParaRPr lang="en-US" altLang="zh-TW" b="1" dirty="0"/>
          </a:p>
          <a:p>
            <a:endParaRPr lang="zh-TW" altLang="en-US" dirty="0"/>
          </a:p>
          <a:p>
            <a:r>
              <a:rPr lang="zh-TW" altLang="en-US" dirty="0"/>
              <a:t>最後是</a:t>
            </a:r>
            <a:r>
              <a:rPr lang="zh-TW" altLang="en-US" b="1" dirty="0"/>
              <a:t>定位鏈路</a:t>
            </a:r>
            <a:r>
              <a:rPr lang="zh-TW" altLang="en-US" dirty="0"/>
              <a:t>：三架飛機在飛行時都會廣播 </a:t>
            </a:r>
            <a:r>
              <a:rPr lang="en-US" altLang="zh-TW" dirty="0"/>
              <a:t>BLE </a:t>
            </a:r>
            <a:r>
              <a:rPr lang="zh-TW" altLang="en-US" dirty="0"/>
              <a:t>信標，由場地周圍的 </a:t>
            </a:r>
            <a:r>
              <a:rPr lang="en-US" altLang="zh-TW" b="1" dirty="0"/>
              <a:t>4 </a:t>
            </a:r>
            <a:r>
              <a:rPr lang="zh-TW" altLang="en-US" b="1" dirty="0"/>
              <a:t>個 </a:t>
            </a:r>
            <a:r>
              <a:rPr lang="en-US" altLang="zh-TW" b="1" dirty="0"/>
              <a:t>ESP32 </a:t>
            </a:r>
            <a:r>
              <a:rPr lang="zh-TW" altLang="en-US" b="1" dirty="0"/>
              <a:t>錨點</a:t>
            </a:r>
            <a:r>
              <a:rPr lang="zh-TW" altLang="en-US" dirty="0"/>
              <a:t>進行被動掃描，再透過 </a:t>
            </a:r>
            <a:r>
              <a:rPr lang="en-US" altLang="zh-TW" b="1" dirty="0"/>
              <a:t>ESP</a:t>
            </a:r>
            <a:r>
              <a:rPr lang="zh-CN" altLang="en-US" b="1" dirty="0"/>
              <a:t>中繼站 </a:t>
            </a:r>
            <a:r>
              <a:rPr lang="zh-TW" altLang="en-US" dirty="0"/>
              <a:t>將強度數據傳回 </a:t>
            </a:r>
            <a:r>
              <a:rPr lang="en-US" altLang="zh-TW" dirty="0"/>
              <a:t>PC </a:t>
            </a:r>
            <a:r>
              <a:rPr lang="zh-TW" altLang="en-US" dirty="0"/>
              <a:t>上位機進行計算。</a:t>
            </a:r>
          </a:p>
          <a:p>
            <a:r>
              <a:rPr lang="zh-TW" altLang="en-US"/>
              <a:t>這套架構成功建立了兼具多機控制與室內定位能力的實驗平臺。」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「第</a:t>
            </a:r>
            <a:r>
              <a:rPr lang="zh-CN" altLang="en-US" dirty="0"/>
              <a:t>七</a:t>
            </a:r>
            <a:r>
              <a:rPr lang="zh-TW" altLang="en-US" dirty="0"/>
              <a:t>頁展示的是我們自製飛控板的四項硬體設計重點：</a:t>
            </a:r>
          </a:p>
          <a:p>
            <a:r>
              <a:rPr lang="zh-TW" altLang="en-US" dirty="0"/>
              <a:t>第一是</a:t>
            </a:r>
            <a:r>
              <a:rPr lang="zh-TW" altLang="en-US" b="1" dirty="0"/>
              <a:t>模組化設計</a:t>
            </a:r>
            <a:r>
              <a:rPr lang="zh-TW" altLang="en-US" dirty="0"/>
              <a:t>，</a:t>
            </a:r>
            <a:r>
              <a:rPr lang="en-US" altLang="zh-CN" dirty="0"/>
              <a:t>MCU</a:t>
            </a:r>
            <a:r>
              <a:rPr lang="zh-TW" altLang="en-US" dirty="0"/>
              <a:t>和 </a:t>
            </a:r>
            <a:r>
              <a:rPr lang="en-US" altLang="zh-TW" dirty="0"/>
              <a:t>GY-91 </a:t>
            </a:r>
            <a:r>
              <a:rPr lang="zh-TW" altLang="en-US" dirty="0"/>
              <a:t>感測器都採用排母連接，方便獨立拆裝與訊號量測。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第二是</a:t>
            </a:r>
            <a:r>
              <a:rPr lang="zh-TW" altLang="en-US" b="1" dirty="0"/>
              <a:t>機臂一體化</a:t>
            </a:r>
            <a:r>
              <a:rPr lang="zh-TW" altLang="en-US" dirty="0"/>
              <a:t>，直接用 </a:t>
            </a:r>
            <a:r>
              <a:rPr lang="en-US" altLang="zh-TW" dirty="0"/>
              <a:t>PCB </a:t>
            </a:r>
            <a:r>
              <a:rPr lang="zh-TW" altLang="en-US" dirty="0"/>
              <a:t>當作機身結構與馬達座，實現輕量化。</a:t>
            </a:r>
          </a:p>
          <a:p>
            <a:endParaRPr lang="en-US" altLang="zh-TW" dirty="0"/>
          </a:p>
          <a:p>
            <a:r>
              <a:rPr lang="zh-TW" altLang="en-US" dirty="0"/>
              <a:t>第</a:t>
            </a:r>
            <a:r>
              <a:rPr lang="zh-CN" altLang="en-US" dirty="0"/>
              <a:t>三</a:t>
            </a:r>
            <a:r>
              <a:rPr lang="zh-TW" altLang="en-US" dirty="0"/>
              <a:t>是</a:t>
            </a:r>
            <a:r>
              <a:rPr lang="zh-TW" altLang="en-US" b="1" dirty="0"/>
              <a:t>重心平衡與空間利用</a:t>
            </a:r>
            <a:r>
              <a:rPr lang="zh-TW" altLang="en-US" dirty="0"/>
              <a:t>，</a:t>
            </a:r>
            <a:r>
              <a:rPr lang="zh-CN" altLang="en-US" dirty="0"/>
              <a:t>母排</a:t>
            </a:r>
            <a:r>
              <a:rPr lang="zh-TW" altLang="en-US" dirty="0"/>
              <a:t>架下方空隙</a:t>
            </a:r>
            <a:r>
              <a:rPr lang="zh-CN" altLang="en-US" dirty="0"/>
              <a:t>放</a:t>
            </a:r>
            <a:r>
              <a:rPr lang="zh-TW" altLang="en-US" dirty="0"/>
              <a:t>置元件</a:t>
            </a:r>
            <a:r>
              <a:rPr lang="zh-CN" altLang="en-US" dirty="0"/>
              <a:t>，可使用較大顆元件容易更換和維護，提升高利用率</a:t>
            </a:r>
            <a:r>
              <a:rPr lang="zh-TW" altLang="en-US" dirty="0"/>
              <a:t>，並對稱擺放模組，確保整體重心</a:t>
            </a:r>
            <a:r>
              <a:rPr lang="zh-CN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較平衡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</a:t>
            </a:r>
            <a:r>
              <a:rPr lang="zh-CN" altLang="en-US"/>
              <a:t>四</a:t>
            </a:r>
            <a:r>
              <a:rPr lang="zh-TW" altLang="en-US"/>
              <a:t>是</a:t>
            </a:r>
            <a:r>
              <a:rPr lang="zh-TW" altLang="en-US" b="1"/>
              <a:t>降低電磁幹擾</a:t>
            </a:r>
            <a:r>
              <a:rPr lang="zh-TW" altLang="en-US"/>
              <a:t>。</a:t>
            </a:r>
            <a:r>
              <a:rPr lang="zh-TW" altLang="en-US" dirty="0"/>
              <a:t>將馬達插座配置於背面，</a:t>
            </a:r>
            <a:r>
              <a:rPr lang="en-US" altLang="zh-TW" dirty="0"/>
              <a:t>PCB </a:t>
            </a:r>
            <a:r>
              <a:rPr lang="zh-TW" altLang="en-US" dirty="0"/>
              <a:t>厚度與母</a:t>
            </a:r>
            <a:r>
              <a:rPr lang="zh-CN" altLang="en-US" dirty="0"/>
              <a:t>排</a:t>
            </a:r>
            <a:r>
              <a:rPr lang="zh-TW" altLang="en-US" dirty="0"/>
              <a:t>高度拉開距離，降低高電流切換的電磁； 於馬達採用 </a:t>
            </a:r>
            <a:r>
              <a:rPr lang="en-US" altLang="zh-TW" dirty="0"/>
              <a:t>N-MOSFET </a:t>
            </a:r>
            <a:r>
              <a:rPr lang="zh-TW" altLang="en-US" dirty="0"/>
              <a:t>進行低側驅動，並於馬達兩端並聯 </a:t>
            </a:r>
            <a:r>
              <a:rPr lang="en-US" altLang="zh-TW" dirty="0"/>
              <a:t>SS14 </a:t>
            </a:r>
            <a:r>
              <a:rPr lang="zh-TW" altLang="en-US" dirty="0"/>
              <a:t>續流二極體。當 </a:t>
            </a:r>
            <a:r>
              <a:rPr lang="en-US" altLang="zh-TW" dirty="0"/>
              <a:t>MOSFET </a:t>
            </a:r>
            <a:r>
              <a:rPr lang="zh-TW" altLang="en-US" dirty="0"/>
              <a:t>切換關閉時，馬達會產生反電動勢，二極體能提供電流迴路，防止汲極</a:t>
            </a:r>
            <a:r>
              <a:rPr lang="zh-CN" altLang="en-US" dirty="0"/>
              <a:t>（</a:t>
            </a:r>
            <a:r>
              <a:rPr lang="en-US" altLang="zh-TW" dirty="0"/>
              <a:t>Drain </a:t>
            </a:r>
            <a:r>
              <a:rPr lang="zh-CN" altLang="en-US" dirty="0"/>
              <a:t>）</a:t>
            </a:r>
            <a:r>
              <a:rPr lang="zh-TW" altLang="en-US" dirty="0"/>
              <a:t>腳位產生高壓擊穿 </a:t>
            </a:r>
            <a:r>
              <a:rPr lang="en-US" altLang="zh-TW" dirty="0"/>
              <a:t>MOSFET</a:t>
            </a:r>
            <a:r>
              <a:rPr lang="zh-TW" altLang="en-US" dirty="0"/>
              <a:t>；同時搭配 </a:t>
            </a:r>
            <a:r>
              <a:rPr lang="en-US" altLang="zh-TW" dirty="0"/>
              <a:t>100 </a:t>
            </a:r>
            <a:r>
              <a:rPr lang="en-US" altLang="zh-TW" err="1"/>
              <a:t>nF</a:t>
            </a:r>
            <a:r>
              <a:rPr lang="en-US" altLang="zh-TW"/>
              <a:t> </a:t>
            </a:r>
            <a:r>
              <a:rPr lang="zh-TW" altLang="en-US"/>
              <a:t>去耦電容濾除高頻切換雜訊，避免幹擾經由電源與接地路徑耦合至 </a:t>
            </a:r>
            <a:r>
              <a:rPr lang="en-US" altLang="zh-TW"/>
              <a:t>IMU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dirty="0"/>
          </a:p>
          <a:p>
            <a:r>
              <a:t>接下來第八頁，我將說明本研究使用的三個飛控平臺……」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「第八頁是本研究實際使用的三個飛控平臺對照。</a:t>
            </a:r>
          </a:p>
          <a:p>
            <a:endParaRPr/>
          </a:p>
          <a:p>
            <a:r>
              <a:t>第一列是 ATK-MiniFly 原機。主控是 STM32F411，96 MHz 的 Cortex-M4，無線另外掛一顆 nRF51822 加上 RFX2401C 功率放大晶片，跑的是原廠韌體。它在本研究裡有兩個角色：一是韌體移植的來源，二是後面多機控制的其中一架受控機。</a:t>
            </a:r>
          </a:p>
          <a:p>
            <a:endParaRPr/>
          </a:p>
          <a:p>
            <a:r>
              <a:t>第二列是自製電路板插上 XIAO nRF52840。這顆是 64 MHz 的 Cortex-M4F，帶浮點運算單元，並且內建 RADIO 無線電，所以主控與無線合併在同一顆晶片上，不需要外掛射頻晶片。韌體是本研究移植的版本，這一列是本研究的主要對象。</a:t>
            </a:r>
          </a:p>
          <a:p>
            <a:endParaRPr/>
          </a:p>
          <a:p>
            <a:r>
              <a:t>第三列是同一塊自製電路板，換插 XIAO ESP32S3，改用 WiFi 與 BLE，跑的是開源的 ESP-FC 韌體。</a:t>
            </a:r>
          </a:p>
          <a:p>
            <a:endParaRPr/>
          </a:p>
          <a:p>
            <a:r>
              <a:t>這裡要請委員注意的是，第二列和第三列用的是同一塊電路板，只是換插不同的主控模組。這正好驗證了上一頁講的模組化設計——排母引出腳位之後，主控確實可以整顆更換。</a:t>
            </a:r>
          </a:p>
          <a:p>
            <a:endParaRPr/>
          </a:p>
          <a:p>
            <a:r>
              <a:t>第三列之所以不列為本研究的移植成果，是因為 ESP32 的飛控生態已經成熟，再做一次沒有研究上的增量，所以直接採用開源方案，把力氣集中在 nRF52840 這一顆上。</a:t>
            </a:r>
          </a:p>
          <a:p>
            <a:endParaRPr/>
          </a:p>
          <a:p>
            <a:r>
              <a:t>接下來第九頁，我將說明原廠的系統框架……」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「第九頁是原廠 </a:t>
            </a:r>
            <a:r>
              <a:rPr lang="en-US" altLang="zh-TW" dirty="0"/>
              <a:t>ATK-</a:t>
            </a:r>
            <a:r>
              <a:rPr lang="en-US" altLang="zh-TW" dirty="0" err="1"/>
              <a:t>MiniFly</a:t>
            </a:r>
            <a:r>
              <a:rPr lang="zh-TW" altLang="en-US" dirty="0"/>
              <a:t> 的系統框架，這張圖出自原廠開發指南的圖 </a:t>
            </a:r>
            <a:r>
              <a:rPr lang="en-US" altLang="zh-TW" dirty="0"/>
              <a:t>4.1.1</a:t>
            </a:r>
            <a:r>
              <a:rPr lang="zh-TW" altLang="en-US" dirty="0"/>
              <a:t>。</a:t>
            </a:r>
          </a:p>
          <a:p>
            <a:endParaRPr lang="zh-TW" altLang="en-US" dirty="0"/>
          </a:p>
          <a:p>
            <a:r>
              <a:rPr lang="zh-TW" altLang="en-US" dirty="0"/>
              <a:t>從圖上可以看到，原廠採用的是雙 </a:t>
            </a:r>
            <a:r>
              <a:rPr lang="en-US" altLang="zh-TW" dirty="0"/>
              <a:t>MCU </a:t>
            </a:r>
            <a:r>
              <a:rPr lang="zh-TW" altLang="en-US" dirty="0"/>
              <a:t>架構。左邊這顆 </a:t>
            </a:r>
            <a:r>
              <a:rPr lang="en-US" altLang="zh-TW" dirty="0"/>
              <a:t>NRF51822 </a:t>
            </a:r>
            <a:r>
              <a:rPr lang="zh-TW" altLang="en-US" dirty="0"/>
              <a:t>是 </a:t>
            </a:r>
            <a:r>
              <a:rPr lang="en-US" altLang="zh-TW" dirty="0"/>
              <a:t>Cortex-M0</a:t>
            </a:r>
            <a:r>
              <a:rPr lang="zh-TW" altLang="en-US" dirty="0"/>
              <a:t>，負責無線通訊與電源管理，前面另外掛了一顆 </a:t>
            </a:r>
            <a:r>
              <a:rPr lang="en-US" altLang="zh-TW" dirty="0"/>
              <a:t>RF </a:t>
            </a:r>
            <a:r>
              <a:rPr lang="zh-TW" altLang="en-US" dirty="0"/>
              <a:t>功率放大晶片；右邊這顆 </a:t>
            </a:r>
            <a:r>
              <a:rPr lang="en-US" altLang="zh-TW" dirty="0"/>
              <a:t>STM32F411 </a:t>
            </a:r>
            <a:r>
              <a:rPr lang="zh-TW" altLang="en-US" dirty="0"/>
              <a:t>是 </a:t>
            </a:r>
            <a:r>
              <a:rPr lang="en-US" altLang="zh-TW" dirty="0"/>
              <a:t>Cortex-M4</a:t>
            </a:r>
            <a:r>
              <a:rPr lang="zh-TW" altLang="en-US" dirty="0"/>
              <a:t>，負責感測器讀取、資料融合、</a:t>
            </a:r>
            <a:r>
              <a:rPr lang="en-US" altLang="zh-TW" dirty="0"/>
              <a:t>PID </a:t>
            </a:r>
            <a:r>
              <a:rPr lang="zh-TW" altLang="en-US" dirty="0"/>
              <a:t>控制與馬達輸出。</a:t>
            </a:r>
          </a:p>
          <a:p>
            <a:endParaRPr lang="zh-TW" altLang="en-US" dirty="0"/>
          </a:p>
          <a:p>
            <a:r>
              <a:rPr lang="zh-TW" altLang="en-US" dirty="0"/>
              <a:t>兩顆晶片之間以 </a:t>
            </a:r>
            <a:r>
              <a:rPr lang="en-US" altLang="zh-TW" dirty="0"/>
              <a:t>UART </a:t>
            </a:r>
            <a:r>
              <a:rPr lang="zh-TW" altLang="en-US" dirty="0"/>
              <a:t>相連。遙控器的訊號先由 </a:t>
            </a:r>
            <a:r>
              <a:rPr lang="en-US" altLang="zh-TW" dirty="0"/>
              <a:t>NRF51822 </a:t>
            </a:r>
            <a:r>
              <a:rPr lang="zh-TW" altLang="en-US" dirty="0"/>
              <a:t>接收，再經串口轉發給 </a:t>
            </a:r>
            <a:r>
              <a:rPr lang="en-US" altLang="zh-TW" dirty="0"/>
              <a:t>STM32 </a:t>
            </a:r>
            <a:r>
              <a:rPr lang="zh-TW" altLang="en-US" dirty="0"/>
              <a:t>處理。</a:t>
            </a:r>
          </a:p>
          <a:p>
            <a:endParaRPr lang="zh-TW" altLang="en-US" dirty="0"/>
          </a:p>
          <a:p>
            <a:r>
              <a:rPr lang="zh-TW" altLang="en-US" dirty="0"/>
              <a:t>右邊接的是十軸感測器，包含三軸加速度計、三軸陀螺儀、三軸磁力計與氣壓計，透過 </a:t>
            </a:r>
            <a:r>
              <a:rPr lang="en-US" altLang="zh-TW" dirty="0"/>
              <a:t>IIC </a:t>
            </a:r>
            <a:r>
              <a:rPr lang="zh-TW" altLang="en-US" dirty="0"/>
              <a:t>匯流排連到主控。</a:t>
            </a:r>
          </a:p>
          <a:p>
            <a:endParaRPr lang="zh-TW" altLang="en-US" dirty="0"/>
          </a:p>
          <a:p>
            <a:r>
              <a:rPr lang="zh-TW" altLang="en-US" dirty="0"/>
              <a:t>下方這一排是電源部分，包含電源管理、充電電路與 </a:t>
            </a:r>
            <a:r>
              <a:rPr lang="en-US" altLang="zh-TW" dirty="0"/>
              <a:t>USB </a:t>
            </a:r>
            <a:r>
              <a:rPr lang="zh-TW" altLang="en-US" dirty="0"/>
              <a:t>介面。原廠在這裡用了 </a:t>
            </a:r>
            <a:r>
              <a:rPr lang="en-US" altLang="zh-TW" dirty="0"/>
              <a:t>TP4059 </a:t>
            </a:r>
            <a:r>
              <a:rPr lang="zh-TW" altLang="en-US" dirty="0"/>
              <a:t>充電晶片與兩顆 </a:t>
            </a:r>
            <a:r>
              <a:rPr lang="en-US" altLang="zh-TW" dirty="0"/>
              <a:t>XC6204 </a:t>
            </a:r>
            <a:r>
              <a:rPr lang="zh-TW" altLang="en-US" dirty="0"/>
              <a:t>穩壓晶片。</a:t>
            </a:r>
          </a:p>
          <a:p>
            <a:endParaRPr lang="zh-TW" altLang="en-US" dirty="0"/>
          </a:p>
          <a:p>
            <a:r>
              <a:rPr lang="zh-TW" altLang="en-US" dirty="0"/>
              <a:t>之所以先看原廠的框架，是因為接下來第十頁我會用同樣的畫法呈現本研究的架構，兩張圖並排就能看出差異在哪裡。</a:t>
            </a:r>
          </a:p>
          <a:p>
            <a:endParaRPr lang="zh-TW" altLang="en-US" dirty="0"/>
          </a:p>
          <a:p>
            <a:r>
              <a:rPr lang="zh-TW" altLang="en-US" dirty="0"/>
              <a:t>接下來第十頁，我將說明本研究的系統框架</a:t>
            </a:r>
            <a:r>
              <a:rPr lang="en-US" altLang="zh-TW" dirty="0"/>
              <a:t>……</a:t>
            </a:r>
            <a:r>
              <a:rPr lang="zh-TW" altLang="en-US" dirty="0"/>
              <a:t>」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816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「</a:t>
            </a:r>
            <a:r>
              <a:rPr dirty="0" err="1"/>
              <a:t>第九頁是原廠</a:t>
            </a:r>
            <a:r>
              <a:rPr dirty="0"/>
              <a:t> ATK-</a:t>
            </a:r>
            <a:r>
              <a:rPr dirty="0" err="1"/>
              <a:t>MiniFly</a:t>
            </a:r>
            <a:r>
              <a:rPr dirty="0"/>
              <a:t> </a:t>
            </a:r>
            <a:r>
              <a:rPr dirty="0" err="1"/>
              <a:t>的系統框架，這張圖出自原廠開發指南的圖</a:t>
            </a:r>
            <a:r>
              <a:rPr dirty="0"/>
              <a:t> 4.1.1。</a:t>
            </a:r>
          </a:p>
          <a:p>
            <a:endParaRPr dirty="0"/>
          </a:p>
          <a:p>
            <a:r>
              <a:rPr dirty="0" err="1"/>
              <a:t>從圖上可以看到，原廠採用的是雙</a:t>
            </a:r>
            <a:r>
              <a:rPr dirty="0"/>
              <a:t> MCU </a:t>
            </a:r>
            <a:r>
              <a:rPr dirty="0" err="1"/>
              <a:t>架構。左邊這顆</a:t>
            </a:r>
            <a:r>
              <a:rPr dirty="0"/>
              <a:t> NRF51822 是 Cortex-M0，負責無線通訊與電源管理，前面另外掛了一顆 RF </a:t>
            </a:r>
            <a:r>
              <a:rPr dirty="0" err="1"/>
              <a:t>功率放大晶片；右邊這顆</a:t>
            </a:r>
            <a:r>
              <a:rPr dirty="0"/>
              <a:t> STM32F411 是 Cortex-M4，負責感測器讀取、資料融合、PID </a:t>
            </a:r>
            <a:r>
              <a:rPr dirty="0" err="1"/>
              <a:t>控制與馬達輸出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兩顆晶片之間以</a:t>
            </a:r>
            <a:r>
              <a:rPr dirty="0"/>
              <a:t> UART </a:t>
            </a:r>
            <a:r>
              <a:rPr dirty="0" err="1"/>
              <a:t>相連。遙控器的訊號先由</a:t>
            </a:r>
            <a:r>
              <a:rPr dirty="0"/>
              <a:t> NRF51822 </a:t>
            </a:r>
            <a:r>
              <a:rPr dirty="0" err="1"/>
              <a:t>接收，再經串口轉發給</a:t>
            </a:r>
            <a:r>
              <a:rPr dirty="0"/>
              <a:t> STM32 </a:t>
            </a:r>
            <a:r>
              <a:rPr dirty="0" err="1"/>
              <a:t>處理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右邊接的是十軸感測器，包含三軸加速度計、三軸陀螺儀、三軸磁力計與氣壓計，透過</a:t>
            </a:r>
            <a:r>
              <a:rPr dirty="0"/>
              <a:t> IIC </a:t>
            </a:r>
            <a:r>
              <a:rPr dirty="0" err="1"/>
              <a:t>匯流排連到主控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下方這一排是電源部分，包含電源管理、充電電路與</a:t>
            </a:r>
            <a:r>
              <a:rPr dirty="0"/>
              <a:t> USB </a:t>
            </a:r>
            <a:r>
              <a:rPr dirty="0" err="1"/>
              <a:t>介面。原廠在這裡用了</a:t>
            </a:r>
            <a:r>
              <a:rPr dirty="0"/>
              <a:t> TP4059 </a:t>
            </a:r>
            <a:r>
              <a:rPr dirty="0" err="1"/>
              <a:t>充電晶片與兩顆</a:t>
            </a:r>
            <a:r>
              <a:rPr dirty="0"/>
              <a:t> XC6204 </a:t>
            </a:r>
            <a:r>
              <a:rPr dirty="0" err="1"/>
              <a:t>穩壓晶片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之所以先看原廠的框架，是因為接下來第十頁我會用同樣的畫法呈現本研究的架構，兩張圖並排就能看出差異在哪裡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接下來第十頁，我將說明本研究的系統框架</a:t>
            </a:r>
            <a:r>
              <a:rPr dirty="0"/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769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ESB 是 Nordic </a:t>
            </a:r>
            <a:r>
              <a:rPr dirty="0" err="1"/>
              <a:t>專有的</a:t>
            </a:r>
            <a:r>
              <a:rPr dirty="0"/>
              <a:t> 2.4GHz 協</a:t>
            </a:r>
            <a:r>
              <a:rPr lang="zh-CN" altLang="en-US" dirty="0"/>
              <a:t>定</a:t>
            </a:r>
            <a:r>
              <a:rPr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nRF24</a:t>
            </a:r>
            <a:r>
              <a:rPr lang="zh-CN" altLang="en-US" dirty="0"/>
              <a:t>系列</a:t>
            </a:r>
            <a:r>
              <a:rPr lang="en-US" altLang="zh-TW" dirty="0"/>
              <a:t> </a:t>
            </a:r>
            <a:r>
              <a:rPr lang="zh-TW" altLang="en-US" dirty="0"/>
              <a:t>有專用的硬體 </a:t>
            </a:r>
            <a:r>
              <a:rPr lang="en-US" altLang="zh-TW" dirty="0"/>
              <a:t>ESB </a:t>
            </a:r>
            <a:r>
              <a:rPr lang="zh-TW" altLang="en-US" dirty="0"/>
              <a:t>處理器，而 </a:t>
            </a:r>
            <a:r>
              <a:rPr lang="en-US" altLang="zh-TW" dirty="0"/>
              <a:t>nRF52840 </a:t>
            </a:r>
            <a:r>
              <a:rPr lang="zh-TW" altLang="en-US" dirty="0"/>
              <a:t>則是</a:t>
            </a:r>
            <a:r>
              <a:rPr lang="zh-CN" altLang="en-US" dirty="0"/>
              <a:t>需要</a:t>
            </a:r>
            <a:r>
              <a:rPr lang="zh-TW" altLang="en-US" dirty="0"/>
              <a:t>在韌體中對 </a:t>
            </a:r>
            <a:r>
              <a:rPr lang="en-US" altLang="zh-TW" dirty="0"/>
              <a:t>RADIO </a:t>
            </a:r>
            <a:r>
              <a:rPr lang="zh-TW" altLang="en-US" dirty="0"/>
              <a:t>的底層暫存器進行配置</a:t>
            </a:r>
            <a:r>
              <a:rPr lang="zh-CN" altLang="en-US" dirty="0"/>
              <a:t>。</a:t>
            </a:r>
            <a:endParaRPr lang="en-US" altLang="zh-TW" dirty="0"/>
          </a:p>
          <a:p>
            <a:endParaRPr dirty="0"/>
          </a:p>
          <a:p>
            <a:r>
              <a:rPr dirty="0" err="1"/>
              <a:t>關鍵在於:這個協議在</a:t>
            </a:r>
            <a:r>
              <a:rPr dirty="0"/>
              <a:t> nRF24L </a:t>
            </a:r>
            <a:r>
              <a:rPr dirty="0" err="1"/>
              <a:t>系列</a:t>
            </a:r>
            <a:r>
              <a:rPr dirty="0"/>
              <a:t>(</a:t>
            </a:r>
            <a:r>
              <a:rPr dirty="0" err="1"/>
              <a:t>遙控器用的那顆</a:t>
            </a:r>
            <a:r>
              <a:rPr dirty="0"/>
              <a:t>)</a:t>
            </a:r>
            <a:r>
              <a:rPr dirty="0" err="1"/>
              <a:t>是硬體內建的,但</a:t>
            </a:r>
            <a:r>
              <a:rPr dirty="0"/>
              <a:t> nRF5 </a:t>
            </a:r>
            <a:r>
              <a:rPr dirty="0" err="1"/>
              <a:t>系列沒有這個硬體。移植時必須用</a:t>
            </a:r>
            <a:r>
              <a:rPr dirty="0"/>
              <a:t> RADIO </a:t>
            </a:r>
            <a:r>
              <a:rPr dirty="0" err="1"/>
              <a:t>外設自行把封包格式設定成一模一樣,才能與遙控器互通</a:t>
            </a:r>
            <a:r>
              <a:rPr dirty="0"/>
              <a:t> —— </a:t>
            </a:r>
            <a:r>
              <a:rPr dirty="0" err="1"/>
              <a:t>這就是無線層必須從暫存器層重建的原因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可能被問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Q:資料傳輸需要 CRC </a:t>
            </a:r>
            <a:r>
              <a:rPr dirty="0" err="1"/>
              <a:t>嗎?為什麼只有一個</a:t>
            </a:r>
            <a:r>
              <a:rPr dirty="0"/>
              <a:t>?</a:t>
            </a:r>
          </a:p>
          <a:p>
            <a:r>
              <a:rPr dirty="0"/>
              <a:t>A:空中封包由 ESB 的 CRC </a:t>
            </a:r>
            <a:r>
              <a:rPr dirty="0" err="1"/>
              <a:t>負責,設定為</a:t>
            </a:r>
            <a:r>
              <a:rPr dirty="0"/>
              <a:t> CRC16-CCITT(</a:t>
            </a:r>
            <a:r>
              <a:rPr dirty="0" err="1"/>
              <a:t>多項式</a:t>
            </a:r>
            <a:r>
              <a:rPr dirty="0"/>
              <a:t> 0x11021、初值 0xFFFF),</a:t>
            </a:r>
            <a:r>
              <a:rPr dirty="0" err="1"/>
              <a:t>由硬體自動計算與檢查,錯誤封包直接丟棄不會進到軟體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ATKP </a:t>
            </a:r>
            <a:r>
              <a:rPr dirty="0" err="1"/>
              <a:t>協議本身另有一個「求和取低</a:t>
            </a:r>
            <a:r>
              <a:rPr dirty="0"/>
              <a:t> 8 </a:t>
            </a:r>
            <a:r>
              <a:rPr dirty="0" err="1"/>
              <a:t>位」的校驗位元組,但那是走</a:t>
            </a:r>
            <a:r>
              <a:rPr dirty="0"/>
              <a:t> USB </a:t>
            </a:r>
            <a:r>
              <a:rPr dirty="0" err="1"/>
              <a:t>時用的。經無線傳送時,空中封包的載荷只放</a:t>
            </a:r>
            <a:r>
              <a:rPr dirty="0"/>
              <a:t> </a:t>
            </a:r>
            <a:r>
              <a:rPr dirty="0" err="1"/>
              <a:t>msgID、dataLen</a:t>
            </a:r>
            <a:r>
              <a:rPr dirty="0"/>
              <a:t> 與 data </a:t>
            </a:r>
            <a:r>
              <a:rPr dirty="0" err="1"/>
              <a:t>三部分,不帶</a:t>
            </a:r>
            <a:r>
              <a:rPr dirty="0"/>
              <a:t> ATKP </a:t>
            </a:r>
            <a:r>
              <a:rPr dirty="0" err="1"/>
              <a:t>的起始碼與校驗和</a:t>
            </a:r>
            <a:r>
              <a:rPr dirty="0"/>
              <a:t> —— </a:t>
            </a:r>
            <a:r>
              <a:rPr dirty="0" err="1"/>
              <a:t>因為位址欄已經負責識別、CRC</a:t>
            </a:r>
            <a:r>
              <a:rPr dirty="0"/>
              <a:t> </a:t>
            </a:r>
            <a:r>
              <a:rPr dirty="0" err="1"/>
              <a:t>已經負責檢查,再加一層是多餘的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所以是一層</a:t>
            </a:r>
            <a:r>
              <a:rPr dirty="0"/>
              <a:t> </a:t>
            </a:r>
            <a:r>
              <a:rPr dirty="0" err="1"/>
              <a:t>CRC,不是兩層;兩層校驗只出現在</a:t>
            </a:r>
            <a:r>
              <a:rPr dirty="0"/>
              <a:t> USB </a:t>
            </a:r>
            <a:r>
              <a:rPr dirty="0" err="1"/>
              <a:t>路徑</a:t>
            </a:r>
            <a:r>
              <a:rPr dirty="0"/>
              <a:t>(ATKP </a:t>
            </a:r>
            <a:r>
              <a:rPr dirty="0" err="1"/>
              <a:t>校驗和</a:t>
            </a:r>
            <a:r>
              <a:rPr dirty="0"/>
              <a:t>)</a:t>
            </a:r>
            <a:r>
              <a:rPr dirty="0" err="1"/>
              <a:t>與無線路徑</a:t>
            </a:r>
            <a:r>
              <a:rPr dirty="0"/>
              <a:t>(ESB CRC)</a:t>
            </a:r>
            <a:r>
              <a:rPr dirty="0" err="1"/>
              <a:t>各自的鏈路上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「第十六頁說明上位機送往飛控的封包格式。</a:t>
            </a:r>
          </a:p>
          <a:p>
            <a:endParaRPr/>
          </a:p>
          <a:p>
            <a:r>
              <a:t>整包由六個欄位組成：兩個起始碼、功能字、長度、資料，最後是校驗和。橘框圈起來的三格——功能字、長度、資料——才是原廠定義的 ATKP 封包本體；兩端的起始碼與校驗和，是走 USB 時才加上去的。</a:t>
            </a:r>
          </a:p>
          <a:p>
            <a:endParaRPr/>
          </a:p>
          <a:p>
            <a:r>
              <a:t>下方是解鎖指令的實際例子：AA AF 01 01 A1 FC。AA AF 是起始碼，01 是命令封包的功能字，第二個 01 表示資料只有一個 Byte，A1 是解鎖的命令碼，最後的 FC 是把前面五個 Byte 相加取低 8 位得到的校驗值。</a:t>
            </a:r>
          </a:p>
          <a:p>
            <a:endParaRPr/>
          </a:p>
          <a:p>
            <a:r>
              <a:t>這個封包如果走無線，就是裝在上一頁 ESB 封包的載荷裡，起始碼與校驗和都不帶。</a:t>
            </a:r>
          </a:p>
          <a:p>
            <a:endParaRPr/>
          </a:p>
          <a:p>
            <a:r>
              <a:t>可能被問:</a:t>
            </a:r>
          </a:p>
          <a:p>
            <a:endParaRPr/>
          </a:p>
          <a:p>
            <a:r>
              <a:t>Q:起始碼為什麼是兩個?</a:t>
            </a:r>
          </a:p>
          <a:p>
            <a:r>
              <a:t>A:第一個固定 0xAA，第二個用來標示方向。原廠定義 0xAF 是上位機送往飛控這個方向，0xAA 則是飛控回送上位機。同樣一套 ATKP 封包，靠第二個起始碼就能分辨是誰送給誰。</a:t>
            </a:r>
          </a:p>
          <a:p>
            <a:endParaRPr/>
          </a:p>
          <a:p>
            <a:r>
              <a:t>Q:無線既然不用幀頭，為什麼原廠手冊的方向表裡有「四軸←遙控器」這一項?</a:t>
            </a:r>
          </a:p>
          <a:p>
            <a:r>
              <a:t>A:因為那指的不是空中的形態。原廠手冊寫明，遙控器與 NRF51822 之間走無線，直接傳 ATKP 封包不加幀頭；但 NRF51822 收到後要再經串口轉發給 STM32F411，而「NRF51822 與 STM32F411 通信使用的串口方式，數據格式跟 usblink 鏈路一樣」，也就是要補上幀頭與校驗。</a:t>
            </a:r>
          </a:p>
          <a:p>
            <a:endParaRPr/>
          </a:p>
          <a:p>
            <a:r>
              <a:t>所以幀頭是給有線那一段用的。這一點在本研究反而消失了——合併成單晶片之後，那段串口不存在，RADIO 收到的 ATKP 直接進控制流程，不需要再框一次。</a:t>
            </a:r>
          </a:p>
          <a:p>
            <a:endParaRPr/>
          </a:p>
          <a:p>
            <a:r>
              <a:t>接下來第十七頁，我將播放移植後的實機飛行影片……」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24 字≈7 秒 ｜ 完整版 331 字≈1.5 分</a:t>
            </a:r>
          </a:p>
          <a:p>
            <a:endParaRPr/>
          </a:p>
          <a:p>
            <a:r>
              <a:t>【一句話】移植成果的整體驗證:從上電到降落,全程沒有剪接。</a:t>
            </a:r>
          </a:p>
          <a:p>
            <a:endParaRPr/>
          </a:p>
          <a:p>
            <a:r>
              <a:t>【播放時要說的】</a:t>
            </a:r>
          </a:p>
          <a:p>
            <a:r>
              <a:t>① **開機自檢** — 七個驅動模組依序通過,LED 指示狀態。這一段對應驅動層移植那頁。</a:t>
            </a:r>
          </a:p>
          <a:p>
            <a:r>
              <a:t>② **遙控器配對成功** — 這代表 ESB 空中相容的三項對齊(位序反轉、動態載荷、速率)全部做對了,否則連不上。</a:t>
            </a:r>
          </a:p>
          <a:p>
            <a:r>
              <a:t>③ **起飛、定高懸停** — 對應高度估計鏈的三項增強。</a:t>
            </a:r>
          </a:p>
          <a:p>
            <a:r>
              <a:t>④ **斷訊維持** — 我故意讓訊號中斷,注意**高度沒有掉**,訊號回來後無縫續飛。</a:t>
            </a:r>
          </a:p>
          <a:p>
            <a:r>
              <a:t>⑤ 降落。</a:t>
            </a:r>
          </a:p>
          <a:p>
            <a:endParaRPr/>
          </a:p>
          <a:p>
            <a:r>
              <a:t>【★ 這支影片放在這裡的原因】</a:t>
            </a:r>
          </a:p>
          <a:p>
            <a:r>
              <a:t>到這一頁為止,單機的所有內容(硬體、移植、三大挑戰、控制、安全)都講完了。這支影片是它們的**綜合驗證** — 每一個環節在影片裡都看得到對應的畫面。下一章才進入多機。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Q:為什麼特別展示斷訊維持?</a:t>
            </a:r>
          </a:p>
          <a:p>
            <a:r>
              <a:t>A:它是多機控制的安全基礎。廣播模式下每臺本來就會有短暫收不到指令的空檔(點名那一下),這個機制把「輪空」定義為正常狀態,多機才可行。這也是為什麼這支影片排在多機章之前。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核心】一句話版</a:t>
            </a:r>
            <a:r>
              <a:rPr dirty="0"/>
              <a:t> 40 字≈11 秒 ｜ </a:t>
            </a:r>
            <a:r>
              <a:rPr dirty="0" err="1"/>
              <a:t>完整版</a:t>
            </a:r>
            <a:r>
              <a:rPr dirty="0"/>
              <a:t> 702 字≈3.2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一句話】核心概念是廣播定址:一份指令廣播出去,兩台同時收到,再由飛機自己判斷要不要執行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【★ </a:t>
            </a:r>
            <a:r>
              <a:rPr dirty="0" err="1"/>
              <a:t>為什麼是「飛機自己判斷」而不是「遙控器只發給某一台</a:t>
            </a:r>
            <a:r>
              <a:rPr dirty="0"/>
              <a:t>」】</a:t>
            </a:r>
          </a:p>
          <a:p>
            <a:r>
              <a:rPr dirty="0" err="1"/>
              <a:t>這是整章的關鍵設計思想。若由發射端決定收件人</a:t>
            </a:r>
            <a:r>
              <a:rPr dirty="0"/>
              <a:t>(</a:t>
            </a:r>
            <a:r>
              <a:rPr dirty="0" err="1"/>
              <a:t>那就是分時尋址</a:t>
            </a:r>
            <a:r>
              <a:rPr dirty="0"/>
              <a:t>),</a:t>
            </a:r>
            <a:r>
              <a:rPr dirty="0" err="1"/>
              <a:t>帶寬必然</a:t>
            </a:r>
            <a:r>
              <a:rPr dirty="0"/>
              <a:t> O(N)、</a:t>
            </a:r>
            <a:r>
              <a:rPr dirty="0" err="1"/>
              <a:t>各機指令必然錯開。改成「一包全體同收、由接收端自己判斷」之後,發送次數與台數無關</a:t>
            </a:r>
            <a:r>
              <a:rPr dirty="0"/>
              <a:t> — **</a:t>
            </a:r>
            <a:r>
              <a:rPr dirty="0" err="1"/>
              <a:t>這是</a:t>
            </a:r>
            <a:r>
              <a:rPr dirty="0"/>
              <a:t> O(1) 與 O(N) </a:t>
            </a:r>
            <a:r>
              <a:rPr dirty="0" err="1"/>
              <a:t>的分野,也是編隊能不能同步的分野</a:t>
            </a:r>
            <a:r>
              <a:rPr dirty="0"/>
              <a:t>**。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資料鏈路】PC</a:t>
            </a:r>
            <a:r>
              <a:rPr dirty="0"/>
              <a:t> </a:t>
            </a:r>
            <a:r>
              <a:rPr dirty="0" err="1"/>
              <a:t>上位機做定位與決策</a:t>
            </a:r>
            <a:r>
              <a:rPr dirty="0"/>
              <a:t> → 經 USB 以 ATKP </a:t>
            </a:r>
            <a:r>
              <a:rPr dirty="0" err="1"/>
              <a:t>格式交給遙控器</a:t>
            </a:r>
            <a:r>
              <a:rPr dirty="0"/>
              <a:t> → </a:t>
            </a:r>
            <a:r>
              <a:rPr dirty="0" err="1"/>
              <a:t>遙控器原樣廣播</a:t>
            </a:r>
            <a:r>
              <a:rPr dirty="0"/>
              <a:t> → </a:t>
            </a:r>
            <a:r>
              <a:rPr dirty="0" err="1"/>
              <a:t>兩台飛機各有自己的</a:t>
            </a:r>
            <a:r>
              <a:rPr dirty="0"/>
              <a:t> ID </a:t>
            </a:r>
            <a:r>
              <a:rPr dirty="0" err="1"/>
              <a:t>與私有位址;兩台同時也都發</a:t>
            </a:r>
            <a:r>
              <a:rPr dirty="0"/>
              <a:t> BLE </a:t>
            </a:r>
            <a:r>
              <a:rPr dirty="0" err="1"/>
              <a:t>信標給四個錨點,所以能同時被定位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三個機制,都已實機驗證</a:t>
            </a:r>
            <a:r>
              <a:rPr dirty="0"/>
              <a:t>】</a:t>
            </a:r>
          </a:p>
          <a:p>
            <a:r>
              <a:rPr dirty="0"/>
              <a:t>① **</a:t>
            </a:r>
            <a:r>
              <a:rPr dirty="0" err="1"/>
              <a:t>廣播選台</a:t>
            </a:r>
            <a:r>
              <a:rPr dirty="0"/>
              <a:t>(</a:t>
            </a:r>
            <a:r>
              <a:rPr dirty="0" err="1"/>
              <a:t>模式</a:t>
            </a:r>
            <a:r>
              <a:rPr dirty="0"/>
              <a:t> A </a:t>
            </a:r>
            <a:r>
              <a:rPr dirty="0" err="1"/>
              <a:t>擴展</a:t>
            </a:r>
            <a:r>
              <a:rPr dirty="0"/>
              <a:t>)** — </a:t>
            </a:r>
            <a:r>
              <a:rPr dirty="0" err="1"/>
              <a:t>一包全體同收,包尾附目標字節;選中的執行、其餘懸停待命</a:t>
            </a:r>
            <a:r>
              <a:rPr dirty="0"/>
              <a:t>。</a:t>
            </a:r>
          </a:p>
          <a:p>
            <a:r>
              <a:rPr dirty="0"/>
              <a:t>② **</a:t>
            </a:r>
            <a:r>
              <a:rPr dirty="0" err="1"/>
              <a:t>多工廣播</a:t>
            </a:r>
            <a:r>
              <a:rPr dirty="0"/>
              <a:t>(</a:t>
            </a:r>
            <a:r>
              <a:rPr dirty="0" err="1"/>
              <a:t>模式</a:t>
            </a:r>
            <a:r>
              <a:rPr dirty="0"/>
              <a:t> B)** — </a:t>
            </a:r>
            <a:r>
              <a:rPr dirty="0" err="1"/>
              <a:t>一個廣播包裡裝兩台各自獨立的指令段,兩機同收後各取自己那段</a:t>
            </a:r>
            <a:r>
              <a:rPr dirty="0"/>
              <a:t>,**</a:t>
            </a:r>
            <a:r>
              <a:rPr dirty="0" err="1"/>
              <a:t>可同時做不同動作</a:t>
            </a:r>
            <a:r>
              <a:rPr dirty="0"/>
              <a:t>**。</a:t>
            </a:r>
            <a:r>
              <a:rPr dirty="0" err="1"/>
              <a:t>這是本研究的亮點</a:t>
            </a:r>
            <a:r>
              <a:rPr dirty="0"/>
              <a:t>。</a:t>
            </a:r>
          </a:p>
          <a:p>
            <a:r>
              <a:rPr dirty="0"/>
              <a:t>③ **</a:t>
            </a:r>
            <a:r>
              <a:rPr dirty="0" err="1"/>
              <a:t>廣播點名</a:t>
            </a:r>
            <a:r>
              <a:rPr dirty="0"/>
              <a:t>** — </a:t>
            </a:r>
            <a:r>
              <a:rPr dirty="0" err="1"/>
              <a:t>廣播是單向不回</a:t>
            </a:r>
            <a:r>
              <a:rPr dirty="0"/>
              <a:t> ACK </a:t>
            </a:r>
            <a:r>
              <a:rPr dirty="0" err="1"/>
              <a:t>的,遙控器看不到飛機狀態,所以每隔約</a:t>
            </a:r>
            <a:r>
              <a:rPr dirty="0"/>
              <a:t> 0.13 </a:t>
            </a:r>
            <a:r>
              <a:rPr dirty="0" err="1"/>
              <a:t>秒切一次私有去探詢一台,把電量與在線狀態取回來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【★ </a:t>
            </a:r>
            <a:r>
              <a:rPr dirty="0" err="1"/>
              <a:t>三者不是三選一,而是分層並存</a:t>
            </a:r>
            <a:r>
              <a:rPr dirty="0"/>
              <a:t>】</a:t>
            </a:r>
          </a:p>
          <a:p>
            <a:r>
              <a:rPr dirty="0"/>
              <a:t>· </a:t>
            </a:r>
            <a:r>
              <a:rPr dirty="0" err="1"/>
              <a:t>模式</a:t>
            </a:r>
            <a:r>
              <a:rPr dirty="0"/>
              <a:t> A </a:t>
            </a:r>
            <a:r>
              <a:rPr dirty="0" err="1"/>
              <a:t>供人手操作</a:t>
            </a:r>
            <a:r>
              <a:rPr dirty="0"/>
              <a:t>(</a:t>
            </a:r>
            <a:r>
              <a:rPr dirty="0" err="1"/>
              <a:t>遙控器只有一份搖桿值</a:t>
            </a:r>
            <a:r>
              <a:rPr dirty="0"/>
              <a:t>)</a:t>
            </a:r>
          </a:p>
          <a:p>
            <a:r>
              <a:rPr dirty="0"/>
              <a:t>· </a:t>
            </a:r>
            <a:r>
              <a:rPr dirty="0" err="1"/>
              <a:t>模式</a:t>
            </a:r>
            <a:r>
              <a:rPr dirty="0"/>
              <a:t> B 供 PC </a:t>
            </a:r>
            <a:r>
              <a:rPr dirty="0" err="1"/>
              <a:t>自動編隊</a:t>
            </a:r>
            <a:r>
              <a:rPr dirty="0"/>
              <a:t>(</a:t>
            </a:r>
            <a:r>
              <a:rPr dirty="0" err="1"/>
              <a:t>指令來源能算出各機不同目標</a:t>
            </a:r>
            <a:r>
              <a:rPr dirty="0"/>
              <a:t>)</a:t>
            </a:r>
          </a:p>
          <a:p>
            <a:r>
              <a:rPr dirty="0"/>
              <a:t>· </a:t>
            </a:r>
            <a:r>
              <a:rPr dirty="0" err="1"/>
              <a:t>私有模式供逐台調參與讀狀態</a:t>
            </a:r>
            <a:endParaRPr dirty="0"/>
          </a:p>
          <a:p>
            <a:r>
              <a:rPr dirty="0" err="1"/>
              <a:t>它們用不同的</a:t>
            </a:r>
            <a:r>
              <a:rPr dirty="0"/>
              <a:t> </a:t>
            </a:r>
            <a:r>
              <a:rPr dirty="0" err="1"/>
              <a:t>msgID</a:t>
            </a:r>
            <a:r>
              <a:rPr dirty="0"/>
              <a:t> </a:t>
            </a:r>
            <a:r>
              <a:rPr dirty="0" err="1"/>
              <a:t>與位址,飛機端依</a:t>
            </a:r>
            <a:r>
              <a:rPr dirty="0"/>
              <a:t> </a:t>
            </a:r>
            <a:r>
              <a:rPr dirty="0" err="1"/>
              <a:t>msgID</a:t>
            </a:r>
            <a:r>
              <a:rPr dirty="0"/>
              <a:t> </a:t>
            </a:r>
            <a:r>
              <a:rPr dirty="0" err="1"/>
              <a:t>分流,可即時切換而不衝突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先給個伏筆】這三個機制不是一開始就這樣設計的</a:t>
            </a:r>
            <a:r>
              <a:rPr dirty="0"/>
              <a:t> — </a:t>
            </a:r>
            <a:r>
              <a:rPr dirty="0" err="1"/>
              <a:t>下一頁先講協議基礎,再下一頁講我走過的彎路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Q:現在能同時飛兩台嗎?</a:t>
            </a:r>
          </a:p>
          <a:p>
            <a:r>
              <a:rPr dirty="0"/>
              <a:t>A:三個機制都有實機影片。但「機制通了」和「兩台一起編隊飛完一段航線」是兩件事,後者尚未完整演示 — </a:t>
            </a:r>
            <a:r>
              <a:rPr dirty="0" err="1"/>
              <a:t>我在系統邊界那頁也是這樣標的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Q:為什麼遙控器要原樣轉發而不解析?</a:t>
            </a:r>
          </a:p>
          <a:p>
            <a:r>
              <a:rPr dirty="0"/>
              <a:t>A:讓遙控器保持單純的無線橋,PC </a:t>
            </a:r>
            <a:r>
              <a:rPr dirty="0" err="1"/>
              <a:t>的擴展不需要動遙控器韌體。模式</a:t>
            </a:r>
            <a:r>
              <a:rPr dirty="0"/>
              <a:t> B </a:t>
            </a:r>
            <a:r>
              <a:rPr dirty="0" err="1"/>
              <a:t>就是這樣加進來的</a:t>
            </a:r>
            <a:r>
              <a:rPr dirty="0"/>
              <a:t> — </a:t>
            </a:r>
            <a:r>
              <a:rPr dirty="0" err="1"/>
              <a:t>遙控器一行控制邏輯都沒改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【核心】一句話版 27 字≈7 秒 ｜ 完整版 429 字≈1.9 分</a:t>
            </a:r>
          </a:p>
          <a:p>
            <a:endParaRPr/>
          </a:p>
          <a:p>
            <a:r>
              <a:t>【一句話】核心洞察只有一句:一切差異的根源是「要不要 ACK」。</a:t>
            </a:r>
          </a:p>
          <a:p>
            <a:r>
              <a:t>【展開這句話】</a:t>
            </a:r>
          </a:p>
          <a:p>
            <a:r>
              <a:t>· 要 ACK → 有回傳、有硬體重傳,可以逐台偵測丟包;但**必須逐台發送,指令必然錯開**。</a:t>
            </a:r>
          </a:p>
          <a:p>
            <a:r>
              <a:t>· 不要 ACK → 才能一包全體同收、真正同步;代價是**遙控器完全看不到飛機**。</a:t>
            </a:r>
          </a:p>
          <a:p>
            <a:endParaRPr/>
          </a:p>
          <a:p>
            <a:r>
              <a:t>【左邊 帶寬與同步性對照】</a:t>
            </a:r>
          </a:p>
          <a:p>
            <a:r>
              <a:t>· 私有要發 N 次,廣播只發 1 次</a:t>
            </a:r>
          </a:p>
          <a:p>
            <a:r>
              <a:t>· 私有各機錯開,廣播同時到達</a:t>
            </a:r>
          </a:p>
          <a:p>
            <a:r>
              <a:t>· 狀態回傳只有私有原生具備</a:t>
            </a:r>
          </a:p>
          <a:p>
            <a:endParaRPr/>
          </a:p>
          <a:p>
            <a:r>
              <a:t>【右邊 三種機制各自的定位】</a:t>
            </a:r>
          </a:p>
          <a:p>
            <a:r>
              <a:t>① 模式 C 私有 ACK 一對一 — 適合逐台調參與讀狀態</a:t>
            </a:r>
          </a:p>
          <a:p>
            <a:r>
              <a:t>② 模式 A 擴展 廣播選台 — 一次控一台、其餘懸停</a:t>
            </a:r>
          </a:p>
          <a:p>
            <a:r>
              <a:t>③ 模式 B 多工廣播 — 一包內各機獨立指令,帶寬仍是 O(1) 但可同時做不同動作</a:t>
            </a:r>
          </a:p>
          <a:p>
            <a:endParaRPr/>
          </a:p>
          <a:p>
            <a:r>
              <a:t>【結論】編隊同步場景廣播壓倒性勝出;需要逐台狀態時仍需私有 — 所以我三種都保留,而且可以即時切換。</a:t>
            </a:r>
          </a:p>
          <a:p>
            <a:endParaRPr/>
          </a:p>
          <a:p>
            <a:r>
              <a:t>【這頁的方法論價值】機制選擇服從研究目標,沒有絕對優劣。這是我想強調的判斷方式,也是全篇最像研究結論的一句話。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Q:三種機制會不會互相幹擾?</a:t>
            </a:r>
          </a:p>
          <a:p>
            <a:r>
              <a:t>A:不會。它們用不同的 msgID 與位址,飛機端依 msgID 分流;而且同一時刻只有一種模式生效,可由遙控器即時切換。</a:t>
            </a:r>
          </a:p>
          <a:p>
            <a:endParaRPr/>
          </a:p>
          <a:p>
            <a:r>
              <a:t>Q:為什麼不只保留最好的那一種?</a:t>
            </a:r>
          </a:p>
          <a:p>
            <a:r>
              <a:t>A:沒有絕對最好的。編隊同步要廣播、逐台讀狀態要私有 — 機制選擇服從使用情境,這正是本頁想表達的方法論。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38 字≈10 秒 ｜ 完整版 674 字≈3.1 分</a:t>
            </a:r>
          </a:p>
          <a:p>
            <a:endParaRPr/>
          </a:p>
          <a:p>
            <a:r>
              <a:t>【一句話】訊號中斷不等於一定要墜落 — 這頁同時是單機安全的核心,也是多機控制的地基。</a:t>
            </a:r>
          </a:p>
          <a:p>
            <a:endParaRPr/>
          </a:p>
          <a:p>
            <a:r>
              <a:t>【核心問題】遙控訊號中斷時,飛機該怎麼辦?「立刻切斷馬達」最保守,但**多數中斷是短暫的**(天線遮擋、瞬時幹擾、封包碰撞),直接停機等於把一次可恢復的抖動變成一次墜機。</a:t>
            </a:r>
          </a:p>
          <a:p>
            <a:endParaRPr/>
          </a:p>
          <a:p>
            <a:r>
              <a:t>【★ 為什麼需要三種而不是一種】</a:t>
            </a:r>
          </a:p>
          <a:p>
            <a:r>
              <a:t>因為「最好的策略」取決於場景,不存在通用解:</a:t>
            </a:r>
          </a:p>
          <a:p>
            <a:r>
              <a:t>· **模式 0 斷線寬限續飛** — 中斷後維持定高最多 2 秒,訊號回來即無縫續飛,超時才轉緩降。適合**訊號本來就會間歇中斷**的場合。</a:t>
            </a:r>
          </a:p>
          <a:p>
            <a:r>
              <a:t>· **模式 1 懸停等待再緩降** — 原地懸停約 8 秒,留出操作者反應與接管的時間窗,超時再受控緩降。適合**有人監看的手動飛行**。</a:t>
            </a:r>
          </a:p>
          <a:p>
            <a:r>
              <a:t>· **模式 2 立即緩降** — 中斷即受控緩降、觸地自動停機,不等待。適合**未知環境或不容許漂移**的場合。</a:t>
            </a:r>
          </a:p>
          <a:p>
            <a:endParaRPr/>
          </a:p>
          <a:p>
            <a:r>
              <a:t>【三者的共同點】都是**同一套失控保護狀態機**,差別只在「等多久」與「等的時候做什麼」。不是三份獨立程式碼,而是同一個狀態機的三組參數 — 所以未來可由上位機即時切換。</a:t>
            </a:r>
          </a:p>
          <a:p>
            <a:endParaRPr/>
          </a:p>
          <a:p>
            <a:r>
              <a:t>【★ 關鍵銜接 — 這頁存在的真正理由】</a:t>
            </a:r>
          </a:p>
          <a:p>
            <a:r>
              <a:t>模式 0 的「寬限等待」正是多機廣播控制的地基。廣播模式下每台飛機**本來就會有短暫收不到指令的空檔** — 點名那一下就是(約 0.13 秒)。若沒有寬限維持,每次輪空都會觸發失控保護,多機根本不成立。</a:t>
            </a:r>
          </a:p>
          <a:p>
            <a:r>
              <a:t>寬限維持把「輪空」重新定義為**正常狀態**,而不是異常。這是單機安全設計反過來成就多機能力的例子。</a:t>
            </a:r>
          </a:p>
          <a:p>
            <a:endParaRPr/>
          </a:p>
          <a:p>
            <a:r>
              <a:t>【現場播放三支實測影片】模式0.mp4、模式1.mp4、模式2.mp4</a:t>
            </a:r>
          </a:p>
          <a:p>
            <a:endParaRPr/>
          </a:p>
          <a:p>
            <a:r>
              <a:t>【備詢·不念】</a:t>
            </a:r>
          </a:p>
          <a:p>
            <a:r>
              <a:t>Q:2 秒的寬限怎麼定的?</a:t>
            </a:r>
          </a:p>
          <a:p>
            <a:r>
              <a:t>A:實測經驗值。太短會因偶發丟包誤觸發降落,太長則真失聯時遲遲不處置。2 秒是兩者的平衡點,而且遠大於點名輪空的 0.13 秒,留有充足餘裕。</a:t>
            </a:r>
          </a:p>
          <a:p>
            <a:endParaRPr/>
          </a:p>
          <a:p>
            <a:r>
              <a:t>Q:三種策略怎麼選?</a:t>
            </a:r>
          </a:p>
          <a:p>
            <a:r>
              <a:t>A:目前是編譯期選定。設計上可由上位機即時切換,這是未來工作。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【核心】一句話版 44 字≈12 秒 ｜ 完整版 262 字≈1.2 分</a:t>
            </a:r>
          </a:p>
          <a:p>
            <a:endParaRPr/>
          </a:p>
          <a:p>
            <a:r>
              <a:t>【一句話】切 M1 只有 ATK 動、切 M2 只有 nRF 動,而未被選中的那台原地懸停不掉高。</a:t>
            </a:r>
          </a:p>
          <a:p>
            <a:endParaRPr/>
          </a:p>
          <a:p>
            <a:r>
              <a:t>【播放時要說的】</a:t>
            </a:r>
          </a:p>
          <a:p>
            <a:r>
              <a:t>① 先切 M1:推搖桿,只有 ATK 響應,nRF 停在原處不動。</a:t>
            </a:r>
          </a:p>
          <a:p>
            <a:r>
              <a:t>② 再切 M2:同一支搖桿,換成只有 nRF 響應。</a:t>
            </a:r>
          </a:p>
          <a:p>
            <a:r>
              <a:t>③ **重點看未被選中的那台** — 它不是關機、不是緩降,而是**穩定懸停在原高度**。那是包尾目標字節不符時自動轉入的懸停待命。</a:t>
            </a:r>
          </a:p>
          <a:p>
            <a:endParaRPr/>
          </a:p>
          <a:p>
            <a:r>
              <a:t>【★ 這段驗證的是什麼】</a:t>
            </a:r>
          </a:p>
          <a:p>
            <a:r>
              <a:t>驗證模式 A 的三件事:目標字節能正確分流、待命機能維持高度、切換即時生效(下一個廣播週期就換人,約 10 毫秒)。</a:t>
            </a:r>
          </a:p>
          <a:p>
            <a:endParaRPr/>
          </a:p>
          <a:p>
            <a:r>
              <a:t>【備詢·不念】</a:t>
            </a:r>
          </a:p>
          <a:p>
            <a:r>
              <a:t>Q:切換的瞬間會不會有空檔?</a:t>
            </a:r>
          </a:p>
          <a:p>
            <a:r>
              <a:t>A:不會。兩台每一拍都收到同一個廣播包,差別只在誰執行、誰待命 — 切換只是目標字節的值變了,沒有任何重新建立連線的過程。</a:t>
            </a:r>
          </a:p>
          <a:p>
            <a:endParaRPr/>
          </a:p>
          <a:p>
            <a:r>
              <a:t>Q:待命那台為什麼不會因為「沒收到指令」而觸發失控保護?</a:t>
            </a:r>
          </a:p>
          <a:p>
            <a:r>
              <a:t>A:它其實**有**收到指令 — 收到的是「待命」這個指令,而且鏈路時間戳照常刷新。對飛機而言鏈路一直是活的。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【核心】一句話版 24 字≈7 秒 ｜ 完整版 296 字≈1.3 分</a:t>
            </a:r>
          </a:p>
          <a:p>
            <a:endParaRPr/>
          </a:p>
          <a:p>
            <a:r>
              <a:t>【一句話】兩台飛機接收的是同一個封包,卻執行了不同的動作。</a:t>
            </a:r>
          </a:p>
          <a:p>
            <a:endParaRPr/>
          </a:p>
          <a:p>
            <a:r>
              <a:t>【播放時要說的】</a:t>
            </a:r>
          </a:p>
          <a:p>
            <a:r>
              <a:t>① 上位機下發一個 msgID=0x60 的封包,裡面有兩段:ATK 那段設手動油門、nRF 那段設懸停待命旗標。</a:t>
            </a:r>
          </a:p>
          <a:p>
            <a:r>
              <a:t>② 結果只有 ATK 轉動,nRF 靜止不動。</a:t>
            </a:r>
          </a:p>
          <a:p>
            <a:r>
              <a:t>③ 角色對調(改成 nRF 手動、ATK 待命)再發一次,結果一致 — 證明分流確實是按段內 ID,不是巧合或單向的偏差。</a:t>
            </a:r>
          </a:p>
          <a:p>
            <a:endParaRPr/>
          </a:p>
          <a:p>
            <a:r>
              <a:t>【★ 播完必說的一句】</a:t>
            </a:r>
          </a:p>
          <a:p>
            <a:r>
              <a:t>這是多工廣播相對於一般廣播的**唯一證據**。一般廣播只能讓所有飛機做同一件事;分時尋址雖能分別控制,卻要發 N 次、各機指令必然錯開。這裡是**一個封包、同時到達、各自不同** — 三者兼得。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Q:為什麼要用上位機發,不用遙控器?</a:t>
            </a:r>
          </a:p>
          <a:p>
            <a:r>
              <a:t>A:遙控器物理上只有兩根搖桿,只能產生一份數值,裝不滿兩段不同的指令。模式 B 的能力要在「指令來源能算出各機不同目標」時才有意義 — 那就是 PC 端,也正是本研究定位系統的下游應用。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45 字≈12 秒 ｜ </a:t>
            </a:r>
            <a:r>
              <a:rPr dirty="0" err="1"/>
              <a:t>完整版</a:t>
            </a:r>
            <a:r>
              <a:rPr dirty="0"/>
              <a:t> 165 字≈0.8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一句話】接下來進系統二:定位。從</a:t>
            </a:r>
            <a:r>
              <a:rPr dirty="0"/>
              <a:t> RSSI </a:t>
            </a:r>
            <a:r>
              <a:rPr dirty="0" err="1"/>
              <a:t>這個訊號本身,到九步定位引擎,再到與文獻的對照與改進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怎麼講】這一章的順序是:先給四步全貌,再依序展開硬體、位置閉環、RSSI</a:t>
            </a:r>
            <a:r>
              <a:rPr dirty="0"/>
              <a:t> </a:t>
            </a:r>
            <a:r>
              <a:rPr dirty="0" err="1"/>
              <a:t>的三層深入、時槽寄生信標,最後是濾波三部曲與文獻對照。這裡要先提醒委員一件事:定位是本論文的支撐貢獻,不是主貢獻</a:t>
            </a:r>
            <a:r>
              <a:rPr dirty="0"/>
              <a:t> — </a:t>
            </a:r>
            <a:r>
              <a:rPr dirty="0" err="1"/>
              <a:t>主軸仍在跨</a:t>
            </a:r>
            <a:r>
              <a:rPr dirty="0"/>
              <a:t> MCU </a:t>
            </a:r>
            <a:r>
              <a:rPr dirty="0" err="1"/>
              <a:t>的韌體重構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27 字≈7 秒 ｜ </a:t>
            </a:r>
            <a:r>
              <a:rPr dirty="0" err="1"/>
              <a:t>完整版</a:t>
            </a:r>
            <a:r>
              <a:rPr dirty="0"/>
              <a:t> 320 字≈1.5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一句話】先給一張全景圖,再進細節</a:t>
            </a:r>
            <a:r>
              <a:rPr dirty="0"/>
              <a:t> — </a:t>
            </a:r>
            <a:r>
              <a:rPr dirty="0" err="1"/>
              <a:t>定位這一大塊分四個步驟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四個步驟</a:t>
            </a:r>
            <a:r>
              <a:rPr dirty="0"/>
              <a:t>】</a:t>
            </a:r>
          </a:p>
          <a:p>
            <a:r>
              <a:rPr dirty="0"/>
              <a:t>① </a:t>
            </a:r>
            <a:r>
              <a:rPr dirty="0" err="1"/>
              <a:t>訊號採集</a:t>
            </a:r>
            <a:r>
              <a:rPr dirty="0"/>
              <a:t> — </a:t>
            </a:r>
            <a:r>
              <a:rPr dirty="0" err="1"/>
              <a:t>四個固定錨點持續廣播,信標接收各錨的訊號強度</a:t>
            </a:r>
            <a:r>
              <a:rPr dirty="0"/>
              <a:t>(RSSI)</a:t>
            </a:r>
          </a:p>
          <a:p>
            <a:r>
              <a:rPr dirty="0"/>
              <a:t>② </a:t>
            </a:r>
            <a:r>
              <a:rPr dirty="0" err="1"/>
              <a:t>距離換算</a:t>
            </a:r>
            <a:r>
              <a:rPr dirty="0"/>
              <a:t> — </a:t>
            </a:r>
            <a:r>
              <a:rPr dirty="0" err="1"/>
              <a:t>用對數距離模型把訊號強度轉為到各錨的估計距離</a:t>
            </a:r>
            <a:endParaRPr dirty="0"/>
          </a:p>
          <a:p>
            <a:r>
              <a:rPr dirty="0"/>
              <a:t>③ </a:t>
            </a:r>
            <a:r>
              <a:rPr dirty="0" err="1"/>
              <a:t>濾波處理</a:t>
            </a:r>
            <a:r>
              <a:rPr dirty="0"/>
              <a:t> — </a:t>
            </a:r>
            <a:r>
              <a:rPr dirty="0" err="1"/>
              <a:t>自適應</a:t>
            </a:r>
            <a:r>
              <a:rPr dirty="0"/>
              <a:t> </a:t>
            </a:r>
            <a:r>
              <a:rPr dirty="0" err="1"/>
              <a:t>Kalman:靜止強平滑、移動快跟手,對抗</a:t>
            </a:r>
            <a:r>
              <a:rPr dirty="0"/>
              <a:t> RSSI </a:t>
            </a:r>
            <a:r>
              <a:rPr dirty="0" err="1"/>
              <a:t>先天波動</a:t>
            </a:r>
            <a:endParaRPr dirty="0"/>
          </a:p>
          <a:p>
            <a:r>
              <a:rPr dirty="0"/>
              <a:t>④ </a:t>
            </a:r>
            <a:r>
              <a:rPr dirty="0" err="1"/>
              <a:t>定位解算</a:t>
            </a:r>
            <a:r>
              <a:rPr dirty="0"/>
              <a:t> — </a:t>
            </a:r>
            <a:r>
              <a:rPr dirty="0" err="1"/>
              <a:t>多錨距離交會出座標,上位機地圖即時顯示軌跡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接下來的展開順序】定位網路硬體</a:t>
            </a:r>
            <a:r>
              <a:rPr dirty="0"/>
              <a:t> → </a:t>
            </a:r>
            <a:r>
              <a:rPr dirty="0" err="1"/>
              <a:t>位置閉環</a:t>
            </a:r>
            <a:r>
              <a:rPr dirty="0"/>
              <a:t> → RSSI </a:t>
            </a:r>
            <a:r>
              <a:rPr dirty="0" err="1"/>
              <a:t>三層深入</a:t>
            </a:r>
            <a:r>
              <a:rPr dirty="0"/>
              <a:t> → </a:t>
            </a:r>
            <a:r>
              <a:rPr dirty="0" err="1"/>
              <a:t>時槽寄生信標</a:t>
            </a:r>
            <a:r>
              <a:rPr dirty="0"/>
              <a:t> → </a:t>
            </a:r>
            <a:r>
              <a:rPr dirty="0" err="1"/>
              <a:t>濾波三部曲</a:t>
            </a:r>
            <a:r>
              <a:rPr dirty="0"/>
              <a:t> → </a:t>
            </a:r>
            <a:r>
              <a:rPr dirty="0" err="1"/>
              <a:t>文獻對照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要先提醒委員一件事】定位是本論文的</a:t>
            </a:r>
            <a:r>
              <a:rPr dirty="0"/>
              <a:t>**</a:t>
            </a:r>
            <a:r>
              <a:rPr dirty="0" err="1"/>
              <a:t>支撐貢獻</a:t>
            </a:r>
            <a:r>
              <a:rPr dirty="0"/>
              <a:t>**,</a:t>
            </a:r>
            <a:r>
              <a:rPr dirty="0" err="1"/>
              <a:t>不是主貢獻</a:t>
            </a:r>
            <a:r>
              <a:rPr dirty="0"/>
              <a:t> — </a:t>
            </a:r>
            <a:r>
              <a:rPr dirty="0" err="1"/>
              <a:t>主軸仍在跨</a:t>
            </a:r>
            <a:r>
              <a:rPr dirty="0"/>
              <a:t> MCU </a:t>
            </a:r>
            <a:r>
              <a:rPr dirty="0" err="1"/>
              <a:t>的韌體重構。這樣講可以避免委員把評分重心放錯地方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36 字≈10 秒 ｜ 完整版 368 字≈1.7 分</a:t>
            </a:r>
          </a:p>
          <a:p>
            <a:endParaRPr/>
          </a:p>
          <a:p>
            <a:r>
              <a:t>【一句話】定位網路的硬體很簡單:一個閘道加四個錨點,全部用同一顆 ESP32S3。</a:t>
            </a:r>
          </a:p>
          <a:p>
            <a:endParaRPr/>
          </a:p>
          <a:p>
            <a:r>
              <a:t>【硬體組成】</a:t>
            </a:r>
          </a:p>
          <a:p>
            <a:r>
              <a:t>· **閘道 ×1** — 接收四錨的 RSSI 批次上報,經 USB 轉發至上位機。使用獨立幀格式加校驗確保傳輸可靠。</a:t>
            </a:r>
          </a:p>
          <a:p>
            <a:r>
              <a:t>· **錨點 ×4** — 固定在已知座標,以 NimBLE 被動掃描量測各飛機信標的 RSSI,再經 ESP-NOW 上報閘道。</a:t>
            </a:r>
          </a:p>
          <a:p>
            <a:endParaRPr/>
          </a:p>
          <a:p>
            <a:r>
              <a:t>【為什麼用被動掃描而非建立連線】</a:t>
            </a:r>
          </a:p>
          <a:p>
            <a:r>
              <a:t>被動掃描不需建連,因此**錨點的服務對象數量沒有上限** — 一次掃描即可收齊三台飛機的訊號。若採連線式,四個錨要各自與每台飛機建連,台數增加就會撐不住。這是多機同時定位的前提。</a:t>
            </a:r>
          </a:p>
          <a:p>
            <a:endParaRPr/>
          </a:p>
          <a:p>
            <a:r>
              <a:t>【部署要點】四個錨的天線型號與朝向必須一致。實測天線朝向差異可造成接近 20 dB 的 RSSI 落差,換算成距離是數倍的誤差 — 這比濾波演算法的影響大得多。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Q:為什麼錨點也用 ESP32S3?</a:t>
            </a:r>
          </a:p>
          <a:p>
            <a:r>
              <a:t>A:與第三台飛控平臺同型,採購與韌體維護成本低;且其 BLE 掃描效能足夠。</a:t>
            </a:r>
          </a:p>
          <a:p>
            <a:endParaRPr/>
          </a:p>
          <a:p>
            <a:r>
              <a:t>Q:四個錨怎麼決定擺位?</a:t>
            </a:r>
          </a:p>
          <a:p>
            <a:r>
              <a:t>A:盡量圍成矩形、避免共線 — 共線會使幾何精度因數(GDOP)劣化,交會出的位置誤差被放大。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51 字≈14 秒 ｜ 完整版 853 字≈3.9 分</a:t>
            </a:r>
          </a:p>
          <a:p>
            <a:endParaRPr/>
          </a:p>
          <a:p>
            <a:r>
              <a:t>【一句話】讓同一顆 RADIO 分時跑兩種協議 — ESB 收發遙控,並在通信空隙插入 BLE 廣播當定位信標。</a:t>
            </a:r>
          </a:p>
          <a:p>
            <a:endParaRPr/>
          </a:p>
          <a:p>
            <a:r>
              <a:t>【為什麼這件事可行】關鍵是遙控通信的**時間結構**。ESB 是一問一答:遙控器發一包 → 飛機回 ACK → 然後雙方都閒著,直到下一包。遙控迴圈約 100Hz,也就是每 10 毫秒一輪,而一次收發加 ACK 只佔其中不到 1 毫秒。**剩下 9 毫秒 RADIO 完全空閒** — 那個空隙足夠塞進一個 BLE 廣播封包(約 0.3 毫秒)。</a:t>
            </a:r>
          </a:p>
          <a:p>
            <a:endParaRPr/>
          </a:p>
          <a:p>
            <a:r>
              <a:t>【切換要改哪些暫存器】ESB 和 BLE 雖然都在 2.4GHz,但封包格式完全不同,切換時要重配:</a:t>
            </a:r>
          </a:p>
          <a:p>
            <a:r>
              <a:t>· 頻率 — ESB 用約定的通道,BLE 廣播用 37/38/39 三個廣播通道</a:t>
            </a:r>
          </a:p>
          <a:p>
            <a:r>
              <a:t>· 封包格式(PCNF0/PCNF1)— 長度欄位數、S1 欄位數、位址長度都不同</a:t>
            </a:r>
          </a:p>
          <a:p>
            <a:r>
              <a:t>· CRC — 多項式與初值不同</a:t>
            </a:r>
          </a:p>
          <a:p>
            <a:r>
              <a:t>· 白化(whitening)— BLE 強制啟用資料白化避免長串相同位元,ESB 不用</a:t>
            </a:r>
          </a:p>
          <a:p>
            <a:endParaRPr/>
          </a:p>
          <a:p>
            <a:r>
              <a:t>發完 BLE 再把這些全部切回 ESB。整個切換是純暫存器寫入,微秒級。</a:t>
            </a:r>
          </a:p>
          <a:p>
            <a:endParaRPr/>
          </a:p>
          <a:p>
            <a:r>
              <a:t>【★ 時序保護:為什麼「寧可少發一次信標」】切換插在 radiolinkTask 確定的收發空隙內,而且視窗時長受控。原則是:**控制安全永遠優先於定位**。如果某一輪的空隙不夠(例如遙控封包來得密),就跳過這次信標 — 定位少一個取樣點只是精度略降,但如果因為在發信標而錯過遙控封包,飛機就會進失控保護。這個優先順序不能反。</a:t>
            </a:r>
          </a:p>
          <a:p>
            <a:endParaRPr/>
          </a:p>
          <a:p>
            <a:r>
              <a:t>【誠實邊界】這是 BLE **相容廣播** — 封包格式讓 NimBLE 掃描器認得、能測 RSSI,但沒有完整跑標準 BLE 的三頻道輪替與退避流程。對定位用途足夠(我們只需要錨點能收到並測強度),但論文裡如實說明,不宣稱是標準 BLE Beacon。</a:t>
            </a:r>
          </a:p>
          <a:p>
            <a:endParaRPr/>
          </a:p>
          <a:p>
            <a:r>
              <a:t>【這個設計的價值】異構機隊裡,ATK 原機要外掛信標模組才能被定位,而 nRF 平臺用自身 RADIO 就做到了 — 不增加任何硬體、不佔板面積。這是單晶片架構帶來的額外好處。</a:t>
            </a:r>
          </a:p>
          <a:p>
            <a:endParaRPr/>
          </a:p>
          <a:p>
            <a:r>
              <a:t>【備詢·不念】</a:t>
            </a:r>
          </a:p>
          <a:p>
            <a:r>
              <a:t>Q:切換開銷會不會影響控制?</a:t>
            </a:r>
          </a:p>
          <a:p>
            <a:r>
              <a:t>A:微秒級的暫存器重配,而且插在確定的空隙,不影響 500Hz 控制迴圈。實測遙控手感無差異。</a:t>
            </a:r>
          </a:p>
          <a:p>
            <a:endParaRPr/>
          </a:p>
          <a:p>
            <a:r>
              <a:t>Q:為什麼不用獨立的信標模組?</a:t>
            </a:r>
          </a:p>
          <a:p>
            <a:r>
              <a:t>A:板端空間精簡是設計目標之一。用時槽寄生以單晶片完成,是更符合本研究「單晶片全能」主軸的做法。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37 字≈10 秒 ｜ 完整版 354 字≈1.6 分</a:t>
            </a:r>
          </a:p>
          <a:p>
            <a:endParaRPr/>
          </a:p>
          <a:p>
            <a:r>
              <a:t>【一句話】上一頁講「怎麼發」,這一頁講「發出去之後,一套錨點怎麼同時服務多台飛機」。</a:t>
            </a:r>
          </a:p>
          <a:p>
            <a:endParaRPr/>
          </a:p>
          <a:p>
            <a:r>
              <a:t>【關鍵在 droneId】信標內容是 FF FF 'M' 'F' droneId seq — **droneId 標明是哪一台**。三台飛機的信標格式完全統一,只差這一個字節。</a:t>
            </a:r>
          </a:p>
          <a:p>
            <a:endParaRPr/>
          </a:p>
          <a:p>
            <a:r>
              <a:t>【所以錨點不必為誰做特別處理】四個 ESP32S3 錨用 NimBLE 被動掃描,一次掃描就把三台的訊號都收齊,各自量到 RSSI,連同 droneId 一起經 ESP-NOW 上報閘道。上位機再按 droneId 分別解算、在同一張地圖上顯示整個機隊。</a:t>
            </a:r>
          </a:p>
          <a:p>
            <a:endParaRPr/>
          </a:p>
          <a:p>
            <a:r>
              <a:t>【為什麼「被動掃描」是關鍵】不建連線,所以錨點的服務對象數量沒有上限 — 這是兩機(乃至多機)能同時被定位的基礎。若採用連線式定位,四個錨要各自與每台飛機建連,台數一多就撐不住。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Q:三台飛機的信標會不會互相幹擾?</a:t>
            </a:r>
          </a:p>
          <a:p>
            <a:r>
              <a:t>A:BLE 廣播本來就是無連線的短促發送,加上各機發送時機由自己的 RADIO 空隙決定,天然錯開;錨點靠 droneId 區分來源。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31 字≈8 秒 ｜ 完整版 324 字≈1.5 分</a:t>
            </a:r>
          </a:p>
          <a:p>
            <a:endParaRPr/>
          </a:p>
          <a:p>
            <a:r>
              <a:t>【一句話】先把 RSSI 這個訊號的真面目講清楚 — 它天生就是會抖的。</a:t>
            </a:r>
          </a:p>
          <a:p>
            <a:endParaRPr/>
          </a:p>
          <a:p>
            <a:r>
              <a:t>【RSSI 是什麼】接收訊號強度,單位 dBm,是對數刻度 — 每降 10 dB 代表功率變成十分之一。室內 BLE 典型範圍是 −40 到 −90 dBm。</a:t>
            </a:r>
          </a:p>
          <a:p>
            <a:endParaRPr/>
          </a:p>
          <a:p>
            <a:r>
              <a:t>【波動的三大來源】</a:t>
            </a:r>
          </a:p>
          <a:p>
            <a:r>
              <a:t>① 多徑反射疊加 — 訊號走不同路徑到達,互相干涉</a:t>
            </a:r>
          </a:p>
          <a:p>
            <a:r>
              <a:t>② 遮擋 — 5 到 15 dB</a:t>
            </a:r>
          </a:p>
          <a:p>
            <a:r>
              <a:t>③ 天線朝向 — 接近 20 dB</a:t>
            </a:r>
          </a:p>
          <a:p>
            <a:endParaRPr/>
          </a:p>
          <a:p>
            <a:r>
              <a:t>【右圖是實測(這頁最有說服力的部分)】信標完全靜止不動,讀值仍在 ±6 dB 內跳,還有偶發的 −71 離群值。換算成距離,差距超過 2 倍。</a:t>
            </a:r>
          </a:p>
          <a:p>
            <a:endParaRPr/>
          </a:p>
          <a:p>
            <a:r>
              <a:t>【所以】必須先濾波。這不是「訊號品質不好」,而是 RSSI 的物理特性 — 下一頁講怎麼把它轉成距離,再下一頁講怎麼濾。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38 字≈10 秒 ｜ 完整版 678 字≈3.1 分</a:t>
            </a:r>
          </a:p>
          <a:p>
            <a:endParaRPr/>
          </a:p>
          <a:p>
            <a:r>
              <a:t>【一句話】對數模型不是經驗公式,是從電波物理推出來的 — 而且有一個參數設錯就整場偏。</a:t>
            </a:r>
          </a:p>
          <a:p>
            <a:endParaRPr/>
          </a:p>
          <a:p>
            <a:r>
              <a:t>【三步推導】</a:t>
            </a:r>
          </a:p>
          <a:p>
            <a:r>
              <a:t>① 電波從天線發出後在空間中呈球面擴散。能量守恆,球面積 4πd² 隨距離平方增長,所以單位元面積的功率密度 ∝ 1/d²。</a:t>
            </a:r>
          </a:p>
          <a:p>
            <a:r>
              <a:t>② RSSI 的單位 dBm 本身是對數刻度(dBm = 10·log₁₀(功率/1mW))。把 1/d² 這個冪次關係取對數,就變成「距離每增加十倍,訊號固定掉 20 dB」的線性關係。</a:t>
            </a:r>
          </a:p>
          <a:p>
            <a:r>
              <a:t>③ 但那是自由空間。室內有牆、有傢俱、有反射,衰減比自由空間快。所以把指數 2 換成一個可調的**環境衰減指數 n**。</a:t>
            </a:r>
          </a:p>
          <a:p>
            <a:endParaRPr/>
          </a:p>
          <a:p>
            <a:r>
              <a:t>【最終形式】RSSI = P₀ − 10·n·log₁₀(d)</a:t>
            </a:r>
          </a:p>
          <a:p>
            <a:r>
              <a:t>反解得 d = 10^((P₀ − RSSI) / (10n))</a:t>
            </a:r>
          </a:p>
          <a:p>
            <a:endParaRPr/>
          </a:p>
          <a:p>
            <a:r>
              <a:t>【兩個參數的意義完全不同】</a:t>
            </a:r>
          </a:p>
          <a:p>
            <a:r>
              <a:t>· **P₀** — 距離 1 米處量到的訊號強度,是這支錨點的「基準點」。它取決於天線增益、發射功率、朝向、周圍遮擋 — **每支錨都不一樣,必須逐錨標定**。共用一個 P₀ 就等於把錨之間的硬體差異全算成距離誤差。</a:t>
            </a:r>
          </a:p>
          <a:p>
            <a:r>
              <a:t>· **n** — 環境的「指紋」。自由空間是 2,典型室內 2.7~3.5,重遮擋大於 4。</a:t>
            </a:r>
          </a:p>
          <a:p>
            <a:endParaRPr/>
          </a:p>
          <a:p>
            <a:r>
              <a:t>【★ 為什麼 n 設錯救不回來】看反解式:n 在指數的分母。n 設偏 10%,距離就系統性偏差一個固定倍率,而且是**所有錨同方向偏**。濾波只能壓隨機雜訊,對這種系統性偏差完全無效 — 濾出來的是一個穩定但錯誤的位置。這正是「自適應 n」的動機:與其猜一個固定值,不如用錨與錨之間的互測(它們的距離是已知的)反算出當下環境的 n。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Q:為什麼不直接查表?</a:t>
            </a:r>
          </a:p>
          <a:p>
            <a:r>
              <a:t>A:對數模型只需要兩個參數就能覆蓋整個空間,而指紋庫(查表)需要事前在每個網格點採樣建庫,換場地就要重做。本研究要的是可快速部署的方案。</a:t>
            </a:r>
          </a:p>
          <a:p>
            <a:endParaRPr/>
          </a:p>
          <a:p>
            <a:r>
              <a:t>Q:P₀ 怎麼標定?</a:t>
            </a:r>
          </a:p>
          <a:p>
            <a:r>
              <a:t>A:上位機有逐錨標定介面 — 把信標放在距該錨 1 米處,讀當下的 RSSI 存為該錨的 P₀。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34 字≈9 秒 ｜ 完整版 417 字≈1.9 分</a:t>
            </a:r>
          </a:p>
          <a:p>
            <a:endParaRPr/>
          </a:p>
          <a:p>
            <a:r>
              <a:t>【一句話】先把問題講透,再講方法 — RSSI 有三個麻煩,而且它們互相衝突。</a:t>
            </a:r>
          </a:p>
          <a:p>
            <a:endParaRPr/>
          </a:p>
          <a:p>
            <a:r>
              <a:t>【三個麻煩】</a:t>
            </a:r>
          </a:p>
          <a:p>
            <a:r>
              <a:t>① 先天抖動 — 靜止不動,讀值仍在 ±2~3 dBm 跳。這是多徑反射造成的物理特性,消不掉。</a:t>
            </a:r>
          </a:p>
          <a:p>
            <a:r>
              <a:t>② 轉距離會放大 — RSSI 轉距離是 10 的 x 次方,指數運算。訊號域 1 dB 的小抖動,轉距離後放大成數十公分到公尺級。</a:t>
            </a:r>
          </a:p>
          <a:p>
            <a:r>
              <a:t>③ 靜止與移動的兩難 — 壓抖動要濾波「重」,跟上移動要濾波「輕」。固定參數無法兼顧。</a:t>
            </a:r>
          </a:p>
          <a:p>
            <a:endParaRPr/>
          </a:p>
          <a:p>
            <a:r>
              <a:t>【右邊的核心矛盾(這頁的重點)】</a:t>
            </a:r>
          </a:p>
          <a:p>
            <a:r>
              <a:t>靜止時 RSSI 一直抖 → 濾波太輕,圖標亂跳</a:t>
            </a:r>
          </a:p>
          <a:p>
            <a:r>
              <a:t>但濾波太重 → 又跟不上真的移動</a:t>
            </a:r>
          </a:p>
          <a:p>
            <a:endParaRPr/>
          </a:p>
          <a:p>
            <a:r>
              <a:t>【所以需要什麼】一個「會看情況」的濾波器:靜止時當它重、壓住抖動;偵測到真移動時當它輕、快速跟上。這就是下一頁自適應 Kalman 要解決的。</a:t>
            </a:r>
          </a:p>
          <a:p>
            <a:endParaRPr/>
          </a:p>
          <a:p>
            <a:r>
              <a:t>【為什麼要先講問題】因為如果直接講「我用了自適應 Kalman」,委員會問「為什麼不用一般的 Kalman」。先把兩難講清楚,方法的必要性就自然成立。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39 字≈11 秒 ｜ 完整版 655 字≈3.0 分</a:t>
            </a:r>
          </a:p>
          <a:p>
            <a:endParaRPr/>
          </a:p>
          <a:p>
            <a:r>
              <a:t>【一句話】自適應 Kalman 的核心是:用「創新」的方向性來分辨這是雜訊還是真的在動。</a:t>
            </a:r>
          </a:p>
          <a:p>
            <a:endParaRPr/>
          </a:p>
          <a:p>
            <a:r>
              <a:t>【先講基本結構】每支錨各配一個一維 Kalman 濾波器,狀態就是「這支錨量到的真實 RSSI」。每來一筆新讀值,計算**創新(innovation)= 新讀值 − 目前估計**,再用它修正估計。</a:t>
            </a:r>
          </a:p>
          <a:p>
            <a:endParaRPr/>
          </a:p>
          <a:p>
            <a:r>
              <a:t>【關鍵參數 Q 在做什麼】Q 是過程雜訊,它代表「我認為真實值本身有多容易變」。</a:t>
            </a:r>
          </a:p>
          <a:p>
            <a:r>
              <a:t>· Q 小 → 濾波器認為真值很穩定 → 傾向相信自己的估計,新讀值只能小幅修正 → 平滑但遲鈍</a:t>
            </a:r>
          </a:p>
          <a:p>
            <a:r>
              <a:t>· Q 大 → 濾波器認為真值隨時在變 → 傾向相信新讀值 → 跟手但會抖</a:t>
            </a:r>
          </a:p>
          <a:p>
            <a:endParaRPr/>
          </a:p>
          <a:p>
            <a:r>
              <a:t>【★ 怎麼分辨移動與雜訊(全頁最關鍵)】</a:t>
            </a:r>
          </a:p>
          <a:p>
            <a:r>
              <a:t>· **雜訊的創新沒有方向性**:多徑干涉造成的抖動是隨機的,創新忽正忽負,累加起來會互相抵消,長期趨近零。</a:t>
            </a:r>
          </a:p>
          <a:p>
            <a:r>
              <a:t>· **移動的創新有方向性**:機體真的靠近錨點,RSSI 就會持續變強,創新連續同號,累加起來越來越大。</a:t>
            </a:r>
          </a:p>
          <a:p>
            <a:endParaRPr/>
          </a:p>
          <a:p>
            <a:r>
              <a:t>所以判準是:**把創新累加起來看它會不會發散**。累積同向創新超過閾值 → 判定為真移動 → 臨時把 Q 放大;累積量回落 → 切回小 Q。</a:t>
            </a:r>
          </a:p>
          <a:p>
            <a:endParaRPr/>
          </a:p>
          <a:p>
            <a:r>
              <a:t>【兩個模式】</a:t>
            </a:r>
          </a:p>
          <a:p>
            <a:r>
              <a:t>· 靜止模式(小 Q):壓住 ±2~3 dBm 的先天抖動,圖標穩住</a:t>
            </a:r>
          </a:p>
          <a:p>
            <a:r>
              <a:t>· 移動模式(放大 Q):快速跟上,不滯後</a:t>
            </a:r>
          </a:p>
          <a:p>
            <a:endParaRPr/>
          </a:p>
          <a:p>
            <a:r>
              <a:t>【為什麼這比「固定三級濾波」聰明】固定三級只是預先準備三種平滑強度,還是要人去判斷現在該用哪一級。自適應的做法是讓濾波器自己從創新的統計特性判斷 — 它真正解決了「靜止要重、移動要輕」這個兩難,而不是把選擇權丟給使用者。</a:t>
            </a:r>
          </a:p>
          <a:p>
            <a:endParaRPr/>
          </a:p>
          <a:p>
            <a:r>
              <a:t>【備詢·不念】</a:t>
            </a:r>
          </a:p>
          <a:p>
            <a:r>
              <a:t>Q:閾值怎麼定?</a:t>
            </a:r>
          </a:p>
          <a:p>
            <a:r>
              <a:t>A:在 config 可調,依實測的 RSSI 抖動幅度整定 — 要大於雜訊的累積量,又要小於真移動的累積量。</a:t>
            </a:r>
          </a:p>
          <a:p>
            <a:endParaRPr/>
          </a:p>
          <a:p>
            <a:r>
              <a:t>Q:為什麼每支錨各一個濾波器?</a:t>
            </a:r>
          </a:p>
          <a:p>
            <a:r>
              <a:t>A:各錨的距離、朝向、遮擋都不同,抖動特性也不同。共用一個濾波器會把差異平均掉。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30 字≈8 秒 ｜ 完整版 418 字≈1.9 分</a:t>
            </a:r>
          </a:p>
          <a:p>
            <a:endParaRPr/>
          </a:p>
          <a:p>
            <a:r>
              <a:t>【一句話】一次真實的除錯過程 — 真實的問題、真實的診斷、真實的修復。</a:t>
            </a:r>
          </a:p>
          <a:p>
            <a:endParaRPr/>
          </a:p>
          <a:p>
            <a:r>
              <a:t>【現象(v1.14)】標定完成後,藍色的 raw 點在動,但無人機圖標卡在原位、嚴重滯後,看起來像「定住了」。</a:t>
            </a:r>
          </a:p>
          <a:p>
            <a:endParaRPr/>
          </a:p>
          <a:p>
            <a:r>
              <a:t>【根因診斷】為了壓 RSSI 抖動,我把 Kalman 的 Q 設得極小(0.001)→ 濾波過度。機體一移動,濾波後的 RSSI 要 20 多步才跟上,圖標看起來就是卡住 — **壓噪與跟手失衡**。</a:t>
            </a:r>
          </a:p>
          <a:p>
            <a:endParaRPr/>
          </a:p>
          <a:p>
            <a:r>
              <a:t>【修復(v1.14.1)】</a:t>
            </a:r>
          </a:p>
          <a:p>
            <a:r>
              <a:t>① 改成自適應 Q:偵測到真移動就放大 Q 快跟,靜止才用小 Q 強平滑</a:t>
            </a:r>
          </a:p>
          <a:p>
            <a:r>
              <a:t>② 位置層再加「連續大跳變 N 次就重播種」— 治標定搬動後追不上的問題</a:t>
            </a:r>
          </a:p>
          <a:p>
            <a:endParaRPr/>
          </a:p>
          <a:p>
            <a:r>
              <a:t>【修復效果三者兼得】靜止時抖動明顯收斂、穩態時解算穩定停在對的位置、移動時圖標跟手不卡。</a:t>
            </a:r>
          </a:p>
          <a:p>
            <a:endParaRPr/>
          </a:p>
          <a:p>
            <a:r>
              <a:t>【★ 這裡我要特別誠實(重要)】以上是除錯過程中在軟體與模擬層觀察到的**定性改善**,不是真實硬體的精度數字。真實硬體的定位精度實驗還沒做完,要等完整聯通後才能量化。</a:t>
            </a:r>
          </a:p>
          <a:p>
            <a:endParaRPr/>
          </a:p>
          <a:p>
            <a:r>
              <a:t>【備詢·不念】</a:t>
            </a:r>
          </a:p>
          <a:p>
            <a:r>
              <a:t>Q:定位精度是多少?</a:t>
            </a:r>
          </a:p>
          <a:p>
            <a:r>
              <a:t>A:誠實答 — 定位鏈路已打通,但硬體精度實驗仍在進行,我不給未經實測的數字。這比編一個數字然後被追問來源更穩。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41 字≈11 秒 ｜ 完整版 597 字≈2.7 分</a:t>
            </a:r>
          </a:p>
          <a:p>
            <a:endParaRPr/>
          </a:p>
          <a:p>
            <a:r>
              <a:t>【一句話】位置層 Kalman 在做的事:在「模型預測」與「量測結果」之間,自動決定該信誰。</a:t>
            </a:r>
          </a:p>
          <a:p>
            <a:endParaRPr/>
          </a:p>
          <a:p>
            <a:r>
              <a:t>【每一拍有兩個位置說法】</a:t>
            </a:r>
          </a:p>
          <a:p>
            <a:r>
              <a:t>· **預測** — 按上一拍的位置加速度外推:「照這個速度,現在應該在這裡」。它平滑,但如果運動模型不準就會漂。</a:t>
            </a:r>
          </a:p>
          <a:p>
            <a:r>
              <a:t>· **量測** — 這一拍三邊定位解出的座標。它貼近真實,但因為 RSSI 抖動而劇烈跳動。</a:t>
            </a:r>
          </a:p>
          <a:p>
            <a:endParaRPr/>
          </a:p>
          <a:p>
            <a:r>
              <a:t>【輸出怎麼算】輸出 = 預測 + K ×(量測 − 預測)</a:t>
            </a:r>
          </a:p>
          <a:p>
            <a:endParaRPr/>
          </a:p>
          <a:p>
            <a:r>
              <a:t>K 叫卡爾曼增益,它是自動算出來的信任比例:</a:t>
            </a:r>
          </a:p>
          <a:p>
            <a:r>
              <a:t>· 量測雜訊 R 大(訊號很吵)→ K 變小 → 更信預測</a:t>
            </a:r>
          </a:p>
          <a:p>
            <a:r>
              <a:t>· 過程雜訊 Q 大(模型不可靠)→ K 變大 → 更信量測</a:t>
            </a:r>
          </a:p>
          <a:p>
            <a:endParaRPr/>
          </a:p>
          <a:p>
            <a:r>
              <a:t>**K 不是人設的,是濾波器每一拍根據當前的不確定度自己算的** — 這是 Kalman 相對於固定權重平均的根本差別。</a:t>
            </a:r>
          </a:p>
          <a:p>
            <a:endParaRPr/>
          </a:p>
          <a:p>
            <a:r>
              <a:t>【本系統的設定】狀態向量包含位置與速度,採用勻速模型。</a:t>
            </a:r>
          </a:p>
          <a:p>
            <a:r>
              <a:t>**為什麼要帶速度**:只有位置的話,預測就是「和上一拍一樣」,每次都是事後追;帶了速度,預測才能沿著運動方向外推,跟隨才不會滯後。</a:t>
            </a:r>
          </a:p>
          <a:p>
            <a:endParaRPr/>
          </a:p>
          <a:p>
            <a:r>
              <a:t>【★ 誠實邊界(一定要講)】Kalman 救的是**跳動**,救不了**系統性偏差**。如果某支錨的 P₀ 標定錯了,或 n 設偏了,整場的解算都會朝同一個方向偏 — 而 Kalman 只會平滑地跟著偏,輸出一個「很穩定的錯誤位置」。所以標定才是根基,濾波是在標定正確的前提下改善穩定性,兩者不能互相替代。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Q:為什麼不用更高階的模型(帶加速度)?</a:t>
            </a:r>
          </a:p>
          <a:p>
            <a:r>
              <a:t>A:室內近懸停以低速運動為主,勻速模型已足夠。模型階數越高,狀態維度越多、對雜訊越敏感,反而不穩。</a:t>
            </a:r>
          </a:p>
          <a:p>
            <a:endParaRPr/>
          </a:p>
          <a:p>
            <a:r>
              <a:t>Q:兩層 Kalman(訊號域一層、位置域一層)會不會重複?</a:t>
            </a:r>
          </a:p>
          <a:p>
            <a:r>
              <a:t>A:治的是不同東西。訊號域治的是 RSSI 的輸入雜訊,位置域治的是幾何解算本身的不穩定 — 即使 RSSI 完全乾淨,四錨交會的幾何也會因為錨的分佈而放大誤差。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33 字≈9 秒 ｜ 完整版 351 字≈1.6 分</a:t>
            </a:r>
          </a:p>
          <a:p>
            <a:endParaRPr/>
          </a:p>
          <a:p>
            <a:r>
              <a:t>【一句話】九步定位引擎 — 從這頁可以看出它不是「普通的 RSSI 定位」。</a:t>
            </a:r>
          </a:p>
          <a:p>
            <a:endParaRPr/>
          </a:p>
          <a:p>
            <a:r>
              <a:t>【九步順序】</a:t>
            </a:r>
          </a:p>
          <a:p>
            <a:r>
              <a:t>信標廣播 → 四錨採集 → **自適應 Kalman 濾波(訊號域)** → 對數模型逐錨 P₀ 轉距離 → 自適應 n(錨間互測反算)→ 加權最小二乘解算 → 位置 Kalman 平滑軌跡</a:t>
            </a:r>
          </a:p>
          <a:p>
            <a:endParaRPr/>
          </a:p>
          <a:p>
            <a:r>
              <a:t>【★ 順序本身就是設計決定】注意濾波在「轉距離之前」。原因是:訊號域 1 dB 的波動,轉成距離後會被指數放大成數十公分到公尺級。**先濾再轉**,才不會把小抖動放大成大誤差。這個順序如果顛倒,後面再怎麼濾都救不回來。</a:t>
            </a:r>
          </a:p>
          <a:p>
            <a:endParaRPr/>
          </a:p>
          <a:p>
            <a:r>
              <a:t>【橙色標的部分】自適應 RSSI 濾波是本文的改進重點,接下來三頁展開:</a:t>
            </a:r>
          </a:p>
          <a:p>
            <a:r>
              <a:t>① 先看清問題(RSSI 到底難在哪)</a:t>
            </a:r>
          </a:p>
          <a:p>
            <a:r>
              <a:t>② 再講自適應 Kalman 這個方法</a:t>
            </a:r>
          </a:p>
          <a:p>
            <a:r>
              <a:t>③ 最後是一次真實除錯的故事與數據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Q:為什麼要兩層 Kalman(訊號域一層、位置域一層)?</a:t>
            </a:r>
          </a:p>
          <a:p>
            <a:r>
              <a:t>A:兩層治的是不同問題 — 訊號域治 RSSI 抖動,位置域治解算結果的跳動。前者是輸入雜訊,後者是幾何解算的不穩定。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33 字≈9 秒 ｜ 完整版 404 字≈1.8 分</a:t>
            </a:r>
          </a:p>
          <a:p>
            <a:endParaRPr/>
          </a:p>
          <a:p>
            <a:r>
              <a:t>【一句話】拿到座標之後,怎麼把它變成飛機的動作 — 這是位置閉環的四個步驟。</a:t>
            </a:r>
          </a:p>
          <a:p>
            <a:endParaRPr/>
          </a:p>
          <a:p>
            <a:r>
              <a:t>【四步】</a:t>
            </a:r>
          </a:p>
          <a:p>
            <a:r>
              <a:t>① **位置誤差** — 目標座標減去目前座標,得到還差多少。</a:t>
            </a:r>
          </a:p>
          <a:p>
            <a:r>
              <a:t>② **限速指令** — 誤差乘上增益轉為期望速度,並施加上限。不限速的話,誤差大時會要求飛機以極高速度衝過去,超出可控範圍。</a:t>
            </a:r>
          </a:p>
          <a:p>
            <a:r>
              <a:t>③ **座標轉換** — **這一步最關鍵**:誤差是在場地座標系(世界座標)算的,但飛機的 roll/pitch 是相對自身機體的。必須依當前航向把世界座標的期望速度旋轉到機體座標系,否則飛機會朝錯誤方向飛。</a:t>
            </a:r>
          </a:p>
          <a:p>
            <a:r>
              <a:t>④ **姿態指令** — 期望速度轉為 roll/pitch 目標角,交給既有的串級 PID。</a:t>
            </a:r>
          </a:p>
          <a:p>
            <a:endParaRPr/>
          </a:p>
          <a:p>
            <a:r>
              <a:t>【上位機的四項功能】即時地圖顯示、點選導航、逐錨標定介面、參數調整。</a:t>
            </a:r>
          </a:p>
          <a:p>
            <a:endParaRPr/>
          </a:p>
          <a:p>
            <a:r>
              <a:t>【★ 誠實邊界】此閉環已完成設計與實作,但完整的閉環自由飛行尚未驗證 — 目前定位精度為演示等級,直接用於閉環控制會使飛機在目標點附近震盪。</a:t>
            </a:r>
          </a:p>
          <a:p>
            <a:endParaRPr/>
          </a:p>
          <a:p>
            <a:r>
              <a:t>【備詢·不念】</a:t>
            </a:r>
          </a:p>
          <a:p>
            <a:r>
              <a:t>Q:座標轉換錯了會怎樣?</a:t>
            </a:r>
          </a:p>
          <a:p>
            <a:r>
              <a:t>A:飛機會朝偏差一個航向角的方向飛,而且誤差越大偏得越遠 — 這是位置閉環最常見的錯誤來源。</a:t>
            </a:r>
          </a:p>
          <a:p>
            <a:endParaRPr/>
          </a:p>
          <a:p>
            <a:r>
              <a:t>Q:為什麼要限速?</a:t>
            </a:r>
          </a:p>
          <a:p>
            <a:r>
              <a:t>A:位置環的輸出是速度指令,不限速時大誤差會產生超出機體能力的指令,導致姿態失控。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【延伸】一句話版 36 字≈10 秒 ｜ 完整版 435 字≈2.0 分</a:t>
            </a:r>
          </a:p>
          <a:p>
            <a:endParaRPr/>
          </a:p>
          <a:p>
            <a:r>
              <a:t>【一句話】三欄對照:傳統做法、對標文獻、本文方法 — 而且要把「誰的實測」講清楚。</a:t>
            </a:r>
          </a:p>
          <a:p>
            <a:endParaRPr/>
          </a:p>
          <a:p>
            <a:r>
              <a:t>【三欄】</a:t>
            </a:r>
          </a:p>
          <a:p>
            <a:r>
              <a:t>① 傳統做法:原始 RSSI 直接轉距離、三邊定位、無濾波 → 誤差 3 米以上,跳動劇烈無法閉環</a:t>
            </a:r>
          </a:p>
          <a:p>
            <a:r>
              <a:t>② 對標文獻(王琳 2025,NTUST 碩論):同級 ESP32 硬體,RSSI 濾波 + Kalman + 自適應 n + 最小二乘 → 實測 MAE 1.88 米</a:t>
            </a:r>
          </a:p>
          <a:p>
            <a:r>
              <a:t>③ 本文方法:自適應 Kalman 濾 RSSI → 對數模型逐錨 P₀ 轉距離 → 加權最小二乘 → 位置 Kalman,再加上位機地圖整合與閉環控制 → 目標 2 米內</a:t>
            </a:r>
          </a:p>
          <a:p>
            <a:endParaRPr/>
          </a:p>
          <a:p>
            <a:r>
              <a:t>【★ 必須主動區分清楚的兩件事】</a:t>
            </a:r>
          </a:p>
          <a:p>
            <a:r>
              <a:t>① 硬體不同:文獻用 ESP32 WiFi-RSSI,我用 BLE-RSSI。</a:t>
            </a:r>
          </a:p>
          <a:p>
            <a:r>
              <a:t>② **1.88m 是她的實測,是我的對標目標,不是我的成績。** 我的定位目前完成設計與實作,精度待量化。</a:t>
            </a:r>
          </a:p>
          <a:p>
            <a:endParaRPr/>
          </a:p>
          <a:p>
            <a:r>
              <a:t>【為什麼這樣講】主動說明比被問到再解釋好。委員最在意的就是「這個數字是誰的」,先講清楚反而建立可信度。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26 字≈7 秒 ｜ 完整版 269 字≈1.2 分</a:t>
            </a:r>
          </a:p>
          <a:p>
            <a:endParaRPr/>
          </a:p>
          <a:p>
            <a:r>
              <a:t>【一句話】定位系統的實機影片,同時展示可行性與真實的波動情況。</a:t>
            </a:r>
          </a:p>
          <a:p>
            <a:endParaRPr/>
          </a:p>
          <a:p>
            <a:r>
              <a:t>【建議片段順序】</a:t>
            </a:r>
          </a:p>
          <a:p>
            <a:r>
              <a:t>① 四錨部署現場 — 讓委員看到實際的場地規模與錨點擺位</a:t>
            </a:r>
          </a:p>
          <a:p>
            <a:r>
              <a:t>② 上位機地圖顯示 — 四錨座標與飛機位置</a:t>
            </a:r>
          </a:p>
          <a:p>
            <a:r>
              <a:t>③ 手持信標移動 — 沿已知路徑走一段</a:t>
            </a:r>
          </a:p>
          <a:p>
            <a:r>
              <a:t>④ 地圖軌跡跟隨 — 觀察圖標是否跟得上</a:t>
            </a:r>
          </a:p>
          <a:p>
            <a:r>
              <a:t>⑤ 濾波前後對比 — 這段最有價值,直接看出自適應 Kalman 的效果</a:t>
            </a:r>
          </a:p>
          <a:p>
            <a:endParaRPr/>
          </a:p>
          <a:p>
            <a:r>
              <a:t>【★ 播放時要主動說的一句】請注意軌跡仍有可見的波動 — 這是 BLE-RSSI 的物理限制,文獻同級硬體也在米級。影片呈現的是**演示等級**的定位,不是精密定位。我不會宣稱它比實際更好。</a:t>
            </a:r>
          </a:p>
          <a:p>
            <a:endParaRPr/>
          </a:p>
          <a:p>
            <a:r>
              <a:t>【備詢·不念】</a:t>
            </a:r>
          </a:p>
          <a:p>
            <a:r>
              <a:t>Q:看起來還是會飄,能用嗎?</a:t>
            </a:r>
          </a:p>
          <a:p>
            <a:r>
              <a:t>A:取決於用途。用於「知道飛機大致在場地哪一區」足夠;用於精密定點則不足,那需要 UWB 或視覺定位。這條邊界我在系統邊界那頁也明確標註。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23 字≈6 秒 ｜ </a:t>
            </a:r>
            <a:r>
              <a:rPr dirty="0" err="1"/>
              <a:t>完整版</a:t>
            </a:r>
            <a:r>
              <a:rPr dirty="0"/>
              <a:t> 368 字≈1.7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一句話】功能矩陣直接回答一個問題:你比現有的多了什麼</a:t>
            </a:r>
            <a:r>
              <a:rPr dirty="0"/>
              <a:t>。</a:t>
            </a:r>
          </a:p>
          <a:p>
            <a:r>
              <a:rPr dirty="0"/>
              <a:t>【</a:t>
            </a:r>
            <a:r>
              <a:rPr dirty="0" err="1"/>
              <a:t>逐列講</a:t>
            </a:r>
            <a:r>
              <a:rPr dirty="0"/>
              <a:t>】</a:t>
            </a:r>
          </a:p>
          <a:p>
            <a:r>
              <a:rPr dirty="0"/>
              <a:t>· </a:t>
            </a:r>
            <a:r>
              <a:rPr dirty="0" err="1"/>
              <a:t>可換</a:t>
            </a:r>
            <a:r>
              <a:rPr dirty="0"/>
              <a:t> MCU </a:t>
            </a:r>
            <a:r>
              <a:rPr dirty="0" err="1"/>
              <a:t>載板</a:t>
            </a:r>
            <a:r>
              <a:rPr dirty="0"/>
              <a:t> — </a:t>
            </a:r>
            <a:r>
              <a:rPr dirty="0" err="1"/>
              <a:t>只有本研究有</a:t>
            </a:r>
            <a:endParaRPr dirty="0"/>
          </a:p>
          <a:p>
            <a:r>
              <a:rPr dirty="0"/>
              <a:t>· nRF52840 </a:t>
            </a:r>
            <a:r>
              <a:rPr dirty="0" err="1"/>
              <a:t>單晶片飛控</a:t>
            </a:r>
            <a:r>
              <a:rPr dirty="0"/>
              <a:t> — </a:t>
            </a:r>
            <a:r>
              <a:rPr dirty="0" err="1"/>
              <a:t>本文的移植成果</a:t>
            </a:r>
            <a:endParaRPr dirty="0"/>
          </a:p>
          <a:p>
            <a:r>
              <a:rPr dirty="0"/>
              <a:t>· ESP32S3 </a:t>
            </a:r>
            <a:r>
              <a:rPr dirty="0" err="1"/>
              <a:t>支援</a:t>
            </a:r>
            <a:r>
              <a:rPr dirty="0"/>
              <a:t> — </a:t>
            </a:r>
            <a:r>
              <a:rPr dirty="0" err="1"/>
              <a:t>本研究同板直插</a:t>
            </a:r>
            <a:r>
              <a:rPr dirty="0"/>
              <a:t>(</a:t>
            </a:r>
            <a:r>
              <a:rPr dirty="0" err="1"/>
              <a:t>注意這一列</a:t>
            </a:r>
            <a:r>
              <a:rPr dirty="0"/>
              <a:t> ESP-FC </a:t>
            </a:r>
            <a:r>
              <a:rPr dirty="0" err="1"/>
              <a:t>也有</a:t>
            </a:r>
            <a:r>
              <a:rPr dirty="0"/>
              <a:t> ✓,</a:t>
            </a:r>
            <a:r>
              <a:rPr dirty="0" err="1"/>
              <a:t>我沒有選擇性呈現</a:t>
            </a:r>
            <a:r>
              <a:rPr dirty="0"/>
              <a:t>)</a:t>
            </a:r>
          </a:p>
          <a:p>
            <a:r>
              <a:rPr dirty="0"/>
              <a:t>· ATKP </a:t>
            </a:r>
            <a:r>
              <a:rPr dirty="0" err="1"/>
              <a:t>地面站協議</a:t>
            </a:r>
            <a:r>
              <a:rPr dirty="0"/>
              <a:t> — </a:t>
            </a:r>
            <a:r>
              <a:rPr dirty="0" err="1"/>
              <a:t>從原廠移植保留</a:t>
            </a:r>
            <a:endParaRPr dirty="0"/>
          </a:p>
          <a:p>
            <a:r>
              <a:rPr dirty="0"/>
              <a:t>· BLE-RSSI </a:t>
            </a:r>
            <a:r>
              <a:rPr dirty="0" err="1"/>
              <a:t>室內定位</a:t>
            </a:r>
            <a:r>
              <a:rPr dirty="0"/>
              <a:t> — </a:t>
            </a:r>
            <a:r>
              <a:rPr dirty="0" err="1"/>
              <a:t>本研究新增</a:t>
            </a:r>
            <a:r>
              <a:rPr dirty="0"/>
              <a:t>(</a:t>
            </a:r>
            <a:r>
              <a:rPr dirty="0" err="1"/>
              <a:t>四錨</a:t>
            </a:r>
            <a:r>
              <a:rPr dirty="0"/>
              <a:t> + </a:t>
            </a:r>
            <a:r>
              <a:rPr dirty="0" err="1"/>
              <a:t>引擎</a:t>
            </a:r>
            <a:r>
              <a:rPr dirty="0"/>
              <a:t>)</a:t>
            </a:r>
          </a:p>
          <a:p>
            <a:r>
              <a:rPr dirty="0"/>
              <a:t>· </a:t>
            </a:r>
            <a:r>
              <a:rPr dirty="0" err="1"/>
              <a:t>單遙控多機</a:t>
            </a:r>
            <a:r>
              <a:rPr dirty="0"/>
              <a:t>(</a:t>
            </a:r>
            <a:r>
              <a:rPr dirty="0" err="1"/>
              <a:t>廣播架構</a:t>
            </a:r>
            <a:r>
              <a:rPr dirty="0"/>
              <a:t>) — </a:t>
            </a:r>
            <a:r>
              <a:rPr dirty="0" err="1"/>
              <a:t>本研究新增,三機制實測</a:t>
            </a:r>
            <a:endParaRPr dirty="0"/>
          </a:p>
          <a:p>
            <a:r>
              <a:rPr dirty="0"/>
              <a:t>· </a:t>
            </a:r>
            <a:r>
              <a:rPr dirty="0" err="1"/>
              <a:t>上位機整合</a:t>
            </a:r>
            <a:r>
              <a:rPr dirty="0"/>
              <a:t> — </a:t>
            </a:r>
            <a:r>
              <a:rPr dirty="0" err="1"/>
              <a:t>地圖</a:t>
            </a:r>
            <a:r>
              <a:rPr dirty="0"/>
              <a:t> + </a:t>
            </a:r>
            <a:r>
              <a:rPr dirty="0" err="1"/>
              <a:t>標定</a:t>
            </a:r>
            <a:r>
              <a:rPr dirty="0"/>
              <a:t> + </a:t>
            </a:r>
            <a:r>
              <a:rPr dirty="0" err="1"/>
              <a:t>控制一體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一句話收束】本研究</a:t>
            </a:r>
            <a:r>
              <a:rPr dirty="0"/>
              <a:t> = </a:t>
            </a:r>
            <a:r>
              <a:rPr dirty="0" err="1"/>
              <a:t>硬體彈性</a:t>
            </a:r>
            <a:r>
              <a:rPr dirty="0"/>
              <a:t>(</a:t>
            </a:r>
            <a:r>
              <a:rPr dirty="0" err="1"/>
              <a:t>可換</a:t>
            </a:r>
            <a:r>
              <a:rPr dirty="0"/>
              <a:t> MCU)+ </a:t>
            </a:r>
            <a:r>
              <a:rPr dirty="0" err="1"/>
              <a:t>協議傳承</a:t>
            </a:r>
            <a:r>
              <a:rPr dirty="0"/>
              <a:t>(ATKP)+ </a:t>
            </a:r>
            <a:r>
              <a:rPr dirty="0" err="1"/>
              <a:t>能力擴展</a:t>
            </a:r>
            <a:r>
              <a:rPr dirty="0"/>
              <a:t>(</a:t>
            </a:r>
            <a:r>
              <a:rPr dirty="0" err="1"/>
              <a:t>定位</a:t>
            </a:r>
            <a:r>
              <a:rPr dirty="0"/>
              <a:t>/</a:t>
            </a:r>
            <a:r>
              <a:rPr dirty="0" err="1"/>
              <a:t>多機</a:t>
            </a:r>
            <a:r>
              <a:rPr dirty="0"/>
              <a:t>/</a:t>
            </a:r>
            <a:r>
              <a:rPr dirty="0" err="1"/>
              <a:t>分級失控保護</a:t>
            </a:r>
            <a:r>
              <a:rPr dirty="0"/>
              <a:t>)</a:t>
            </a:r>
            <a:r>
              <a:rPr dirty="0" err="1"/>
              <a:t>的交集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【要主動提的一點】ESP32S3 </a:t>
            </a:r>
            <a:r>
              <a:rPr dirty="0" err="1"/>
              <a:t>那一列</a:t>
            </a:r>
            <a:r>
              <a:rPr dirty="0"/>
              <a:t> ESP-FC </a:t>
            </a:r>
            <a:r>
              <a:rPr dirty="0" err="1"/>
              <a:t>是勝出的</a:t>
            </a:r>
            <a:r>
              <a:rPr dirty="0"/>
              <a:t> — </a:t>
            </a:r>
            <a:r>
              <a:rPr dirty="0" err="1"/>
              <a:t>我沒有刻意隱藏。誠實呈現對照,比全部打勾更可信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Q:ESP-FC 在 ESP32S3 </a:t>
            </a:r>
            <a:r>
              <a:rPr dirty="0" err="1"/>
              <a:t>那一列也打勾,那你的優勢在哪</a:t>
            </a:r>
            <a:r>
              <a:rPr dirty="0"/>
              <a:t>?</a:t>
            </a:r>
          </a:p>
          <a:p>
            <a:r>
              <a:rPr dirty="0"/>
              <a:t>A:我沒有隱藏這一點。</a:t>
            </a:r>
            <a:r>
              <a:t>ESP-FC 是成熟的開源方案,我直接採用它當第三平臺。本研究的價值在**</a:t>
            </a:r>
            <a:r>
              <a:rPr dirty="0" err="1"/>
              <a:t>可換</a:t>
            </a:r>
            <a:r>
              <a:rPr dirty="0"/>
              <a:t> MCU </a:t>
            </a:r>
            <a:r>
              <a:rPr dirty="0" err="1"/>
              <a:t>的載板</a:t>
            </a:r>
            <a:r>
              <a:rPr dirty="0"/>
              <a:t>**與**跨 MCU </a:t>
            </a:r>
            <a:r>
              <a:rPr dirty="0" err="1"/>
              <a:t>的韌體重構</a:t>
            </a:r>
            <a:r>
              <a:rPr dirty="0"/>
              <a:t>** — </a:t>
            </a:r>
            <a:r>
              <a:rPr dirty="0" err="1"/>
              <a:t>讓不同晶片能在同一物理基底上被公平評估,這是既有方案都沒有的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Q:原廠 MiniFly </a:t>
            </a:r>
            <a:r>
              <a:rPr dirty="0" err="1"/>
              <a:t>也能飛,你的差別是什麼</a:t>
            </a:r>
            <a:r>
              <a:rPr dirty="0"/>
              <a:t>?</a:t>
            </a:r>
          </a:p>
          <a:p>
            <a:r>
              <a:rPr dirty="0"/>
              <a:t>A:原廠是封閉的雙 </a:t>
            </a:r>
            <a:r>
              <a:t>MCU 架構,無法更換主控、無法擴展定位與多機。本研究把它重建成可自行掌握、可繼續延伸的平臺。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21 字≈6 秒 ｜ 完整版 396 字≈1.8 分</a:t>
            </a:r>
          </a:p>
          <a:p>
            <a:endParaRPr/>
          </a:p>
          <a:p>
            <a:r>
              <a:t>【一句話】每個數字都可追溯,而且不給未經實測的數字。</a:t>
            </a:r>
          </a:p>
          <a:p>
            <a:endParaRPr/>
          </a:p>
          <a:p>
            <a:r>
              <a:t>【系統一(上排)】</a:t>
            </a:r>
          </a:p>
          <a:p>
            <a:r>
              <a:t>· 7 個驅動模組完成移植 — GPIO/I2C/PWM/無線/USB/排程/感測</a:t>
            </a:r>
          </a:p>
          <a:p>
            <a:r>
              <a:t>· 3 層系統級問題解決 — 無線封包 / USB 死鎖 / 排程歸零</a:t>
            </a:r>
          </a:p>
          <a:p>
            <a:r>
              <a:t>· 2 個飛控平臺同板實證 — nRF52840 + ESP32S3 直插可換</a:t>
            </a:r>
          </a:p>
          <a:p>
            <a:endParaRPr/>
          </a:p>
          <a:p>
            <a:r>
              <a:t>【系統二(下排)】</a:t>
            </a:r>
          </a:p>
          <a:p>
            <a:r>
              <a:t>· 7 步定位處理鏈 — 自適應 KF + 對數模型 + 加權 LSQ + 位置 Kalman</a:t>
            </a:r>
          </a:p>
          <a:p>
            <a:r>
              <a:t>· 4 錨定位網路 — 閘道 + 四錨 + 上位機標定介面</a:t>
            </a:r>
          </a:p>
          <a:p>
            <a:r>
              <a:t>· &lt;2m 定位目標 — 對標王琳 2025 的 BLE 同級 MAE 1.88m</a:t>
            </a:r>
          </a:p>
          <a:p>
            <a:endParaRPr/>
          </a:p>
          <a:p>
            <a:r>
              <a:t>【★ 最後一項要主動說明】1.88m 是文獻的**實測值**,是我的**對標目標**,不是我的成績。她用 ESP32 WiFi、我用 BLE,硬體也不同。我的精度待量化。</a:t>
            </a:r>
          </a:p>
          <a:p>
            <a:endParaRPr/>
          </a:p>
          <a:p>
            <a:r>
              <a:t>【下一頁】多機控制的量化指標單獨一頁。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Q:七個驅動模組是怎麼算的?</a:t>
            </a:r>
          </a:p>
          <a:p>
            <a:r>
              <a:t>A:GPIO、I2C、PWM、無線、USB、排程、感測共七層,每層都有對應的實作與驗證。</a:t>
            </a:r>
          </a:p>
          <a:p>
            <a:endParaRPr/>
          </a:p>
          <a:p>
            <a:r>
              <a:t>Q:定位目標 &lt;2m 有把握達到嗎?</a:t>
            </a:r>
          </a:p>
          <a:p>
            <a:r>
              <a:t>A:對標文獻用同級硬體達到 1.88m,所以物理上可行。但我的精度尚未實測,不會先給承諾。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【延伸】一句話版 18 字≈5 秒 ｜ 完整版 351 字≈1.6 分</a:t>
            </a:r>
          </a:p>
          <a:p>
            <a:endParaRPr/>
          </a:p>
          <a:p>
            <a:r>
              <a:t>【一句話】把前面的設計聲明,換成可查核的數字。</a:t>
            </a:r>
          </a:p>
          <a:p>
            <a:r>
              <a:t>【六個數字】</a:t>
            </a:r>
          </a:p>
          <a:p>
            <a:r>
              <a:t>· 3 — 三種控制機制實測通過(廣播選台、多工廣播、廣播點名)</a:t>
            </a:r>
          </a:p>
          <a:p>
            <a:r>
              <a:t>· 1 — 一個包送達 N 台,帶寬 O(1);對照分時尋址的 O(N),兩台就砍半且指令必然錯開</a:t>
            </a:r>
          </a:p>
          <a:p>
            <a:r>
              <a:t>· 8 — 每台 8 字節指令段;兩台 19、三台 27 字節,都在單包內</a:t>
            </a:r>
          </a:p>
          <a:p>
            <a:r>
              <a:t>· **2 — 台同包異動實證**:同一廣播包內 ATK 手動油門、nRF 懸停,結果只有 ATK 動作</a:t>
            </a:r>
          </a:p>
          <a:p>
            <a:r>
              <a:t>· 0.13 — 秒,選中機的狀態刷新週期</a:t>
            </a:r>
          </a:p>
          <a:p>
            <a:r>
              <a:t>· 32 — 字節單包載荷上限</a:t>
            </a:r>
          </a:p>
          <a:p>
            <a:endParaRPr/>
          </a:p>
          <a:p>
            <a:r>
              <a:t>【★ 最關鍵的是「2」】它是多工廣播相對於一般廣播的唯一證據 — 一般廣播做不到。</a:t>
            </a:r>
          </a:p>
          <a:p>
            <a:endParaRPr/>
          </a:p>
          <a:p>
            <a:r>
              <a:t>【★ 「32」是誠實的邊界】它同時決定兩件事:為什麼要定點壓縮,以及單包最多 3 台的擴展上限。委員問擴展性時,這就是答案。</a:t>
            </a:r>
          </a:p>
          <a:p>
            <a:endParaRPr/>
          </a:p>
          <a:p>
            <a:r>
              <a:t>【備詢·不念】</a:t>
            </a:r>
          </a:p>
          <a:p>
            <a:r>
              <a:t>Q:0.13 秒的開銷會不會影響控制?</a:t>
            </a:r>
          </a:p>
          <a:p>
            <a:r>
              <a:t>A:飛機在線時應答約 1 毫秒,佔比不到 1%;掉線機自動降頻,最壞約 4%,實測手感無差異。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26 字≈7 秒 ｜ 完整版 357 字≈1.6 分</a:t>
            </a:r>
          </a:p>
          <a:p>
            <a:endParaRPr/>
          </a:p>
          <a:p>
            <a:r>
              <a:t>【一句話】誠實界定四條邊界 — 而且每條都對應明確的升級路徑。</a:t>
            </a:r>
          </a:p>
          <a:p>
            <a:r>
              <a:t>【四條邊界】</a:t>
            </a:r>
          </a:p>
          <a:p>
            <a:r>
              <a:t>① 定位精度 — 演示等級,受 RSSI 物理限制,適合粗定位而非精密定點</a:t>
            </a:r>
          </a:p>
          <a:p>
            <a:r>
              <a:t>② 多機控制 — **單包載荷 32 字節 → 單包最多 3 台;雙機同時編隊飛行尚未完整演示**</a:t>
            </a:r>
          </a:p>
          <a:p>
            <a:r>
              <a:t>③ 飛行包線 — 室內近懸停為主,未做激烈機動驗證</a:t>
            </a:r>
          </a:p>
          <a:p>
            <a:r>
              <a:t>④ 環境依賴 — 換新場地需重新標定 P₀/n</a:t>
            </a:r>
          </a:p>
          <a:p>
            <a:endParaRPr/>
          </a:p>
          <a:p>
            <a:r>
              <a:t>【★ 第②條要說清楚】三個機制都已實測,但「機制通了」和「兩台一起編隊飛完一段航線」是兩件事 — 後者還沒做。我在進度頁也是這樣標的,前後一致。</a:t>
            </a:r>
          </a:p>
          <a:p>
            <a:endParaRPr/>
          </a:p>
          <a:p>
            <a:r>
              <a:t>【為什麼誠實反而加分】</a:t>
            </a:r>
          </a:p>
          <a:p>
            <a:r>
              <a:t>① RSSI 精度是物理限制,文獻同級硬體也在米級 — 不是實作缺陷</a:t>
            </a:r>
          </a:p>
          <a:p>
            <a:r>
              <a:t>② 邊界清楚 = 知道系統能做什麼、不能做什麼,這正是工程能力</a:t>
            </a:r>
          </a:p>
          <a:p>
            <a:r>
              <a:t>③ 每條邊界都對應明確的升級路徑(下頁未來工作)</a:t>
            </a:r>
          </a:p>
          <a:p>
            <a:endParaRPr/>
          </a:p>
          <a:p>
            <a:r>
              <a:t>【備詢·不念】</a:t>
            </a:r>
          </a:p>
          <a:p>
            <a:r>
              <a:t>Q:這些限制怎麼解?</a:t>
            </a:r>
          </a:p>
          <a:p>
            <a:r>
              <a:t>A:定位可換 UWB 或 BLE 6.0 通道探測;多機台數受載荷限制,可改分組多包;飛行包線需更大機架與外部定位;重標定可做自動化流程。每條都有路。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28 字≈8 秒 ｜ </a:t>
            </a:r>
            <a:r>
              <a:rPr dirty="0" err="1"/>
              <a:t>完整版</a:t>
            </a:r>
            <a:r>
              <a:rPr dirty="0"/>
              <a:t> 457 字≈2.1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一句話】五項工作、各自的真實狀態</a:t>
            </a:r>
            <a:r>
              <a:rPr dirty="0"/>
              <a:t> — </a:t>
            </a:r>
            <a:r>
              <a:rPr dirty="0" err="1"/>
              <a:t>注意兩處標籤是有意區分的</a:t>
            </a:r>
            <a:r>
              <a:rPr dirty="0"/>
              <a:t>。</a:t>
            </a:r>
          </a:p>
          <a:p>
            <a:r>
              <a:rPr dirty="0"/>
              <a:t>【</a:t>
            </a:r>
            <a:r>
              <a:rPr dirty="0" err="1"/>
              <a:t>逐項</a:t>
            </a:r>
            <a:r>
              <a:rPr dirty="0"/>
              <a:t>】</a:t>
            </a:r>
          </a:p>
          <a:p>
            <a:r>
              <a:rPr dirty="0"/>
              <a:t>① </a:t>
            </a:r>
            <a:r>
              <a:rPr dirty="0" err="1"/>
              <a:t>可換</a:t>
            </a:r>
            <a:r>
              <a:rPr dirty="0"/>
              <a:t> MCU </a:t>
            </a:r>
            <a:r>
              <a:rPr dirty="0" err="1"/>
              <a:t>飛控載板</a:t>
            </a:r>
            <a:r>
              <a:rPr dirty="0"/>
              <a:t> — </a:t>
            </a:r>
            <a:r>
              <a:rPr dirty="0" err="1"/>
              <a:t>已完成</a:t>
            </a:r>
            <a:r>
              <a:rPr dirty="0"/>
              <a:t>(</a:t>
            </a:r>
            <a:r>
              <a:rPr dirty="0" err="1"/>
              <a:t>自製</a:t>
            </a:r>
            <a:r>
              <a:rPr dirty="0"/>
              <a:t> PCB </a:t>
            </a:r>
            <a:r>
              <a:t>+ 雙平臺直插實證)</a:t>
            </a:r>
            <a:endParaRPr dirty="0"/>
          </a:p>
          <a:p>
            <a:r>
              <a:rPr dirty="0"/>
              <a:t>② 跨 MCU </a:t>
            </a:r>
            <a:r>
              <a:rPr dirty="0" err="1"/>
              <a:t>韌體移植</a:t>
            </a:r>
            <a:r>
              <a:rPr dirty="0"/>
              <a:t> — </a:t>
            </a:r>
            <a:r>
              <a:rPr dirty="0" err="1"/>
              <a:t>已完成</a:t>
            </a:r>
            <a:r>
              <a:rPr dirty="0"/>
              <a:t>(雙 </a:t>
            </a:r>
            <a:r>
              <a:rPr dirty="0" err="1"/>
              <a:t>MCU→單晶片</a:t>
            </a:r>
            <a:r>
              <a:rPr dirty="0"/>
              <a:t> + </a:t>
            </a:r>
            <a:r>
              <a:rPr dirty="0" err="1"/>
              <a:t>三層系統問題</a:t>
            </a:r>
            <a:r>
              <a:rPr dirty="0"/>
              <a:t>)</a:t>
            </a:r>
          </a:p>
          <a:p>
            <a:r>
              <a:rPr dirty="0"/>
              <a:t>③ BLE </a:t>
            </a:r>
            <a:r>
              <a:rPr dirty="0" err="1"/>
              <a:t>定位引擎</a:t>
            </a:r>
            <a:r>
              <a:rPr dirty="0"/>
              <a:t> — **</a:t>
            </a:r>
            <a:r>
              <a:rPr dirty="0" err="1"/>
              <a:t>設計完成</a:t>
            </a:r>
            <a:r>
              <a:rPr dirty="0"/>
              <a:t>**(</a:t>
            </a:r>
            <a:r>
              <a:rPr dirty="0" err="1"/>
              <a:t>九步處理鏈</a:t>
            </a:r>
            <a:r>
              <a:rPr dirty="0"/>
              <a:t> + </a:t>
            </a:r>
            <a:r>
              <a:rPr dirty="0" err="1"/>
              <a:t>文獻對照</a:t>
            </a:r>
            <a:r>
              <a:rPr dirty="0"/>
              <a:t>),</a:t>
            </a:r>
            <a:r>
              <a:rPr dirty="0" err="1"/>
              <a:t>精度尚待量化</a:t>
            </a:r>
            <a:endParaRPr dirty="0"/>
          </a:p>
          <a:p>
            <a:r>
              <a:rPr dirty="0"/>
              <a:t>④ </a:t>
            </a:r>
            <a:r>
              <a:rPr dirty="0" err="1"/>
              <a:t>地面站整合</a:t>
            </a:r>
            <a:r>
              <a:rPr dirty="0"/>
              <a:t> — </a:t>
            </a:r>
            <a:r>
              <a:rPr dirty="0" err="1"/>
              <a:t>已完成</a:t>
            </a:r>
            <a:r>
              <a:rPr dirty="0"/>
              <a:t>(</a:t>
            </a:r>
            <a:r>
              <a:rPr dirty="0" err="1"/>
              <a:t>地圖</a:t>
            </a:r>
            <a:r>
              <a:rPr dirty="0"/>
              <a:t> + </a:t>
            </a:r>
            <a:r>
              <a:rPr dirty="0" err="1"/>
              <a:t>標定</a:t>
            </a:r>
            <a:r>
              <a:rPr dirty="0"/>
              <a:t> + </a:t>
            </a:r>
            <a:r>
              <a:rPr dirty="0" err="1"/>
              <a:t>控制一體</a:t>
            </a:r>
            <a:r>
              <a:rPr dirty="0"/>
              <a:t>)</a:t>
            </a:r>
          </a:p>
          <a:p>
            <a:r>
              <a:rPr dirty="0"/>
              <a:t>⑤ </a:t>
            </a:r>
            <a:r>
              <a:rPr dirty="0" err="1"/>
              <a:t>單遙控多機</a:t>
            </a:r>
            <a:r>
              <a:rPr dirty="0"/>
              <a:t> — **</a:t>
            </a:r>
            <a:r>
              <a:rPr dirty="0" err="1"/>
              <a:t>實測驗證</a:t>
            </a:r>
            <a:r>
              <a:rPr dirty="0"/>
              <a:t>**(</a:t>
            </a:r>
            <a:r>
              <a:rPr dirty="0" err="1"/>
              <a:t>廣播定址</a:t>
            </a:r>
            <a:r>
              <a:rPr dirty="0"/>
              <a:t> + </a:t>
            </a:r>
            <a:r>
              <a:rPr dirty="0" err="1"/>
              <a:t>多工廣播</a:t>
            </a:r>
            <a:r>
              <a:rPr dirty="0"/>
              <a:t> + </a:t>
            </a:r>
            <a:r>
              <a:rPr dirty="0" err="1"/>
              <a:t>點名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【★ </a:t>
            </a:r>
            <a:r>
              <a:rPr dirty="0" err="1"/>
              <a:t>第③和第⑤的標籤不同,這是刻意的</a:t>
            </a:r>
            <a:r>
              <a:rPr dirty="0"/>
              <a:t>】</a:t>
            </a:r>
          </a:p>
          <a:p>
            <a:r>
              <a:rPr dirty="0" err="1"/>
              <a:t>定位標「設計完成」而不是「實測驗證</a:t>
            </a:r>
            <a:r>
              <a:rPr dirty="0"/>
              <a:t>」,</a:t>
            </a:r>
            <a:r>
              <a:rPr dirty="0" err="1"/>
              <a:t>因為硬體精度實驗還沒做完</a:t>
            </a:r>
            <a:r>
              <a:rPr dirty="0"/>
              <a:t> — </a:t>
            </a:r>
            <a:r>
              <a:rPr dirty="0" err="1"/>
              <a:t>我不會把設計完成說成實測完成</a:t>
            </a:r>
            <a:r>
              <a:rPr dirty="0"/>
              <a:t>。</a:t>
            </a:r>
          </a:p>
          <a:p>
            <a:r>
              <a:rPr dirty="0" err="1"/>
              <a:t>多機標「實測驗證</a:t>
            </a:r>
            <a:r>
              <a:rPr dirty="0"/>
              <a:t>」,</a:t>
            </a:r>
            <a:r>
              <a:rPr dirty="0" err="1"/>
              <a:t>因為三個機制都有實機影片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收束的話】這份研究把一套封閉的商用飛控,拆解到暫存器層級再重建在另一顆晶片上;過程中做出了可換</a:t>
            </a:r>
            <a:r>
              <a:rPr dirty="0"/>
              <a:t> </a:t>
            </a:r>
            <a:r>
              <a:t>MCU 的硬體載板,也把平臺能力延伸到室內定位與多機控制。</a:t>
            </a:r>
            <a:endParaRPr dirty="0"/>
          </a:p>
          <a:p>
            <a:endParaRPr dirty="0"/>
          </a:p>
          <a:p>
            <a:r>
              <a:t>它不是一個做完就結束的系統,而是一個我完全掌握、可以繼續往上加東西的平臺 </a:t>
            </a:r>
            <a:r>
              <a:rPr dirty="0"/>
              <a:t>— </a:t>
            </a:r>
            <a:r>
              <a:rPr dirty="0" err="1"/>
              <a:t>這是我認為最有價值的部分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Q:為什麼定位標「設計完成」而多機標「實測驗證」?</a:t>
            </a:r>
          </a:p>
          <a:p>
            <a:r>
              <a:rPr dirty="0"/>
              <a:t>A:標準一致 — </a:t>
            </a:r>
            <a:r>
              <a:rPr dirty="0" err="1"/>
              <a:t>有實機驗證的才標實測。多機三個機制都有實機影片;定位鏈路雖已打通,但精度數字尚未量化,所以只標設計完成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Q:五項工作哪一項最重要?</a:t>
            </a:r>
          </a:p>
          <a:p>
            <a:r>
              <a:rPr dirty="0"/>
              <a:t>A:跨 </a:t>
            </a:r>
            <a:r>
              <a:t>MCU 韌體移植。它是全篇的技術核心,其餘四項都建立在這個平臺之上。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核心】一句話版</a:t>
            </a:r>
            <a:r>
              <a:rPr dirty="0"/>
              <a:t> 31 字≈8 秒 ｜ </a:t>
            </a:r>
            <a:r>
              <a:rPr dirty="0" err="1"/>
              <a:t>完整版</a:t>
            </a:r>
            <a:r>
              <a:rPr dirty="0"/>
              <a:t> 362 字≈1.6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一句話】三個方向的未來工作,其中一個正好證明可換</a:t>
            </a:r>
            <a:r>
              <a:rPr dirty="0"/>
              <a:t> MCU </a:t>
            </a:r>
            <a:r>
              <a:rPr dirty="0" err="1"/>
              <a:t>載板的價值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未來工作</a:t>
            </a:r>
            <a:r>
              <a:rPr dirty="0"/>
              <a:t>】</a:t>
            </a:r>
          </a:p>
          <a:p>
            <a:r>
              <a:rPr dirty="0"/>
              <a:t>① </a:t>
            </a:r>
            <a:r>
              <a:rPr dirty="0" err="1"/>
              <a:t>完成</a:t>
            </a:r>
            <a:r>
              <a:rPr dirty="0"/>
              <a:t> PC </a:t>
            </a:r>
            <a:r>
              <a:rPr dirty="0" err="1"/>
              <a:t>端自動編隊</a:t>
            </a:r>
            <a:r>
              <a:rPr dirty="0"/>
              <a:t> — </a:t>
            </a:r>
            <a:r>
              <a:rPr dirty="0" err="1"/>
              <a:t>以定位回授驅動多工廣播,這是模式</a:t>
            </a:r>
            <a:r>
              <a:rPr dirty="0"/>
              <a:t> B </a:t>
            </a:r>
            <a:r>
              <a:rPr dirty="0" err="1"/>
              <a:t>打通後最直接的延伸</a:t>
            </a:r>
            <a:endParaRPr dirty="0"/>
          </a:p>
          <a:p>
            <a:r>
              <a:rPr dirty="0"/>
              <a:t>② </a:t>
            </a:r>
            <a:r>
              <a:rPr dirty="0" err="1"/>
              <a:t>定位精度實測與量化</a:t>
            </a:r>
            <a:r>
              <a:rPr dirty="0"/>
              <a:t> — </a:t>
            </a:r>
            <a:r>
              <a:rPr dirty="0" err="1"/>
              <a:t>目前唯一的量化空缺</a:t>
            </a:r>
            <a:endParaRPr dirty="0"/>
          </a:p>
          <a:p>
            <a:r>
              <a:rPr dirty="0"/>
              <a:t>③ BLE 6.0 </a:t>
            </a:r>
            <a:r>
              <a:rPr dirty="0" err="1"/>
              <a:t>通道探測</a:t>
            </a:r>
            <a:r>
              <a:rPr dirty="0"/>
              <a:t> — </a:t>
            </a:r>
            <a:r>
              <a:rPr dirty="0" err="1"/>
              <a:t>這是新標準內建的高精度測距。要升級只需換一顆支援的</a:t>
            </a:r>
            <a:r>
              <a:rPr dirty="0"/>
              <a:t> MCU </a:t>
            </a:r>
            <a:r>
              <a:rPr dirty="0" err="1"/>
              <a:t>插上去</a:t>
            </a:r>
            <a:r>
              <a:rPr dirty="0"/>
              <a:t> ← **</a:t>
            </a:r>
            <a:r>
              <a:rPr dirty="0" err="1"/>
              <a:t>這正是可換</a:t>
            </a:r>
            <a:r>
              <a:rPr dirty="0"/>
              <a:t> MCU </a:t>
            </a:r>
            <a:r>
              <a:rPr dirty="0" err="1"/>
              <a:t>載板的優勢,呼應主貢獻二</a:t>
            </a:r>
            <a:r>
              <a:rPr dirty="0"/>
              <a:t>**</a:t>
            </a:r>
          </a:p>
          <a:p>
            <a:r>
              <a:t>④ 光流、雷射測距與平臺化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結語】這份研究把一套封閉的商用飛控,拆解到暫存器層級再重建在另一顆晶片上;過程中做出了可換</a:t>
            </a:r>
            <a:r>
              <a:rPr dirty="0"/>
              <a:t> </a:t>
            </a:r>
            <a:r>
              <a:t>MCU 的硬體載板,也把平臺能力延伸到室內定位與多機控制。</a:t>
            </a:r>
            <a:endParaRPr dirty="0"/>
          </a:p>
          <a:p>
            <a:endParaRPr dirty="0"/>
          </a:p>
          <a:p>
            <a:r>
              <a:t>它不是一個做完就結束的系統,而是一個我完全掌握、可以繼續往上加東西的平臺 </a:t>
            </a:r>
            <a:r>
              <a:rPr dirty="0"/>
              <a:t>— </a:t>
            </a:r>
            <a:r>
              <a:rPr dirty="0" err="1"/>
              <a:t>這是我認為最有價值的部分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感謝教授指導,感謝各位委員,敬請指教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Q:未來工作有優先順序嗎?</a:t>
            </a:r>
          </a:p>
          <a:p>
            <a:r>
              <a:rPr dirty="0"/>
              <a:t>A:第一是定位精度實測與量化,那是目前唯一的空缺;第二是 PC </a:t>
            </a:r>
            <a:r>
              <a:rPr dirty="0" err="1"/>
              <a:t>端自動編隊,模式</a:t>
            </a:r>
            <a:r>
              <a:rPr dirty="0"/>
              <a:t> B </a:t>
            </a:r>
            <a:r>
              <a:rPr dirty="0" err="1"/>
              <a:t>打通後這是最直接的延伸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Q:BLE 6.0 </a:t>
            </a:r>
            <a:r>
              <a:rPr dirty="0" err="1"/>
              <a:t>通道探測要換硬體嗎</a:t>
            </a:r>
            <a:r>
              <a:rPr dirty="0"/>
              <a:t>?</a:t>
            </a:r>
          </a:p>
          <a:p>
            <a:r>
              <a:rPr dirty="0"/>
              <a:t>A:要換一顆支援的 MCU — </a:t>
            </a:r>
            <a:r>
              <a:rPr dirty="0" err="1"/>
              <a:t>而這正好是可換</a:t>
            </a:r>
            <a:r>
              <a:rPr dirty="0"/>
              <a:t> MCU </a:t>
            </a:r>
            <a:r>
              <a:rPr dirty="0" err="1"/>
              <a:t>載板的價值:只需拔插主控,不必重做整塊板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486400" cy="5486400"/>
          </a:xfrm>
          <a:prstGeom prst="ellipse">
            <a:avLst/>
          </a:prstGeom>
          <a:solidFill>
            <a:srgbClr val="0A4D6E">
              <a:alpha val="60000"/>
            </a:srgbClr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9875520" y="3200400"/>
            <a:ext cx="3657600" cy="3657600"/>
          </a:xfrm>
          <a:prstGeom prst="ellipse">
            <a:avLst/>
          </a:prstGeom>
          <a:solidFill>
            <a:srgbClr val="2389A8">
              <a:alpha val="45000"/>
            </a:srgbClr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碩士學位論文口試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無人機系統整合</a:t>
            </a:r>
            <a:endParaRPr lang="en-US" sz="4000" dirty="0"/>
          </a:p>
          <a:p>
            <a:pPr marL="0" indent="0" algn="l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與控制研究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Research on UAV System Integration and Control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526280"/>
            <a:ext cx="59436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研究生:</a:t>
            </a:r>
            <a:r>
              <a:rPr lang="en-US" sz="15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[你的姓名]</a:t>
            </a:r>
            <a:r>
              <a:rPr lang="en-US" sz="15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指導教授:</a:t>
            </a:r>
            <a:r>
              <a:rPr lang="en-US" sz="15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[教授姓名] 博士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[系所名稱]中華民國 [○○○] 年 [○] 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39" y="1463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5577" y="1636776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5577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6514" y="168275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研究背景與動機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9273" y="239572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95577" y="2569464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95577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6514" y="261493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系統架構與硬體設計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9273" y="332841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95577" y="3502152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95577" y="3502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6514" y="354711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韌體移植與通訊協定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9273" y="426110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95577" y="4434840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95577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6514" y="447929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</a:t>
            </a: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9273" y="519379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95577" y="5367528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95577" y="5367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6514" y="541147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結論與未來展望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研究背景與動機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7" name="Shape 5"/>
          <p:cNvSpPr/>
          <p:nvPr/>
        </p:nvSpPr>
        <p:spPr>
          <a:xfrm>
            <a:off x="777240" y="1847088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傳統硬體故障難以檢測與更換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0200" y="20665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傳統微型飛控將</a:t>
            </a:r>
            <a:r>
              <a:rPr lang="en-US" altLang="zh-TW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與感測器直接焊接於</a:t>
            </a:r>
            <a:r>
              <a:rPr lang="zh-CN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載板上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，當元件損壞或異常時難以單獨量測除錯，且無法拆卸更換。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12" name="Shape 10"/>
          <p:cNvSpPr/>
          <p:nvPr/>
        </p:nvSpPr>
        <p:spPr>
          <a:xfrm>
            <a:off x="777240" y="3383279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3" name="Text 11"/>
          <p:cNvSpPr/>
          <p:nvPr/>
        </p:nvSpPr>
        <p:spPr>
          <a:xfrm>
            <a:off x="777240" y="3383279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開源平臺的 </a:t>
            </a:r>
            <a:r>
              <a:rPr lang="en-US" altLang="zh-TW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RF </a:t>
            </a:r>
            <a:r>
              <a:rPr lang="zh-TW" altLang="en-US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協定與晶片架構受到硬體限制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00200" y="36027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 </a:t>
            </a:r>
            <a:r>
              <a:rPr lang="en-US" altLang="zh-TW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MiniFly 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需外接射頻模塊（</a:t>
            </a:r>
            <a:r>
              <a:rPr lang="en-US" altLang="zh-TW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RF 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模組），且常見的 </a:t>
            </a:r>
            <a:r>
              <a:rPr lang="en-US" altLang="zh-TW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 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平臺硬體底層難以原生支援 </a:t>
            </a:r>
            <a:r>
              <a:rPr lang="en-US" altLang="zh-TW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 ESB 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通訊協定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35424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17" name="Shape 15"/>
          <p:cNvSpPr/>
          <p:nvPr/>
        </p:nvSpPr>
        <p:spPr>
          <a:xfrm>
            <a:off x="777240" y="4919472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8" name="Text 16"/>
          <p:cNvSpPr/>
          <p:nvPr/>
        </p:nvSpPr>
        <p:spPr>
          <a:xfrm>
            <a:off x="777240" y="49194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736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室內無法使用衛星定位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600200" y="5138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室內、隧道與倉儲環境收不到 </a:t>
            </a:r>
            <a:r>
              <a:rPr lang="en-US" altLang="zh-TW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GNSS 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衛星訊號。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146304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lang="zh-TW" altLang="en-US" sz="2000"/>
          </a:p>
        </p:txBody>
      </p:sp>
      <p:sp>
        <p:nvSpPr>
          <p:cNvPr id="22" name="Text 20"/>
          <p:cNvSpPr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本研究的做法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58000" y="1773936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zh-TW" altLang="en-US" sz="1600" dirty="0">
                <a:solidFill>
                  <a:schemeClr val="bg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自主設計一款</a:t>
            </a:r>
            <a:r>
              <a:rPr lang="zh-TW" alt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支援可更換 </a:t>
            </a: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 </a:t>
            </a:r>
            <a:r>
              <a:rPr lang="zh-TW" alt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核心板</a:t>
            </a:r>
            <a:r>
              <a:rPr lang="en-US" sz="1600" dirty="0">
                <a:solidFill>
                  <a:schemeClr val="bg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的PCB</a:t>
            </a: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,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zh-TW" altLang="en-US" sz="16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並將商用飛控韌體移植至 </a:t>
            </a:r>
            <a:r>
              <a:rPr lang="en-US" altLang="zh-TW" sz="16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SoC </a:t>
            </a:r>
            <a:r>
              <a:rPr lang="zh-TW" altLang="en-US" sz="16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平臺，</a:t>
            </a:r>
            <a:endParaRPr lang="en-US" altLang="zh-TW" sz="1600" dirty="0">
              <a:solidFill>
                <a:srgbClr val="FFFFFF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zh-TW" altLang="en-US" sz="16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同時於該平臺上導入 </a:t>
            </a:r>
            <a:r>
              <a:rPr lang="en-US" altLang="zh-TW" sz="16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BLE-RSSI </a:t>
            </a:r>
            <a:r>
              <a:rPr lang="zh-TW" altLang="en-US" sz="16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室內定位系統。</a:t>
            </a:r>
            <a:endParaRPr lang="en-US" sz="16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99EA73AE-6D6E-4E98-9F2B-C9C8F69EF9CF}"/>
              </a:ext>
            </a:extLst>
          </p:cNvPr>
          <p:cNvSpPr/>
          <p:nvPr/>
        </p:nvSpPr>
        <p:spPr>
          <a:xfrm>
            <a:off x="685800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研究貢獻</a:t>
            </a: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D849FB7-B18B-479C-9310-2B24D8C5F42E}"/>
              </a:ext>
            </a:extLst>
          </p:cNvPr>
          <p:cNvSpPr/>
          <p:nvPr/>
        </p:nvSpPr>
        <p:spPr>
          <a:xfrm>
            <a:off x="6858000" y="3762756"/>
            <a:ext cx="45720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zh-TW" altLang="en-US" sz="1600" dirty="0">
                <a:solidFill>
                  <a:schemeClr val="bg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建立兼具高自主修改度、方便檢測更換、原廠通訊相容性與室內定位能力的微型無人機實驗平臺。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研究貢獻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94E5FA17-FC17-481B-9146-CAFC7200EA69}"/>
              </a:ext>
            </a:extLst>
          </p:cNvPr>
          <p:cNvSpPr/>
          <p:nvPr/>
        </p:nvSpPr>
        <p:spPr>
          <a:xfrm>
            <a:off x="548640" y="1463040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4D070E44-C7BD-4430-92F9-E08F2A516C65}"/>
              </a:ext>
            </a:extLst>
          </p:cNvPr>
          <p:cNvSpPr/>
          <p:nvPr/>
        </p:nvSpPr>
        <p:spPr>
          <a:xfrm>
            <a:off x="548640" y="1463040"/>
            <a:ext cx="146304" cy="1353312"/>
          </a:xfrm>
          <a:prstGeom prst="roundRect">
            <a:avLst>
              <a:gd name="adj" fmla="val 31250"/>
            </a:avLst>
          </a:prstGeom>
          <a:solidFill>
            <a:srgbClr val="0A4D6E"/>
          </a:solidFill>
          <a:ln/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068FE900-A2C4-43AF-A30A-26AFC4169D35}"/>
              </a:ext>
            </a:extLst>
          </p:cNvPr>
          <p:cNvSpPr/>
          <p:nvPr/>
        </p:nvSpPr>
        <p:spPr>
          <a:xfrm>
            <a:off x="914400" y="1847088"/>
            <a:ext cx="603504" cy="603504"/>
          </a:xfrm>
          <a:prstGeom prst="ellipse">
            <a:avLst/>
          </a:prstGeom>
          <a:solidFill>
            <a:srgbClr val="0A4D6E"/>
          </a:solidFill>
          <a:ln/>
        </p:spPr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1F31D7D-CF7E-4834-8E7F-8D5FCBB7829E}"/>
              </a:ext>
            </a:extLst>
          </p:cNvPr>
          <p:cNvSpPr/>
          <p:nvPr/>
        </p:nvSpPr>
        <p:spPr>
          <a:xfrm>
            <a:off x="914400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F96755BA-2F93-4602-AD7A-D47392B7E4C4}"/>
              </a:ext>
            </a:extLst>
          </p:cNvPr>
          <p:cNvSpPr/>
          <p:nvPr/>
        </p:nvSpPr>
        <p:spPr>
          <a:xfrm>
            <a:off x="1783080" y="16459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自製飛控電路板（硬體層面）</a:t>
            </a:r>
            <a:endParaRPr lang="en-US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32B77CB8-637F-4E4F-90D7-CADE5F102232}"/>
              </a:ext>
            </a:extLst>
          </p:cNvPr>
          <p:cNvSpPr/>
          <p:nvPr/>
        </p:nvSpPr>
        <p:spPr>
          <a:xfrm>
            <a:off x="1783080" y="2084832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TW" altLang="en-US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解決傳統飛控焊接難以儀器檢測與單獨替換痛點，提升實驗擴充與維護性。</a:t>
            </a: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4FB756C-84CF-400E-9E82-70BA0ADAA2EB}"/>
              </a:ext>
            </a:extLst>
          </p:cNvPr>
          <p:cNvSpPr/>
          <p:nvPr/>
        </p:nvSpPr>
        <p:spPr>
          <a:xfrm>
            <a:off x="9464040" y="19202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主貢獻</a:t>
            </a:r>
            <a:endParaRPr lang="en-US" sz="140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84AD2A24-5577-4BE0-917F-C86DC6036FE7}"/>
              </a:ext>
            </a:extLst>
          </p:cNvPr>
          <p:cNvSpPr/>
          <p:nvPr/>
        </p:nvSpPr>
        <p:spPr>
          <a:xfrm>
            <a:off x="548640" y="2907792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0E223A43-97C3-49C6-AF09-6D27DDCCBB79}"/>
              </a:ext>
            </a:extLst>
          </p:cNvPr>
          <p:cNvSpPr/>
          <p:nvPr/>
        </p:nvSpPr>
        <p:spPr>
          <a:xfrm>
            <a:off x="548640" y="2907792"/>
            <a:ext cx="146304" cy="1353312"/>
          </a:xfrm>
          <a:prstGeom prst="roundRect">
            <a:avLst>
              <a:gd name="adj" fmla="val 31250"/>
            </a:avLst>
          </a:prstGeom>
          <a:solidFill>
            <a:srgbClr val="2389A8"/>
          </a:solidFill>
          <a:ln/>
        </p:spPr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727FDCD2-C3D4-403D-9D8A-6639FB27EE1E}"/>
              </a:ext>
            </a:extLst>
          </p:cNvPr>
          <p:cNvSpPr/>
          <p:nvPr/>
        </p:nvSpPr>
        <p:spPr>
          <a:xfrm>
            <a:off x="914400" y="3291840"/>
            <a:ext cx="603504" cy="603504"/>
          </a:xfrm>
          <a:prstGeom prst="ellipse">
            <a:avLst/>
          </a:prstGeom>
          <a:solidFill>
            <a:srgbClr val="0A4D6E"/>
          </a:solidFill>
          <a:ln/>
        </p:spPr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D56D99B6-4B58-4FA6-BD20-F44540958339}"/>
              </a:ext>
            </a:extLst>
          </p:cNvPr>
          <p:cNvSpPr/>
          <p:nvPr/>
        </p:nvSpPr>
        <p:spPr>
          <a:xfrm>
            <a:off x="914400" y="3291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2980B869-7BFE-483B-B81D-9789382E42F4}"/>
              </a:ext>
            </a:extLst>
          </p:cNvPr>
          <p:cNvSpPr/>
          <p:nvPr/>
        </p:nvSpPr>
        <p:spPr>
          <a:xfrm>
            <a:off x="1783080" y="309067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飛控韌體移植（韌體與通訊層面）</a:t>
            </a:r>
            <a:endParaRPr lang="en-US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00968B82-DC34-4CB4-ABB7-8BCB99AACEB9}"/>
              </a:ext>
            </a:extLst>
          </p:cNvPr>
          <p:cNvSpPr/>
          <p:nvPr/>
        </p:nvSpPr>
        <p:spPr>
          <a:xfrm>
            <a:off x="1783080" y="3529584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TW" altLang="en-US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整合 </a:t>
            </a:r>
            <a:r>
              <a:rPr lang="en-US" altLang="zh-TW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2.4GHz RF </a:t>
            </a:r>
            <a:r>
              <a:rPr lang="zh-TW" altLang="en-US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並原生支援 </a:t>
            </a:r>
            <a:r>
              <a:rPr lang="en-US" altLang="zh-TW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 ESB </a:t>
            </a:r>
            <a:r>
              <a:rPr lang="zh-TW" altLang="en-US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通訊協定，完全相容原廠遙控生態。</a:t>
            </a:r>
            <a:endParaRPr lang="en-US" sz="16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A9A03510-DDAC-42BC-90E7-3E2C3C87D63F}"/>
              </a:ext>
            </a:extLst>
          </p:cNvPr>
          <p:cNvSpPr/>
          <p:nvPr/>
        </p:nvSpPr>
        <p:spPr>
          <a:xfrm>
            <a:off x="9464040" y="33649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主貢獻</a:t>
            </a:r>
            <a:endParaRPr lang="en-US" sz="1400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C53590D6-CC96-4067-A057-ED70B4C85248}"/>
              </a:ext>
            </a:extLst>
          </p:cNvPr>
          <p:cNvSpPr/>
          <p:nvPr/>
        </p:nvSpPr>
        <p:spPr>
          <a:xfrm>
            <a:off x="548640" y="4352544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43A419DA-FE00-4DFB-98B8-8B166DCB444D}"/>
              </a:ext>
            </a:extLst>
          </p:cNvPr>
          <p:cNvSpPr/>
          <p:nvPr/>
        </p:nvSpPr>
        <p:spPr>
          <a:xfrm>
            <a:off x="548640" y="4352544"/>
            <a:ext cx="146304" cy="1353312"/>
          </a:xfrm>
          <a:prstGeom prst="roundRect">
            <a:avLst>
              <a:gd name="adj" fmla="val 31250"/>
            </a:avLst>
          </a:prstGeom>
          <a:solidFill>
            <a:srgbClr val="00B894"/>
          </a:solidFill>
          <a:ln/>
        </p:spPr>
      </p:sp>
      <p:sp>
        <p:nvSpPr>
          <p:cNvPr id="38" name="Shape 22">
            <a:extLst>
              <a:ext uri="{FF2B5EF4-FFF2-40B4-BE49-F238E27FC236}">
                <a16:creationId xmlns:a16="http://schemas.microsoft.com/office/drawing/2014/main" id="{A72934C9-4513-4631-ABD3-EFE99FA75DCC}"/>
              </a:ext>
            </a:extLst>
          </p:cNvPr>
          <p:cNvSpPr/>
          <p:nvPr/>
        </p:nvSpPr>
        <p:spPr>
          <a:xfrm>
            <a:off x="914400" y="4736592"/>
            <a:ext cx="603504" cy="603504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8428737E-743B-4315-B884-15F46E373337}"/>
              </a:ext>
            </a:extLst>
          </p:cNvPr>
          <p:cNvSpPr/>
          <p:nvPr/>
        </p:nvSpPr>
        <p:spPr>
          <a:xfrm>
            <a:off x="914400" y="47365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59A5D810-C694-4E2E-A78F-5F0D98E539C7}"/>
              </a:ext>
            </a:extLst>
          </p:cNvPr>
          <p:cNvSpPr/>
          <p:nvPr/>
        </p:nvSpPr>
        <p:spPr>
          <a:xfrm>
            <a:off x="1783080" y="45354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</a:t>
            </a:r>
            <a:r>
              <a:rPr lang="zh-TW" altLang="en-US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室內定位整合（應用層面）</a:t>
            </a:r>
            <a:endParaRPr lang="en-US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35B19DFB-11F3-4A4C-90FE-37DABDB6A47A}"/>
              </a:ext>
            </a:extLst>
          </p:cNvPr>
          <p:cNvSpPr/>
          <p:nvPr/>
        </p:nvSpPr>
        <p:spPr>
          <a:xfrm>
            <a:off x="1783080" y="4974336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TW" altLang="en-US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實現微型無人機於室內環境之自主定位與控制能力。</a:t>
            </a:r>
            <a:endParaRPr lang="en-US" sz="160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3A260918-3638-44ED-8035-5E79E3C9DE56}"/>
              </a:ext>
            </a:extLst>
          </p:cNvPr>
          <p:cNvSpPr/>
          <p:nvPr/>
        </p:nvSpPr>
        <p:spPr>
          <a:xfrm>
            <a:off x="9464040" y="48097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支撐貢獻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系統總架構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08960" y="1463040"/>
            <a:ext cx="594360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7" name="Text 5"/>
          <p:cNvSpPr/>
          <p:nvPr/>
        </p:nvSpPr>
        <p:spPr>
          <a:xfrm>
            <a:off x="3108960" y="1463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上位機:顯示地圖、解算位置、下達指令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2194560"/>
            <a:ext cx="0" cy="457200"/>
          </a:xfrm>
          <a:prstGeom prst="line">
            <a:avLst/>
          </a:prstGeom>
          <a:noFill/>
          <a:ln w="1905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 sz="2000"/>
          </a:p>
        </p:txBody>
      </p:sp>
      <p:sp>
        <p:nvSpPr>
          <p:cNvPr id="9" name="Shape 7"/>
          <p:cNvSpPr/>
          <p:nvPr/>
        </p:nvSpPr>
        <p:spPr>
          <a:xfrm>
            <a:off x="8229600" y="2194560"/>
            <a:ext cx="0" cy="457200"/>
          </a:xfrm>
          <a:prstGeom prst="line">
            <a:avLst/>
          </a:prstGeom>
          <a:noFill/>
          <a:ln w="1905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 sz="200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飛控系統(系統一)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333756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</a:t>
            </a: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遙控器(</a:t>
            </a:r>
            <a:r>
              <a:rPr lang="zh-CN" alt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連接電腦與發送控制信號</a:t>
            </a: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 2.4GHz ESB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38912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17" name="Text 15"/>
          <p:cNvSpPr/>
          <p:nvPr/>
        </p:nvSpPr>
        <p:spPr>
          <a:xfrm>
            <a:off x="777240" y="43891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飛機A</a:t>
            </a:r>
            <a:endParaRPr lang="en-US" sz="14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ATK原機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438912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19" name="Text 17"/>
          <p:cNvSpPr/>
          <p:nvPr/>
        </p:nvSpPr>
        <p:spPr>
          <a:xfrm>
            <a:off x="3246120" y="43891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飛機B</a:t>
            </a:r>
            <a:endParaRPr lang="en-US" sz="14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自製板+nRF52840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2697480"/>
            <a:ext cx="5669280" cy="3063240"/>
          </a:xfrm>
          <a:prstGeom prst="roundRect">
            <a:avLst>
              <a:gd name="adj" fmla="val 2388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21" name="Shape 19"/>
          <p:cNvSpPr/>
          <p:nvPr/>
        </p:nvSpPr>
        <p:spPr>
          <a:xfrm>
            <a:off x="5943600" y="2697480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2" name="Text 20"/>
          <p:cNvSpPr/>
          <p:nvPr/>
        </p:nvSpPr>
        <p:spPr>
          <a:xfrm>
            <a:off x="5943600" y="2697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定位系統(系統二)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33375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24" name="Text 22"/>
          <p:cNvSpPr/>
          <p:nvPr/>
        </p:nvSpPr>
        <p:spPr>
          <a:xfrm>
            <a:off x="6172200" y="33375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40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 </a:t>
            </a:r>
            <a:r>
              <a:rPr lang="zh-TW" altLang="en-US" sz="140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中繼站</a:t>
            </a:r>
            <a:r>
              <a:rPr lang="en-US" sz="140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(連接無線與電腦)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 ESP-</a:t>
            </a:r>
            <a:r>
              <a:rPr lang="en-US" altLang="zh-CN" sz="12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27" name="Text 25"/>
          <p:cNvSpPr/>
          <p:nvPr/>
        </p:nvSpPr>
        <p:spPr>
          <a:xfrm>
            <a:off x="617220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</a:t>
            </a:r>
            <a:r>
              <a:rPr lang="en-US" sz="1200" b="1" dirty="0"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</a:t>
            </a: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7804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30" name="Text 28"/>
          <p:cNvSpPr/>
          <p:nvPr/>
        </p:nvSpPr>
        <p:spPr>
          <a:xfrm>
            <a:off x="717804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ESP錨2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7804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8388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33" name="Text 31"/>
          <p:cNvSpPr/>
          <p:nvPr/>
        </p:nvSpPr>
        <p:spPr>
          <a:xfrm>
            <a:off x="818388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ESP錨3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8388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8972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36" name="Text 34"/>
          <p:cNvSpPr/>
          <p:nvPr/>
        </p:nvSpPr>
        <p:spPr>
          <a:xfrm>
            <a:off x="918972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ESP錨4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8972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401300" y="4389120"/>
            <a:ext cx="914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39" name="Text 37"/>
          <p:cNvSpPr/>
          <p:nvPr/>
        </p:nvSpPr>
        <p:spPr>
          <a:xfrm>
            <a:off x="10401300" y="4434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飛機C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ESP-FC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0A4D6E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kern="0" spc="400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自製電路板與</a:t>
            </a:r>
            <a:r>
              <a:rPr lang="zh-CN" alt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系統架構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電路板設計</a:t>
            </a:r>
            <a:r>
              <a:rPr lang="en-US" altLang="zh-TW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、 </a:t>
            </a:r>
            <a:r>
              <a:rPr lang="zh-CN" altLang="en-US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系統架構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54864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飛控電路板設計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23731"/>
            <a:ext cx="3931920" cy="464347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663440" y="1423731"/>
            <a:ext cx="6949440" cy="4643469"/>
          </a:xfrm>
          <a:prstGeom prst="roundRect">
            <a:avLst>
              <a:gd name="adj" fmla="val 1702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37760" y="16459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四項核心硬體設計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937760" y="2103119"/>
            <a:ext cx="6400800" cy="984123"/>
          </a:xfrm>
          <a:prstGeom prst="roundRect">
            <a:avLst>
              <a:gd name="adj" fmla="val 7317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2" name="Shape 9"/>
          <p:cNvSpPr/>
          <p:nvPr/>
        </p:nvSpPr>
        <p:spPr>
          <a:xfrm>
            <a:off x="5120640" y="2331720"/>
            <a:ext cx="384048" cy="384048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3" name="Text 10"/>
          <p:cNvSpPr/>
          <p:nvPr/>
        </p:nvSpPr>
        <p:spPr>
          <a:xfrm>
            <a:off x="51206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50992" y="219456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</a:t>
            </a: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50992" y="2487167"/>
            <a:ext cx="55321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採用雙排母引出腳位，支援</a:t>
            </a:r>
            <a:r>
              <a:rPr lang="en-US" altLang="zh-CN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</a:t>
            </a: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 與 </a:t>
            </a:r>
            <a:r>
              <a:rPr lang="en-US" altLang="zh-TW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GY-91 </a:t>
            </a: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感測模組獨立拆裝與訊號檢測。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937760" y="3166680"/>
            <a:ext cx="6400800" cy="8641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7" name="Shape 14"/>
          <p:cNvSpPr/>
          <p:nvPr/>
        </p:nvSpPr>
        <p:spPr>
          <a:xfrm>
            <a:off x="5120640" y="3349561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8" name="Text 15"/>
          <p:cNvSpPr/>
          <p:nvPr/>
        </p:nvSpPr>
        <p:spPr>
          <a:xfrm>
            <a:off x="5120640" y="33495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650992" y="3237012"/>
            <a:ext cx="5532120" cy="29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板框一體化輕量結構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650992" y="3550729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PCB </a:t>
            </a:r>
            <a:r>
              <a:rPr lang="zh-TW" alt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本體兼具機身結構與機臂，端點直接整合馬達固定座，實現結構輕量化</a:t>
            </a:r>
            <a:r>
              <a:rPr lang="zh-CN" alt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937760" y="5050570"/>
            <a:ext cx="6400800" cy="8641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22" name="Shape 19"/>
          <p:cNvSpPr/>
          <p:nvPr/>
        </p:nvSpPr>
        <p:spPr>
          <a:xfrm>
            <a:off x="5120640" y="523345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3" name="Text 20"/>
          <p:cNvSpPr/>
          <p:nvPr/>
        </p:nvSpPr>
        <p:spPr>
          <a:xfrm>
            <a:off x="5120640" y="52334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50992" y="5142009"/>
            <a:ext cx="5532120" cy="29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降低電磁幹擾</a:t>
            </a:r>
            <a:r>
              <a:rPr lang="zh-CN" alt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</a:t>
            </a:r>
            <a:r>
              <a:rPr lang="en-US" altLang="zh-CN" sz="14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EMI</a:t>
            </a:r>
            <a:r>
              <a:rPr lang="zh-CN" alt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650992" y="5526056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M1</a:t>
            </a:r>
            <a:r>
              <a:rPr lang="zh-TW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～</a:t>
            </a:r>
            <a:r>
              <a:rPr lang="en-US" altLang="zh-TW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M4 </a:t>
            </a:r>
            <a:r>
              <a:rPr lang="zh-TW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插座置於背面、</a:t>
            </a:r>
            <a:r>
              <a:rPr lang="en-US" altLang="zh-TW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IMU </a:t>
            </a:r>
            <a:r>
              <a:rPr lang="zh-TW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置於正面； </a:t>
            </a:r>
            <a:r>
              <a:rPr lang="en-US" altLang="zh-TW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PCB </a:t>
            </a:r>
            <a:r>
              <a:rPr lang="zh-TW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板厚與母</a:t>
            </a:r>
            <a:r>
              <a:rPr lang="zh-CN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</a:t>
            </a:r>
            <a:r>
              <a:rPr lang="zh-TW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高度增加 </a:t>
            </a:r>
            <a:r>
              <a:rPr lang="en-US" altLang="zh-TW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</a:t>
            </a:r>
            <a:r>
              <a:rPr lang="zh-TW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軸距離，降低電磁耦合。</a:t>
            </a:r>
            <a:endParaRPr lang="en-US" altLang="zh-TW" sz="1050" dirty="0">
              <a:solidFill>
                <a:srgbClr val="5A6575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馬達端配置 </a:t>
            </a:r>
            <a:r>
              <a:rPr lang="en-US" altLang="zh-TW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SS14 </a:t>
            </a:r>
            <a:r>
              <a:rPr lang="zh-TW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續流二極體與去耦電容，吸收</a:t>
            </a:r>
            <a:r>
              <a:rPr lang="zh-CN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瞬間電</a:t>
            </a:r>
            <a:r>
              <a:rPr lang="zh-TW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</a:t>
            </a:r>
            <a:r>
              <a:rPr lang="zh-CN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變化</a:t>
            </a:r>
            <a:r>
              <a:rPr lang="zh-TW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與高頻雜訊。</a:t>
            </a:r>
            <a:endParaRPr lang="en-US" altLang="zh-TW" sz="1050" dirty="0">
              <a:solidFill>
                <a:srgbClr val="5A6575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937760" y="4095022"/>
            <a:ext cx="6400800" cy="8641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27" name="Shape 24"/>
          <p:cNvSpPr/>
          <p:nvPr/>
        </p:nvSpPr>
        <p:spPr>
          <a:xfrm>
            <a:off x="5120640" y="4277902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8" name="Text 25"/>
          <p:cNvSpPr/>
          <p:nvPr/>
        </p:nvSpPr>
        <p:spPr>
          <a:xfrm>
            <a:off x="5120640" y="42779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</a:rPr>
              <a:t>3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650992" y="4186462"/>
            <a:ext cx="5532120" cy="28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重心平衡</a:t>
            </a:r>
            <a:r>
              <a:rPr lang="zh-CN" alt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與空間利用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650992" y="447907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利用</a:t>
            </a:r>
            <a:r>
              <a:rPr lang="zh-CN" alt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母排架</a:t>
            </a:r>
            <a:r>
              <a:rPr lang="zh-TW" alt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altLang="zh-TW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GY-91 </a:t>
            </a:r>
            <a:r>
              <a:rPr lang="zh-TW" alt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模組產生的下方空隙佈置被動元件，提高 </a:t>
            </a:r>
            <a:r>
              <a:rPr lang="en-US" altLang="zh-TW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PCB </a:t>
            </a:r>
            <a:r>
              <a:rPr lang="zh-TW" alt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板面利用率。</a:t>
            </a:r>
            <a:endParaRPr lang="en-US" altLang="zh-TW" sz="1100" dirty="0">
              <a:solidFill>
                <a:srgbClr val="5A6575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對稱佈置主控與感測器，確保安裝後重心</a:t>
            </a:r>
            <a:r>
              <a:rPr lang="zh-CN" alt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比較平衡</a:t>
            </a:r>
            <a:r>
              <a:rPr lang="zh-TW" alt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10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3761266-4EA9-40DA-A391-20BCEDF14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1980" y="2095236"/>
            <a:ext cx="2387380" cy="3486288"/>
          </a:xfrm>
          <a:prstGeom prst="rect">
            <a:avLst/>
          </a:prstGeom>
        </p:spPr>
      </p:pic>
      <p:pic>
        <p:nvPicPr>
          <p:cNvPr id="34" name="Image 1" descr="img/pcb_back.png">
            <a:extLst>
              <a:ext uri="{FF2B5EF4-FFF2-40B4-BE49-F238E27FC236}">
                <a16:creationId xmlns:a16="http://schemas.microsoft.com/office/drawing/2014/main" id="{C2645FC4-D408-4EA2-BEA0-3F0956DABBB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75344" y="3621023"/>
            <a:ext cx="2330496" cy="2401716"/>
          </a:xfrm>
          <a:prstGeom prst="rect">
            <a:avLst/>
          </a:prstGeom>
        </p:spPr>
      </p:pic>
      <p:sp>
        <p:nvSpPr>
          <p:cNvPr id="36" name="Text 7">
            <a:extLst>
              <a:ext uri="{FF2B5EF4-FFF2-40B4-BE49-F238E27FC236}">
                <a16:creationId xmlns:a16="http://schemas.microsoft.com/office/drawing/2014/main" id="{0CBE9AF6-31FF-46E5-B999-27DE9317DDC0}"/>
              </a:ext>
            </a:extLst>
          </p:cNvPr>
          <p:cNvSpPr/>
          <p:nvPr/>
        </p:nvSpPr>
        <p:spPr>
          <a:xfrm>
            <a:off x="788276" y="5125896"/>
            <a:ext cx="1780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背面(馬達連接器 M1–M4)</a:t>
            </a:r>
            <a:endParaRPr lang="en-US" sz="1100" dirty="0"/>
          </a:p>
        </p:txBody>
      </p:sp>
      <p:pic>
        <p:nvPicPr>
          <p:cNvPr id="7" name="Image 0" descr="img/pcb_front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1598" y="1546544"/>
            <a:ext cx="2330496" cy="24649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94829" y="1913928"/>
            <a:ext cx="1927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電路板正面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飛控平</a:t>
            </a:r>
            <a:r>
              <a:rPr lang="zh-CN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9748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9" name="Text 7"/>
          <p:cNvSpPr/>
          <p:nvPr/>
        </p:nvSpPr>
        <p:spPr>
          <a:xfrm>
            <a:off x="621792" y="1554480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37744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1" name="Text 9"/>
          <p:cNvSpPr/>
          <p:nvPr/>
        </p:nvSpPr>
        <p:spPr>
          <a:xfrm>
            <a:off x="3319272" y="155448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主控 MCU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23560" y="1554480"/>
            <a:ext cx="201168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3" name="Text 11"/>
          <p:cNvSpPr/>
          <p:nvPr/>
        </p:nvSpPr>
        <p:spPr>
          <a:xfrm>
            <a:off x="5696712" y="155448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1554480"/>
            <a:ext cx="182880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5" name="Text 13"/>
          <p:cNvSpPr/>
          <p:nvPr/>
        </p:nvSpPr>
        <p:spPr>
          <a:xfrm>
            <a:off x="7708392" y="15544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64040" y="1554480"/>
            <a:ext cx="214884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7" name="Text 15"/>
          <p:cNvSpPr/>
          <p:nvPr/>
        </p:nvSpPr>
        <p:spPr>
          <a:xfrm>
            <a:off x="9537192" y="1554480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角色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057400"/>
            <a:ext cx="2697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9" name="Text 17"/>
          <p:cNvSpPr/>
          <p:nvPr/>
        </p:nvSpPr>
        <p:spPr>
          <a:xfrm>
            <a:off x="621792" y="2057400"/>
            <a:ext cx="2551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ATK-MiniFly 原機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205740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21" name="Text 19"/>
          <p:cNvSpPr/>
          <p:nvPr/>
        </p:nvSpPr>
        <p:spPr>
          <a:xfrm>
            <a:off x="3319272" y="2057400"/>
            <a:ext cx="2231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STM32F411(M4)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nRF51822(M0)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23560" y="205740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23" name="Text 21"/>
          <p:cNvSpPr/>
          <p:nvPr/>
        </p:nvSpPr>
        <p:spPr>
          <a:xfrm>
            <a:off x="5696712" y="205740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 2.4G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(專用晶片+PA)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2057400"/>
            <a:ext cx="1828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25" name="Text 23"/>
          <p:cNvSpPr/>
          <p:nvPr/>
        </p:nvSpPr>
        <p:spPr>
          <a:xfrm>
            <a:off x="7708392" y="205740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原廠韌體</a:t>
            </a:r>
            <a:r>
              <a:rPr lang="zh-CN" alt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（被移植）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464040" y="2057400"/>
            <a:ext cx="2148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27" name="Text 25"/>
          <p:cNvSpPr/>
          <p:nvPr/>
        </p:nvSpPr>
        <p:spPr>
          <a:xfrm>
            <a:off x="9537192" y="2057400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對照組,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也是多機控制的一員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269748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29" name="Text 27"/>
          <p:cNvSpPr/>
          <p:nvPr/>
        </p:nvSpPr>
        <p:spPr>
          <a:xfrm>
            <a:off x="621792" y="3291840"/>
            <a:ext cx="2551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 + XIAO nRF52840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46120" y="3291840"/>
            <a:ext cx="237744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31" name="Text 29"/>
          <p:cNvSpPr/>
          <p:nvPr/>
        </p:nvSpPr>
        <p:spPr>
          <a:xfrm>
            <a:off x="3319272" y="3291840"/>
            <a:ext cx="2231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nRF52840(M4F)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單晶片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23560" y="3291840"/>
            <a:ext cx="201168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33" name="Text 31"/>
          <p:cNvSpPr/>
          <p:nvPr/>
        </p:nvSpPr>
        <p:spPr>
          <a:xfrm>
            <a:off x="5696712" y="329184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 2.4G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(內建 RADIO)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35240" y="3291840"/>
            <a:ext cx="182880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35" name="Text 33"/>
          <p:cNvSpPr/>
          <p:nvPr/>
        </p:nvSpPr>
        <p:spPr>
          <a:xfrm>
            <a:off x="7708392" y="329184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移植</a:t>
            </a:r>
            <a:r>
              <a:rPr lang="en-US" altLang="zh-CN" sz="11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ATK-MiniFLY</a:t>
            </a:r>
            <a:r>
              <a:rPr lang="en-US" altLang="zh-CN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464040" y="3291840"/>
            <a:ext cx="214884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37" name="Text 35"/>
          <p:cNvSpPr/>
          <p:nvPr/>
        </p:nvSpPr>
        <p:spPr>
          <a:xfrm>
            <a:off x="9537192" y="3291840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 err="1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研究對象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526280"/>
            <a:ext cx="269748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39" name="Text 37"/>
          <p:cNvSpPr/>
          <p:nvPr/>
        </p:nvSpPr>
        <p:spPr>
          <a:xfrm>
            <a:off x="621792" y="4526280"/>
            <a:ext cx="2551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 + XIAO ESP32S3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246120" y="4526280"/>
            <a:ext cx="237744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41" name="Text 39"/>
          <p:cNvSpPr/>
          <p:nvPr/>
        </p:nvSpPr>
        <p:spPr>
          <a:xfrm>
            <a:off x="3319272" y="4526280"/>
            <a:ext cx="223113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ESP32S3(LX7)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單晶片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23560" y="4526280"/>
            <a:ext cx="201168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43" name="Text 41"/>
          <p:cNvSpPr/>
          <p:nvPr/>
        </p:nvSpPr>
        <p:spPr>
          <a:xfrm>
            <a:off x="5696712" y="4526280"/>
            <a:ext cx="18653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WiFi / BLE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635240" y="4526280"/>
            <a:ext cx="182880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45" name="Text 43"/>
          <p:cNvSpPr/>
          <p:nvPr/>
        </p:nvSpPr>
        <p:spPr>
          <a:xfrm>
            <a:off x="7708392" y="4526280"/>
            <a:ext cx="168249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開源 ESP-FC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464040" y="4526280"/>
            <a:ext cx="214884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47" name="Text 45"/>
          <p:cNvSpPr/>
          <p:nvPr/>
        </p:nvSpPr>
        <p:spPr>
          <a:xfrm>
            <a:off x="9537192" y="4526280"/>
            <a:ext cx="200253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驗證主控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本研究硬體架構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2395CAC-08D8-40D2-9983-DA6A4213C989}"/>
              </a:ext>
            </a:extLst>
          </p:cNvPr>
          <p:cNvGrpSpPr/>
          <p:nvPr/>
        </p:nvGrpSpPr>
        <p:grpSpPr>
          <a:xfrm>
            <a:off x="912419" y="1389899"/>
            <a:ext cx="7953270" cy="4464154"/>
            <a:chOff x="2413000" y="1422400"/>
            <a:chExt cx="8599389" cy="4368800"/>
          </a:xfrm>
        </p:grpSpPr>
        <p:sp>
          <p:nvSpPr>
            <p:cNvPr id="8" name="Rectangle 7"/>
            <p:cNvSpPr/>
            <p:nvPr/>
          </p:nvSpPr>
          <p:spPr>
            <a:xfrm>
              <a:off x="4445000" y="1422400"/>
              <a:ext cx="2286000" cy="6096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 dirty="0" err="1">
                  <a:solidFill>
                    <a:srgbClr val="111111"/>
                  </a:solidFill>
                </a:rPr>
                <a:t>馬達驅動</a:t>
              </a:r>
              <a:endParaRPr sz="1600" b="0" dirty="0">
                <a:solidFill>
                  <a:srgbClr val="11111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413000" y="2235200"/>
              <a:ext cx="4318000" cy="2717800"/>
            </a:xfrm>
            <a:prstGeom prst="rect">
              <a:avLst/>
            </a:prstGeom>
            <a:solidFill>
              <a:srgbClr val="E8F1FB"/>
            </a:solidFill>
            <a:ln w="15240">
              <a:solidFill>
                <a:srgbClr val="333333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endParaRPr sz="24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489200" y="2286000"/>
              <a:ext cx="2789033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 dirty="0">
                  <a:solidFill>
                    <a:srgbClr val="111111"/>
                  </a:solidFill>
                </a:rPr>
                <a:t>XIAO nRF52840 Sense </a:t>
              </a:r>
              <a:r>
                <a:rPr sz="1200" b="1" dirty="0" err="1">
                  <a:solidFill>
                    <a:srgbClr val="111111"/>
                  </a:solidFill>
                </a:rPr>
                <a:t>模組</a:t>
              </a:r>
              <a:r>
                <a:rPr sz="1200" b="1" dirty="0">
                  <a:solidFill>
                    <a:srgbClr val="111111"/>
                  </a:solidFill>
                </a:rPr>
                <a:t>(</a:t>
              </a:r>
              <a:r>
                <a:rPr sz="1200" b="1" dirty="0" err="1">
                  <a:solidFill>
                    <a:srgbClr val="111111"/>
                  </a:solidFill>
                </a:rPr>
                <a:t>可插拔更換</a:t>
              </a:r>
              <a:r>
                <a:rPr sz="1200" b="1" dirty="0">
                  <a:solidFill>
                    <a:srgbClr val="111111"/>
                  </a:solidFill>
                </a:rPr>
                <a:t>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90800" y="2540000"/>
              <a:ext cx="3962400" cy="965200"/>
            </a:xfrm>
            <a:prstGeom prst="rect">
              <a:avLst/>
            </a:prstGeom>
            <a:solidFill>
              <a:srgbClr val="7B9FE0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>
                  <a:solidFill>
                    <a:srgbClr val="111111"/>
                  </a:solidFill>
                </a:rPr>
                <a:t>nRF52840</a:t>
              </a:r>
            </a:p>
            <a:p>
              <a:pPr algn="ctr"/>
              <a:r>
                <a:rPr sz="1400" b="0" dirty="0">
                  <a:solidFill>
                    <a:srgbClr val="111111"/>
                  </a:solidFill>
                </a:rPr>
                <a:t>64MHz Cortex-M4F</a:t>
              </a:r>
            </a:p>
            <a:p>
              <a:pPr algn="ctr"/>
              <a:r>
                <a:rPr sz="1400" b="0" dirty="0">
                  <a:solidFill>
                    <a:srgbClr val="111111"/>
                  </a:solidFill>
                </a:rPr>
                <a:t>1MB FLASH ｜ 256KB RAM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90800" y="3606800"/>
              <a:ext cx="1905000" cy="584200"/>
            </a:xfrm>
            <a:prstGeom prst="rect">
              <a:avLst/>
            </a:prstGeom>
            <a:solidFill>
              <a:srgbClr val="B8D9F2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板載晶片天線</a:t>
              </a:r>
              <a:endParaRPr sz="1400" b="0" dirty="0">
                <a:solidFill>
                  <a:srgbClr val="11111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48200" y="3606800"/>
              <a:ext cx="1905000" cy="584200"/>
            </a:xfrm>
            <a:prstGeom prst="rect">
              <a:avLst/>
            </a:prstGeom>
            <a:solidFill>
              <a:srgbClr val="B8D9F2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400" b="0" dirty="0">
                  <a:solidFill>
                    <a:srgbClr val="111111"/>
                  </a:solidFill>
                </a:rPr>
                <a:t>LSM6DS3TR-C</a:t>
              </a:r>
            </a:p>
            <a:p>
              <a:pPr algn="ctr"/>
              <a:r>
                <a:rPr sz="1200" b="0" dirty="0" err="1">
                  <a:solidFill>
                    <a:srgbClr val="111111"/>
                  </a:solidFill>
                </a:rPr>
                <a:t>板載六軸</a:t>
              </a:r>
              <a:endParaRPr sz="1200" b="0" dirty="0">
                <a:solidFill>
                  <a:srgbClr val="11111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90800" y="4292600"/>
              <a:ext cx="3962400" cy="533400"/>
            </a:xfrm>
            <a:prstGeom prst="rect">
              <a:avLst/>
            </a:prstGeom>
            <a:solidFill>
              <a:srgbClr val="B8D9F2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 dirty="0" err="1">
                  <a:solidFill>
                    <a:srgbClr val="111111"/>
                  </a:solidFill>
                </a:rPr>
                <a:t>內建充電電路</a:t>
              </a:r>
              <a:r>
                <a:rPr sz="1600" b="0" dirty="0">
                  <a:solidFill>
                    <a:srgbClr val="111111"/>
                  </a:solidFill>
                </a:rPr>
                <a:t>(BQ25101)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493000" y="2362200"/>
              <a:ext cx="2286000" cy="13970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>
                  <a:solidFill>
                    <a:srgbClr val="111111"/>
                  </a:solidFill>
                </a:rPr>
                <a:t>GY-91　10DOF</a:t>
              </a: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三軸加速度計</a:t>
              </a:r>
              <a:endParaRPr sz="1400" b="0" dirty="0">
                <a:solidFill>
                  <a:srgbClr val="111111"/>
                </a:solidFill>
              </a:endParaRP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三軸陀螺儀</a:t>
              </a:r>
              <a:endParaRPr sz="1400" b="0" dirty="0">
                <a:solidFill>
                  <a:srgbClr val="111111"/>
                </a:solidFill>
              </a:endParaRP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三軸磁力計</a:t>
              </a:r>
              <a:endParaRPr sz="1400" b="0" dirty="0">
                <a:solidFill>
                  <a:srgbClr val="111111"/>
                </a:solidFill>
              </a:endParaRP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氣壓計</a:t>
              </a:r>
              <a:endParaRPr sz="1400" b="0" dirty="0">
                <a:solidFill>
                  <a:srgbClr val="11111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93000" y="4038600"/>
              <a:ext cx="2286000" cy="7874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 dirty="0" err="1">
                  <a:solidFill>
                    <a:srgbClr val="111111"/>
                  </a:solidFill>
                </a:rPr>
                <a:t>鋰電池</a:t>
              </a:r>
              <a:endParaRPr sz="1600" b="0" dirty="0">
                <a:solidFill>
                  <a:srgbClr val="111111"/>
                </a:solidFill>
              </a:endParaRPr>
            </a:p>
            <a:p>
              <a:pPr algn="ctr"/>
              <a:r>
                <a:rPr sz="1200" b="0" dirty="0">
                  <a:solidFill>
                    <a:srgbClr val="111111"/>
                  </a:solidFill>
                </a:rPr>
                <a:t>(</a:t>
              </a:r>
              <a:r>
                <a:rPr lang="zh-CN" altLang="en-US" sz="1200" b="0" dirty="0">
                  <a:solidFill>
                    <a:srgbClr val="111111"/>
                  </a:solidFill>
                </a:rPr>
                <a:t>可</a:t>
              </a:r>
              <a:r>
                <a:rPr sz="1200" b="0" dirty="0" err="1">
                  <a:solidFill>
                    <a:srgbClr val="111111"/>
                  </a:solidFill>
                </a:rPr>
                <a:t>經模組內建電路充電</a:t>
              </a:r>
              <a:r>
                <a:rPr sz="1200" b="0" dirty="0">
                  <a:solidFill>
                    <a:srgbClr val="111111"/>
                  </a:solidFill>
                </a:rPr>
                <a:t>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413000" y="5181600"/>
              <a:ext cx="2286000" cy="6096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 dirty="0">
                  <a:solidFill>
                    <a:srgbClr val="111111"/>
                  </a:solidFill>
                </a:rPr>
                <a:t>USB </a:t>
              </a:r>
              <a:r>
                <a:rPr sz="1600" b="0" dirty="0" err="1">
                  <a:solidFill>
                    <a:srgbClr val="111111"/>
                  </a:solidFill>
                </a:rPr>
                <a:t>介面</a:t>
              </a:r>
              <a:endParaRPr sz="1600" b="0" dirty="0">
                <a:solidFill>
                  <a:srgbClr val="11111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67569" y="2032000"/>
              <a:ext cx="46006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dirty="0">
                  <a:solidFill>
                    <a:srgbClr val="111111"/>
                  </a:solidFill>
                </a:rPr>
                <a:t>PWM×4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37272" y="2819400"/>
              <a:ext cx="349456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dirty="0">
                  <a:solidFill>
                    <a:srgbClr val="111111"/>
                  </a:solidFill>
                </a:rPr>
                <a:t>TWIM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786590" y="4191000"/>
              <a:ext cx="650820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dirty="0">
                  <a:solidFill>
                    <a:srgbClr val="111111"/>
                  </a:solidFill>
                </a:rPr>
                <a:t>BAT+/BAT−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36924" y="4953000"/>
              <a:ext cx="50815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dirty="0">
                  <a:solidFill>
                    <a:srgbClr val="111111"/>
                  </a:solidFill>
                </a:rPr>
                <a:t>CDC / 5V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 flipV="1">
              <a:off x="5588000" y="2032000"/>
              <a:ext cx="0" cy="20320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6731000" y="3060700"/>
              <a:ext cx="762000" cy="0"/>
            </a:xfrm>
            <a:prstGeom prst="line">
              <a:avLst/>
            </a:prstGeom>
            <a:ln w="16510">
              <a:solidFill>
                <a:srgbClr val="333333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6731000" y="4432300"/>
              <a:ext cx="762000" cy="0"/>
            </a:xfrm>
            <a:prstGeom prst="line">
              <a:avLst/>
            </a:prstGeom>
            <a:ln w="16510">
              <a:solidFill>
                <a:srgbClr val="333333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3556000" y="4953000"/>
              <a:ext cx="0" cy="22860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9779000" y="4432300"/>
              <a:ext cx="762000" cy="0"/>
            </a:xfrm>
            <a:prstGeom prst="line">
              <a:avLst/>
            </a:prstGeom>
            <a:ln w="16510">
              <a:solidFill>
                <a:srgbClr val="333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10541000" y="1727200"/>
              <a:ext cx="0" cy="2705100"/>
            </a:xfrm>
            <a:prstGeom prst="line">
              <a:avLst/>
            </a:prstGeom>
            <a:ln w="16510">
              <a:solidFill>
                <a:srgbClr val="333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 flipH="1">
              <a:off x="6731000" y="1727200"/>
              <a:ext cx="38100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0704611" y="2930634"/>
              <a:ext cx="307778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dirty="0">
                  <a:solidFill>
                    <a:srgbClr val="111111"/>
                  </a:solidFill>
                </a:rPr>
                <a:t>VBAT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C595DE-8A25-4B62-A378-8531CF6AB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467" y="987722"/>
            <a:ext cx="2566293" cy="191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GY-91 MPU9250 BMP280 10DOF 羅盤加速陀螺儀感測器模組9 軸態度感測器9 軸適用於Arduino : 工業與科學">
            <a:extLst>
              <a:ext uri="{FF2B5EF4-FFF2-40B4-BE49-F238E27FC236}">
                <a16:creationId xmlns:a16="http://schemas.microsoft.com/office/drawing/2014/main" id="{94E6B216-0664-46B7-998B-18B24EB37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5" y="3823116"/>
            <a:ext cx="2583589" cy="205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603BEA0D-BDF6-4228-B87A-DC4549B451FB}"/>
              </a:ext>
            </a:extLst>
          </p:cNvPr>
          <p:cNvSpPr txBox="1"/>
          <p:nvPr/>
        </p:nvSpPr>
        <p:spPr>
          <a:xfrm>
            <a:off x="9288333" y="2702108"/>
            <a:ext cx="292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111111"/>
                </a:solidFill>
              </a:rPr>
              <a:t>XIAO nRF52840 Sense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132C182-50D1-47FF-8AA6-35F8244E6D09}"/>
              </a:ext>
            </a:extLst>
          </p:cNvPr>
          <p:cNvSpPr txBox="1"/>
          <p:nvPr/>
        </p:nvSpPr>
        <p:spPr>
          <a:xfrm>
            <a:off x="9497060" y="5895098"/>
            <a:ext cx="244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rgbClr val="111111"/>
                </a:solidFill>
              </a:rPr>
              <a:t>GY-91</a:t>
            </a:r>
            <a:endParaRPr lang="en-US" altLang="zh-TW" sz="1800" b="1" dirty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原廠系統框架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pic>
        <p:nvPicPr>
          <p:cNvPr id="8" name="Picture 7" descr="atk_framework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1905000"/>
            <a:ext cx="11064240" cy="4058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開發環境對照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905000" cy="381000"/>
          </a:xfrm>
          <a:prstGeom prst="rect">
            <a:avLst/>
          </a:prstGeom>
          <a:solidFill>
            <a:srgbClr val="0A4D6E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250" b="1" dirty="0" err="1">
                <a:solidFill>
                  <a:srgbClr val="FFFFFF"/>
                </a:solidFill>
              </a:rPr>
              <a:t>項目</a:t>
            </a:r>
            <a:endParaRPr sz="1250" b="1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9840" y="1463040"/>
            <a:ext cx="4445000" cy="381000"/>
          </a:xfrm>
          <a:prstGeom prst="rect">
            <a:avLst/>
          </a:prstGeom>
          <a:solidFill>
            <a:srgbClr val="0A4D6E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250" b="1" dirty="0" err="1">
                <a:solidFill>
                  <a:srgbClr val="FFFFFF"/>
                </a:solidFill>
              </a:rPr>
              <a:t>原廠</a:t>
            </a:r>
            <a:r>
              <a:rPr sz="1250" b="1" dirty="0">
                <a:solidFill>
                  <a:srgbClr val="FFFFFF"/>
                </a:solidFill>
              </a:rPr>
              <a:t> ATK MiniFly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1040" y="1463040"/>
            <a:ext cx="4561840" cy="381000"/>
          </a:xfrm>
          <a:prstGeom prst="rect">
            <a:avLst/>
          </a:prstGeom>
          <a:solidFill>
            <a:srgbClr val="0A4D6E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250" b="1" dirty="0" err="1">
                <a:solidFill>
                  <a:srgbClr val="FFFFFF"/>
                </a:solidFill>
              </a:rPr>
              <a:t>本研究</a:t>
            </a:r>
            <a:r>
              <a:rPr sz="1250" b="1" dirty="0">
                <a:solidFill>
                  <a:srgbClr val="FFFFFF"/>
                </a:solidFill>
              </a:rPr>
              <a:t> nRF52840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8976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開發框架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29840" y="188976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原廠自行維護的</a:t>
            </a:r>
            <a:r>
              <a:rPr sz="1050" b="0" dirty="0">
                <a:solidFill>
                  <a:srgbClr val="1B2A4A"/>
                </a:solidFill>
              </a:rPr>
              <a:t> C </a:t>
            </a:r>
            <a:r>
              <a:rPr sz="1050" b="0" dirty="0" err="1">
                <a:solidFill>
                  <a:srgbClr val="1B2A4A"/>
                </a:solidFill>
              </a:rPr>
              <a:t>專案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51040" y="188976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Arduino </a:t>
            </a:r>
            <a:r>
              <a:rPr sz="1050" b="0" dirty="0" err="1">
                <a:solidFill>
                  <a:srgbClr val="1B2A4A"/>
                </a:solidFill>
              </a:rPr>
              <a:t>框架</a:t>
            </a:r>
            <a:r>
              <a:rPr sz="1050" b="0" dirty="0">
                <a:solidFill>
                  <a:srgbClr val="1B2A4A"/>
                </a:solidFill>
              </a:rPr>
              <a:t>
XIAO </a:t>
            </a:r>
            <a:r>
              <a:rPr sz="1050" b="0" dirty="0" err="1">
                <a:solidFill>
                  <a:srgbClr val="1B2A4A"/>
                </a:solidFill>
              </a:rPr>
              <a:t>官方</a:t>
            </a:r>
            <a:r>
              <a:rPr sz="1050" b="0" dirty="0">
                <a:solidFill>
                  <a:srgbClr val="1B2A4A"/>
                </a:solidFill>
              </a:rPr>
              <a:t> BSP </a:t>
            </a:r>
            <a:r>
              <a:rPr sz="1050" b="0" dirty="0" err="1">
                <a:solidFill>
                  <a:srgbClr val="1B2A4A"/>
                </a:solidFill>
              </a:rPr>
              <a:t>即以此為基礎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595880"/>
            <a:ext cx="1905000" cy="5588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開發環境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29840" y="2595880"/>
            <a:ext cx="44450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Keil MDK(</a:t>
            </a:r>
            <a:r>
              <a:rPr sz="1050" b="0" dirty="0" err="1">
                <a:solidFill>
                  <a:srgbClr val="1B2A4A"/>
                </a:solidFill>
              </a:rPr>
              <a:t>僅支援</a:t>
            </a:r>
            <a:r>
              <a:rPr sz="1050" b="0" dirty="0">
                <a:solidFill>
                  <a:srgbClr val="1B2A4A"/>
                </a:solidFill>
              </a:rPr>
              <a:t> STM32)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1040" y="2595880"/>
            <a:ext cx="456184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VS Code + </a:t>
            </a:r>
            <a:r>
              <a:rPr sz="1050" b="0" dirty="0" err="1">
                <a:solidFill>
                  <a:srgbClr val="1B2A4A"/>
                </a:solidFill>
              </a:rPr>
              <a:t>PlatformIO</a:t>
            </a:r>
            <a:r>
              <a:rPr sz="1050" b="0" dirty="0">
                <a:solidFill>
                  <a:srgbClr val="1B2A4A"/>
                </a:solidFill>
              </a:rPr>
              <a:t> </a:t>
            </a:r>
            <a:r>
              <a:rPr sz="1050" b="0" dirty="0" err="1">
                <a:solidFill>
                  <a:srgbClr val="1B2A4A"/>
                </a:solidFill>
              </a:rPr>
              <a:t>擴充套件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1905000" cy="5588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燒錄方式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29840" y="3200400"/>
            <a:ext cx="4445000" cy="5588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ST-Link </a:t>
            </a:r>
            <a:r>
              <a:rPr sz="1050" b="0" dirty="0" err="1">
                <a:solidFill>
                  <a:srgbClr val="1B2A4A"/>
                </a:solidFill>
              </a:rPr>
              <a:t>燒錄器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051040" y="3200400"/>
            <a:ext cx="4561840" cy="5588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雙擊</a:t>
            </a:r>
            <a:r>
              <a:rPr sz="1050" b="0" dirty="0">
                <a:solidFill>
                  <a:srgbClr val="1B2A4A"/>
                </a:solidFill>
              </a:rPr>
              <a:t> RESET </a:t>
            </a:r>
            <a:r>
              <a:rPr sz="1050" b="0" dirty="0" err="1">
                <a:solidFill>
                  <a:srgbClr val="1B2A4A"/>
                </a:solidFill>
              </a:rPr>
              <a:t>進入</a:t>
            </a:r>
            <a:r>
              <a:rPr sz="1050" b="0" dirty="0">
                <a:solidFill>
                  <a:srgbClr val="1B2A4A"/>
                </a:solidFill>
              </a:rPr>
              <a:t> Bootloader </a:t>
            </a:r>
            <a:r>
              <a:rPr sz="1050" b="0" dirty="0" err="1">
                <a:solidFill>
                  <a:srgbClr val="1B2A4A"/>
                </a:solidFill>
              </a:rPr>
              <a:t>後由</a:t>
            </a:r>
            <a:r>
              <a:rPr sz="1050" b="0" dirty="0">
                <a:solidFill>
                  <a:srgbClr val="1B2A4A"/>
                </a:solidFill>
              </a:rPr>
              <a:t> USB </a:t>
            </a:r>
            <a:r>
              <a:rPr sz="1050" b="0" dirty="0" err="1">
                <a:solidFill>
                  <a:srgbClr val="1B2A4A"/>
                </a:solidFill>
              </a:rPr>
              <a:t>上傳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3804920"/>
            <a:ext cx="1905000" cy="5588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串列監視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529840" y="3804920"/>
            <a:ext cx="44450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需 USB-TTL </a:t>
            </a:r>
            <a:r>
              <a:rPr sz="1050" b="0" dirty="0" err="1">
                <a:solidFill>
                  <a:srgbClr val="1B2A4A"/>
                </a:solidFill>
              </a:rPr>
              <a:t>轉換器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51040" y="3804920"/>
            <a:ext cx="456184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USB CDC </a:t>
            </a:r>
            <a:r>
              <a:rPr sz="1050" b="0" dirty="0" err="1">
                <a:solidFill>
                  <a:srgbClr val="1B2A4A"/>
                </a:solidFill>
              </a:rPr>
              <a:t>直接開啟,不需轉換器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4536440"/>
            <a:ext cx="11064240" cy="1041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rIns="203200" rtlCol="0" anchor="ctr"/>
          <a:lstStyle/>
          <a:p>
            <a:pPr algn="l"/>
            <a:r>
              <a:rPr sz="1150" b="1" dirty="0" err="1">
                <a:solidFill>
                  <a:srgbClr val="FFFFFF"/>
                </a:solidFill>
              </a:rPr>
              <a:t>選用</a:t>
            </a:r>
            <a:r>
              <a:rPr sz="1150" b="1" dirty="0">
                <a:solidFill>
                  <a:srgbClr val="FFFFFF"/>
                </a:solidFill>
              </a:rPr>
              <a:t> </a:t>
            </a:r>
            <a:r>
              <a:rPr sz="1150" b="1" dirty="0" err="1">
                <a:solidFill>
                  <a:srgbClr val="FFFFFF"/>
                </a:solidFill>
              </a:rPr>
              <a:t>PlatformIO</a:t>
            </a:r>
            <a:r>
              <a:rPr sz="1150" b="1" dirty="0">
                <a:solidFill>
                  <a:srgbClr val="FFFFFF"/>
                </a:solidFill>
              </a:rPr>
              <a:t> </a:t>
            </a:r>
            <a:r>
              <a:rPr sz="1150" b="1" dirty="0" err="1">
                <a:solidFill>
                  <a:srgbClr val="FFFFFF"/>
                </a:solidFill>
              </a:rPr>
              <a:t>的原因</a:t>
            </a:r>
            <a:r>
              <a:rPr sz="1150" b="1" dirty="0">
                <a:solidFill>
                  <a:srgbClr val="FFFFFF"/>
                </a:solidFill>
              </a:rPr>
              <a:t>
</a:t>
            </a:r>
            <a:r>
              <a:rPr sz="1050" dirty="0">
                <a:solidFill>
                  <a:srgbClr val="FFFFFF"/>
                </a:solidFill>
              </a:rPr>
              <a:t>XIAO </a:t>
            </a:r>
            <a:r>
              <a:rPr sz="1050" dirty="0" err="1">
                <a:solidFill>
                  <a:srgbClr val="FFFFFF"/>
                </a:solidFill>
              </a:rPr>
              <a:t>的官方</a:t>
            </a:r>
            <a:r>
              <a:rPr sz="1050" dirty="0">
                <a:solidFill>
                  <a:srgbClr val="FFFFFF"/>
                </a:solidFill>
              </a:rPr>
              <a:t> BSP 以 Arduino </a:t>
            </a:r>
            <a:r>
              <a:rPr sz="1050" dirty="0" err="1">
                <a:solidFill>
                  <a:srgbClr val="FFFFFF"/>
                </a:solidFill>
              </a:rPr>
              <a:t>框架為基礎,韌體必須在此框架下開發;PlatformIO</a:t>
            </a:r>
            <a:r>
              <a:rPr sz="1050" dirty="0">
                <a:solidFill>
                  <a:srgbClr val="FFFFFF"/>
                </a:solidFill>
              </a:rPr>
              <a:t> 是 VS Code </a:t>
            </a:r>
            <a:r>
              <a:rPr sz="1050" dirty="0" err="1">
                <a:solidFill>
                  <a:srgbClr val="FFFFFF"/>
                </a:solidFill>
              </a:rPr>
              <a:t>上支援該框架的擴充套件</a:t>
            </a:r>
            <a:r>
              <a:rPr sz="1050" dirty="0">
                <a:solidFill>
                  <a:srgbClr val="FFFFFF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控制晶片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90500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項目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9840" y="1463040"/>
            <a:ext cx="444500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原廠</a:t>
            </a:r>
            <a:r>
              <a:rPr sz="1300" b="1" dirty="0">
                <a:solidFill>
                  <a:srgbClr val="FFFFFF"/>
                </a:solidFill>
              </a:rPr>
              <a:t> ATK MiniFly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1040" y="1463040"/>
            <a:ext cx="456184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本研究</a:t>
            </a:r>
            <a:r>
              <a:rPr sz="1300" b="1" dirty="0">
                <a:solidFill>
                  <a:srgbClr val="FFFFFF"/>
                </a:solidFill>
              </a:rPr>
              <a:t> nRF52840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05000"/>
            <a:ext cx="1905000" cy="10922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核心與記憶體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29840" y="1905000"/>
            <a:ext cx="4445000" cy="10922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nRF51822　ARM Cortex-M0 32 </a:t>
            </a:r>
            <a:r>
              <a:rPr sz="1050" b="0" dirty="0" err="1">
                <a:solidFill>
                  <a:srgbClr val="1B2A4A"/>
                </a:solidFill>
              </a:rPr>
              <a:t>位元</a:t>
            </a:r>
            <a:r>
              <a:rPr sz="1050" b="0" dirty="0">
                <a:solidFill>
                  <a:srgbClr val="1B2A4A"/>
                </a:solidFill>
              </a:rPr>
              <a:t>　16 MHz</a:t>
            </a:r>
          </a:p>
          <a:p>
            <a:r>
              <a:rPr sz="1050" dirty="0">
                <a:solidFill>
                  <a:srgbClr val="1B2A4A"/>
                </a:solidFill>
              </a:rPr>
              <a:t>256 KB FLASH / 16 KB RAM</a:t>
            </a:r>
          </a:p>
          <a:p>
            <a:endParaRPr sz="1050" dirty="0">
              <a:solidFill>
                <a:srgbClr val="1B2A4A"/>
              </a:solidFill>
            </a:endParaRPr>
          </a:p>
          <a:p>
            <a:r>
              <a:rPr sz="1050" dirty="0">
                <a:solidFill>
                  <a:srgbClr val="1B2A4A"/>
                </a:solidFill>
              </a:rPr>
              <a:t>STM32F411　ARM Cortex-M4 32 </a:t>
            </a:r>
            <a:r>
              <a:rPr sz="1050" dirty="0" err="1">
                <a:solidFill>
                  <a:srgbClr val="1B2A4A"/>
                </a:solidFill>
              </a:rPr>
              <a:t>位元</a:t>
            </a:r>
            <a:r>
              <a:rPr sz="1050" dirty="0">
                <a:solidFill>
                  <a:srgbClr val="1B2A4A"/>
                </a:solidFill>
              </a:rPr>
              <a:t>　96 MHz</a:t>
            </a:r>
          </a:p>
          <a:p>
            <a:r>
              <a:rPr sz="1050" dirty="0">
                <a:solidFill>
                  <a:srgbClr val="1B2A4A"/>
                </a:solidFill>
              </a:rPr>
              <a:t>512 KB FLASH / 128 KB 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1040" y="1905000"/>
            <a:ext cx="4561840" cy="10922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nRF52840　ARM Cortex-M4 32 </a:t>
            </a:r>
            <a:r>
              <a:rPr sz="1050" b="0" dirty="0" err="1">
                <a:solidFill>
                  <a:srgbClr val="1B2A4A"/>
                </a:solidFill>
              </a:rPr>
              <a:t>位元</a:t>
            </a:r>
            <a:r>
              <a:rPr sz="1050" b="0" dirty="0">
                <a:solidFill>
                  <a:srgbClr val="1B2A4A"/>
                </a:solidFill>
              </a:rPr>
              <a:t>(</a:t>
            </a:r>
            <a:r>
              <a:rPr sz="1050" b="0" dirty="0" err="1">
                <a:solidFill>
                  <a:srgbClr val="1B2A4A"/>
                </a:solidFill>
              </a:rPr>
              <a:t>含浮點運算單元</a:t>
            </a:r>
            <a:r>
              <a:rPr sz="1050" b="0" dirty="0">
                <a:solidFill>
                  <a:srgbClr val="1B2A4A"/>
                </a:solidFill>
              </a:rPr>
              <a:t> FPU)　64 MHz</a:t>
            </a:r>
          </a:p>
          <a:p>
            <a:r>
              <a:rPr sz="1050" dirty="0">
                <a:solidFill>
                  <a:srgbClr val="1B2A4A"/>
                </a:solidFill>
              </a:rPr>
              <a:t>1 MB FLASH / 256 KB RAM</a:t>
            </a:r>
          </a:p>
          <a:p>
            <a:r>
              <a:rPr sz="1050" dirty="0" err="1">
                <a:solidFill>
                  <a:srgbClr val="1B2A4A"/>
                </a:solidFill>
              </a:rPr>
              <a:t>另有板載</a:t>
            </a:r>
            <a:r>
              <a:rPr sz="1050" dirty="0">
                <a:solidFill>
                  <a:srgbClr val="1B2A4A"/>
                </a:solidFill>
              </a:rPr>
              <a:t> 2 MB QSPI Flash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88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電源與充電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29840" y="3098800"/>
            <a:ext cx="444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TP4059 </a:t>
            </a:r>
            <a:r>
              <a:rPr sz="1050" b="0" dirty="0" err="1">
                <a:solidFill>
                  <a:srgbClr val="1B2A4A"/>
                </a:solidFill>
              </a:rPr>
              <a:t>充電晶片</a:t>
            </a:r>
            <a:r>
              <a:rPr sz="1050" b="0" dirty="0">
                <a:solidFill>
                  <a:srgbClr val="1B2A4A"/>
                </a:solidFill>
              </a:rPr>
              <a:t>(500mA)</a:t>
            </a:r>
          </a:p>
          <a:p>
            <a:r>
              <a:rPr sz="1050" dirty="0" err="1">
                <a:solidFill>
                  <a:srgbClr val="1B2A4A"/>
                </a:solidFill>
              </a:rPr>
              <a:t>兩顆</a:t>
            </a:r>
            <a:r>
              <a:rPr sz="1050" dirty="0">
                <a:solidFill>
                  <a:srgbClr val="1B2A4A"/>
                </a:solidFill>
              </a:rPr>
              <a:t> XC6204B302 LDO </a:t>
            </a:r>
            <a:r>
              <a:rPr sz="1050" dirty="0" err="1">
                <a:solidFill>
                  <a:srgbClr val="1B2A4A"/>
                </a:solidFill>
              </a:rPr>
              <a:t>分別供電</a:t>
            </a:r>
            <a:endParaRPr sz="1050" dirty="0">
              <a:solidFill>
                <a:srgbClr val="1B2A4A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51040" y="3098800"/>
            <a:ext cx="456184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無獨立充電與穩壓晶片,改用模組內建</a:t>
            </a:r>
            <a:endParaRPr sz="1050" b="0" dirty="0">
              <a:solidFill>
                <a:srgbClr val="1B2A4A"/>
              </a:solidFill>
            </a:endParaRPr>
          </a:p>
          <a:p>
            <a:r>
              <a:rPr sz="1050" dirty="0" err="1">
                <a:solidFill>
                  <a:srgbClr val="1B2A4A"/>
                </a:solidFill>
              </a:rPr>
              <a:t>充電電路</a:t>
            </a:r>
            <a:r>
              <a:rPr sz="1050" dirty="0">
                <a:solidFill>
                  <a:srgbClr val="1B2A4A"/>
                </a:solidFill>
              </a:rPr>
              <a:t>(BQ25101),</a:t>
            </a:r>
            <a:r>
              <a:rPr sz="1050" dirty="0" err="1">
                <a:solidFill>
                  <a:srgbClr val="1B2A4A"/>
                </a:solidFill>
              </a:rPr>
              <a:t>載板僅加濾波電容</a:t>
            </a:r>
            <a:endParaRPr sz="1050" dirty="0">
              <a:solidFill>
                <a:srgbClr val="1B2A4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7084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職責分工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29840" y="370840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51822 </a:t>
            </a:r>
            <a:r>
              <a:rPr sz="1050" b="0" dirty="0" err="1">
                <a:solidFill>
                  <a:srgbClr val="1B2A4A"/>
                </a:solidFill>
              </a:rPr>
              <a:t>負責無線通訊與電源管理</a:t>
            </a:r>
            <a:r>
              <a:rPr sz="1050" b="0" dirty="0">
                <a:solidFill>
                  <a:srgbClr val="1B2A4A"/>
                </a:solidFill>
              </a:rPr>
              <a:t>
F411 </a:t>
            </a:r>
            <a:r>
              <a:rPr sz="1050" b="0" dirty="0" err="1">
                <a:solidFill>
                  <a:srgbClr val="1B2A4A"/>
                </a:solidFill>
              </a:rPr>
              <a:t>負責感測、融合、PID、馬達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051040" y="370840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同一顆處理感測、融合、PID、馬達、USB,並內建</a:t>
            </a:r>
            <a:r>
              <a:rPr sz="1050" b="0" dirty="0">
                <a:solidFill>
                  <a:srgbClr val="1B2A4A"/>
                </a:solidFill>
              </a:rPr>
              <a:t> RADIO </a:t>
            </a:r>
            <a:r>
              <a:rPr sz="1050" b="0" dirty="0" err="1">
                <a:solidFill>
                  <a:srgbClr val="1B2A4A"/>
                </a:solidFill>
              </a:rPr>
              <a:t>收發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43180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晶片間通訊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529840" y="4318000"/>
            <a:ext cx="444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兩顆之間以</a:t>
            </a:r>
            <a:r>
              <a:rPr sz="1050" b="0" dirty="0">
                <a:solidFill>
                  <a:srgbClr val="1B2A4A"/>
                </a:solidFill>
              </a:rPr>
              <a:t> UART </a:t>
            </a:r>
            <a:r>
              <a:rPr sz="1050" b="0" dirty="0" err="1">
                <a:solidFill>
                  <a:srgbClr val="1B2A4A"/>
                </a:solidFill>
              </a:rPr>
              <a:t>相連</a:t>
            </a:r>
            <a:r>
              <a:rPr lang="en-US" altLang="zh-TW" sz="1050" b="0" dirty="0">
                <a:solidFill>
                  <a:srgbClr val="1B2A4A"/>
                </a:solidFill>
              </a:rPr>
              <a:t>,</a:t>
            </a:r>
            <a:r>
              <a:rPr lang="zh-CN" altLang="en-US" sz="1050" b="0" dirty="0">
                <a:solidFill>
                  <a:srgbClr val="1B2A4A"/>
                </a:solidFill>
              </a:rPr>
              <a:t>使用</a:t>
            </a:r>
            <a:r>
              <a:rPr lang="en-US" altLang="zh-CN" sz="1050" b="0" dirty="0">
                <a:solidFill>
                  <a:srgbClr val="1B2A4A"/>
                </a:solidFill>
              </a:rPr>
              <a:t>ATKP</a:t>
            </a:r>
            <a:r>
              <a:rPr lang="zh-CN" altLang="en-US" sz="1050" b="0" dirty="0">
                <a:solidFill>
                  <a:srgbClr val="1B2A4A"/>
                </a:solidFill>
              </a:rPr>
              <a:t>協定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51040" y="4318000"/>
            <a:ext cx="456184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無跨晶片通訊,資料在同一顆晶片內流動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49276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韌體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29840" y="492760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分為兩份,需各自燒錄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051040" y="492760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單一份,一次燒錄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慣性感測對照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90500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項目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9840" y="1463040"/>
            <a:ext cx="444500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原廠</a:t>
            </a:r>
            <a:r>
              <a:rPr sz="1300" b="1" dirty="0">
                <a:solidFill>
                  <a:srgbClr val="FFFFFF"/>
                </a:solidFill>
              </a:rPr>
              <a:t> ATK MiniFly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1040" y="1463040"/>
            <a:ext cx="456184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本研究</a:t>
            </a:r>
            <a:r>
              <a:rPr sz="1300" b="1" dirty="0">
                <a:solidFill>
                  <a:srgbClr val="FFFFFF"/>
                </a:solidFill>
              </a:rPr>
              <a:t> nRF52840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4818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九軸感測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29840" y="194818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MPU9250(</a:t>
            </a:r>
            <a:r>
              <a:rPr sz="1050" b="0" dirty="0" err="1">
                <a:solidFill>
                  <a:srgbClr val="1B2A4A"/>
                </a:solidFill>
              </a:rPr>
              <a:t>三軸加速度+陀螺+磁力計</a:t>
            </a:r>
            <a:r>
              <a:rPr sz="1050" b="0" dirty="0">
                <a:solidFill>
                  <a:srgbClr val="1B2A4A"/>
                </a:solidFill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1040" y="194818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GY-91 </a:t>
            </a:r>
            <a:r>
              <a:rPr sz="1050" b="0" dirty="0" err="1">
                <a:solidFill>
                  <a:srgbClr val="1B2A4A"/>
                </a:solidFill>
              </a:rPr>
              <a:t>模組</a:t>
            </a:r>
            <a:r>
              <a:rPr sz="1050" b="0" dirty="0">
                <a:solidFill>
                  <a:srgbClr val="1B2A4A"/>
                </a:solidFill>
              </a:rPr>
              <a:t>(</a:t>
            </a:r>
            <a:r>
              <a:rPr sz="1050" b="0" dirty="0" err="1">
                <a:solidFill>
                  <a:srgbClr val="1B2A4A"/>
                </a:solidFill>
              </a:rPr>
              <a:t>內含</a:t>
            </a:r>
            <a:r>
              <a:rPr sz="1050" b="0" dirty="0">
                <a:solidFill>
                  <a:srgbClr val="1B2A4A"/>
                </a:solidFill>
              </a:rPr>
              <a:t> MPU9250)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43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氣壓計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29840" y="2654300"/>
            <a:ext cx="444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BMP280(</a:t>
            </a:r>
            <a:r>
              <a:rPr sz="1050" b="0" dirty="0" err="1">
                <a:solidFill>
                  <a:srgbClr val="1B2A4A"/>
                </a:solidFill>
              </a:rPr>
              <a:t>後改</a:t>
            </a:r>
            <a:r>
              <a:rPr sz="1050" b="0" dirty="0">
                <a:solidFill>
                  <a:srgbClr val="1B2A4A"/>
                </a:solidFill>
              </a:rPr>
              <a:t> SPL06)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1040" y="2654300"/>
            <a:ext cx="456184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GY-91 </a:t>
            </a:r>
            <a:r>
              <a:rPr sz="1050" b="0" dirty="0" err="1">
                <a:solidFill>
                  <a:srgbClr val="1B2A4A"/>
                </a:solidFill>
              </a:rPr>
              <a:t>模組內含</a:t>
            </a:r>
            <a:r>
              <a:rPr sz="1050" b="0" dirty="0">
                <a:solidFill>
                  <a:srgbClr val="1B2A4A"/>
                </a:solidFill>
              </a:rPr>
              <a:t> BMP280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6042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掛接與讀取方式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29840" y="336042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九軸掛主控</a:t>
            </a:r>
            <a:r>
              <a:rPr sz="1050" b="0" dirty="0">
                <a:solidFill>
                  <a:srgbClr val="1B2A4A"/>
                </a:solidFill>
              </a:rPr>
              <a:t> IIC1(PB8/PB9),</a:t>
            </a:r>
            <a:r>
              <a:rPr sz="1050" b="0" dirty="0" err="1">
                <a:solidFill>
                  <a:srgbClr val="1B2A4A"/>
                </a:solidFill>
              </a:rPr>
              <a:t>位址</a:t>
            </a:r>
            <a:r>
              <a:rPr sz="1050" b="0" dirty="0">
                <a:solidFill>
                  <a:srgbClr val="1B2A4A"/>
                </a:solidFill>
              </a:rPr>
              <a:t> 0xD2;氣壓計掛在九軸的輔助 IIC</a:t>
            </a:r>
          </a:p>
          <a:p>
            <a:r>
              <a:rPr sz="1050" dirty="0" err="1">
                <a:solidFill>
                  <a:srgbClr val="1B2A4A"/>
                </a:solidFill>
              </a:rPr>
              <a:t>讀取方式:中斷</a:t>
            </a:r>
            <a:r>
              <a:rPr sz="1050" dirty="0">
                <a:solidFill>
                  <a:srgbClr val="1B2A4A"/>
                </a:solidFill>
              </a:rPr>
              <a:t> + DMA + </a:t>
            </a:r>
            <a:r>
              <a:rPr sz="1050" dirty="0" err="1">
                <a:solidFill>
                  <a:srgbClr val="1B2A4A"/>
                </a:solidFill>
              </a:rPr>
              <a:t>信號量</a:t>
            </a:r>
            <a:endParaRPr sz="1050" dirty="0">
              <a:solidFill>
                <a:srgbClr val="1B2A4A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051040" y="336042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以 TWIM + </a:t>
            </a:r>
            <a:r>
              <a:rPr sz="1050" b="0" dirty="0" err="1">
                <a:solidFill>
                  <a:srgbClr val="1B2A4A"/>
                </a:solidFill>
              </a:rPr>
              <a:t>EasyDMA</a:t>
            </a:r>
            <a:r>
              <a:rPr sz="1050" b="0" dirty="0">
                <a:solidFill>
                  <a:srgbClr val="1B2A4A"/>
                </a:solidFill>
              </a:rPr>
              <a:t> </a:t>
            </a:r>
            <a:r>
              <a:rPr sz="1050" b="0" dirty="0" err="1">
                <a:solidFill>
                  <a:srgbClr val="1B2A4A"/>
                </a:solidFill>
              </a:rPr>
              <a:t>讀取,設定</a:t>
            </a:r>
            <a:r>
              <a:rPr sz="1050" b="0" dirty="0">
                <a:solidFill>
                  <a:srgbClr val="1B2A4A"/>
                </a:solidFill>
              </a:rPr>
              <a:t> RXD.PTR/MAXCNT </a:t>
            </a:r>
            <a:r>
              <a:rPr sz="1050" b="0" dirty="0" err="1">
                <a:solidFill>
                  <a:srgbClr val="1B2A4A"/>
                </a:solidFill>
              </a:rPr>
              <a:t>由硬體搬資料</a:t>
            </a:r>
            <a:endParaRPr sz="1050" b="0" dirty="0">
              <a:solidFill>
                <a:srgbClr val="1B2A4A"/>
              </a:solidFill>
            </a:endParaRPr>
          </a:p>
          <a:p>
            <a:r>
              <a:rPr sz="1050" dirty="0" err="1">
                <a:solidFill>
                  <a:srgbClr val="1B2A4A"/>
                </a:solidFill>
              </a:rPr>
              <a:t>開機自動探測</a:t>
            </a:r>
            <a:r>
              <a:rPr sz="1050" dirty="0">
                <a:solidFill>
                  <a:srgbClr val="1B2A4A"/>
                </a:solidFill>
              </a:rPr>
              <a:t> 0x68/0x69 </a:t>
            </a:r>
            <a:r>
              <a:rPr sz="1050" dirty="0" err="1">
                <a:solidFill>
                  <a:srgbClr val="1B2A4A"/>
                </a:solidFill>
              </a:rPr>
              <a:t>雙位址;採純輪詢等待</a:t>
            </a:r>
            <a:endParaRPr sz="1050" dirty="0">
              <a:solidFill>
                <a:srgbClr val="1B2A4A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406654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備援感測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529840" y="4066540"/>
            <a:ext cx="444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1040" y="4066540"/>
            <a:ext cx="456184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板載</a:t>
            </a:r>
            <a:r>
              <a:rPr sz="1050" b="0" dirty="0">
                <a:solidFill>
                  <a:srgbClr val="1B2A4A"/>
                </a:solidFill>
              </a:rPr>
              <a:t> LSM6DS3 </a:t>
            </a:r>
            <a:r>
              <a:rPr sz="1050" b="0" dirty="0" err="1">
                <a:solidFill>
                  <a:srgbClr val="1B2A4A"/>
                </a:solidFill>
              </a:rPr>
              <a:t>六軸,主感測失效時自動接手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477266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可更換性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29840" y="477266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感測器直接焊在板上,不可更換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051040" y="477266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以排針座連接,可插拔更換</a:t>
            </a:r>
            <a:endParaRPr sz="1050" b="0" dirty="0">
              <a:solidFill>
                <a:srgbClr val="1B2A4A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無線通訊對照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90500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項目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9840" y="1463040"/>
            <a:ext cx="444500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原廠</a:t>
            </a:r>
            <a:r>
              <a:rPr sz="1300" b="1" dirty="0">
                <a:solidFill>
                  <a:srgbClr val="FFFFFF"/>
                </a:solidFill>
              </a:rPr>
              <a:t> ATK MiniFly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1040" y="1463040"/>
            <a:ext cx="456184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本研究</a:t>
            </a:r>
            <a:r>
              <a:rPr sz="1300" b="1" dirty="0">
                <a:solidFill>
                  <a:srgbClr val="FFFFFF"/>
                </a:solidFill>
              </a:rPr>
              <a:t> nRF52840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050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射頻晶片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29840" y="190500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NRF51822 + RFX2401C </a:t>
            </a:r>
            <a:r>
              <a:rPr sz="1050" b="0" dirty="0" err="1">
                <a:solidFill>
                  <a:srgbClr val="1B2A4A"/>
                </a:solidFill>
              </a:rPr>
              <a:t>功率放大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51040" y="190500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nRF52840 </a:t>
            </a:r>
            <a:r>
              <a:rPr sz="1050" b="0" dirty="0" err="1">
                <a:solidFill>
                  <a:srgbClr val="1B2A4A"/>
                </a:solidFill>
              </a:rPr>
              <a:t>內建</a:t>
            </a:r>
            <a:r>
              <a:rPr sz="1050" b="0" dirty="0">
                <a:solidFill>
                  <a:srgbClr val="1B2A4A"/>
                </a:solidFill>
              </a:rPr>
              <a:t> </a:t>
            </a:r>
            <a:r>
              <a:rPr sz="1050" b="0" dirty="0" err="1">
                <a:solidFill>
                  <a:srgbClr val="1B2A4A"/>
                </a:solidFill>
              </a:rPr>
              <a:t>RADIO,無外掛射頻晶片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30734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訊號路徑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29840" y="3073400"/>
            <a:ext cx="444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遙控器 → NRF51822 → UART → STM32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1040" y="3073400"/>
            <a:ext cx="456184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遙控器 → nRF52840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軟體實作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29840" y="365760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STM32 </a:t>
            </a:r>
            <a:r>
              <a:rPr sz="1050" b="0" dirty="0" err="1">
                <a:solidFill>
                  <a:srgbClr val="1B2A4A"/>
                </a:solidFill>
              </a:rPr>
              <a:t>端由</a:t>
            </a:r>
            <a:r>
              <a:rPr sz="1050" b="0" dirty="0">
                <a:solidFill>
                  <a:srgbClr val="1B2A4A"/>
                </a:solidFill>
              </a:rPr>
              <a:t> </a:t>
            </a:r>
            <a:r>
              <a:rPr sz="1050" b="0" dirty="0" err="1">
                <a:solidFill>
                  <a:srgbClr val="1B2A4A"/>
                </a:solidFill>
              </a:rPr>
              <a:t>radiolink</a:t>
            </a:r>
            <a:r>
              <a:rPr sz="1050" b="0" dirty="0">
                <a:solidFill>
                  <a:srgbClr val="1B2A4A"/>
                </a:solidFill>
              </a:rPr>
              <a:t> </a:t>
            </a:r>
            <a:r>
              <a:rPr sz="1050" b="0" dirty="0" err="1">
                <a:solidFill>
                  <a:srgbClr val="1B2A4A"/>
                </a:solidFill>
              </a:rPr>
              <a:t>任務逐位元組解析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051040" y="365760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直接操作</a:t>
            </a:r>
            <a:r>
              <a:rPr sz="1050" b="0" dirty="0">
                <a:solidFill>
                  <a:srgbClr val="1B2A4A"/>
                </a:solidFill>
              </a:rPr>
              <a:t> RADIO </a:t>
            </a:r>
            <a:r>
              <a:rPr sz="1050" b="0" dirty="0" err="1">
                <a:solidFill>
                  <a:srgbClr val="1B2A4A"/>
                </a:solidFill>
              </a:rPr>
              <a:t>暫存器收發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42418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韌體分佈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529840" y="4241800"/>
            <a:ext cx="444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無線與飛控分屬不同晶片,韌體分兩份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51040" y="4241800"/>
            <a:ext cx="456184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單一份韌體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4" name="Rectangle 10"/>
          <p:cNvSpPr/>
          <p:nvPr/>
        </p:nvSpPr>
        <p:spPr>
          <a:xfrm>
            <a:off x="548640" y="48260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驅動實作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25" name="Rectangle 11"/>
          <p:cNvSpPr/>
          <p:nvPr/>
        </p:nvSpPr>
        <p:spPr>
          <a:xfrm>
            <a:off x="2529840" y="482600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沿用</a:t>
            </a:r>
            <a:r>
              <a:rPr sz="1050" b="0" dirty="0">
                <a:solidFill>
                  <a:srgbClr val="1B2A4A"/>
                </a:solidFill>
              </a:rPr>
              <a:t> nRF51 </a:t>
            </a:r>
            <a:r>
              <a:rPr sz="1050" b="0" dirty="0" err="1">
                <a:solidFill>
                  <a:srgbClr val="1B2A4A"/>
                </a:solidFill>
              </a:rPr>
              <a:t>現成的</a:t>
            </a:r>
            <a:r>
              <a:rPr sz="1050" b="0" dirty="0">
                <a:solidFill>
                  <a:srgbClr val="1B2A4A"/>
                </a:solidFill>
              </a:rPr>
              <a:t> ESB </a:t>
            </a:r>
            <a:r>
              <a:rPr sz="1050" b="0" dirty="0" err="1">
                <a:solidFill>
                  <a:srgbClr val="1B2A4A"/>
                </a:solidFill>
              </a:rPr>
              <a:t>函式庫,主控端只解析</a:t>
            </a:r>
            <a:r>
              <a:rPr sz="1050" b="0" dirty="0">
                <a:solidFill>
                  <a:srgbClr val="1B2A4A"/>
                </a:solidFill>
              </a:rPr>
              <a:t> UART </a:t>
            </a:r>
            <a:r>
              <a:rPr sz="1050" b="0" dirty="0" err="1">
                <a:solidFill>
                  <a:srgbClr val="1B2A4A"/>
                </a:solidFill>
              </a:rPr>
              <a:t>位元組流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26" name="Rectangle 12"/>
          <p:cNvSpPr/>
          <p:nvPr/>
        </p:nvSpPr>
        <p:spPr>
          <a:xfrm>
            <a:off x="7051040" y="482600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 err="1">
                <a:solidFill>
                  <a:srgbClr val="1B2A4A"/>
                </a:solidFill>
              </a:rPr>
              <a:t>無現成函式庫可用,需直接設定</a:t>
            </a:r>
            <a:r>
              <a:rPr sz="1050" b="0" dirty="0">
                <a:solidFill>
                  <a:srgbClr val="1B2A4A"/>
                </a:solidFill>
              </a:rPr>
              <a:t> RADIO </a:t>
            </a:r>
            <a:r>
              <a:rPr sz="1050" b="0" dirty="0" err="1">
                <a:solidFill>
                  <a:srgbClr val="1B2A4A"/>
                </a:solidFill>
              </a:rPr>
              <a:t>暫存器:頻率、封包格式、CRC、白化</a:t>
            </a:r>
            <a:endParaRPr sz="1050" b="0" dirty="0">
              <a:solidFill>
                <a:srgbClr val="1B2A4A"/>
              </a:solidFill>
            </a:endParaRPr>
          </a:p>
        </p:txBody>
      </p:sp>
      <p:sp>
        <p:nvSpPr>
          <p:cNvPr id="3" name="Rectangle 10"/>
          <p:cNvSpPr/>
          <p:nvPr/>
        </p:nvSpPr>
        <p:spPr>
          <a:xfrm>
            <a:off x="548640" y="24892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傳輸速率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27" name="Rectangle 11"/>
          <p:cNvSpPr/>
          <p:nvPr/>
        </p:nvSpPr>
        <p:spPr>
          <a:xfrm>
            <a:off x="2529840" y="248920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250 Kbps</a:t>
            </a:r>
          </a:p>
        </p:txBody>
      </p:sp>
      <p:sp>
        <p:nvSpPr>
          <p:cNvPr id="28" name="Rectangle 12"/>
          <p:cNvSpPr/>
          <p:nvPr/>
        </p:nvSpPr>
        <p:spPr>
          <a:xfrm>
            <a:off x="7051040" y="248920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nRF52840 </a:t>
            </a:r>
            <a:r>
              <a:rPr sz="1050" b="0" dirty="0" err="1">
                <a:solidFill>
                  <a:srgbClr val="1B2A4A"/>
                </a:solidFill>
              </a:rPr>
              <a:t>不支援</a:t>
            </a:r>
            <a:r>
              <a:rPr sz="1050" b="0" dirty="0">
                <a:solidFill>
                  <a:srgbClr val="1B2A4A"/>
                </a:solidFill>
              </a:rPr>
              <a:t> 250 </a:t>
            </a:r>
            <a:r>
              <a:rPr sz="1050" b="0" dirty="0" err="1">
                <a:solidFill>
                  <a:srgbClr val="1B2A4A"/>
                </a:solidFill>
              </a:rPr>
              <a:t>Kbps,兩端韌體同步改為</a:t>
            </a:r>
            <a:r>
              <a:rPr sz="1050" b="0" dirty="0">
                <a:solidFill>
                  <a:srgbClr val="1B2A4A"/>
                </a:solidFill>
              </a:rPr>
              <a:t> 1 Mbps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ESB </a:t>
            </a: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無線協</a:t>
            </a:r>
            <a:r>
              <a:rPr lang="zh-CN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1219200"/>
          </a:xfrm>
          <a:prstGeom prst="roundRect">
            <a:avLst>
              <a:gd name="adj" fmla="val 5333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ESB(Enhanced ShockBurst)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493776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Nordic 專有的 2.4GHz 協</a:t>
            </a:r>
            <a:r>
              <a:rPr lang="zh-CN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</a:t>
            </a: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。nRF24L 系列由硬體內建,nRF5 </a:t>
            </a:r>
            <a:r>
              <a:rPr lang="en-US" sz="12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系列須</a:t>
            </a: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配置 </a:t>
            </a: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RADIO </a:t>
            </a: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暫存器</a:t>
            </a: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38" y="2827020"/>
            <a:ext cx="10881361" cy="3416125"/>
          </a:xfrm>
          <a:prstGeom prst="roundRect">
            <a:avLst>
              <a:gd name="adj" fmla="val 1702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62001" y="303836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 封包結構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7239" y="35560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8" name="Text 26"/>
          <p:cNvSpPr/>
          <p:nvPr/>
        </p:nvSpPr>
        <p:spPr>
          <a:xfrm>
            <a:off x="777239" y="35560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前導碼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35560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08960" y="35560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硬體自動產生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39" y="40767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32" name="Text 30"/>
          <p:cNvSpPr/>
          <p:nvPr/>
        </p:nvSpPr>
        <p:spPr>
          <a:xfrm>
            <a:off x="777239" y="40767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23160" y="40767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108960" y="40767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0x123456789A</a:t>
            </a: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← 必須逐bit 反轉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7239" y="45974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36" name="Text 34"/>
          <p:cNvSpPr/>
          <p:nvPr/>
        </p:nvSpPr>
        <p:spPr>
          <a:xfrm>
            <a:off x="777239" y="45974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封包控制欄位 PCF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23160" y="45974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9bit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108960" y="45974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載荷長度</a:t>
            </a: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6bit ｜ 封包編號 PID 2bit ｜ 免回覆 NO_ACK 1bit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77239" y="51181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44" name="Text 42"/>
          <p:cNvSpPr/>
          <p:nvPr/>
        </p:nvSpPr>
        <p:spPr>
          <a:xfrm>
            <a:off x="777239" y="51181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載荷</a:t>
            </a:r>
            <a:r>
              <a:rPr lang="en-US" altLang="zh-CN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Payload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423160" y="51181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0-32B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108960" y="5118100"/>
            <a:ext cx="28259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ATKP 封包:MsgID + DataLen + Data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77239" y="56388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48" name="Text 46"/>
          <p:cNvSpPr/>
          <p:nvPr/>
        </p:nvSpPr>
        <p:spPr>
          <a:xfrm>
            <a:off x="777239" y="56388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CRC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423160" y="56388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108960" y="56388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硬體校驗(</a:t>
            </a:r>
            <a:r>
              <a:rPr 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2Byte</a:t>
            </a: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100" dirty="0"/>
          </a:p>
        </p:txBody>
      </p:sp>
      <p:sp>
        <p:nvSpPr>
          <p:cNvPr id="58" name="TextBox 22">
            <a:extLst>
              <a:ext uri="{FF2B5EF4-FFF2-40B4-BE49-F238E27FC236}">
                <a16:creationId xmlns:a16="http://schemas.microsoft.com/office/drawing/2014/main" id="{D93528D6-070B-46CB-861B-96B9B026CB76}"/>
              </a:ext>
            </a:extLst>
          </p:cNvPr>
          <p:cNvSpPr txBox="1"/>
          <p:nvPr/>
        </p:nvSpPr>
        <p:spPr>
          <a:xfrm>
            <a:off x="6218629" y="4053616"/>
            <a:ext cx="658473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rgbClr val="146984"/>
                </a:solidFill>
                <a:latin typeface="Microsoft JhengHei"/>
              </a:rPr>
              <a:t>PCF</a:t>
            </a:r>
          </a:p>
        </p:txBody>
      </p:sp>
      <p:sp>
        <p:nvSpPr>
          <p:cNvPr id="59" name="TextBox 23">
            <a:extLst>
              <a:ext uri="{FF2B5EF4-FFF2-40B4-BE49-F238E27FC236}">
                <a16:creationId xmlns:a16="http://schemas.microsoft.com/office/drawing/2014/main" id="{D2C8E281-F6AE-4EC9-9569-735523E95C36}"/>
              </a:ext>
            </a:extLst>
          </p:cNvPr>
          <p:cNvSpPr txBox="1"/>
          <p:nvPr/>
        </p:nvSpPr>
        <p:spPr>
          <a:xfrm>
            <a:off x="7052250" y="4090120"/>
            <a:ext cx="116863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E78937"/>
                </a:solidFill>
                <a:latin typeface="Microsoft JhengHei"/>
              </a:rPr>
              <a:t>Length</a:t>
            </a:r>
          </a:p>
        </p:txBody>
      </p:sp>
      <p:sp>
        <p:nvSpPr>
          <p:cNvPr id="60" name="TextBox 24">
            <a:extLst>
              <a:ext uri="{FF2B5EF4-FFF2-40B4-BE49-F238E27FC236}">
                <a16:creationId xmlns:a16="http://schemas.microsoft.com/office/drawing/2014/main" id="{08F8A290-2936-47B7-B37C-806FDB9FF0F0}"/>
              </a:ext>
            </a:extLst>
          </p:cNvPr>
          <p:cNvSpPr txBox="1"/>
          <p:nvPr/>
        </p:nvSpPr>
        <p:spPr>
          <a:xfrm>
            <a:off x="8085520" y="4090120"/>
            <a:ext cx="762153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364C"/>
                </a:solidFill>
                <a:latin typeface="Microsoft JhengHei"/>
              </a:rPr>
              <a:t>6 bit</a:t>
            </a:r>
          </a:p>
        </p:txBody>
      </p:sp>
      <p:sp>
        <p:nvSpPr>
          <p:cNvPr id="61" name="TextBox 25">
            <a:extLst>
              <a:ext uri="{FF2B5EF4-FFF2-40B4-BE49-F238E27FC236}">
                <a16:creationId xmlns:a16="http://schemas.microsoft.com/office/drawing/2014/main" id="{C8E61B83-5D58-435C-9F90-0D52ABD1A69B}"/>
              </a:ext>
            </a:extLst>
          </p:cNvPr>
          <p:cNvSpPr txBox="1"/>
          <p:nvPr/>
        </p:nvSpPr>
        <p:spPr>
          <a:xfrm>
            <a:off x="8817042" y="4104266"/>
            <a:ext cx="2438888" cy="264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載荷長度 0–32 B</a:t>
            </a:r>
          </a:p>
        </p:txBody>
      </p:sp>
      <p:sp>
        <p:nvSpPr>
          <p:cNvPr id="62" name="TextBox 26">
            <a:extLst>
              <a:ext uri="{FF2B5EF4-FFF2-40B4-BE49-F238E27FC236}">
                <a16:creationId xmlns:a16="http://schemas.microsoft.com/office/drawing/2014/main" id="{20638194-2A44-4A35-B24B-42ADA66A0D66}"/>
              </a:ext>
            </a:extLst>
          </p:cNvPr>
          <p:cNvSpPr txBox="1"/>
          <p:nvPr/>
        </p:nvSpPr>
        <p:spPr>
          <a:xfrm>
            <a:off x="7052250" y="4501600"/>
            <a:ext cx="116863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8937"/>
                </a:solidFill>
                <a:latin typeface="Microsoft JhengHei"/>
              </a:rPr>
              <a:t>PID</a:t>
            </a:r>
          </a:p>
        </p:txBody>
      </p:sp>
      <p:sp>
        <p:nvSpPr>
          <p:cNvPr id="63" name="TextBox 27">
            <a:extLst>
              <a:ext uri="{FF2B5EF4-FFF2-40B4-BE49-F238E27FC236}">
                <a16:creationId xmlns:a16="http://schemas.microsoft.com/office/drawing/2014/main" id="{FDC7E332-F24F-4698-9466-0E0A80AEC9C3}"/>
              </a:ext>
            </a:extLst>
          </p:cNvPr>
          <p:cNvSpPr txBox="1"/>
          <p:nvPr/>
        </p:nvSpPr>
        <p:spPr>
          <a:xfrm>
            <a:off x="8085520" y="4501600"/>
            <a:ext cx="762153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23364C"/>
                </a:solidFill>
                <a:latin typeface="Microsoft JhengHei"/>
              </a:rPr>
              <a:t>2 bit</a:t>
            </a:r>
          </a:p>
        </p:txBody>
      </p:sp>
      <p:sp>
        <p:nvSpPr>
          <p:cNvPr id="64" name="TextBox 28">
            <a:extLst>
              <a:ext uri="{FF2B5EF4-FFF2-40B4-BE49-F238E27FC236}">
                <a16:creationId xmlns:a16="http://schemas.microsoft.com/office/drawing/2014/main" id="{D147665C-BDCA-406D-AA85-E8795842A41E}"/>
              </a:ext>
            </a:extLst>
          </p:cNvPr>
          <p:cNvSpPr txBox="1"/>
          <p:nvPr/>
        </p:nvSpPr>
        <p:spPr>
          <a:xfrm>
            <a:off x="8817042" y="4515746"/>
            <a:ext cx="2438888" cy="264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分辨新包／重送</a:t>
            </a:r>
          </a:p>
        </p:txBody>
      </p:sp>
      <p:sp>
        <p:nvSpPr>
          <p:cNvPr id="65" name="TextBox 29">
            <a:extLst>
              <a:ext uri="{FF2B5EF4-FFF2-40B4-BE49-F238E27FC236}">
                <a16:creationId xmlns:a16="http://schemas.microsoft.com/office/drawing/2014/main" id="{4E0EF677-DD8A-44B1-BDE6-7AE8B8296974}"/>
              </a:ext>
            </a:extLst>
          </p:cNvPr>
          <p:cNvSpPr txBox="1"/>
          <p:nvPr/>
        </p:nvSpPr>
        <p:spPr>
          <a:xfrm>
            <a:off x="7052250" y="4913081"/>
            <a:ext cx="116863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8937"/>
                </a:solidFill>
                <a:latin typeface="Microsoft JhengHei"/>
              </a:rPr>
              <a:t>NO_ACK</a:t>
            </a:r>
          </a:p>
        </p:txBody>
      </p:sp>
      <p:sp>
        <p:nvSpPr>
          <p:cNvPr id="66" name="TextBox 30">
            <a:extLst>
              <a:ext uri="{FF2B5EF4-FFF2-40B4-BE49-F238E27FC236}">
                <a16:creationId xmlns:a16="http://schemas.microsoft.com/office/drawing/2014/main" id="{E4602709-6D66-4820-8461-CFE312EBE5FD}"/>
              </a:ext>
            </a:extLst>
          </p:cNvPr>
          <p:cNvSpPr txBox="1"/>
          <p:nvPr/>
        </p:nvSpPr>
        <p:spPr>
          <a:xfrm>
            <a:off x="8085520" y="4913081"/>
            <a:ext cx="762153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364C"/>
                </a:solidFill>
                <a:latin typeface="Microsoft JhengHei"/>
              </a:rPr>
              <a:t>1 bit</a:t>
            </a:r>
          </a:p>
        </p:txBody>
      </p:sp>
      <p:sp>
        <p:nvSpPr>
          <p:cNvPr id="67" name="TextBox 31">
            <a:extLst>
              <a:ext uri="{FF2B5EF4-FFF2-40B4-BE49-F238E27FC236}">
                <a16:creationId xmlns:a16="http://schemas.microsoft.com/office/drawing/2014/main" id="{75F6467C-6F23-4C42-AE27-40A43972D071}"/>
              </a:ext>
            </a:extLst>
          </p:cNvPr>
          <p:cNvSpPr txBox="1"/>
          <p:nvPr/>
        </p:nvSpPr>
        <p:spPr>
          <a:xfrm>
            <a:off x="8817042" y="4927227"/>
            <a:ext cx="2438888" cy="264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27384"/>
                </a:solidFill>
                <a:latin typeface="Microsoft JhengHei"/>
              </a:rPr>
              <a:t>1 = 不要求回覆</a:t>
            </a:r>
          </a:p>
        </p:txBody>
      </p:sp>
      <p:sp>
        <p:nvSpPr>
          <p:cNvPr id="72" name="TextBox 34">
            <a:extLst>
              <a:ext uri="{FF2B5EF4-FFF2-40B4-BE49-F238E27FC236}">
                <a16:creationId xmlns:a16="http://schemas.microsoft.com/office/drawing/2014/main" id="{5E771ED8-0C5D-4355-80FF-9872BBEC1F3C}"/>
              </a:ext>
            </a:extLst>
          </p:cNvPr>
          <p:cNvSpPr txBox="1"/>
          <p:nvPr/>
        </p:nvSpPr>
        <p:spPr>
          <a:xfrm>
            <a:off x="6231301" y="3540062"/>
            <a:ext cx="63313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700" b="1" dirty="0">
                <a:solidFill>
                  <a:srgbClr val="146984"/>
                </a:solidFill>
                <a:latin typeface="Microsoft JhengHei"/>
              </a:rPr>
              <a:t>地址</a:t>
            </a:r>
            <a:endParaRPr sz="1700" b="1" dirty="0">
              <a:solidFill>
                <a:srgbClr val="146984"/>
              </a:solidFill>
              <a:latin typeface="Microsoft JhengHei"/>
            </a:endParaRPr>
          </a:p>
        </p:txBody>
      </p:sp>
      <p:sp>
        <p:nvSpPr>
          <p:cNvPr id="73" name="TextBox 37">
            <a:extLst>
              <a:ext uri="{FF2B5EF4-FFF2-40B4-BE49-F238E27FC236}">
                <a16:creationId xmlns:a16="http://schemas.microsoft.com/office/drawing/2014/main" id="{0C76EF1F-0EC5-407A-BCE7-062D67FC4A4B}"/>
              </a:ext>
            </a:extLst>
          </p:cNvPr>
          <p:cNvSpPr txBox="1"/>
          <p:nvPr/>
        </p:nvSpPr>
        <p:spPr>
          <a:xfrm>
            <a:off x="6955872" y="3432517"/>
            <a:ext cx="434577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TW" altLang="en-US" sz="1400" b="0" dirty="0">
                <a:solidFill>
                  <a:srgbClr val="23364C"/>
                </a:solidFill>
                <a:latin typeface="Microsoft JhengHei"/>
              </a:rPr>
              <a:t>寫入位址前需位元反轉</a:t>
            </a:r>
            <a:r>
              <a:rPr lang="zh-CN" altLang="en-US" sz="1400" b="0" dirty="0">
                <a:solidFill>
                  <a:srgbClr val="23364C"/>
                </a:solidFill>
                <a:latin typeface="Microsoft JhengHei"/>
              </a:rPr>
              <a:t>，因</a:t>
            </a:r>
            <a:r>
              <a:rPr lang="en-US" altLang="zh-CN" sz="1400" b="0" dirty="0">
                <a:solidFill>
                  <a:srgbClr val="23364C"/>
                </a:solidFill>
                <a:latin typeface="Microsoft JhengHei"/>
              </a:rPr>
              <a:t>ATK</a:t>
            </a:r>
            <a:r>
              <a:rPr lang="zh-CN" altLang="en-US" sz="1400" b="0" dirty="0">
                <a:solidFill>
                  <a:srgbClr val="23364C"/>
                </a:solidFill>
                <a:latin typeface="Microsoft JhengHei"/>
              </a:rPr>
              <a:t>遙控器是</a:t>
            </a:r>
            <a:r>
              <a:rPr lang="en-US" altLang="zh-CN" sz="1400" b="0" dirty="0">
                <a:solidFill>
                  <a:srgbClr val="23364C"/>
                </a:solidFill>
                <a:latin typeface="Microsoft JhengHei"/>
              </a:rPr>
              <a:t>MSB,</a:t>
            </a:r>
            <a:r>
              <a:rPr lang="zh-CN" altLang="en-US" sz="1400" b="0" dirty="0">
                <a:solidFill>
                  <a:srgbClr val="23364C"/>
                </a:solidFill>
                <a:latin typeface="Microsoft JhengHei"/>
              </a:rPr>
              <a:t>本研究是</a:t>
            </a:r>
            <a:r>
              <a:rPr lang="en-US" altLang="zh-CN" sz="1400" b="0" dirty="0">
                <a:solidFill>
                  <a:srgbClr val="23364C"/>
                </a:solidFill>
                <a:latin typeface="Microsoft JhengHei"/>
              </a:rPr>
              <a:t>LSB</a:t>
            </a:r>
            <a:endParaRPr sz="1400" b="0" dirty="0">
              <a:solidFill>
                <a:srgbClr val="23364C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通訊協議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5636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封包結構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1968079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1" name="Text 9"/>
          <p:cNvSpPr/>
          <p:nvPr/>
        </p:nvSpPr>
        <p:spPr>
          <a:xfrm>
            <a:off x="749808" y="1968079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480143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88920" y="1968079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4" name="Text 12"/>
          <p:cNvSpPr/>
          <p:nvPr/>
        </p:nvSpPr>
        <p:spPr>
          <a:xfrm>
            <a:off x="2788920" y="1968079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0xAF/0</a:t>
            </a:r>
            <a:r>
              <a:rPr lang="en-US" altLang="zh-CN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9428" y="2480143"/>
            <a:ext cx="1920239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起始碼2</a:t>
            </a:r>
            <a:endParaRPr lang="en-US" sz="10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(方向標識)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28032" y="1968079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7" name="Text 15"/>
          <p:cNvSpPr/>
          <p:nvPr/>
        </p:nvSpPr>
        <p:spPr>
          <a:xfrm>
            <a:off x="4828032" y="1968079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功能字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28032" y="2480143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altLang="zh-CN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</a:rPr>
              <a:t>Msg ID</a:t>
            </a:r>
            <a:endParaRPr lang="en-US" sz="10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(1B)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47104" y="1968079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0" name="Text 18"/>
          <p:cNvSpPr/>
          <p:nvPr/>
        </p:nvSpPr>
        <p:spPr>
          <a:xfrm>
            <a:off x="6547104" y="1968079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長度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47104" y="2480143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資料Byte數</a:t>
            </a:r>
            <a:endParaRPr lang="en-US" sz="10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(1B)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66176" y="1968079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3" name="Text 21"/>
          <p:cNvSpPr/>
          <p:nvPr/>
        </p:nvSpPr>
        <p:spPr>
          <a:xfrm>
            <a:off x="8266176" y="1968079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66176" y="2480143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0~30 Byte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39528" y="1968079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939528" y="1968079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校驗和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85248" y="2480143"/>
            <a:ext cx="1554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求和取低1Byte </a:t>
            </a:r>
            <a:r>
              <a:rPr lang="en-US" altLang="zh-CN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108960"/>
            <a:ext cx="6680200" cy="2910840"/>
          </a:xfrm>
          <a:prstGeom prst="roundRect">
            <a:avLst>
              <a:gd name="adj" fmla="val 2807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7240" y="3246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範例:解鎖指令 AA AF 01 01 A1 FC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22960" y="37490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1" name="Text 29"/>
          <p:cNvSpPr/>
          <p:nvPr/>
        </p:nvSpPr>
        <p:spPr>
          <a:xfrm>
            <a:off x="82296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63040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023359" y="37490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4" name="Text 32"/>
          <p:cNvSpPr/>
          <p:nvPr/>
        </p:nvSpPr>
        <p:spPr>
          <a:xfrm>
            <a:off x="4023359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63440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起始碼2:上位機 → 飛控、遙控器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" y="437083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7" name="Text 35"/>
          <p:cNvSpPr/>
          <p:nvPr/>
        </p:nvSpPr>
        <p:spPr>
          <a:xfrm>
            <a:off x="822960" y="4370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63040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功能字:命令封包 CMD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23359" y="437083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40" name="Text 38"/>
          <p:cNvSpPr/>
          <p:nvPr/>
        </p:nvSpPr>
        <p:spPr>
          <a:xfrm>
            <a:off x="4023359" y="4370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63440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長度:資料共 1 Byte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22960" y="4992624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43" name="Text 41"/>
          <p:cNvSpPr/>
          <p:nvPr/>
        </p:nvSpPr>
        <p:spPr>
          <a:xfrm>
            <a:off x="822960" y="4992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63040" y="4992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資料:解鎖 ARM 命令碼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023359" y="4992624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46" name="Text 44"/>
          <p:cNvSpPr/>
          <p:nvPr/>
        </p:nvSpPr>
        <p:spPr>
          <a:xfrm>
            <a:off x="4023359" y="4992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663440" y="4992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校驗:低8位=FC 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77240" y="5532120"/>
            <a:ext cx="3794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AA+AF+01+01+A1 相加取低 8 位 = FC</a:t>
            </a:r>
            <a:endParaRPr lang="en-US" sz="1600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C98D7658-73BE-468E-BDAD-4B38A39D5F07}"/>
              </a:ext>
            </a:extLst>
          </p:cNvPr>
          <p:cNvGrpSpPr/>
          <p:nvPr/>
        </p:nvGrpSpPr>
        <p:grpSpPr>
          <a:xfrm>
            <a:off x="4754879" y="1585039"/>
            <a:ext cx="5157216" cy="1241567"/>
            <a:chOff x="4855464" y="1509761"/>
            <a:chExt cx="5113528" cy="1241567"/>
          </a:xfrm>
        </p:grpSpPr>
        <p:sp>
          <p:nvSpPr>
            <p:cNvPr id="49" name="Rectangle 48"/>
            <p:cNvSpPr/>
            <p:nvPr/>
          </p:nvSpPr>
          <p:spPr>
            <a:xfrm>
              <a:off x="4855464" y="1778508"/>
              <a:ext cx="5113528" cy="972820"/>
            </a:xfrm>
            <a:prstGeom prst="rect">
              <a:avLst/>
            </a:prstGeom>
            <a:noFill/>
            <a:ln w="25400">
              <a:solidFill>
                <a:srgbClr val="E8934A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884788" y="1509761"/>
              <a:ext cx="893379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altLang="zh-CN" sz="1600" b="1" i="1" dirty="0">
                  <a:solidFill>
                    <a:srgbClr val="E8934A"/>
                  </a:solidFill>
                </a:rPr>
                <a:t>ATKP </a:t>
              </a:r>
              <a:r>
                <a:rPr lang="zh-CN" altLang="en-US" sz="1600" b="1" i="1" dirty="0">
                  <a:solidFill>
                    <a:srgbClr val="E8934A"/>
                  </a:solidFill>
                </a:rPr>
                <a:t>封包</a:t>
              </a:r>
              <a:endParaRPr sz="1600" b="1" i="1" dirty="0">
                <a:solidFill>
                  <a:srgbClr val="E8934A"/>
                </a:solidFill>
              </a:endParaRPr>
            </a:p>
          </p:txBody>
        </p:sp>
      </p:grpSp>
      <p:sp>
        <p:nvSpPr>
          <p:cNvPr id="52" name="Rounded Rectangle 21">
            <a:extLst>
              <a:ext uri="{FF2B5EF4-FFF2-40B4-BE49-F238E27FC236}">
                <a16:creationId xmlns:a16="http://schemas.microsoft.com/office/drawing/2014/main" id="{3E2ACED0-3955-4A83-B2FB-A8698F1C95D5}"/>
              </a:ext>
            </a:extLst>
          </p:cNvPr>
          <p:cNvSpPr/>
          <p:nvPr/>
        </p:nvSpPr>
        <p:spPr>
          <a:xfrm>
            <a:off x="7269481" y="3118870"/>
            <a:ext cx="4343400" cy="29009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2">
            <a:extLst>
              <a:ext uri="{FF2B5EF4-FFF2-40B4-BE49-F238E27FC236}">
                <a16:creationId xmlns:a16="http://schemas.microsoft.com/office/drawing/2014/main" id="{2A4C84D7-B5D8-41B3-8998-C4C9E1A33D45}"/>
              </a:ext>
            </a:extLst>
          </p:cNvPr>
          <p:cNvSpPr txBox="1"/>
          <p:nvPr/>
        </p:nvSpPr>
        <p:spPr>
          <a:xfrm>
            <a:off x="7516369" y="3410875"/>
            <a:ext cx="3865626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altLang="en-US" sz="1700" b="1" dirty="0">
                <a:solidFill>
                  <a:srgbClr val="183052"/>
                </a:solidFill>
                <a:latin typeface="Microsoft JhengHei"/>
              </a:rPr>
              <a:t>注意</a:t>
            </a:r>
            <a:endParaRPr sz="17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0C262D6B-044C-45B1-9966-26C7802DE3C1}"/>
              </a:ext>
            </a:extLst>
          </p:cNvPr>
          <p:cNvSpPr txBox="1"/>
          <p:nvPr/>
        </p:nvSpPr>
        <p:spPr>
          <a:xfrm>
            <a:off x="7516370" y="3764818"/>
            <a:ext cx="3865626" cy="10275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dirty="0">
                <a:solidFill>
                  <a:srgbClr val="23364C"/>
                </a:solidFill>
                <a:latin typeface="Microsoft JhengHei"/>
              </a:rPr>
              <a:t>ATK </a:t>
            </a:r>
            <a:r>
              <a:rPr lang="zh-CN" altLang="en-US" sz="1400" b="0" dirty="0">
                <a:solidFill>
                  <a:srgbClr val="23364C"/>
                </a:solidFill>
                <a:latin typeface="Microsoft JhengHei"/>
              </a:rPr>
              <a:t>中 </a:t>
            </a:r>
            <a:r>
              <a:rPr lang="en-US" altLang="zh-CN" sz="1400" b="0" dirty="0" err="1">
                <a:solidFill>
                  <a:srgbClr val="23364C"/>
                </a:solidFill>
                <a:latin typeface="Microsoft JhengHei"/>
              </a:rPr>
              <a:t>nRF</a:t>
            </a:r>
            <a:r>
              <a:rPr lang="en-US" altLang="zh-CN" sz="1400" b="0" dirty="0">
                <a:solidFill>
                  <a:srgbClr val="23364C"/>
                </a:solidFill>
                <a:latin typeface="Microsoft JhengHei"/>
              </a:rPr>
              <a:t> </a:t>
            </a:r>
            <a:r>
              <a:rPr lang="zh-CN" altLang="en-US" sz="1400" b="0" dirty="0">
                <a:solidFill>
                  <a:srgbClr val="23364C"/>
                </a:solidFill>
                <a:latin typeface="Microsoft JhengHei"/>
              </a:rPr>
              <a:t>與 </a:t>
            </a:r>
            <a:r>
              <a:rPr lang="en-US" altLang="zh-CN" sz="1400" dirty="0">
                <a:solidFill>
                  <a:srgbClr val="23364C"/>
                </a:solidFill>
                <a:latin typeface="Microsoft JhengHei"/>
              </a:rPr>
              <a:t>STM </a:t>
            </a:r>
            <a:r>
              <a:rPr lang="zh-CN" altLang="en-US" sz="1400" dirty="0">
                <a:solidFill>
                  <a:srgbClr val="23364C"/>
                </a:solidFill>
                <a:latin typeface="Microsoft JhengHei"/>
              </a:rPr>
              <a:t>之間通過</a:t>
            </a:r>
            <a:r>
              <a:rPr lang="en-US" altLang="zh-TW" sz="1400" b="0" dirty="0">
                <a:solidFill>
                  <a:srgbClr val="1B2A4A"/>
                </a:solidFill>
              </a:rPr>
              <a:t>UART</a:t>
            </a:r>
            <a:r>
              <a:rPr lang="zh-CN" altLang="en-US" sz="1400" b="0" dirty="0">
                <a:solidFill>
                  <a:srgbClr val="1B2A4A"/>
                </a:solidFill>
              </a:rPr>
              <a:t>使用該通訊協議進行溝通。</a:t>
            </a:r>
            <a:r>
              <a:rPr lang="en-US" altLang="zh-TW" sz="1400" b="0" dirty="0">
                <a:solidFill>
                  <a:srgbClr val="23364C"/>
                </a:solidFill>
                <a:latin typeface="Microsoft JhengHei"/>
              </a:rPr>
              <a:t> </a:t>
            </a:r>
            <a:r>
              <a:rPr lang="zh-CN" altLang="en-US" sz="1400" b="0" dirty="0">
                <a:solidFill>
                  <a:srgbClr val="23364C"/>
                </a:solidFill>
                <a:latin typeface="Microsoft JhengHei"/>
              </a:rPr>
              <a:t>而本研究中只在與上位機溝通中使用。</a:t>
            </a:r>
            <a:endParaRPr sz="1400" b="0" dirty="0">
              <a:solidFill>
                <a:srgbClr val="23364C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實機影片(一):移植後的飛行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923544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5400000">
            <a:off x="5806440" y="3108960"/>
            <a:ext cx="594360" cy="640080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63040" y="1920239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【影片位置:此處替換為飛行影片截圖】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43891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影片內容: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開機自檢、遙控器配對、起飛、定高懸停、訊號中斷後繼續飛、降落</a:t>
            </a: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請注意: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訊號中斷那一段,飛機高度沒有掉下來,訊號回來就繼續飛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9312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多機控制的架構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指令的傳遞路徑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</a:t>
            </a:r>
            <a:endParaRPr lang="en-US" sz="14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(定位與決策)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97480" y="2697480"/>
            <a:ext cx="54864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606040" y="20574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USB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ATKP指令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1031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246120" y="21031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遙控器</a:t>
            </a:r>
            <a:endParaRPr lang="en-US" sz="14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14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廣播轉發</a:t>
            </a: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flipV="1">
            <a:off x="5349240" y="2121408"/>
            <a:ext cx="640080" cy="301752"/>
          </a:xfrm>
          <a:prstGeom prst="line">
            <a:avLst/>
          </a:prstGeom>
          <a:noFill/>
          <a:ln w="25400">
            <a:solidFill>
              <a:srgbClr val="0A4D6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349240" y="2971800"/>
            <a:ext cx="640080" cy="274320"/>
          </a:xfrm>
          <a:prstGeom prst="line">
            <a:avLst/>
          </a:prstGeom>
          <a:noFill/>
          <a:ln w="25400">
            <a:solidFill>
              <a:srgbClr val="E893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035040" y="173736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A4D6E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19" name="Text 17"/>
          <p:cNvSpPr/>
          <p:nvPr/>
        </p:nvSpPr>
        <p:spPr>
          <a:xfrm>
            <a:off x="6035040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飛機A</a:t>
            </a:r>
            <a:endParaRPr lang="en-US" sz="1100" b="1" dirty="0">
              <a:solidFill>
                <a:srgbClr val="1A2333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ATK原機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697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21" name="Text 19"/>
          <p:cNvSpPr/>
          <p:nvPr/>
        </p:nvSpPr>
        <p:spPr>
          <a:xfrm>
            <a:off x="603504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飛機B</a:t>
            </a:r>
            <a:endParaRPr lang="en-US" sz="1200" b="1" dirty="0">
              <a:solidFill>
                <a:srgbClr val="1A2333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nRF自製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2121408"/>
            <a:ext cx="640080" cy="320040"/>
          </a:xfrm>
          <a:prstGeom prst="line">
            <a:avLst/>
          </a:prstGeom>
          <a:noFill/>
          <a:ln w="19050">
            <a:solidFill>
              <a:srgbClr val="00B894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 flipV="1">
            <a:off x="8138160" y="2770633"/>
            <a:ext cx="640080" cy="320039"/>
          </a:xfrm>
          <a:prstGeom prst="line">
            <a:avLst/>
          </a:prstGeom>
          <a:noFill/>
          <a:ln w="19050">
            <a:solidFill>
              <a:srgbClr val="00B894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823960" y="224028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823960" y="2240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 err="1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發出藍牙訊號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由四個錨點接收</a:t>
            </a:r>
            <a:endParaRPr lang="en-US" sz="1200" dirty="0"/>
          </a:p>
        </p:txBody>
      </p:sp>
      <p:sp>
        <p:nvSpPr>
          <p:cNvPr id="41" name="Rounded Rectangle 14">
            <a:extLst>
              <a:ext uri="{FF2B5EF4-FFF2-40B4-BE49-F238E27FC236}">
                <a16:creationId xmlns:a16="http://schemas.microsoft.com/office/drawing/2014/main" id="{00935FB2-DCB4-400F-BAF8-3B96215BEED8}"/>
              </a:ext>
            </a:extLst>
          </p:cNvPr>
          <p:cNvSpPr/>
          <p:nvPr/>
        </p:nvSpPr>
        <p:spPr>
          <a:xfrm>
            <a:off x="550848" y="4019470"/>
            <a:ext cx="351970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15">
            <a:extLst>
              <a:ext uri="{FF2B5EF4-FFF2-40B4-BE49-F238E27FC236}">
                <a16:creationId xmlns:a16="http://schemas.microsoft.com/office/drawing/2014/main" id="{06FCC066-AD2F-4278-8770-D74040E3144F}"/>
              </a:ext>
            </a:extLst>
          </p:cNvPr>
          <p:cNvSpPr/>
          <p:nvPr/>
        </p:nvSpPr>
        <p:spPr>
          <a:xfrm>
            <a:off x="550848" y="4019470"/>
            <a:ext cx="3519704" cy="45720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廣播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A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102242CE-65E7-4599-BB4C-3CFB0726D7C2}"/>
              </a:ext>
            </a:extLst>
          </p:cNvPr>
          <p:cNvSpPr txBox="1"/>
          <p:nvPr/>
        </p:nvSpPr>
        <p:spPr>
          <a:xfrm>
            <a:off x="715440" y="4610595"/>
            <a:ext cx="315286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183052"/>
                </a:solidFill>
                <a:latin typeface="Microsoft JhengHei"/>
              </a:rPr>
              <a:t>指揮多架</a:t>
            </a: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3BA3824B-6A27-474D-ABBB-DE40D6082046}"/>
              </a:ext>
            </a:extLst>
          </p:cNvPr>
          <p:cNvSpPr txBox="1"/>
          <p:nvPr/>
        </p:nvSpPr>
        <p:spPr>
          <a:xfrm>
            <a:off x="752016" y="5223689"/>
            <a:ext cx="307354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同一封包</a:t>
            </a:r>
            <a:r>
              <a:rPr lang="zh-CN" altLang="en-US" sz="1100" dirty="0">
                <a:solidFill>
                  <a:srgbClr val="627384"/>
                </a:solidFill>
                <a:latin typeface="Microsoft JhengHei"/>
              </a:rPr>
              <a:t>，同一指令</a:t>
            </a:r>
            <a:endParaRPr sz="1100" b="0" dirty="0">
              <a:solidFill>
                <a:srgbClr val="627384"/>
              </a:solidFill>
              <a:latin typeface="Microsoft JhengHei"/>
            </a:endParaRPr>
          </a:p>
        </p:txBody>
      </p:sp>
      <p:sp>
        <p:nvSpPr>
          <p:cNvPr id="45" name="Rounded Rectangle 18">
            <a:extLst>
              <a:ext uri="{FF2B5EF4-FFF2-40B4-BE49-F238E27FC236}">
                <a16:creationId xmlns:a16="http://schemas.microsoft.com/office/drawing/2014/main" id="{826908FC-A0DD-4A16-A125-F67E3244BFC5}"/>
              </a:ext>
            </a:extLst>
          </p:cNvPr>
          <p:cNvSpPr/>
          <p:nvPr/>
        </p:nvSpPr>
        <p:spPr>
          <a:xfrm>
            <a:off x="4271720" y="4019470"/>
            <a:ext cx="351970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19">
            <a:extLst>
              <a:ext uri="{FF2B5EF4-FFF2-40B4-BE49-F238E27FC236}">
                <a16:creationId xmlns:a16="http://schemas.microsoft.com/office/drawing/2014/main" id="{CB62C852-DE8A-4F44-A6FB-3C0C68D93773}"/>
              </a:ext>
            </a:extLst>
          </p:cNvPr>
          <p:cNvSpPr/>
          <p:nvPr/>
        </p:nvSpPr>
        <p:spPr>
          <a:xfrm>
            <a:off x="4271720" y="4019470"/>
            <a:ext cx="3519704" cy="457200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廣播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B</a:t>
            </a:r>
          </a:p>
        </p:txBody>
      </p:sp>
      <p:sp>
        <p:nvSpPr>
          <p:cNvPr id="47" name="TextBox 20">
            <a:extLst>
              <a:ext uri="{FF2B5EF4-FFF2-40B4-BE49-F238E27FC236}">
                <a16:creationId xmlns:a16="http://schemas.microsoft.com/office/drawing/2014/main" id="{0BCF020D-F535-4659-B2F5-B5462A424878}"/>
              </a:ext>
            </a:extLst>
          </p:cNvPr>
          <p:cNvSpPr txBox="1"/>
          <p:nvPr/>
        </p:nvSpPr>
        <p:spPr>
          <a:xfrm>
            <a:off x="4436312" y="4610595"/>
            <a:ext cx="315286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183052"/>
                </a:solidFill>
                <a:latin typeface="Microsoft JhengHei"/>
              </a:rPr>
              <a:t>指揮多架</a:t>
            </a:r>
          </a:p>
        </p:txBody>
      </p:sp>
      <p:sp>
        <p:nvSpPr>
          <p:cNvPr id="48" name="TextBox 21">
            <a:extLst>
              <a:ext uri="{FF2B5EF4-FFF2-40B4-BE49-F238E27FC236}">
                <a16:creationId xmlns:a16="http://schemas.microsoft.com/office/drawing/2014/main" id="{7C89FB75-E5F4-4F09-94E3-FDB841CB1752}"/>
              </a:ext>
            </a:extLst>
          </p:cNvPr>
          <p:cNvSpPr txBox="1"/>
          <p:nvPr/>
        </p:nvSpPr>
        <p:spPr>
          <a:xfrm>
            <a:off x="4472888" y="5223689"/>
            <a:ext cx="307354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100" b="0" dirty="0">
                <a:solidFill>
                  <a:srgbClr val="627384"/>
                </a:solidFill>
                <a:latin typeface="Microsoft JhengHei"/>
              </a:rPr>
              <a:t>同</a:t>
            </a:r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一包</a:t>
            </a:r>
            <a:r>
              <a:rPr lang="zh-CN" altLang="en-US" sz="1100" b="0" dirty="0">
                <a:solidFill>
                  <a:srgbClr val="627384"/>
                </a:solidFill>
                <a:latin typeface="Microsoft JhengHei"/>
              </a:rPr>
              <a:t>不同</a:t>
            </a:r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指令；各機取自己的段</a:t>
            </a:r>
            <a:endParaRPr sz="1100" b="0" dirty="0">
              <a:solidFill>
                <a:srgbClr val="627384"/>
              </a:solidFill>
              <a:latin typeface="Microsoft JhengHei"/>
            </a:endParaRPr>
          </a:p>
        </p:txBody>
      </p:sp>
      <p:sp>
        <p:nvSpPr>
          <p:cNvPr id="49" name="Rounded Rectangle 22">
            <a:extLst>
              <a:ext uri="{FF2B5EF4-FFF2-40B4-BE49-F238E27FC236}">
                <a16:creationId xmlns:a16="http://schemas.microsoft.com/office/drawing/2014/main" id="{A924CD6F-F369-40A9-A736-C4747B8D6E13}"/>
              </a:ext>
            </a:extLst>
          </p:cNvPr>
          <p:cNvSpPr/>
          <p:nvPr/>
        </p:nvSpPr>
        <p:spPr>
          <a:xfrm>
            <a:off x="7956016" y="4023360"/>
            <a:ext cx="351970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0" name="Rounded Rectangle 23">
            <a:extLst>
              <a:ext uri="{FF2B5EF4-FFF2-40B4-BE49-F238E27FC236}">
                <a16:creationId xmlns:a16="http://schemas.microsoft.com/office/drawing/2014/main" id="{D4ABED9E-6061-4067-AA34-2512412B3BDE}"/>
              </a:ext>
            </a:extLst>
          </p:cNvPr>
          <p:cNvSpPr/>
          <p:nvPr/>
        </p:nvSpPr>
        <p:spPr>
          <a:xfrm>
            <a:off x="7956016" y="4023360"/>
            <a:ext cx="3519704" cy="45720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狀態查詢</a:t>
            </a:r>
            <a:endParaRPr sz="1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51" name="TextBox 24">
            <a:extLst>
              <a:ext uri="{FF2B5EF4-FFF2-40B4-BE49-F238E27FC236}">
                <a16:creationId xmlns:a16="http://schemas.microsoft.com/office/drawing/2014/main" id="{D728FC0B-74FF-4198-A7C9-7E36011D174C}"/>
              </a:ext>
            </a:extLst>
          </p:cNvPr>
          <p:cNvSpPr txBox="1"/>
          <p:nvPr/>
        </p:nvSpPr>
        <p:spPr>
          <a:xfrm>
            <a:off x="8120608" y="4614485"/>
            <a:ext cx="315286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183052"/>
                </a:solidFill>
                <a:latin typeface="Microsoft JhengHei"/>
              </a:rPr>
              <a:t>輪流取得狀態</a:t>
            </a:r>
          </a:p>
        </p:txBody>
      </p:sp>
      <p:sp>
        <p:nvSpPr>
          <p:cNvPr id="52" name="TextBox 25">
            <a:extLst>
              <a:ext uri="{FF2B5EF4-FFF2-40B4-BE49-F238E27FC236}">
                <a16:creationId xmlns:a16="http://schemas.microsoft.com/office/drawing/2014/main" id="{32A9D13F-38BD-4B95-9946-4228CFF3FF07}"/>
              </a:ext>
            </a:extLst>
          </p:cNvPr>
          <p:cNvSpPr txBox="1"/>
          <p:nvPr/>
        </p:nvSpPr>
        <p:spPr>
          <a:xfrm>
            <a:off x="8157184" y="5227579"/>
            <a:ext cx="307354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每約</a:t>
            </a:r>
            <a:r>
              <a:rPr sz="1100" b="0" dirty="0">
                <a:solidFill>
                  <a:srgbClr val="627384"/>
                </a:solidFill>
                <a:latin typeface="Microsoft JhengHei"/>
              </a:rPr>
              <a:t> </a:t>
            </a:r>
            <a:r>
              <a:rPr lang="en-US" sz="1100" b="0" dirty="0">
                <a:solidFill>
                  <a:srgbClr val="627384"/>
                </a:solidFill>
                <a:latin typeface="Microsoft JhengHei"/>
              </a:rPr>
              <a:t>130</a:t>
            </a:r>
            <a:r>
              <a:rPr lang="en-US" altLang="zh-CN" sz="1100" b="0" dirty="0">
                <a:solidFill>
                  <a:srgbClr val="627384"/>
                </a:solidFill>
                <a:latin typeface="Microsoft JhengHei"/>
              </a:rPr>
              <a:t>ms</a:t>
            </a:r>
            <a:r>
              <a:rPr sz="1100" b="0" dirty="0">
                <a:solidFill>
                  <a:srgbClr val="627384"/>
                </a:solidFill>
                <a:latin typeface="Microsoft JhengHei"/>
              </a:rPr>
              <a:t> </a:t>
            </a:r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回一對一查詢</a:t>
            </a:r>
            <a:endParaRPr sz="1100" b="0" dirty="0">
              <a:solidFill>
                <a:srgbClr val="627384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三種控制方式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44" name="Rounded Rectangle 7">
            <a:extLst>
              <a:ext uri="{FF2B5EF4-FFF2-40B4-BE49-F238E27FC236}">
                <a16:creationId xmlns:a16="http://schemas.microsoft.com/office/drawing/2014/main" id="{E3CB8829-8ACE-472F-9CE5-A6946D4E2E2D}"/>
              </a:ext>
            </a:extLst>
          </p:cNvPr>
          <p:cNvSpPr/>
          <p:nvPr/>
        </p:nvSpPr>
        <p:spPr>
          <a:xfrm>
            <a:off x="2287805" y="1709928"/>
            <a:ext cx="2929058" cy="530352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一對一</a:t>
            </a:r>
            <a:endParaRPr sz="1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5" name="Rounded Rectangle 8">
            <a:extLst>
              <a:ext uri="{FF2B5EF4-FFF2-40B4-BE49-F238E27FC236}">
                <a16:creationId xmlns:a16="http://schemas.microsoft.com/office/drawing/2014/main" id="{7A85A126-31E7-4ED1-A12E-AB059FE8A5B7}"/>
              </a:ext>
            </a:extLst>
          </p:cNvPr>
          <p:cNvSpPr/>
          <p:nvPr/>
        </p:nvSpPr>
        <p:spPr>
          <a:xfrm>
            <a:off x="5288963" y="1709928"/>
            <a:ext cx="2929058" cy="530352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廣播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A</a:t>
            </a:r>
          </a:p>
        </p:txBody>
      </p:sp>
      <p:sp>
        <p:nvSpPr>
          <p:cNvPr id="46" name="Rounded Rectangle 9">
            <a:extLst>
              <a:ext uri="{FF2B5EF4-FFF2-40B4-BE49-F238E27FC236}">
                <a16:creationId xmlns:a16="http://schemas.microsoft.com/office/drawing/2014/main" id="{D30A9E94-1EB5-4C6F-B0EB-85BD4BD482DD}"/>
              </a:ext>
            </a:extLst>
          </p:cNvPr>
          <p:cNvSpPr/>
          <p:nvPr/>
        </p:nvSpPr>
        <p:spPr>
          <a:xfrm>
            <a:off x="8290121" y="1709928"/>
            <a:ext cx="2929058" cy="530352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廣播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B</a:t>
            </a:r>
          </a:p>
        </p:txBody>
      </p:sp>
      <p:sp>
        <p:nvSpPr>
          <p:cNvPr id="47" name="Rounded Rectangle 10">
            <a:extLst>
              <a:ext uri="{FF2B5EF4-FFF2-40B4-BE49-F238E27FC236}">
                <a16:creationId xmlns:a16="http://schemas.microsoft.com/office/drawing/2014/main" id="{FFA43171-FC25-49B8-AA41-AC72782959E5}"/>
              </a:ext>
            </a:extLst>
          </p:cNvPr>
          <p:cNvSpPr/>
          <p:nvPr/>
        </p:nvSpPr>
        <p:spPr>
          <a:xfrm>
            <a:off x="593457" y="2350008"/>
            <a:ext cx="1622247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48" name="TextBox 11">
            <a:extLst>
              <a:ext uri="{FF2B5EF4-FFF2-40B4-BE49-F238E27FC236}">
                <a16:creationId xmlns:a16="http://schemas.microsoft.com/office/drawing/2014/main" id="{ED13D70E-FAE0-41B1-97D3-94306075B7F1}"/>
              </a:ext>
            </a:extLst>
          </p:cNvPr>
          <p:cNvSpPr txBox="1"/>
          <p:nvPr/>
        </p:nvSpPr>
        <p:spPr>
          <a:xfrm>
            <a:off x="665557" y="2513260"/>
            <a:ext cx="147804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 err="1">
                <a:solidFill>
                  <a:srgbClr val="183052"/>
                </a:solidFill>
                <a:latin typeface="Microsoft JhengHei"/>
              </a:rPr>
              <a:t>發送次數</a:t>
            </a:r>
            <a:endParaRPr sz="12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49" name="Rounded Rectangle 12">
            <a:extLst>
              <a:ext uri="{FF2B5EF4-FFF2-40B4-BE49-F238E27FC236}">
                <a16:creationId xmlns:a16="http://schemas.microsoft.com/office/drawing/2014/main" id="{A58852A1-04F3-4682-9876-7263A61A09D4}"/>
              </a:ext>
            </a:extLst>
          </p:cNvPr>
          <p:cNvSpPr/>
          <p:nvPr/>
        </p:nvSpPr>
        <p:spPr>
          <a:xfrm>
            <a:off x="2287805" y="2350008"/>
            <a:ext cx="2929058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50" name="TextBox 13">
            <a:extLst>
              <a:ext uri="{FF2B5EF4-FFF2-40B4-BE49-F238E27FC236}">
                <a16:creationId xmlns:a16="http://schemas.microsoft.com/office/drawing/2014/main" id="{615356D1-DFAF-4DE6-91A3-F57F5DBCC035}"/>
              </a:ext>
            </a:extLst>
          </p:cNvPr>
          <p:cNvSpPr txBox="1"/>
          <p:nvPr/>
        </p:nvSpPr>
        <p:spPr>
          <a:xfrm>
            <a:off x="2359904" y="2513260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N </a:t>
            </a:r>
            <a:r>
              <a:rPr sz="1200" b="0" dirty="0" err="1">
                <a:solidFill>
                  <a:srgbClr val="23364C"/>
                </a:solidFill>
                <a:latin typeface="Microsoft JhengHei"/>
              </a:rPr>
              <a:t>次（逐架</a:t>
            </a:r>
            <a:r>
              <a:rPr sz="1200" b="0" dirty="0">
                <a:solidFill>
                  <a:srgbClr val="23364C"/>
                </a:solidFill>
                <a:latin typeface="Microsoft JhengHei"/>
              </a:rPr>
              <a:t>）</a:t>
            </a:r>
          </a:p>
        </p:txBody>
      </p:sp>
      <p:sp>
        <p:nvSpPr>
          <p:cNvPr id="51" name="Rounded Rectangle 14">
            <a:extLst>
              <a:ext uri="{FF2B5EF4-FFF2-40B4-BE49-F238E27FC236}">
                <a16:creationId xmlns:a16="http://schemas.microsoft.com/office/drawing/2014/main" id="{239B00D6-4287-427D-A0A3-F447C6618B13}"/>
              </a:ext>
            </a:extLst>
          </p:cNvPr>
          <p:cNvSpPr/>
          <p:nvPr/>
        </p:nvSpPr>
        <p:spPr>
          <a:xfrm>
            <a:off x="5288963" y="2350008"/>
            <a:ext cx="2929058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52" name="TextBox 15">
            <a:extLst>
              <a:ext uri="{FF2B5EF4-FFF2-40B4-BE49-F238E27FC236}">
                <a16:creationId xmlns:a16="http://schemas.microsoft.com/office/drawing/2014/main" id="{FE148406-234D-41E0-A711-F781BCF2E751}"/>
              </a:ext>
            </a:extLst>
          </p:cNvPr>
          <p:cNvSpPr txBox="1"/>
          <p:nvPr/>
        </p:nvSpPr>
        <p:spPr>
          <a:xfrm>
            <a:off x="5361063" y="2513260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1 次</a:t>
            </a:r>
          </a:p>
        </p:txBody>
      </p:sp>
      <p:sp>
        <p:nvSpPr>
          <p:cNvPr id="53" name="Rounded Rectangle 16">
            <a:extLst>
              <a:ext uri="{FF2B5EF4-FFF2-40B4-BE49-F238E27FC236}">
                <a16:creationId xmlns:a16="http://schemas.microsoft.com/office/drawing/2014/main" id="{2031CBF9-877C-4968-9BE8-DCFCDB12619C}"/>
              </a:ext>
            </a:extLst>
          </p:cNvPr>
          <p:cNvSpPr/>
          <p:nvPr/>
        </p:nvSpPr>
        <p:spPr>
          <a:xfrm>
            <a:off x="8290121" y="2350008"/>
            <a:ext cx="2929058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54" name="TextBox 17">
            <a:extLst>
              <a:ext uri="{FF2B5EF4-FFF2-40B4-BE49-F238E27FC236}">
                <a16:creationId xmlns:a16="http://schemas.microsoft.com/office/drawing/2014/main" id="{BB745189-59C3-464E-B023-0E56ADC9E1F9}"/>
              </a:ext>
            </a:extLst>
          </p:cNvPr>
          <p:cNvSpPr txBox="1"/>
          <p:nvPr/>
        </p:nvSpPr>
        <p:spPr>
          <a:xfrm>
            <a:off x="8362221" y="2513260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1 次</a:t>
            </a:r>
          </a:p>
        </p:txBody>
      </p:sp>
      <p:sp>
        <p:nvSpPr>
          <p:cNvPr id="55" name="Rounded Rectangle 18">
            <a:extLst>
              <a:ext uri="{FF2B5EF4-FFF2-40B4-BE49-F238E27FC236}">
                <a16:creationId xmlns:a16="http://schemas.microsoft.com/office/drawing/2014/main" id="{1DCCA4A6-8806-42DD-9C57-FED4C0ED8943}"/>
              </a:ext>
            </a:extLst>
          </p:cNvPr>
          <p:cNvSpPr/>
          <p:nvPr/>
        </p:nvSpPr>
        <p:spPr>
          <a:xfrm>
            <a:off x="593457" y="3017520"/>
            <a:ext cx="1622247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671B39FA-8BAB-4508-AE71-BBCF87694746}"/>
              </a:ext>
            </a:extLst>
          </p:cNvPr>
          <p:cNvSpPr txBox="1"/>
          <p:nvPr/>
        </p:nvSpPr>
        <p:spPr>
          <a:xfrm>
            <a:off x="665557" y="3180772"/>
            <a:ext cx="147804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 err="1">
                <a:solidFill>
                  <a:srgbClr val="183052"/>
                </a:solidFill>
                <a:latin typeface="Microsoft JhengHei"/>
              </a:rPr>
              <a:t>指令同步</a:t>
            </a:r>
            <a:endParaRPr sz="12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57" name="Rounded Rectangle 20">
            <a:extLst>
              <a:ext uri="{FF2B5EF4-FFF2-40B4-BE49-F238E27FC236}">
                <a16:creationId xmlns:a16="http://schemas.microsoft.com/office/drawing/2014/main" id="{7489162F-4780-4B38-8A83-30AED294E6B1}"/>
              </a:ext>
            </a:extLst>
          </p:cNvPr>
          <p:cNvSpPr/>
          <p:nvPr/>
        </p:nvSpPr>
        <p:spPr>
          <a:xfrm>
            <a:off x="2287805" y="3017520"/>
            <a:ext cx="292905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58" name="TextBox 21">
            <a:extLst>
              <a:ext uri="{FF2B5EF4-FFF2-40B4-BE49-F238E27FC236}">
                <a16:creationId xmlns:a16="http://schemas.microsoft.com/office/drawing/2014/main" id="{BD4E2E57-A5B9-4CCF-9F56-AC07CFA9C63D}"/>
              </a:ext>
            </a:extLst>
          </p:cNvPr>
          <p:cNvSpPr txBox="1"/>
          <p:nvPr/>
        </p:nvSpPr>
        <p:spPr>
          <a:xfrm>
            <a:off x="2359904" y="3180772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23364C"/>
                </a:solidFill>
                <a:latin typeface="Microsoft JhengHei"/>
              </a:rPr>
              <a:t>各架錯開</a:t>
            </a:r>
            <a:endParaRPr sz="12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59" name="Rounded Rectangle 22">
            <a:extLst>
              <a:ext uri="{FF2B5EF4-FFF2-40B4-BE49-F238E27FC236}">
                <a16:creationId xmlns:a16="http://schemas.microsoft.com/office/drawing/2014/main" id="{54262C15-E7B9-4EAD-AEEC-8FB6B9AE62DE}"/>
              </a:ext>
            </a:extLst>
          </p:cNvPr>
          <p:cNvSpPr/>
          <p:nvPr/>
        </p:nvSpPr>
        <p:spPr>
          <a:xfrm>
            <a:off x="5288963" y="3017520"/>
            <a:ext cx="292905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60" name="TextBox 23">
            <a:extLst>
              <a:ext uri="{FF2B5EF4-FFF2-40B4-BE49-F238E27FC236}">
                <a16:creationId xmlns:a16="http://schemas.microsoft.com/office/drawing/2014/main" id="{EFF66070-D58E-4F48-BEA0-551A583C13DD}"/>
              </a:ext>
            </a:extLst>
          </p:cNvPr>
          <p:cNvSpPr txBox="1"/>
          <p:nvPr/>
        </p:nvSpPr>
        <p:spPr>
          <a:xfrm>
            <a:off x="5361063" y="3180772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23364C"/>
                </a:solidFill>
                <a:latin typeface="Microsoft JhengHei"/>
              </a:rPr>
              <a:t>同時到達</a:t>
            </a:r>
            <a:endParaRPr sz="12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61" name="Rounded Rectangle 24">
            <a:extLst>
              <a:ext uri="{FF2B5EF4-FFF2-40B4-BE49-F238E27FC236}">
                <a16:creationId xmlns:a16="http://schemas.microsoft.com/office/drawing/2014/main" id="{5073EDF5-AC75-462D-88CB-0D77D213623E}"/>
              </a:ext>
            </a:extLst>
          </p:cNvPr>
          <p:cNvSpPr/>
          <p:nvPr/>
        </p:nvSpPr>
        <p:spPr>
          <a:xfrm>
            <a:off x="8290121" y="3017520"/>
            <a:ext cx="292905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62" name="TextBox 25">
            <a:extLst>
              <a:ext uri="{FF2B5EF4-FFF2-40B4-BE49-F238E27FC236}">
                <a16:creationId xmlns:a16="http://schemas.microsoft.com/office/drawing/2014/main" id="{6DC0BF43-863A-4740-B2C5-456F0D6E47BE}"/>
              </a:ext>
            </a:extLst>
          </p:cNvPr>
          <p:cNvSpPr txBox="1"/>
          <p:nvPr/>
        </p:nvSpPr>
        <p:spPr>
          <a:xfrm>
            <a:off x="8362221" y="3180772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23364C"/>
                </a:solidFill>
                <a:latin typeface="Microsoft JhengHei"/>
              </a:rPr>
              <a:t>同時到達</a:t>
            </a:r>
            <a:endParaRPr sz="12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63" name="Rounded Rectangle 26">
            <a:extLst>
              <a:ext uri="{FF2B5EF4-FFF2-40B4-BE49-F238E27FC236}">
                <a16:creationId xmlns:a16="http://schemas.microsoft.com/office/drawing/2014/main" id="{74C0EBFC-F281-4248-91C6-86EDA38F7FAE}"/>
              </a:ext>
            </a:extLst>
          </p:cNvPr>
          <p:cNvSpPr/>
          <p:nvPr/>
        </p:nvSpPr>
        <p:spPr>
          <a:xfrm>
            <a:off x="593457" y="3685032"/>
            <a:ext cx="1622247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64" name="TextBox 27">
            <a:extLst>
              <a:ext uri="{FF2B5EF4-FFF2-40B4-BE49-F238E27FC236}">
                <a16:creationId xmlns:a16="http://schemas.microsoft.com/office/drawing/2014/main" id="{F20E75B1-F897-4D68-9E5A-2E08FF9E003B}"/>
              </a:ext>
            </a:extLst>
          </p:cNvPr>
          <p:cNvSpPr txBox="1"/>
          <p:nvPr/>
        </p:nvSpPr>
        <p:spPr>
          <a:xfrm>
            <a:off x="665557" y="3848284"/>
            <a:ext cx="147804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 err="1">
                <a:solidFill>
                  <a:srgbClr val="183052"/>
                </a:solidFill>
                <a:latin typeface="Microsoft JhengHei"/>
              </a:rPr>
              <a:t>狀態回覆</a:t>
            </a:r>
            <a:endParaRPr sz="12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65" name="Rounded Rectangle 28">
            <a:extLst>
              <a:ext uri="{FF2B5EF4-FFF2-40B4-BE49-F238E27FC236}">
                <a16:creationId xmlns:a16="http://schemas.microsoft.com/office/drawing/2014/main" id="{2A1CCD0E-8B3E-44BE-BC94-BF3C21D59CAE}"/>
              </a:ext>
            </a:extLst>
          </p:cNvPr>
          <p:cNvSpPr/>
          <p:nvPr/>
        </p:nvSpPr>
        <p:spPr>
          <a:xfrm>
            <a:off x="2287805" y="3685032"/>
            <a:ext cx="2929058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6" name="TextBox 29">
            <a:extLst>
              <a:ext uri="{FF2B5EF4-FFF2-40B4-BE49-F238E27FC236}">
                <a16:creationId xmlns:a16="http://schemas.microsoft.com/office/drawing/2014/main" id="{4196EB04-806B-48D0-BDFD-290769109061}"/>
              </a:ext>
            </a:extLst>
          </p:cNvPr>
          <p:cNvSpPr txBox="1"/>
          <p:nvPr/>
        </p:nvSpPr>
        <p:spPr>
          <a:xfrm>
            <a:off x="2359904" y="3848284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✓ </a:t>
            </a:r>
            <a:r>
              <a:rPr sz="1200" b="0" dirty="0" err="1">
                <a:solidFill>
                  <a:srgbClr val="23364C"/>
                </a:solidFill>
                <a:latin typeface="Microsoft JhengHei"/>
              </a:rPr>
              <a:t>有,可重送</a:t>
            </a:r>
            <a:endParaRPr sz="12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67" name="Rounded Rectangle 30">
            <a:extLst>
              <a:ext uri="{FF2B5EF4-FFF2-40B4-BE49-F238E27FC236}">
                <a16:creationId xmlns:a16="http://schemas.microsoft.com/office/drawing/2014/main" id="{A590AD31-79DB-4DD7-944F-35FFDC01CBBC}"/>
              </a:ext>
            </a:extLst>
          </p:cNvPr>
          <p:cNvSpPr/>
          <p:nvPr/>
        </p:nvSpPr>
        <p:spPr>
          <a:xfrm>
            <a:off x="5288963" y="3685032"/>
            <a:ext cx="2929058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8" name="TextBox 31">
            <a:extLst>
              <a:ext uri="{FF2B5EF4-FFF2-40B4-BE49-F238E27FC236}">
                <a16:creationId xmlns:a16="http://schemas.microsoft.com/office/drawing/2014/main" id="{8784467B-10D6-43E8-A8EA-AC3C1FD64D49}"/>
              </a:ext>
            </a:extLst>
          </p:cNvPr>
          <p:cNvSpPr txBox="1"/>
          <p:nvPr/>
        </p:nvSpPr>
        <p:spPr>
          <a:xfrm>
            <a:off x="5361063" y="3848284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✗ 無</a:t>
            </a:r>
          </a:p>
        </p:txBody>
      </p:sp>
      <p:sp>
        <p:nvSpPr>
          <p:cNvPr id="69" name="Rounded Rectangle 32">
            <a:extLst>
              <a:ext uri="{FF2B5EF4-FFF2-40B4-BE49-F238E27FC236}">
                <a16:creationId xmlns:a16="http://schemas.microsoft.com/office/drawing/2014/main" id="{144FC58C-8AB6-4367-92B8-BC061B94F853}"/>
              </a:ext>
            </a:extLst>
          </p:cNvPr>
          <p:cNvSpPr/>
          <p:nvPr/>
        </p:nvSpPr>
        <p:spPr>
          <a:xfrm>
            <a:off x="8290121" y="3685032"/>
            <a:ext cx="2929058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0" name="TextBox 33">
            <a:extLst>
              <a:ext uri="{FF2B5EF4-FFF2-40B4-BE49-F238E27FC236}">
                <a16:creationId xmlns:a16="http://schemas.microsoft.com/office/drawing/2014/main" id="{A098A78B-34ED-4F25-BA15-33FF1FAD33F9}"/>
              </a:ext>
            </a:extLst>
          </p:cNvPr>
          <p:cNvSpPr txBox="1"/>
          <p:nvPr/>
        </p:nvSpPr>
        <p:spPr>
          <a:xfrm>
            <a:off x="8362221" y="3848284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✗ 無</a:t>
            </a:r>
          </a:p>
        </p:txBody>
      </p:sp>
      <p:sp>
        <p:nvSpPr>
          <p:cNvPr id="71" name="Rounded Rectangle 34">
            <a:extLst>
              <a:ext uri="{FF2B5EF4-FFF2-40B4-BE49-F238E27FC236}">
                <a16:creationId xmlns:a16="http://schemas.microsoft.com/office/drawing/2014/main" id="{FEB25110-2A71-4025-B912-300C98A896B3}"/>
              </a:ext>
            </a:extLst>
          </p:cNvPr>
          <p:cNvSpPr/>
          <p:nvPr/>
        </p:nvSpPr>
        <p:spPr>
          <a:xfrm>
            <a:off x="593457" y="4352543"/>
            <a:ext cx="1622247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2" name="TextBox 35">
            <a:extLst>
              <a:ext uri="{FF2B5EF4-FFF2-40B4-BE49-F238E27FC236}">
                <a16:creationId xmlns:a16="http://schemas.microsoft.com/office/drawing/2014/main" id="{5A6197E7-9824-40C0-8986-B010DFA0659F}"/>
              </a:ext>
            </a:extLst>
          </p:cNvPr>
          <p:cNvSpPr txBox="1"/>
          <p:nvPr/>
        </p:nvSpPr>
        <p:spPr>
          <a:xfrm>
            <a:off x="665557" y="4515795"/>
            <a:ext cx="147804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 err="1">
                <a:solidFill>
                  <a:srgbClr val="183052"/>
                </a:solidFill>
                <a:latin typeface="Microsoft JhengHei"/>
              </a:rPr>
              <a:t>同時操控</a:t>
            </a:r>
            <a:endParaRPr sz="12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73" name="Rounded Rectangle 36">
            <a:extLst>
              <a:ext uri="{FF2B5EF4-FFF2-40B4-BE49-F238E27FC236}">
                <a16:creationId xmlns:a16="http://schemas.microsoft.com/office/drawing/2014/main" id="{E0FD3305-FD99-4F52-8817-D13A734FB854}"/>
              </a:ext>
            </a:extLst>
          </p:cNvPr>
          <p:cNvSpPr/>
          <p:nvPr/>
        </p:nvSpPr>
        <p:spPr>
          <a:xfrm>
            <a:off x="2287805" y="4352543"/>
            <a:ext cx="292905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4" name="TextBox 37">
            <a:extLst>
              <a:ext uri="{FF2B5EF4-FFF2-40B4-BE49-F238E27FC236}">
                <a16:creationId xmlns:a16="http://schemas.microsoft.com/office/drawing/2014/main" id="{84A96ABE-E61B-4E20-A72E-E4CF7384F2DB}"/>
              </a:ext>
            </a:extLst>
          </p:cNvPr>
          <p:cNvSpPr txBox="1"/>
          <p:nvPr/>
        </p:nvSpPr>
        <p:spPr>
          <a:xfrm>
            <a:off x="2359904" y="4515795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1 架</a:t>
            </a:r>
          </a:p>
        </p:txBody>
      </p:sp>
      <p:sp>
        <p:nvSpPr>
          <p:cNvPr id="75" name="Rounded Rectangle 38">
            <a:extLst>
              <a:ext uri="{FF2B5EF4-FFF2-40B4-BE49-F238E27FC236}">
                <a16:creationId xmlns:a16="http://schemas.microsoft.com/office/drawing/2014/main" id="{A330B67A-42EE-445B-87B1-F6A9A6507CD8}"/>
              </a:ext>
            </a:extLst>
          </p:cNvPr>
          <p:cNvSpPr/>
          <p:nvPr/>
        </p:nvSpPr>
        <p:spPr>
          <a:xfrm>
            <a:off x="5288963" y="4352543"/>
            <a:ext cx="292905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2E1C02E1-D5B0-416B-A06F-09F673F08ED9}"/>
              </a:ext>
            </a:extLst>
          </p:cNvPr>
          <p:cNvSpPr txBox="1"/>
          <p:nvPr/>
        </p:nvSpPr>
        <p:spPr>
          <a:xfrm>
            <a:off x="5361063" y="4515796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200" b="0" dirty="0">
                <a:solidFill>
                  <a:srgbClr val="23364C"/>
                </a:solidFill>
                <a:latin typeface="Microsoft JhengHei"/>
              </a:rPr>
              <a:t>多架；</a:t>
            </a:r>
            <a:r>
              <a:rPr lang="zh-TW" altLang="en-US" sz="1200" dirty="0">
                <a:solidFill>
                  <a:srgbClr val="23364C"/>
                </a:solidFill>
                <a:latin typeface="Microsoft JhengHei"/>
              </a:rPr>
              <a:t>同步</a:t>
            </a:r>
            <a:endParaRPr lang="zh-TW" altLang="en-US" sz="12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77" name="Rounded Rectangle 40">
            <a:extLst>
              <a:ext uri="{FF2B5EF4-FFF2-40B4-BE49-F238E27FC236}">
                <a16:creationId xmlns:a16="http://schemas.microsoft.com/office/drawing/2014/main" id="{FE4600E7-25B9-4FDA-BDC9-86ED1EC69B20}"/>
              </a:ext>
            </a:extLst>
          </p:cNvPr>
          <p:cNvSpPr/>
          <p:nvPr/>
        </p:nvSpPr>
        <p:spPr>
          <a:xfrm>
            <a:off x="8290121" y="4352543"/>
            <a:ext cx="292905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8" name="TextBox 41">
            <a:extLst>
              <a:ext uri="{FF2B5EF4-FFF2-40B4-BE49-F238E27FC236}">
                <a16:creationId xmlns:a16="http://schemas.microsoft.com/office/drawing/2014/main" id="{25ED75BA-8434-42C4-9F3F-BCDBA7222A24}"/>
              </a:ext>
            </a:extLst>
          </p:cNvPr>
          <p:cNvSpPr txBox="1"/>
          <p:nvPr/>
        </p:nvSpPr>
        <p:spPr>
          <a:xfrm>
            <a:off x="8362221" y="4515795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200" b="0" dirty="0">
                <a:solidFill>
                  <a:srgbClr val="23364C"/>
                </a:solidFill>
                <a:latin typeface="Microsoft JhengHei"/>
              </a:rPr>
              <a:t>多</a:t>
            </a:r>
            <a:r>
              <a:rPr sz="1200" b="0" dirty="0" err="1">
                <a:solidFill>
                  <a:srgbClr val="23364C"/>
                </a:solidFill>
                <a:latin typeface="Microsoft JhengHei"/>
              </a:rPr>
              <a:t>架；可不同動作</a:t>
            </a:r>
            <a:endParaRPr sz="1200" b="0" dirty="0">
              <a:solidFill>
                <a:srgbClr val="23364C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廣播模式 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032760"/>
            <a:ext cx="6675120" cy="2606040"/>
          </a:xfrm>
          <a:prstGeom prst="roundRect">
            <a:avLst>
              <a:gd name="adj" fmla="val 2807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9" name="Text 27"/>
          <p:cNvSpPr/>
          <p:nvPr/>
        </p:nvSpPr>
        <p:spPr>
          <a:xfrm>
            <a:off x="777240" y="316991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飛機端的判斷步驟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36728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1" name="Text 29"/>
          <p:cNvSpPr/>
          <p:nvPr/>
        </p:nvSpPr>
        <p:spPr>
          <a:xfrm>
            <a:off x="822960" y="3672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3672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先看長度。長度多出一個位元組,代表是廣播封包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36728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4" name="Text 32"/>
          <p:cNvSpPr/>
          <p:nvPr/>
        </p:nvSpPr>
        <p:spPr>
          <a:xfrm>
            <a:off x="4023360" y="3672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3672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讀取尾端那個位元組,得知這個封包指定給誰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4294631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7" name="Text 35"/>
          <p:cNvSpPr/>
          <p:nvPr/>
        </p:nvSpPr>
        <p:spPr>
          <a:xfrm>
            <a:off x="822960" y="4294631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63040" y="4294631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若指定為全部,或正好是自己的編號,就執行搖桿指令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23360" y="4294631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0" name="Text 38"/>
          <p:cNvSpPr/>
          <p:nvPr/>
        </p:nvSpPr>
        <p:spPr>
          <a:xfrm>
            <a:off x="4023360" y="4294631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63440" y="4294631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否則原地懸停等待:傾角歸零、油門固定在懸停值、切換為定高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" y="491642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3" name="Text 41"/>
          <p:cNvSpPr/>
          <p:nvPr/>
        </p:nvSpPr>
        <p:spPr>
          <a:xfrm>
            <a:off x="822960" y="491642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關鍵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63040" y="491642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等待時仍會更新連線時間,不會被誤判為失聯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23360" y="491642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6" name="Text 44"/>
          <p:cNvSpPr/>
          <p:nvPr/>
        </p:nvSpPr>
        <p:spPr>
          <a:xfrm>
            <a:off x="4023360" y="491642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提示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63440" y="491642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不符即待命 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7240" y="54559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沿用已經確認可以飛的原廠封包,只差一個位元組,在不易除錯的情況下把變動降到最低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52360" y="3032760"/>
            <a:ext cx="4160520" cy="2606040"/>
          </a:xfrm>
          <a:prstGeom prst="roundRect">
            <a:avLst>
              <a:gd name="adj" fmla="val 28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50" name="Text 48"/>
          <p:cNvSpPr/>
          <p:nvPr/>
        </p:nvSpPr>
        <p:spPr>
          <a:xfrm>
            <a:off x="7680960" y="316991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三項設計說明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680960" y="376427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2" name="Text 50"/>
          <p:cNvSpPr/>
          <p:nvPr/>
        </p:nvSpPr>
        <p:spPr>
          <a:xfrm>
            <a:off x="7680960" y="37642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156448" y="37094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等待中的飛機會持續懸停,因為每個封包都會更新連線時間,不會誤判為失聯而降落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80960" y="445007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5" name="Text 53"/>
          <p:cNvSpPr/>
          <p:nvPr/>
        </p:nvSpPr>
        <p:spPr>
          <a:xfrm>
            <a:off x="7680960" y="44500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156448" y="43952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一對一傳送時封包少一個位元組,飛機會自動走原本的流程,不需另外切換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680960" y="513587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8" name="Text 56"/>
          <p:cNvSpPr/>
          <p:nvPr/>
        </p:nvSpPr>
        <p:spPr>
          <a:xfrm>
            <a:off x="7680960" y="51358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156448" y="50810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起飛、降落與緊急停止這類指令不指定對象,一律送給所有飛機,因為緊急停止必須每一架都收到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48746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9" name="Text 7"/>
          <p:cNvSpPr/>
          <p:nvPr/>
        </p:nvSpPr>
        <p:spPr>
          <a:xfrm>
            <a:off x="777240" y="15636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封包結構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00481" y="195376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0xAF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79823" y="1983670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000" dirty="0"/>
          </a:p>
        </p:txBody>
      </p:sp>
      <p:sp>
        <p:nvSpPr>
          <p:cNvPr id="17" name="Text 15"/>
          <p:cNvSpPr/>
          <p:nvPr/>
        </p:nvSpPr>
        <p:spPr>
          <a:xfrm>
            <a:off x="2679823" y="198367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0x50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79823" y="249573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原廠遙控封包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(格式不變)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98895" y="1983670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000" dirty="0"/>
          </a:p>
        </p:txBody>
      </p:sp>
      <p:sp>
        <p:nvSpPr>
          <p:cNvPr id="20" name="Text 18"/>
          <p:cNvSpPr/>
          <p:nvPr/>
        </p:nvSpPr>
        <p:spPr>
          <a:xfrm>
            <a:off x="4398895" y="198367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長度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98895" y="249573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1+27+1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(=29)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17967" y="1983670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sz="2000" dirty="0"/>
          </a:p>
        </p:txBody>
      </p:sp>
      <p:sp>
        <p:nvSpPr>
          <p:cNvPr id="23" name="Text 21"/>
          <p:cNvSpPr/>
          <p:nvPr/>
        </p:nvSpPr>
        <p:spPr>
          <a:xfrm>
            <a:off x="6117967" y="198367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remoterData_t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17967" y="249573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27 位元組全精度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91319" y="1983670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 sz="2000" dirty="0"/>
          </a:p>
        </p:txBody>
      </p:sp>
      <p:sp>
        <p:nvSpPr>
          <p:cNvPr id="26" name="Text 24"/>
          <p:cNvSpPr/>
          <p:nvPr/>
        </p:nvSpPr>
        <p:spPr>
          <a:xfrm>
            <a:off x="7791319" y="198367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目標位元組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37039" y="2495734"/>
            <a:ext cx="1554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0=全體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1=nRF 2=ATK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">
            <a:extLst>
              <a:ext uri="{FF2B5EF4-FFF2-40B4-BE49-F238E27FC236}">
                <a16:creationId xmlns:a16="http://schemas.microsoft.com/office/drawing/2014/main" id="{13CBF27A-921B-4A3D-8B4D-3020F7D985EF}"/>
              </a:ext>
            </a:extLst>
          </p:cNvPr>
          <p:cNvSpPr/>
          <p:nvPr/>
        </p:nvSpPr>
        <p:spPr>
          <a:xfrm>
            <a:off x="548640" y="1448746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廣播模式 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032760"/>
            <a:ext cx="6675120" cy="2606040"/>
          </a:xfrm>
          <a:prstGeom prst="roundRect">
            <a:avLst>
              <a:gd name="adj" fmla="val 2807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9" name="Text 27"/>
          <p:cNvSpPr/>
          <p:nvPr/>
        </p:nvSpPr>
        <p:spPr>
          <a:xfrm>
            <a:off x="777240" y="316991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飛機端的取用步驟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36728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1" name="Text 29"/>
          <p:cNvSpPr/>
          <p:nvPr/>
        </p:nvSpPr>
        <p:spPr>
          <a:xfrm>
            <a:off x="822960" y="3672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3672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先讀第一個位元組,得知這個封包含有幾架的指令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36728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4" name="Text 32"/>
          <p:cNvSpPr/>
          <p:nvPr/>
        </p:nvSpPr>
        <p:spPr>
          <a:xfrm>
            <a:off x="4023360" y="3672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3672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8 個位元組為一段,依序檢查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4294631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7" name="Text 35"/>
          <p:cNvSpPr/>
          <p:nvPr/>
        </p:nvSpPr>
        <p:spPr>
          <a:xfrm>
            <a:off x="822960" y="4294631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63040" y="4294631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比對每一段開頭的編號是否為自己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23360" y="4294631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0" name="Text 38"/>
          <p:cNvSpPr/>
          <p:nvPr/>
        </p:nvSpPr>
        <p:spPr>
          <a:xfrm>
            <a:off x="4023360" y="4294631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63440" y="4294631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找到就取出使用;全部檢查完都沒有自己的,就忽略這個封包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" y="491642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3" name="Text 41"/>
          <p:cNvSpPr/>
          <p:nvPr/>
        </p:nvSpPr>
        <p:spPr>
          <a:xfrm>
            <a:off x="822960" y="491642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對照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63040" y="491642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模式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A </a:t>
            </a: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靠封包尾端的位元元元組,模式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B </a:t>
            </a: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靠每段開頭的編號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23360" y="491642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6" name="Text 44"/>
          <p:cNvSpPr/>
          <p:nvPr/>
        </p:nvSpPr>
        <p:spPr>
          <a:xfrm>
            <a:off x="4023360" y="491642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注意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63440" y="491642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各取自己那一段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7240" y="54559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沒找到自己時不會重置連線時間,因為分批傳送時這個封包沒有自己並不代表失聯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52360" y="3032760"/>
            <a:ext cx="4160520" cy="2606040"/>
          </a:xfrm>
          <a:prstGeom prst="roundRect">
            <a:avLst>
              <a:gd name="adj" fmla="val 28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50" name="Text 48"/>
          <p:cNvSpPr/>
          <p:nvPr/>
        </p:nvSpPr>
        <p:spPr>
          <a:xfrm>
            <a:off x="7680960" y="316991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數值壓縮的原因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680960" y="376427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2" name="Text 50"/>
          <p:cNvSpPr/>
          <p:nvPr/>
        </p:nvSpPr>
        <p:spPr>
          <a:xfrm>
            <a:off x="7680960" y="37642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156448" y="37094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單一封包最多只能放 32 個位元組,原本的完整格式兩架就放不下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80960" y="445007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5" name="Text 53"/>
          <p:cNvSpPr/>
          <p:nvPr/>
        </p:nvSpPr>
        <p:spPr>
          <a:xfrm>
            <a:off x="7680960" y="44500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156448" y="43952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依實際飛行需要縮小範圍(傾角 ±30 度、轉速 ±200 度/秒),損失的精度遠小於機體本身的反應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680960" y="513587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58" name="Text 56"/>
          <p:cNvSpPr/>
          <p:nvPr/>
        </p:nvSpPr>
        <p:spPr>
          <a:xfrm>
            <a:off x="7680960" y="51358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156448" y="50810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每架 8 個位元組,兩架 19、三架 27 個位元組仍在限制內,四架則超過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5636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封包結構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38144" y="1982670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000" dirty="0"/>
          </a:p>
        </p:txBody>
      </p:sp>
      <p:sp>
        <p:nvSpPr>
          <p:cNvPr id="17" name="Text 15"/>
          <p:cNvSpPr/>
          <p:nvPr/>
        </p:nvSpPr>
        <p:spPr>
          <a:xfrm>
            <a:off x="3438144" y="198267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0x60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38144" y="249473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一次指揮多架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(功能欄位)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57216" y="1982670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000" dirty="0"/>
          </a:p>
        </p:txBody>
      </p:sp>
      <p:sp>
        <p:nvSpPr>
          <p:cNvPr id="20" name="Text 18"/>
          <p:cNvSpPr/>
          <p:nvPr/>
        </p:nvSpPr>
        <p:spPr>
          <a:xfrm>
            <a:off x="5157216" y="198267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長度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57216" y="249473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+ 8×N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(兩架=17)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76288" y="1982670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sz="2000" dirty="0"/>
          </a:p>
        </p:txBody>
      </p:sp>
      <p:sp>
        <p:nvSpPr>
          <p:cNvPr id="23" name="Text 21"/>
          <p:cNvSpPr/>
          <p:nvPr/>
        </p:nvSpPr>
        <p:spPr>
          <a:xfrm>
            <a:off x="6876288" y="198267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架數 + 各架指令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76288" y="249473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每架 8 個位元組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斷聯</a:t>
            </a:r>
            <a:r>
              <a:rPr lang="zh-CN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風險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5CED72D3-7509-4CCA-8BBB-C678830D055F}"/>
              </a:ext>
            </a:extLst>
          </p:cNvPr>
          <p:cNvSpPr/>
          <p:nvPr/>
        </p:nvSpPr>
        <p:spPr>
          <a:xfrm>
            <a:off x="594360" y="1270000"/>
            <a:ext cx="3246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7D4AD9D9-B054-471C-B524-204701D47007}"/>
              </a:ext>
            </a:extLst>
          </p:cNvPr>
          <p:cNvSpPr/>
          <p:nvPr/>
        </p:nvSpPr>
        <p:spPr>
          <a:xfrm>
            <a:off x="758952" y="1452879"/>
            <a:ext cx="420624" cy="420624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06131A7-F089-4BC4-8007-E090B0B91D2B}"/>
              </a:ext>
            </a:extLst>
          </p:cNvPr>
          <p:cNvSpPr txBox="1"/>
          <p:nvPr/>
        </p:nvSpPr>
        <p:spPr>
          <a:xfrm>
            <a:off x="758952" y="2047239"/>
            <a:ext cx="2907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 err="1">
                <a:solidFill>
                  <a:srgbClr val="183052"/>
                </a:solidFill>
                <a:latin typeface="Microsoft JhengHei"/>
              </a:rPr>
              <a:t>發送端一次只能對一架</a:t>
            </a:r>
            <a:endParaRPr sz="14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AD69E33-B6B9-421B-AF52-DA88B246F7FC}"/>
              </a:ext>
            </a:extLst>
          </p:cNvPr>
          <p:cNvSpPr txBox="1"/>
          <p:nvPr/>
        </p:nvSpPr>
        <p:spPr>
          <a:xfrm>
            <a:off x="795528" y="2605022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27384"/>
                </a:solidFill>
                <a:latin typeface="Microsoft JhengHei"/>
              </a:rPr>
              <a:t>ESB </a:t>
            </a:r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只有一組</a:t>
            </a:r>
            <a:r>
              <a:rPr sz="1100" b="0" dirty="0">
                <a:solidFill>
                  <a:srgbClr val="627384"/>
                </a:solidFill>
                <a:latin typeface="Microsoft JhengHei"/>
              </a:rPr>
              <a:t> TX </a:t>
            </a:r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位址暫存器；切換目標需先改寫位址</a:t>
            </a:r>
            <a:r>
              <a:rPr sz="1100" b="0" dirty="0">
                <a:solidFill>
                  <a:srgbClr val="627384"/>
                </a:solidFill>
                <a:latin typeface="Microsoft JhengHei"/>
              </a:rPr>
              <a:t>。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75BCFDB2-8D67-4A9C-ABAE-3485A32FE5AB}"/>
              </a:ext>
            </a:extLst>
          </p:cNvPr>
          <p:cNvSpPr/>
          <p:nvPr/>
        </p:nvSpPr>
        <p:spPr>
          <a:xfrm>
            <a:off x="4096512" y="1270000"/>
            <a:ext cx="3246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FE86A703-ED8D-48AF-A797-2D1F511CF493}"/>
              </a:ext>
            </a:extLst>
          </p:cNvPr>
          <p:cNvSpPr/>
          <p:nvPr/>
        </p:nvSpPr>
        <p:spPr>
          <a:xfrm>
            <a:off x="4261104" y="1452879"/>
            <a:ext cx="420624" cy="420624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E8B7F78C-065F-4D6C-9DFB-3AC1E347DB54}"/>
              </a:ext>
            </a:extLst>
          </p:cNvPr>
          <p:cNvSpPr txBox="1"/>
          <p:nvPr/>
        </p:nvSpPr>
        <p:spPr>
          <a:xfrm>
            <a:off x="4261104" y="2047239"/>
            <a:ext cx="2907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 err="1">
                <a:solidFill>
                  <a:srgbClr val="183052"/>
                </a:solidFill>
                <a:latin typeface="Microsoft JhengHei"/>
              </a:rPr>
              <a:t>架數越多，輪空越久</a:t>
            </a:r>
            <a:endParaRPr sz="14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45320FEB-F1F3-4734-88D0-3307E0C89B96}"/>
              </a:ext>
            </a:extLst>
          </p:cNvPr>
          <p:cNvSpPr txBox="1"/>
          <p:nvPr/>
        </p:nvSpPr>
        <p:spPr>
          <a:xfrm>
            <a:off x="4297680" y="2605022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目前一輪點名</a:t>
            </a:r>
            <a:r>
              <a:rPr sz="1100" b="0" dirty="0">
                <a:solidFill>
                  <a:srgbClr val="627384"/>
                </a:solidFill>
                <a:latin typeface="Microsoft JhengHei"/>
              </a:rPr>
              <a:t> 2～3 </a:t>
            </a:r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架；架數增加，輪一圈時間等比拉長</a:t>
            </a:r>
            <a:r>
              <a:rPr sz="1100" b="0" dirty="0">
                <a:solidFill>
                  <a:srgbClr val="627384"/>
                </a:solidFill>
                <a:latin typeface="Microsoft JhengHei"/>
              </a:rPr>
              <a:t>。</a:t>
            </a:r>
          </a:p>
        </p:txBody>
      </p:sp>
      <p:sp>
        <p:nvSpPr>
          <p:cNvPr id="24" name="Rounded Rectangle 15">
            <a:extLst>
              <a:ext uri="{FF2B5EF4-FFF2-40B4-BE49-F238E27FC236}">
                <a16:creationId xmlns:a16="http://schemas.microsoft.com/office/drawing/2014/main" id="{1619DDAE-EE99-44E7-969F-F905635B8C16}"/>
              </a:ext>
            </a:extLst>
          </p:cNvPr>
          <p:cNvSpPr/>
          <p:nvPr/>
        </p:nvSpPr>
        <p:spPr>
          <a:xfrm>
            <a:off x="7598664" y="1270000"/>
            <a:ext cx="3246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16">
            <a:extLst>
              <a:ext uri="{FF2B5EF4-FFF2-40B4-BE49-F238E27FC236}">
                <a16:creationId xmlns:a16="http://schemas.microsoft.com/office/drawing/2014/main" id="{5DFAE6DF-931E-4313-9C61-5CB73B237E94}"/>
              </a:ext>
            </a:extLst>
          </p:cNvPr>
          <p:cNvSpPr/>
          <p:nvPr/>
        </p:nvSpPr>
        <p:spPr>
          <a:xfrm>
            <a:off x="7763256" y="1452879"/>
            <a:ext cx="420624" cy="420624"/>
          </a:xfrm>
          <a:prstGeom prst="roundRect">
            <a:avLst/>
          </a:prstGeom>
          <a:solidFill>
            <a:srgbClr val="C24C46"/>
          </a:solidFill>
          <a:ln w="12700">
            <a:solidFill>
              <a:srgbClr val="C2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0113A171-E776-4EB5-9A0C-AE61D4B12F82}"/>
              </a:ext>
            </a:extLst>
          </p:cNvPr>
          <p:cNvSpPr txBox="1"/>
          <p:nvPr/>
        </p:nvSpPr>
        <p:spPr>
          <a:xfrm>
            <a:off x="7763256" y="2047239"/>
            <a:ext cx="2907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 err="1">
                <a:solidFill>
                  <a:srgbClr val="183052"/>
                </a:solidFill>
                <a:latin typeface="Microsoft JhengHei"/>
              </a:rPr>
              <a:t>輪空若被判失聯會墜機</a:t>
            </a:r>
            <a:endParaRPr sz="14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238B7720-9A22-4F33-A115-E1AF65BFCE91}"/>
              </a:ext>
            </a:extLst>
          </p:cNvPr>
          <p:cNvSpPr txBox="1"/>
          <p:nvPr/>
        </p:nvSpPr>
        <p:spPr>
          <a:xfrm>
            <a:off x="7799832" y="2605022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可能觸發降落／停機，因此必須分開判斷輪空與失聯</a:t>
            </a:r>
            <a:r>
              <a:rPr sz="1100" b="0" dirty="0">
                <a:solidFill>
                  <a:srgbClr val="627384"/>
                </a:solidFill>
                <a:latin typeface="Microsoft JhengHei"/>
              </a:rPr>
              <a:t>。</a:t>
            </a:r>
          </a:p>
        </p:txBody>
      </p:sp>
      <p:sp>
        <p:nvSpPr>
          <p:cNvPr id="28" name="Rounded Rectangle 19">
            <a:extLst>
              <a:ext uri="{FF2B5EF4-FFF2-40B4-BE49-F238E27FC236}">
                <a16:creationId xmlns:a16="http://schemas.microsoft.com/office/drawing/2014/main" id="{B1DCFB17-79AF-4153-A7EC-6696DF93C376}"/>
              </a:ext>
            </a:extLst>
          </p:cNvPr>
          <p:cNvSpPr/>
          <p:nvPr/>
        </p:nvSpPr>
        <p:spPr>
          <a:xfrm>
            <a:off x="594360" y="3721267"/>
            <a:ext cx="5102352" cy="566928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短暫輪空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→ </a:t>
            </a:r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保持現狀／等待</a:t>
            </a:r>
            <a:endParaRPr sz="1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29" name="Rounded Rectangle 20">
            <a:extLst>
              <a:ext uri="{FF2B5EF4-FFF2-40B4-BE49-F238E27FC236}">
                <a16:creationId xmlns:a16="http://schemas.microsoft.com/office/drawing/2014/main" id="{4F841D72-A14C-4116-A567-16264D352160}"/>
              </a:ext>
            </a:extLst>
          </p:cNvPr>
          <p:cNvSpPr/>
          <p:nvPr/>
        </p:nvSpPr>
        <p:spPr>
          <a:xfrm>
            <a:off x="6071616" y="3703146"/>
            <a:ext cx="5102352" cy="566928"/>
          </a:xfrm>
          <a:prstGeom prst="roundRect">
            <a:avLst/>
          </a:prstGeom>
          <a:solidFill>
            <a:srgbClr val="C24C46"/>
          </a:solidFill>
          <a:ln w="12700">
            <a:solidFill>
              <a:srgbClr val="C2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持續超時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→ </a:t>
            </a:r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才進入失聯保護</a:t>
            </a:r>
            <a:endParaRPr sz="1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AE3262C4-34C9-4A9B-8AAE-C751374889CF}"/>
              </a:ext>
            </a:extLst>
          </p:cNvPr>
          <p:cNvSpPr txBox="1"/>
          <p:nvPr/>
        </p:nvSpPr>
        <p:spPr>
          <a:xfrm>
            <a:off x="594360" y="4379635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052"/>
                </a:solidFill>
                <a:latin typeface="Microsoft JhengHei"/>
              </a:rPr>
              <a:t>控制時序</a:t>
            </a:r>
          </a:p>
        </p:txBody>
      </p:sp>
      <p:sp>
        <p:nvSpPr>
          <p:cNvPr id="31" name="Rounded Rectangle 7">
            <a:extLst>
              <a:ext uri="{FF2B5EF4-FFF2-40B4-BE49-F238E27FC236}">
                <a16:creationId xmlns:a16="http://schemas.microsoft.com/office/drawing/2014/main" id="{C9464425-F0CB-4D9F-87FA-33C56284C710}"/>
              </a:ext>
            </a:extLst>
          </p:cNvPr>
          <p:cNvSpPr/>
          <p:nvPr/>
        </p:nvSpPr>
        <p:spPr>
          <a:xfrm>
            <a:off x="594360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2" name="Rounded Rectangle 8">
            <a:extLst>
              <a:ext uri="{FF2B5EF4-FFF2-40B4-BE49-F238E27FC236}">
                <a16:creationId xmlns:a16="http://schemas.microsoft.com/office/drawing/2014/main" id="{FB3DA373-4F25-4951-AC43-AC84B5287387}"/>
              </a:ext>
            </a:extLst>
          </p:cNvPr>
          <p:cNvSpPr/>
          <p:nvPr/>
        </p:nvSpPr>
        <p:spPr>
          <a:xfrm>
            <a:off x="1124712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3" name="Rounded Rectangle 9">
            <a:extLst>
              <a:ext uri="{FF2B5EF4-FFF2-40B4-BE49-F238E27FC236}">
                <a16:creationId xmlns:a16="http://schemas.microsoft.com/office/drawing/2014/main" id="{88545F4A-843F-48C9-954C-5520AA3A888B}"/>
              </a:ext>
            </a:extLst>
          </p:cNvPr>
          <p:cNvSpPr/>
          <p:nvPr/>
        </p:nvSpPr>
        <p:spPr>
          <a:xfrm>
            <a:off x="1655064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4" name="Rounded Rectangle 10">
            <a:extLst>
              <a:ext uri="{FF2B5EF4-FFF2-40B4-BE49-F238E27FC236}">
                <a16:creationId xmlns:a16="http://schemas.microsoft.com/office/drawing/2014/main" id="{B2BD6AA2-5552-406E-A6EB-1E7952249AA0}"/>
              </a:ext>
            </a:extLst>
          </p:cNvPr>
          <p:cNvSpPr/>
          <p:nvPr/>
        </p:nvSpPr>
        <p:spPr>
          <a:xfrm>
            <a:off x="2185416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5" name="Rounded Rectangle 11">
            <a:extLst>
              <a:ext uri="{FF2B5EF4-FFF2-40B4-BE49-F238E27FC236}">
                <a16:creationId xmlns:a16="http://schemas.microsoft.com/office/drawing/2014/main" id="{E739764B-394C-47BE-A585-37388D3611B2}"/>
              </a:ext>
            </a:extLst>
          </p:cNvPr>
          <p:cNvSpPr/>
          <p:nvPr/>
        </p:nvSpPr>
        <p:spPr>
          <a:xfrm>
            <a:off x="2715768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6" name="Rounded Rectangle 12">
            <a:extLst>
              <a:ext uri="{FF2B5EF4-FFF2-40B4-BE49-F238E27FC236}">
                <a16:creationId xmlns:a16="http://schemas.microsoft.com/office/drawing/2014/main" id="{1E739B2F-1A60-4EDA-8597-EC4757D9B9E9}"/>
              </a:ext>
            </a:extLst>
          </p:cNvPr>
          <p:cNvSpPr/>
          <p:nvPr/>
        </p:nvSpPr>
        <p:spPr>
          <a:xfrm>
            <a:off x="3246120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7" name="Rounded Rectangle 13">
            <a:extLst>
              <a:ext uri="{FF2B5EF4-FFF2-40B4-BE49-F238E27FC236}">
                <a16:creationId xmlns:a16="http://schemas.microsoft.com/office/drawing/2014/main" id="{D996B50C-00EA-46A6-9CBE-657A5595DBCE}"/>
              </a:ext>
            </a:extLst>
          </p:cNvPr>
          <p:cNvSpPr/>
          <p:nvPr/>
        </p:nvSpPr>
        <p:spPr>
          <a:xfrm>
            <a:off x="3776472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8" name="Rounded Rectangle 14">
            <a:extLst>
              <a:ext uri="{FF2B5EF4-FFF2-40B4-BE49-F238E27FC236}">
                <a16:creationId xmlns:a16="http://schemas.microsoft.com/office/drawing/2014/main" id="{09F03A19-2341-4C29-AFA1-D30D180301A4}"/>
              </a:ext>
            </a:extLst>
          </p:cNvPr>
          <p:cNvSpPr/>
          <p:nvPr/>
        </p:nvSpPr>
        <p:spPr>
          <a:xfrm>
            <a:off x="4306824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9" name="Rounded Rectangle 15">
            <a:extLst>
              <a:ext uri="{FF2B5EF4-FFF2-40B4-BE49-F238E27FC236}">
                <a16:creationId xmlns:a16="http://schemas.microsoft.com/office/drawing/2014/main" id="{4F4F76C0-88D5-40F6-B4F9-95BF39FD60A9}"/>
              </a:ext>
            </a:extLst>
          </p:cNvPr>
          <p:cNvSpPr/>
          <p:nvPr/>
        </p:nvSpPr>
        <p:spPr>
          <a:xfrm>
            <a:off x="4837176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40" name="Rounded Rectangle 16">
            <a:extLst>
              <a:ext uri="{FF2B5EF4-FFF2-40B4-BE49-F238E27FC236}">
                <a16:creationId xmlns:a16="http://schemas.microsoft.com/office/drawing/2014/main" id="{DA108FED-89A4-438B-9E25-02A9BB026033}"/>
              </a:ext>
            </a:extLst>
          </p:cNvPr>
          <p:cNvSpPr/>
          <p:nvPr/>
        </p:nvSpPr>
        <p:spPr>
          <a:xfrm>
            <a:off x="5367528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41" name="Rounded Rectangle 17">
            <a:extLst>
              <a:ext uri="{FF2B5EF4-FFF2-40B4-BE49-F238E27FC236}">
                <a16:creationId xmlns:a16="http://schemas.microsoft.com/office/drawing/2014/main" id="{AFD2FE46-28E2-41DF-9C4F-4E9B88D604C8}"/>
              </a:ext>
            </a:extLst>
          </p:cNvPr>
          <p:cNvSpPr/>
          <p:nvPr/>
        </p:nvSpPr>
        <p:spPr>
          <a:xfrm>
            <a:off x="5897880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B4FB710F-73DE-4288-84FE-A126EAFC359B}"/>
              </a:ext>
            </a:extLst>
          </p:cNvPr>
          <p:cNvSpPr/>
          <p:nvPr/>
        </p:nvSpPr>
        <p:spPr>
          <a:xfrm>
            <a:off x="6428232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43" name="Rounded Rectangle 19">
            <a:extLst>
              <a:ext uri="{FF2B5EF4-FFF2-40B4-BE49-F238E27FC236}">
                <a16:creationId xmlns:a16="http://schemas.microsoft.com/office/drawing/2014/main" id="{FB5B42E6-1D64-45D2-B946-135666A31E2B}"/>
              </a:ext>
            </a:extLst>
          </p:cNvPr>
          <p:cNvSpPr/>
          <p:nvPr/>
        </p:nvSpPr>
        <p:spPr>
          <a:xfrm>
            <a:off x="7068312" y="4836835"/>
            <a:ext cx="658368" cy="50292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</a:t>
            </a: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BC8A4D03-DFC7-4633-B556-7F36FCD7F693}"/>
              </a:ext>
            </a:extLst>
          </p:cNvPr>
          <p:cNvSpPr txBox="1"/>
          <p:nvPr/>
        </p:nvSpPr>
        <p:spPr>
          <a:xfrm>
            <a:off x="594360" y="5449483"/>
            <a:ext cx="6492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23364C"/>
                </a:solidFill>
                <a:latin typeface="Microsoft JhengHei"/>
              </a:rPr>
              <a:t>B：廣播控制</a:t>
            </a:r>
            <a:r>
              <a:rPr sz="1200" b="1" dirty="0">
                <a:solidFill>
                  <a:srgbClr val="23364C"/>
                </a:solidFill>
                <a:latin typeface="Microsoft JhengHei"/>
              </a:rPr>
              <a:t> ×12　　</a:t>
            </a:r>
            <a:r>
              <a:rPr sz="1200" b="1" dirty="0" err="1">
                <a:solidFill>
                  <a:srgbClr val="23364C"/>
                </a:solidFill>
                <a:latin typeface="Microsoft JhengHei"/>
              </a:rPr>
              <a:t>Q：一對一點名</a:t>
            </a:r>
            <a:r>
              <a:rPr sz="1200" b="1" dirty="0">
                <a:solidFill>
                  <a:srgbClr val="23364C"/>
                </a:solidFill>
                <a:latin typeface="Microsoft JhengHei"/>
              </a:rPr>
              <a:t> ×1　　</a:t>
            </a:r>
            <a:r>
              <a:rPr sz="1200" b="1" dirty="0" err="1">
                <a:solidFill>
                  <a:srgbClr val="23364C"/>
                </a:solidFill>
                <a:latin typeface="Microsoft JhengHei"/>
              </a:rPr>
              <a:t>約每</a:t>
            </a:r>
            <a:r>
              <a:rPr sz="1200" b="1" dirty="0">
                <a:solidFill>
                  <a:srgbClr val="23364C"/>
                </a:solidFill>
                <a:latin typeface="Microsoft JhengHei"/>
              </a:rPr>
              <a:t> </a:t>
            </a:r>
            <a:r>
              <a:rPr lang="en-US" sz="1200" b="1" dirty="0">
                <a:solidFill>
                  <a:srgbClr val="23364C"/>
                </a:solidFill>
                <a:latin typeface="Microsoft JhengHei"/>
              </a:rPr>
              <a:t>130</a:t>
            </a:r>
            <a:r>
              <a:rPr lang="en-US" altLang="zh-CN" sz="1200" b="1" dirty="0">
                <a:solidFill>
                  <a:srgbClr val="23364C"/>
                </a:solidFill>
                <a:latin typeface="Microsoft JhengHei"/>
              </a:rPr>
              <a:t>ms </a:t>
            </a:r>
            <a:r>
              <a:rPr lang="zh-CN" altLang="en-US" sz="1200" b="1" dirty="0">
                <a:solidFill>
                  <a:srgbClr val="23364C"/>
                </a:solidFill>
                <a:latin typeface="Microsoft JhengHei"/>
              </a:rPr>
              <a:t>詢問</a:t>
            </a:r>
            <a:r>
              <a:rPr sz="1200" b="1" dirty="0" err="1">
                <a:solidFill>
                  <a:srgbClr val="23364C"/>
                </a:solidFill>
                <a:latin typeface="Microsoft JhengHei"/>
              </a:rPr>
              <a:t>一次</a:t>
            </a:r>
            <a:endParaRPr sz="1200" b="1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45" name="TextBox 21">
            <a:extLst>
              <a:ext uri="{FF2B5EF4-FFF2-40B4-BE49-F238E27FC236}">
                <a16:creationId xmlns:a16="http://schemas.microsoft.com/office/drawing/2014/main" id="{9A8DCC5C-CA40-438B-A075-627ACAA27651}"/>
              </a:ext>
            </a:extLst>
          </p:cNvPr>
          <p:cNvSpPr txBox="1"/>
          <p:nvPr/>
        </p:nvSpPr>
        <p:spPr>
          <a:xfrm>
            <a:off x="594360" y="5833641"/>
            <a:ext cx="649224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TW" altLang="en-US" sz="1300" b="0" dirty="0">
                <a:solidFill>
                  <a:srgbClr val="627384"/>
                </a:solidFill>
                <a:latin typeface="Microsoft JhengHei"/>
              </a:rPr>
              <a:t>查到狀態後立即切回廣播，等待上限 </a:t>
            </a:r>
            <a:r>
              <a:rPr lang="en-US" altLang="zh-TW" sz="1300" b="0" dirty="0">
                <a:solidFill>
                  <a:srgbClr val="627384"/>
                </a:solidFill>
                <a:latin typeface="Microsoft JhengHei"/>
              </a:rPr>
              <a:t>50 </a:t>
            </a:r>
            <a:r>
              <a:rPr lang="en-US" altLang="zh-TW" sz="1300" b="0" dirty="0" err="1">
                <a:solidFill>
                  <a:srgbClr val="627384"/>
                </a:solidFill>
                <a:latin typeface="Microsoft JhengHei"/>
              </a:rPr>
              <a:t>ms</a:t>
            </a:r>
            <a:r>
              <a:rPr lang="zh-TW" altLang="en-US" sz="1300" b="0" dirty="0">
                <a:solidFill>
                  <a:srgbClr val="627384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斷聯保護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46EF0B4-5640-41AC-88C0-95B0EE5AB4FE}"/>
              </a:ext>
            </a:extLst>
          </p:cNvPr>
          <p:cNvGrpSpPr/>
          <p:nvPr/>
        </p:nvGrpSpPr>
        <p:grpSpPr>
          <a:xfrm>
            <a:off x="635000" y="1163377"/>
            <a:ext cx="10210800" cy="1180799"/>
            <a:chOff x="635000" y="1861369"/>
            <a:chExt cx="10210800" cy="1180799"/>
          </a:xfrm>
        </p:grpSpPr>
        <p:sp>
          <p:nvSpPr>
            <p:cNvPr id="42" name="Rectangle 7">
              <a:extLst>
                <a:ext uri="{FF2B5EF4-FFF2-40B4-BE49-F238E27FC236}">
                  <a16:creationId xmlns:a16="http://schemas.microsoft.com/office/drawing/2014/main" id="{8A3883EC-7B68-4107-AC99-B0444CE16540}"/>
                </a:ext>
              </a:extLst>
            </p:cNvPr>
            <p:cNvSpPr/>
            <p:nvPr/>
          </p:nvSpPr>
          <p:spPr>
            <a:xfrm>
              <a:off x="635000" y="1905000"/>
              <a:ext cx="1905000" cy="736600"/>
            </a:xfrm>
            <a:prstGeom prst="roundRect">
              <a:avLst/>
            </a:prstGeom>
            <a:solidFill>
              <a:srgbClr val="8FD4A8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 err="1">
                  <a:solidFill>
                    <a:srgbClr val="111111"/>
                  </a:solidFill>
                </a:rPr>
                <a:t>正常飛行</a:t>
              </a:r>
              <a:endParaRPr sz="1600" b="1" dirty="0">
                <a:solidFill>
                  <a:srgbClr val="111111"/>
                </a:solidFill>
              </a:endParaRPr>
            </a:p>
            <a:p>
              <a:pPr algn="ctr"/>
              <a:r>
                <a:rPr sz="1200" b="0" dirty="0" err="1">
                  <a:solidFill>
                    <a:srgbClr val="111111"/>
                  </a:solidFill>
                </a:rPr>
                <a:t>遙控指令連續</a:t>
              </a:r>
              <a:endParaRPr sz="1200" b="0" dirty="0">
                <a:solidFill>
                  <a:srgbClr val="111111"/>
                </a:solidFill>
              </a:endParaRPr>
            </a:p>
          </p:txBody>
        </p:sp>
        <p:sp>
          <p:nvSpPr>
            <p:cNvPr id="43" name="Rectangle 8">
              <a:extLst>
                <a:ext uri="{FF2B5EF4-FFF2-40B4-BE49-F238E27FC236}">
                  <a16:creationId xmlns:a16="http://schemas.microsoft.com/office/drawing/2014/main" id="{A0D8388B-C124-44D1-AA2A-02DF109670D8}"/>
                </a:ext>
              </a:extLst>
            </p:cNvPr>
            <p:cNvSpPr/>
            <p:nvPr/>
          </p:nvSpPr>
          <p:spPr>
            <a:xfrm>
              <a:off x="3403600" y="1905000"/>
              <a:ext cx="1905000" cy="736600"/>
            </a:xfrm>
            <a:prstGeom prst="roundRect">
              <a:avLst/>
            </a:prstGeom>
            <a:solidFill>
              <a:srgbClr val="F5D19B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 err="1">
                  <a:solidFill>
                    <a:srgbClr val="111111"/>
                  </a:solidFill>
                </a:rPr>
                <a:t>偵測到中斷</a:t>
              </a:r>
              <a:endParaRPr sz="1600" b="1" dirty="0">
                <a:solidFill>
                  <a:srgbClr val="111111"/>
                </a:solidFill>
              </a:endParaRPr>
            </a:p>
            <a:p>
              <a:pPr algn="ctr"/>
              <a:r>
                <a:rPr sz="1200" b="0" dirty="0" err="1">
                  <a:solidFill>
                    <a:srgbClr val="111111"/>
                  </a:solidFill>
                </a:rPr>
                <a:t>逾時未收到新指令</a:t>
              </a:r>
              <a:endParaRPr sz="1200" b="0" dirty="0">
                <a:solidFill>
                  <a:srgbClr val="111111"/>
                </a:solidFill>
              </a:endParaRPr>
            </a:p>
          </p:txBody>
        </p:sp>
        <p:sp>
          <p:nvSpPr>
            <p:cNvPr id="44" name="Rectangle 9">
              <a:extLst>
                <a:ext uri="{FF2B5EF4-FFF2-40B4-BE49-F238E27FC236}">
                  <a16:creationId xmlns:a16="http://schemas.microsoft.com/office/drawing/2014/main" id="{B395D103-9E97-40A2-A250-9DB54E49C68B}"/>
                </a:ext>
              </a:extLst>
            </p:cNvPr>
            <p:cNvSpPr/>
            <p:nvPr/>
          </p:nvSpPr>
          <p:spPr>
            <a:xfrm>
              <a:off x="6172200" y="1905000"/>
              <a:ext cx="1905000" cy="736600"/>
            </a:xfrm>
            <a:prstGeom prst="roundRect">
              <a:avLst/>
            </a:prstGeom>
            <a:solidFill>
              <a:srgbClr val="F5D19B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 err="1">
                  <a:solidFill>
                    <a:srgbClr val="111111"/>
                  </a:solidFill>
                </a:rPr>
                <a:t>寬限維持</a:t>
              </a:r>
              <a:endParaRPr sz="1600" b="1" dirty="0">
                <a:solidFill>
                  <a:srgbClr val="111111"/>
                </a:solidFill>
              </a:endParaRPr>
            </a:p>
          </p:txBody>
        </p:sp>
        <p:sp>
          <p:nvSpPr>
            <p:cNvPr id="45" name="Rectangle 10">
              <a:extLst>
                <a:ext uri="{FF2B5EF4-FFF2-40B4-BE49-F238E27FC236}">
                  <a16:creationId xmlns:a16="http://schemas.microsoft.com/office/drawing/2014/main" id="{E95EE396-BDAA-4575-8A93-4CAD01F1F123}"/>
                </a:ext>
              </a:extLst>
            </p:cNvPr>
            <p:cNvSpPr/>
            <p:nvPr/>
          </p:nvSpPr>
          <p:spPr>
            <a:xfrm>
              <a:off x="8940800" y="1905000"/>
              <a:ext cx="1905000" cy="736600"/>
            </a:xfrm>
            <a:prstGeom prst="roundRect">
              <a:avLst/>
            </a:prstGeom>
            <a:solidFill>
              <a:srgbClr val="F0AEA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 err="1">
                  <a:solidFill>
                    <a:srgbClr val="111111"/>
                  </a:solidFill>
                </a:rPr>
                <a:t>下降</a:t>
              </a:r>
              <a:endParaRPr sz="1600" b="1" dirty="0">
                <a:solidFill>
                  <a:srgbClr val="111111"/>
                </a:solidFill>
              </a:endParaRPr>
            </a:p>
            <a:p>
              <a:pPr algn="ctr"/>
              <a:r>
                <a:rPr sz="1200" b="0" dirty="0" err="1">
                  <a:solidFill>
                    <a:srgbClr val="111111"/>
                  </a:solidFill>
                </a:rPr>
                <a:t>著陸後鎖定</a:t>
              </a:r>
              <a:endParaRPr sz="1200" b="0" dirty="0">
                <a:solidFill>
                  <a:srgbClr val="111111"/>
                </a:solidFill>
              </a:endParaRPr>
            </a:p>
          </p:txBody>
        </p:sp>
        <p:cxnSp>
          <p:nvCxnSpPr>
            <p:cNvPr id="46" name="Connector 11">
              <a:extLst>
                <a:ext uri="{FF2B5EF4-FFF2-40B4-BE49-F238E27FC236}">
                  <a16:creationId xmlns:a16="http://schemas.microsoft.com/office/drawing/2014/main" id="{627C74D1-1078-47F1-B8A8-78A78D1DFCA7}"/>
                </a:ext>
              </a:extLst>
            </p:cNvPr>
            <p:cNvCxnSpPr/>
            <p:nvPr/>
          </p:nvCxnSpPr>
          <p:spPr>
            <a:xfrm>
              <a:off x="2540000" y="2273300"/>
              <a:ext cx="8636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12">
              <a:extLst>
                <a:ext uri="{FF2B5EF4-FFF2-40B4-BE49-F238E27FC236}">
                  <a16:creationId xmlns:a16="http://schemas.microsoft.com/office/drawing/2014/main" id="{68B87A5C-7C1F-42E9-BB6E-8729A8286FFD}"/>
                </a:ext>
              </a:extLst>
            </p:cNvPr>
            <p:cNvCxnSpPr/>
            <p:nvPr/>
          </p:nvCxnSpPr>
          <p:spPr>
            <a:xfrm>
              <a:off x="5308600" y="2273300"/>
              <a:ext cx="8636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13">
              <a:extLst>
                <a:ext uri="{FF2B5EF4-FFF2-40B4-BE49-F238E27FC236}">
                  <a16:creationId xmlns:a16="http://schemas.microsoft.com/office/drawing/2014/main" id="{54B3AED7-97D8-4078-AA9C-B4A9A70DBC7D}"/>
                </a:ext>
              </a:extLst>
            </p:cNvPr>
            <p:cNvCxnSpPr/>
            <p:nvPr/>
          </p:nvCxnSpPr>
          <p:spPr>
            <a:xfrm>
              <a:off x="8077200" y="2273300"/>
              <a:ext cx="8636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14">
              <a:extLst>
                <a:ext uri="{FF2B5EF4-FFF2-40B4-BE49-F238E27FC236}">
                  <a16:creationId xmlns:a16="http://schemas.microsoft.com/office/drawing/2014/main" id="{D3B8EB4C-E6D5-43B4-A14C-2144F72F272C}"/>
                </a:ext>
              </a:extLst>
            </p:cNvPr>
            <p:cNvSpPr txBox="1"/>
            <p:nvPr/>
          </p:nvSpPr>
          <p:spPr>
            <a:xfrm>
              <a:off x="8221786" y="1861369"/>
              <a:ext cx="538609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400" dirty="0" err="1">
                  <a:solidFill>
                    <a:srgbClr val="111111"/>
                  </a:solidFill>
                </a:rPr>
                <a:t>逾時</a:t>
              </a:r>
              <a:endParaRPr lang="en-US" sz="1400" dirty="0">
                <a:solidFill>
                  <a:srgbClr val="111111"/>
                </a:solidFill>
              </a:endParaRPr>
            </a:p>
            <a:p>
              <a:pPr algn="ctr"/>
              <a:r>
                <a:rPr sz="1400" dirty="0" err="1">
                  <a:solidFill>
                    <a:srgbClr val="111111"/>
                  </a:solidFill>
                </a:rPr>
                <a:t>未恢復</a:t>
              </a:r>
              <a:endParaRPr sz="1100" dirty="0">
                <a:solidFill>
                  <a:srgbClr val="111111"/>
                </a:solidFill>
              </a:endParaRPr>
            </a:p>
          </p:txBody>
        </p: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60C1F8CF-2DFC-4E36-9C17-D63BE909FED5}"/>
                </a:ext>
              </a:extLst>
            </p:cNvPr>
            <p:cNvSpPr txBox="1"/>
            <p:nvPr/>
          </p:nvSpPr>
          <p:spPr>
            <a:xfrm>
              <a:off x="3889998" y="2795947"/>
              <a:ext cx="856004" cy="24622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600" dirty="0" err="1">
                  <a:solidFill>
                    <a:srgbClr val="0A4D6E"/>
                  </a:solidFill>
                </a:rPr>
                <a:t>訊號恢復</a:t>
              </a:r>
              <a:r>
                <a:rPr sz="1200" dirty="0">
                  <a:solidFill>
                    <a:srgbClr val="0A4D6E"/>
                  </a:solidFill>
                </a:rPr>
                <a:t> </a:t>
              </a:r>
            </a:p>
          </p:txBody>
        </p:sp>
      </p:grp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F6BDA951-EA5E-46AE-8AFA-24C2B7275A72}"/>
              </a:ext>
            </a:extLst>
          </p:cNvPr>
          <p:cNvCxnSpPr>
            <a:cxnSpLocks/>
          </p:cNvCxnSpPr>
          <p:nvPr/>
        </p:nvCxnSpPr>
        <p:spPr>
          <a:xfrm rot="5400000">
            <a:off x="4356100" y="-824992"/>
            <a:ext cx="12700" cy="5537200"/>
          </a:xfrm>
          <a:prstGeom prst="bentConnector3">
            <a:avLst>
              <a:gd name="adj1" fmla="val 346666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3EDEFA0D-DA6B-4DD6-A351-1C6EBEC25759}"/>
              </a:ext>
            </a:extLst>
          </p:cNvPr>
          <p:cNvSpPr/>
          <p:nvPr/>
        </p:nvSpPr>
        <p:spPr>
          <a:xfrm>
            <a:off x="658368" y="30632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19">
            <a:extLst>
              <a:ext uri="{FF2B5EF4-FFF2-40B4-BE49-F238E27FC236}">
                <a16:creationId xmlns:a16="http://schemas.microsoft.com/office/drawing/2014/main" id="{53B85354-B185-473C-B0F9-29062DDA5D3F}"/>
              </a:ext>
            </a:extLst>
          </p:cNvPr>
          <p:cNvSpPr/>
          <p:nvPr/>
        </p:nvSpPr>
        <p:spPr>
          <a:xfrm>
            <a:off x="658368" y="3063240"/>
            <a:ext cx="3246120" cy="457200"/>
          </a:xfrm>
          <a:prstGeom prst="roundRect">
            <a:avLst/>
          </a:prstGeom>
          <a:solidFill>
            <a:srgbClr val="135B7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TW" altLang="en-US" sz="1500" b="1" dirty="0">
                <a:solidFill>
                  <a:srgbClr val="FFFFFF"/>
                </a:solidFill>
                <a:latin typeface="Microsoft JhengHei"/>
              </a:rPr>
              <a:t>模式 </a:t>
            </a:r>
            <a:r>
              <a:rPr lang="en-US" altLang="zh-TW" sz="1500" b="1" dirty="0">
                <a:solidFill>
                  <a:srgbClr val="FFFFFF"/>
                </a:solidFill>
                <a:latin typeface="Microsoft JhengHei"/>
              </a:rPr>
              <a:t>0</a:t>
            </a:r>
          </a:p>
        </p:txBody>
      </p:sp>
      <p:sp>
        <p:nvSpPr>
          <p:cNvPr id="61" name="TextBox 20">
            <a:extLst>
              <a:ext uri="{FF2B5EF4-FFF2-40B4-BE49-F238E27FC236}">
                <a16:creationId xmlns:a16="http://schemas.microsoft.com/office/drawing/2014/main" id="{12F18D8F-9259-4506-AFC3-1F5310FD9D61}"/>
              </a:ext>
            </a:extLst>
          </p:cNvPr>
          <p:cNvSpPr txBox="1"/>
          <p:nvPr/>
        </p:nvSpPr>
        <p:spPr>
          <a:xfrm>
            <a:off x="822959" y="3654364"/>
            <a:ext cx="290779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1C3054"/>
                </a:solidFill>
                <a:latin typeface="Microsoft JhengHei"/>
              </a:rPr>
              <a:t>維持高度</a:t>
            </a:r>
          </a:p>
        </p:txBody>
      </p:sp>
      <p:sp>
        <p:nvSpPr>
          <p:cNvPr id="62" name="TextBox 21">
            <a:extLst>
              <a:ext uri="{FF2B5EF4-FFF2-40B4-BE49-F238E27FC236}">
                <a16:creationId xmlns:a16="http://schemas.microsoft.com/office/drawing/2014/main" id="{916A734D-3E56-4F0E-8C00-B959D043A9B0}"/>
              </a:ext>
            </a:extLst>
          </p:cNvPr>
          <p:cNvSpPr txBox="1"/>
          <p:nvPr/>
        </p:nvSpPr>
        <p:spPr>
          <a:xfrm>
            <a:off x="822959" y="4050791"/>
            <a:ext cx="2907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135B78"/>
                </a:solidFill>
                <a:latin typeface="Microsoft JhengHei"/>
              </a:rPr>
              <a:t>約 </a:t>
            </a:r>
            <a:r>
              <a:rPr lang="en-US" altLang="zh-CN" sz="1300" b="1" dirty="0">
                <a:solidFill>
                  <a:srgbClr val="135B78"/>
                </a:solidFill>
                <a:latin typeface="Microsoft JhengHei"/>
              </a:rPr>
              <a:t>2 </a:t>
            </a:r>
            <a:r>
              <a:rPr lang="zh-CN" altLang="en-US" sz="1300" b="1" dirty="0">
                <a:solidFill>
                  <a:srgbClr val="135B78"/>
                </a:solidFill>
                <a:latin typeface="Microsoft JhengHei"/>
              </a:rPr>
              <a:t>秒</a:t>
            </a:r>
          </a:p>
        </p:txBody>
      </p:sp>
      <p:sp>
        <p:nvSpPr>
          <p:cNvPr id="63" name="Rounded Rectangle 23">
            <a:extLst>
              <a:ext uri="{FF2B5EF4-FFF2-40B4-BE49-F238E27FC236}">
                <a16:creationId xmlns:a16="http://schemas.microsoft.com/office/drawing/2014/main" id="{9B701ABE-26B0-4388-8681-3876DA05674F}"/>
              </a:ext>
            </a:extLst>
          </p:cNvPr>
          <p:cNvSpPr/>
          <p:nvPr/>
        </p:nvSpPr>
        <p:spPr>
          <a:xfrm>
            <a:off x="4160520" y="30632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24">
            <a:extLst>
              <a:ext uri="{FF2B5EF4-FFF2-40B4-BE49-F238E27FC236}">
                <a16:creationId xmlns:a16="http://schemas.microsoft.com/office/drawing/2014/main" id="{4D4B2357-13D3-4288-B155-933D07590621}"/>
              </a:ext>
            </a:extLst>
          </p:cNvPr>
          <p:cNvSpPr/>
          <p:nvPr/>
        </p:nvSpPr>
        <p:spPr>
          <a:xfrm>
            <a:off x="4160520" y="3063240"/>
            <a:ext cx="3246120" cy="457200"/>
          </a:xfrm>
          <a:prstGeom prst="roundRect">
            <a:avLst/>
          </a:prstGeom>
          <a:solidFill>
            <a:srgbClr val="2389A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Microsoft JhengHei"/>
              </a:rPr>
              <a:t>模式</a:t>
            </a:r>
            <a:r>
              <a:rPr sz="1500" b="1" dirty="0">
                <a:solidFill>
                  <a:srgbClr val="FFFFFF"/>
                </a:solidFill>
                <a:latin typeface="Microsoft JhengHei"/>
              </a:rPr>
              <a:t> 1</a:t>
            </a:r>
          </a:p>
        </p:txBody>
      </p:sp>
      <p:sp>
        <p:nvSpPr>
          <p:cNvPr id="65" name="TextBox 25">
            <a:extLst>
              <a:ext uri="{FF2B5EF4-FFF2-40B4-BE49-F238E27FC236}">
                <a16:creationId xmlns:a16="http://schemas.microsoft.com/office/drawing/2014/main" id="{F47C470E-9E47-4320-9163-2DFF7AD8A8D0}"/>
              </a:ext>
            </a:extLst>
          </p:cNvPr>
          <p:cNvSpPr txBox="1"/>
          <p:nvPr/>
        </p:nvSpPr>
        <p:spPr>
          <a:xfrm>
            <a:off x="4325112" y="3654364"/>
            <a:ext cx="290779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1C3054"/>
                </a:solidFill>
                <a:latin typeface="Microsoft JhengHei"/>
              </a:rPr>
              <a:t>維持高度</a:t>
            </a:r>
          </a:p>
        </p:txBody>
      </p:sp>
      <p:sp>
        <p:nvSpPr>
          <p:cNvPr id="66" name="TextBox 26">
            <a:extLst>
              <a:ext uri="{FF2B5EF4-FFF2-40B4-BE49-F238E27FC236}">
                <a16:creationId xmlns:a16="http://schemas.microsoft.com/office/drawing/2014/main" id="{E3CE39DE-3AA6-4EBB-A5B5-E4F668DE8748}"/>
              </a:ext>
            </a:extLst>
          </p:cNvPr>
          <p:cNvSpPr txBox="1"/>
          <p:nvPr/>
        </p:nvSpPr>
        <p:spPr>
          <a:xfrm>
            <a:off x="4325112" y="4050791"/>
            <a:ext cx="2907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EB8B3B"/>
                </a:solidFill>
                <a:latin typeface="Microsoft JhengHei"/>
              </a:rPr>
              <a:t>約 8 秒</a:t>
            </a:r>
          </a:p>
        </p:txBody>
      </p:sp>
      <p:sp>
        <p:nvSpPr>
          <p:cNvPr id="67" name="Rounded Rectangle 28">
            <a:extLst>
              <a:ext uri="{FF2B5EF4-FFF2-40B4-BE49-F238E27FC236}">
                <a16:creationId xmlns:a16="http://schemas.microsoft.com/office/drawing/2014/main" id="{86C1D7DC-78E8-43BC-BFF7-7F19E7E2D2E8}"/>
              </a:ext>
            </a:extLst>
          </p:cNvPr>
          <p:cNvSpPr/>
          <p:nvPr/>
        </p:nvSpPr>
        <p:spPr>
          <a:xfrm>
            <a:off x="7662671" y="30632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29">
            <a:extLst>
              <a:ext uri="{FF2B5EF4-FFF2-40B4-BE49-F238E27FC236}">
                <a16:creationId xmlns:a16="http://schemas.microsoft.com/office/drawing/2014/main" id="{278037C0-D23D-48CD-B640-B8230EC1DFE9}"/>
              </a:ext>
            </a:extLst>
          </p:cNvPr>
          <p:cNvSpPr/>
          <p:nvPr/>
        </p:nvSpPr>
        <p:spPr>
          <a:xfrm>
            <a:off x="7662671" y="3063240"/>
            <a:ext cx="3246120" cy="457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Microsoft JhengHei"/>
              </a:rPr>
              <a:t>模式</a:t>
            </a:r>
            <a:r>
              <a:rPr sz="1500" b="1" dirty="0">
                <a:solidFill>
                  <a:srgbClr val="FFFFFF"/>
                </a:solidFill>
                <a:latin typeface="Microsoft JhengHei"/>
              </a:rPr>
              <a:t> 2</a:t>
            </a:r>
          </a:p>
        </p:txBody>
      </p:sp>
      <p:sp>
        <p:nvSpPr>
          <p:cNvPr id="69" name="TextBox 30">
            <a:extLst>
              <a:ext uri="{FF2B5EF4-FFF2-40B4-BE49-F238E27FC236}">
                <a16:creationId xmlns:a16="http://schemas.microsoft.com/office/drawing/2014/main" id="{21649678-1B4E-4B2E-A054-F43724EF9608}"/>
              </a:ext>
            </a:extLst>
          </p:cNvPr>
          <p:cNvSpPr txBox="1"/>
          <p:nvPr/>
        </p:nvSpPr>
        <p:spPr>
          <a:xfrm>
            <a:off x="7827263" y="3654364"/>
            <a:ext cx="290779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1C3054"/>
                </a:solidFill>
                <a:latin typeface="Microsoft JhengHei"/>
              </a:rPr>
              <a:t>緩降</a:t>
            </a:r>
          </a:p>
        </p:txBody>
      </p:sp>
      <p:sp>
        <p:nvSpPr>
          <p:cNvPr id="70" name="TextBox 31">
            <a:extLst>
              <a:ext uri="{FF2B5EF4-FFF2-40B4-BE49-F238E27FC236}">
                <a16:creationId xmlns:a16="http://schemas.microsoft.com/office/drawing/2014/main" id="{E8330931-3865-49E6-8183-6323184D5D55}"/>
              </a:ext>
            </a:extLst>
          </p:cNvPr>
          <p:cNvSpPr txBox="1"/>
          <p:nvPr/>
        </p:nvSpPr>
        <p:spPr>
          <a:xfrm>
            <a:off x="7827263" y="4050791"/>
            <a:ext cx="2907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 err="1">
                <a:solidFill>
                  <a:srgbClr val="C24C46"/>
                </a:solidFill>
                <a:latin typeface="Microsoft JhengHei"/>
              </a:rPr>
              <a:t>立即</a:t>
            </a:r>
            <a:endParaRPr sz="1300" b="1" dirty="0">
              <a:solidFill>
                <a:srgbClr val="C24C46"/>
              </a:solidFill>
              <a:latin typeface="Microsoft JhengHei"/>
            </a:endParaRPr>
          </a:p>
        </p:txBody>
      </p:sp>
      <p:sp>
        <p:nvSpPr>
          <p:cNvPr id="71" name="Shape 11">
            <a:extLst>
              <a:ext uri="{FF2B5EF4-FFF2-40B4-BE49-F238E27FC236}">
                <a16:creationId xmlns:a16="http://schemas.microsoft.com/office/drawing/2014/main" id="{56A96F7D-6311-44EB-B580-63721965A6B7}"/>
              </a:ext>
            </a:extLst>
          </p:cNvPr>
          <p:cNvSpPr/>
          <p:nvPr/>
        </p:nvSpPr>
        <p:spPr>
          <a:xfrm rot="5400000">
            <a:off x="2084831" y="4498848"/>
            <a:ext cx="384048" cy="402336"/>
          </a:xfrm>
          <a:prstGeom prst="triangl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Shape 21">
            <a:extLst>
              <a:ext uri="{FF2B5EF4-FFF2-40B4-BE49-F238E27FC236}">
                <a16:creationId xmlns:a16="http://schemas.microsoft.com/office/drawing/2014/main" id="{E84C2029-01DE-41D0-B4C9-FD541D31D943}"/>
              </a:ext>
            </a:extLst>
          </p:cNvPr>
          <p:cNvSpPr/>
          <p:nvPr/>
        </p:nvSpPr>
        <p:spPr>
          <a:xfrm rot="5400000">
            <a:off x="5586984" y="4498848"/>
            <a:ext cx="384048" cy="402336"/>
          </a:xfrm>
          <a:prstGeom prst="triangl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>
              <a:solidFill>
                <a:srgbClr val="2389A8"/>
              </a:solidFill>
            </a:endParaRPr>
          </a:p>
        </p:txBody>
      </p:sp>
      <p:sp>
        <p:nvSpPr>
          <p:cNvPr id="73" name="Shape 31">
            <a:extLst>
              <a:ext uri="{FF2B5EF4-FFF2-40B4-BE49-F238E27FC236}">
                <a16:creationId xmlns:a16="http://schemas.microsoft.com/office/drawing/2014/main" id="{7F5B1463-4907-4047-8618-D4D58D3E1D04}"/>
              </a:ext>
            </a:extLst>
          </p:cNvPr>
          <p:cNvSpPr/>
          <p:nvPr/>
        </p:nvSpPr>
        <p:spPr>
          <a:xfrm rot="5400000">
            <a:off x="9089135" y="4498848"/>
            <a:ext cx="384048" cy="402336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實機影片(二):廣播模式 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923544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9" name="Shape 7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5400000">
            <a:off x="5806440" y="3108960"/>
            <a:ext cx="594360" cy="640080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63040" y="1920239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【影片位置:此處替換為廣播模式 A 影片截圖】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43891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操作方式:遙控器切到 M1 時只有 ATK 有反應,切到 M2 時只有 nRF 有反應　請注意:沒有被指定的那一架會原地懸停、高度不掉,因為它讀到尾端的目標位元組不是自己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實機影片(三):廣播模式 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923544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5400000">
            <a:off x="5806440" y="3108960"/>
            <a:ext cx="594360" cy="640080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63040" y="1920239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【影片位置:此處替換為廣播模式 B 影片截圖】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43891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操作: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上位機送出一個封包,其中 ATK 那段設為手動油門、nRF 那段設為懸停等待</a:t>
            </a: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要看的重點: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結果只有 ATK 轉動,nRF 靜止;兩者對調後結果一致,可見是依段內編號分辨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0A4D6E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kern="0" spc="400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室內定位系統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從訊號強度換算出飛機的位置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54864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27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定位的四個步驟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51560" y="195681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74520" y="186537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接收訊號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86537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飛機發出藍牙訊號,四個固定位置的錨點接收並量測訊號強度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25880" y="272491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283464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51560" y="305409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156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874520" y="296265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換算距離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96265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以訊號強度與距離的關係式,推算飛機到每個錨點的距離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325880" y="382219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2960" y="393192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51560" y="415137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51560" y="4151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874520" y="40599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濾除雜訊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405993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訊號強度本身會跳動,靜止時加強平滑、移動時加快反應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325880" y="491947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22960" y="502920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051560" y="5248656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51560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874520" y="515721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計算座標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92040" y="515721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由四個距離交會出位置,並在上位機地圖上即時顯示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定位網路硬體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閘道(一台)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148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接收四個錨點回報的訊號強度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USB 轉送到上位機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154679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79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使用獨立的封包格式並加上校驗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LED 顯示連線狀態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343400"/>
            <a:ext cx="4937760" cy="1143000"/>
          </a:xfrm>
          <a:prstGeom prst="roundRect">
            <a:avLst>
              <a:gd name="adj" fmla="val 48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60120" y="43434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架設時四個錨點的天線型號、朝向與高度必須一致。實測朝向不同可差到近 20 分貝,直接影響精度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0" y="1627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錨點(四個,位置固定且已知)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219456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3796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只接收不連線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219456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14400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3154679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37960" y="32644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3593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06840" y="3154679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144000" y="32644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0" y="3593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343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錨點只接收、不建立連線,因此可以同時服務多架飛機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以同一顆無線晶片兼發定位訊號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遙控通訊是一問一答,兩次收發之間無線晶片處於閒置。本研究利用這段空檔,讓同一顆晶片切換去發出一個藍牙訊號供錨點接收,發完再切回遙控。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無線晶片的時間分配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178845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16352"/>
            <a:ext cx="17884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收遙控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3669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373669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回覆確認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0248" y="2816352"/>
            <a:ext cx="2130646" cy="868680"/>
          </a:xfrm>
          <a:prstGeom prst="rect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400248" y="2816352"/>
            <a:ext cx="21306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切BLE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廣播信標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67471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567471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94049" y="2816352"/>
            <a:ext cx="178845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94049" y="2816352"/>
            <a:ext cx="17884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收遙控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9079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19079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回覆確認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45658" y="2816352"/>
            <a:ext cx="2130646" cy="868680"/>
          </a:xfrm>
          <a:prstGeom prst="rect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45658" y="2816352"/>
            <a:ext cx="21306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切BLE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廣播信標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青色是插入的定位訊號,借用遙控的空檔發出,錨點即可收到並量測強度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3232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切換方式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切換時重新設定頻率、封包格式與校驗方式,發完再切回遙控,全程插在確定的空檔內。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79392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443984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時間保護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43984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若當下空檔不足就跳過這次定位訊號,不佔用接收遙控指令的時機。飛行安全優先於定位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10144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174736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適用範圍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74736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發出的是與藍牙格式相容的訊號,錨點掃描得到並可量測強度,用於定位已足夠。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好處是不必另外加裝定位模組,同一顆晶片就能同時處理遙控與定位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多架飛機共用錨點的方式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三架飛機發出的訊號格式相同,只差一個編號,因此一套錨點就能同時服務多架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1520" y="2414016"/>
            <a:ext cx="402336" cy="402336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408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飛機發出訊號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0" y="2340864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利用遙控空檔發出藍牙訊號,內容包含一個編號,用來表示是哪一架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2688" y="2944368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四個錨點接收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0" y="3127248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四個錨點各自收到這個訊號,並分別量測到的強度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" y="3730752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8640" y="385876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31520" y="3986784"/>
            <a:ext cx="402336" cy="402336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3152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913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錨點回報給上位機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14800" y="3913632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錨點把「哪一架、強度多少」回報給閘道,閘道再以 USB 轉送到上位機,每秒十次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2688" y="4517136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48640" y="464515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31520" y="4773168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31520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700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上位機計算座標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114800" y="4700016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先濾除訊號雜訊,換算成距離,再由四個距離交會出座標,最後平滑軌跡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2688" y="5303520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548640" y="54315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31520" y="5559552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31520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地圖顯示與控制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114800" y="548640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地圖上即時顯示飛機位置,算出的座標也可回頭用來控制飛行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錨點一次掃描就能收齊三架的訊號,上位機分別計算後顯示在同一張地圖上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訊號強度的波動特性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訊號強度(RSSI)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接收到的訊號強弱,單位是 dBm。每降低 10 分貝代表功率變成十分之一。室內藍牙常見範圍約 -40(很近)到 -90(很遠)。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跳動的三個原因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4206240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4169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訊號經多條路徑到達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4169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訊號經牆面與地面反射後,多條路徑疊在一起互相幹擾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4736592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4736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4700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被遮擋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47000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人體或機身擋住時,強度可差 5 到 15 分貝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5266944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77240" y="5266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52303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天線朝向不同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52303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天線朝向不同會造成明顯落差,實際數值待量測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06440" y="1463040"/>
            <a:ext cx="5806440" cy="4343400"/>
          </a:xfrm>
          <a:prstGeom prst="roundRect">
            <a:avLst>
              <a:gd name="adj" fmla="val 1684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035040" y="16093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訊號強度跳動示意(飛機靜止不動)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2194560"/>
            <a:ext cx="0" cy="265176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400800" y="4846320"/>
            <a:ext cx="4846320" cy="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897880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2932481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380756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-80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307848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942909" y="2901696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256417" y="3343656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569926" y="2990088"/>
            <a:ext cx="313509" cy="176784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883434" y="3166872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196943" y="3608832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510451" y="2813304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823960" y="3255264"/>
            <a:ext cx="313509" cy="176784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137469" y="3432048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9450977" y="2901696"/>
            <a:ext cx="313509" cy="1149096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9764486" y="4050792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077994" y="307848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10391503" y="2990088"/>
            <a:ext cx="313509" cy="530352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10705011" y="352044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583680" y="303276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897189" y="285597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7210697" y="329793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7524206" y="294436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7837714" y="312115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151223" y="356311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464731" y="2767584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778240" y="3209544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091749" y="338632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405257" y="285597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9718766" y="400507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10032274" y="303276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10345783" y="294436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10659291" y="347472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10972800" y="312115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6629400" y="3078480"/>
            <a:ext cx="438912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9601200" y="2731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中值 ≈ -60 dBm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008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連續取樣(飛機完全靜止)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035040" y="5212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即使飛機完全靜止,讀值仍會在數分貝內跳動,偶爾出現偏離很多的值。換算成距離後差距可達數倍,所以必須先濾波。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訊號強度與距離的換算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從物理現象推導出關係式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2075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電波往外擴散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0756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能量以球面往外擴散,功率與距離平方成反比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99232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改用對數表示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訊號強度本身就是對數刻度,因此距離每增加十倍,強度就固定下降一定分貝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895344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77240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3867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加入環境修正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38679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室內有牆面與反射,衰減比自由空間快,因此用一個可調的衰減指數取代固定值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8463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4846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RSSI(d) = P₀ − 10·n·log₁₀(d)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反解:d = 10^((P₀−RSSI)/(10n))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146304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62940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兩個參數的意義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210312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812280" y="2212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距離一公尺處的基準強度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12280" y="254203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由發射功率與天線共同決定,每個錨點都不一樣,必須各自在一公尺處實際量測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3383280"/>
            <a:ext cx="4754880" cy="1417320"/>
          </a:xfrm>
          <a:prstGeom prst="roundRect">
            <a:avLst>
              <a:gd name="adj" fmla="val 387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12280" y="3493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衰減指數(反映環境特性)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03720" y="3840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8160" y="3840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無遮擋的理想情況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41696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n=2.7~3.5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8160" y="41696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一般室內環境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4498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n&gt;4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138160" y="4498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遮蔽物多、隔牆多的環境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4983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衰減指數若設定不準,整場距離都會偏掉,這是需要自動調整的原因。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訊號濾波(1/3):問題說明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訊號強度的三個問題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075688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訊號本身就會跳動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5328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飛機停在原地不動,讀到的強度仍會在正負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2 到 3 </a:t>
            </a: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分貝之間跳動。這是反射與環境幹擾造成的,無法消除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392424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E893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60120" y="35112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換算距離後會被放大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384962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強度換算成距離是指數運算,強度只差 1 分貝,換算後可能差到數十公分甚至一公尺以上。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554220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60120" y="48280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靜止與移動的需求相反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5166359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要壓住跳動就得濾得重,要跟上移動就得濾得輕,同一組固定參數無法同時滿足。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4630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固定參數無法兩者兼顧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095500"/>
            <a:ext cx="502920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靜止時訊號持續跳動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3017520"/>
            <a:ext cx="4846320" cy="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492240" y="2777744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932815" y="2540000"/>
            <a:ext cx="440575" cy="475488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373389" y="3015487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813964" y="2658872"/>
            <a:ext cx="440575" cy="237744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254538" y="2896615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695113" y="2540000"/>
            <a:ext cx="440575" cy="59436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9135687" y="3134359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576262" y="2777744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016836" y="2658872"/>
            <a:ext cx="440575" cy="237744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10457411" y="2896615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0897985" y="2540000"/>
            <a:ext cx="440575" cy="475488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400800" y="32385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濾得太輕,畫面上的位置會跟著亂跳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9319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00800" y="3797300"/>
            <a:ext cx="502920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移動時需要立即反應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0" y="4229100"/>
            <a:ext cx="502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濾得太重,畫面上的位置會落後、跟不上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固定參數一定會犧牲其中一邊,因此需要能依情況自動調整強度的濾波方式。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訊號濾波(2/3):依情況調整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每個錨點各用一組濾波器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3911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每收到一筆新讀值,就用「新讀值與目前估計的差」來修正估計。這個差值的變化方式,可以用來判斷飛機是否真的在移動。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8803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2990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靜止時:加強平滑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31927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差值在零附近來回擺動,代表飛機沒有真的移動。此時多倚重原本的估計,壓住跳動。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7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60120" y="4288535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移動時:加快反應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617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連續幾筆差值都偏向同一方向,代表飛機真的在動。此時改為多採信新讀值,讓位置快速跟上。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46304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移動與雜訊的分辨方式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057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雜訊造成的差值忽正忽負,累加後互相抵消,沒有方向性。</a:t>
            </a:r>
            <a:endParaRPr lang="en-US" sz="10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真的移動時差值持續同號,累加後越來越大,有明確方向。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37960" y="2898648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同方向的差值累積超過設定值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即判定為移動,濾波強度隨之切換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4069079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0" y="4178807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可調整的參數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454456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靜止時的平滑程度、移動時的反應速度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移動判定的門檻、量測雜訊的估計值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訊號濾波(3/3):實際除錯過程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E893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發生的現象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校正完成後,原始量測點持續更新,但畫面上的飛機圖示停在原地不動,明顯落後。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23944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79392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25696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找出的原因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為壓住跳動把濾波參數設得太小,移動時要二十多筆資料才跟得上,看起來就像停住。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54696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10144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56448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修正方式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56448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改為自動調整:移動時加快反應、靜止時加強平滑,並在連續大幅跳動數次後重新起算。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修正後的結果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686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抖動顯著收斂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加強平滑後,畫面上的位置不再跳動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262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穩定後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262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位置穩定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計算結果不再發散,停在正確的位置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92439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1838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1838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位置跟得上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判定為移動後就加快反應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779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以上是除錯過程中觀察到的改善。實際硬體的定位精度數字,要等上位機與遙控器完整連通後才能量測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位置的平滑處理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做法:把兩個來源加權平均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每次更新都有兩個位置來源: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預測值:依上一次的位置與速度推算,平滑但會逐漸偏離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量測值:這次由距離交會算出的座標,貼近真實但跳動大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輸出 = 預測 + K ×(量測 − 預測)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括號中的比例會自動調整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量測越不穩就多信預測,結果較平滑;推算越不準就多信量測,跟得較緊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本系統的做法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2084832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12280" y="2176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同時估計位置與速度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560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以等速度推算:新位置 = 目前位置 + 速度 × 時間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310896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6294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8660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一併估計速度的原因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86600" y="3401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只平滑位置會落後;一併估計速度才能預判移動方向,跟得比較快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406908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6294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參數設定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86600" y="4361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一個代表推算的可信度,一個代表量測的可信度,依實際跳動情況設定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9400" y="502920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766560" y="50749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這個方法能平滑隨機跳動,但無法修正整體偏移。錨點的基準值校正才是精度的基礎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定位處理的完整流程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飛機發訊號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以藍牙廣播發出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56432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56432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502152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錨點接收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47872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四個錨點量測訊號強度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192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72784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72784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18504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濾除雜訊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64224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靜止時加強平滑,移動時加快反應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24544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089136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089136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34856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換算距離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80576" y="2523744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依各錨的基準值換算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15016" y="3383280"/>
            <a:ext cx="0" cy="32004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034540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034540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08026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修正環境參數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125980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以錨點之間的已知距離反推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86300" y="434340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850892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850892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896612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 交會出座標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42332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由四個距離計算位置,較近的錨點權重較高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02652" y="434340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667244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7667244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712964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7. 平滑軌跡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758684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讓顯示的移動軌跡連續不跳動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橙色是訊號濾波,是本研究著力的部分;藍色是位置計算;綠色是環境參數的修正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以定位座標控制飛行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計算誤差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目標位置減目前位置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2900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2900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限制速度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換算成期望的移動速度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0936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轉換座標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依飛機當前朝向換算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1540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18972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18972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8972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送出傾角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8972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轉為飛機的傾斜角度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定位算出的是場地上的座標,而飛機的傾斜是相對自己的方向,兩者必須依當前朝向換算,否則會飛錯方向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4290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7240" y="3566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上位機的四項功能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即時地圖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258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顯示場地、錨點位置與飛機朝向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204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5204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690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點選導航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0690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選定飛機、點選目標位置,飛機自行前往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263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122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錨點校正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8122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在距離一公尺處量測各錨的基準值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068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90068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555480" y="4041648"/>
            <a:ext cx="2057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飛行控制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555480" y="4407408"/>
            <a:ext cx="20573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解鎖、油門與緊急停止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目前定位精度只到示範等級,因此移動速度與傾角都刻意設得保守,避免定位跳動造成劇烈動作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定位方法的比較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傳統做法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傳統做法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原始 RSSI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直接轉距離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三邊定位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無濾波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5156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誤差 3m+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跳動劇烈,無法閉環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343400" y="146304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343400" y="1463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對標文獻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43400" y="2103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王琳2025 · NTUST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 WiFi-RSSI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1772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Kalman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1772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自適應 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1772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最小二乘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84632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MAE 1.88m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她的實測值(非本研究成績)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1463040"/>
            <a:ext cx="3474719" cy="4023360"/>
          </a:xfrm>
          <a:prstGeom prst="roundRect">
            <a:avLst>
              <a:gd name="adj" fmla="val 2078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138160" y="1463040"/>
            <a:ext cx="3474719" cy="548640"/>
          </a:xfrm>
          <a:prstGeom prst="roundRect">
            <a:avLst>
              <a:gd name="adj" fmla="val 13333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138160" y="1463040"/>
            <a:ext cx="3474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本研究方法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38160" y="2103120"/>
            <a:ext cx="34747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Work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1248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訊號自動濾波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對數模型逐錨 P₀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41248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加權最小二乘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41248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位置 Kalman + 地圖站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64108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64108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 &lt;2m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27532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+ 上位機整合 + 閉環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實機影片(四):室內定位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923544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5400000">
            <a:off x="5806440" y="3108960"/>
            <a:ext cx="594360" cy="640080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63040" y="1920239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【影片位置:此處替換為定位系統截圖】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448056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建議片段:四錨部署 → 上位機地圖 → 移動信標 → 軌跡跟隨 → 濾波前後對比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影片同時呈現可行性與實際的軌跡波動,目前精度為示範等級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系統功能的比較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47472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比較項目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1508760"/>
            <a:ext cx="228600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114800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原廠 MiniFly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228600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ESP-FC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95360" y="1508760"/>
            <a:ext cx="301752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86800" y="15087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198424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1984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可更換主控晶片的電路板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0" y="198424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114800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98424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0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0" y="198424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86800" y="1984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53288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25328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單晶片飛控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23360" y="253288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11480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253288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0080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95360" y="253288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686800" y="2532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08152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40080" y="3081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ESP32S3 支援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23360" y="308152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114800" y="3081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08152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400800" y="3081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95360" y="308152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686800" y="3081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✓(同板直插)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363016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40080" y="3630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ATKP 地面站協議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23360" y="363016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114800" y="3630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363016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400800" y="3630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595360" y="363016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686800" y="36301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✓(移植保留)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17880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40080" y="4178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BLE-RSSI 室內定位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023360" y="417880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114800" y="4178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09360" y="417880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400800" y="4178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595360" y="417880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8686800" y="4178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✓(四錨+引擎)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472744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40080" y="4727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單遙控多機(廣播架構)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023360" y="472744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114800" y="4727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309360" y="472744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6400800" y="4727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595360" y="472744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8686800" y="4727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✓(三機制實測)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48640" y="527608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40080" y="5276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上位機整合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023360" y="527608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4114800" y="5276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部分(調參)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309360" y="527608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6400800" y="5276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部分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595360" y="527608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8686800" y="5276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✓(地圖+標定+控制)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本研究同時具備三項:主控晶片可更換、沿用原廠協議、加入定位與多機控制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目前的量化數據(一):硬體與定位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7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個驅動模組完成移植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腳位、通訊、馬達、無線、USB、排程、感測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15968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315968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項系統層問題已解決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無線封包格式、USB 連線、排程時間單位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83296" y="1627632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083296" y="2514600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種主控晶片以同一塊電路板驗證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與 ESP32S3 可直接更換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7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548640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個步驟的定位處理流程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訊號濾波、距離換算、座標交會、軌跡平滑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15968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315968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315968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錨定位網路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閘道+四錨+上位機標定介面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3296" y="3685031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83296" y="3849624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9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&lt;2m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8083296" y="4736592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定位目標(對標文獻)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66176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王琳2025 BLE同級 MAE 1.88m為對標目標,本研究精度待量化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目前的量化數據(二):多機控制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種控制方式已實機驗證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 A、廣播模式 B、輪流查詢狀態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15968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315968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個封包送達所有飛機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若改用輪流發送,兩架的更新速率就減半,而且指令會錯開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83296" y="1627632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8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083296" y="2514600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個位元組供每一架使用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編號、旗標、油門與三軸角度;兩架共 19、三架共 27 個位元組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548640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架在同一封包下做不同動作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同一封包中 ATK 設手動、nRF 設懸停,結果只有 ATK 轉動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15968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315968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0.13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315968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秒 目前操控那一架的狀態更新週期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點名開銷:在線約1ms(&lt;1%),掉線降頻最壞約4%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3296" y="3685031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83296" y="3849624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9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32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8083296" y="4736592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位元組 單包載荷上限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66176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決定多工需定點壓縮,亦決定單包最多3台的擴展邊界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目前的限制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目前的限制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02082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定位精度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02082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目前只到示範等級,受訊號強度本身的限制,適合大略定位,不適合精密定點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9169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916936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單一封包最多 32 個位元組,因此一個封包最多容納三架;兩架同時編隊飛行尚未完整展示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8130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飛行包線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8130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目前以室內低速懸停為主,尚未測試較劇烈的飛行動作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745736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7091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環境依賴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4709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定位需重新標定 P₀/n 於新場地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92240" y="16276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限制的成因與後續方向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92240" y="21031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922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20574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訊號強度定位的精度受物理特性限制,同級硬體的文獻也在公尺等級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0175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4922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2971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清楚界定系統能做什麼、不能做什麼,是後續改進的依據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39319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922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每條邊界皆對應明確的升級路徑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493776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92240" y="49377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委員最怕誇大,最欣賞「知道自己在哪」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0A4D6E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2389A8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目前完成的工作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1481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可更換主控晶片的電路板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0" y="14813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自行設計製作,兩種主控可直接更換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509760" y="157276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509760" y="1572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40864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24505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韌體移植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4505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由兩顆晶片改為單晶片,並解決三項系統問題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09760" y="2542032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50976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310128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1560" y="34198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室內定位系統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34198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完成處理流程的設計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09760" y="3511296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9AA4B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509760" y="35112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設計完成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79392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51560" y="4389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上位機整合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4389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地圖顯示、錨點校正與飛行控制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09760" y="44805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509760" y="4480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248656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51560" y="535838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單一遙控器控制多架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5358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 A、廣播模式 B、輪流查詢狀態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509760" y="544982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509760" y="54498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實測驗證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46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後續工作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後續方向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98448" y="2039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多機控制已完成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98448" y="23865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接著要做由上位機依定位結果自動控制兩架同時飛行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2935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定位精度量測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98448" y="32826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完成環境參數的自動校正,並在實際場地量測誤差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3831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改用新版藍牙測距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98448" y="4178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新版藍牙內建較精確的測距功能,換用支援的主控晶片即可提升定位精度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745736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4745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4727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加入其他感測器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98448" y="5074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加入光流與雷射測距;電路板可作為教學套件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結語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23774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本研究從自行設計電路板、移植飛控韌體,到室內定位與多機控制,建立了一套可以自行修改、也能繼續延伸的無人機平臺</a:t>
            </a:r>
            <a:r>
              <a:rPr lang="en-US" sz="13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3749040"/>
            <a:ext cx="4663440" cy="0"/>
          </a:xfrm>
          <a:prstGeom prst="line">
            <a:avLst/>
          </a:prstGeom>
          <a:noFill/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92240" y="3977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感謝指導教授悉心指導</a:t>
            </a:r>
            <a:endParaRPr lang="en-US" sz="14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感謝口試委員撥冗審閱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48920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敬請各位委員指教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6333</TotalTime>
  <Words>8930</Words>
  <Application>Microsoft Office PowerPoint</Application>
  <PresentationFormat>宽屏</PresentationFormat>
  <Paragraphs>1661</Paragraphs>
  <Slides>46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5" baseType="lpstr">
      <vt:lpstr>Google Sans Text</vt:lpstr>
      <vt:lpstr>Microsoft JhengHei</vt:lpstr>
      <vt:lpstr>Noto Sans CJK TC</vt:lpstr>
      <vt:lpstr>Noto Serif CJK TC</vt:lpstr>
      <vt:lpstr>Arial</vt:lpstr>
      <vt:lpstr>Calibri</vt:lpstr>
      <vt:lpstr>Courier New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碩士論文口試</dc:creator>
  <cp:lastModifiedBy>垦 林</cp:lastModifiedBy>
  <cp:revision>214</cp:revision>
  <dcterms:created xsi:type="dcterms:W3CDTF">2026-07-21T07:02:54Z</dcterms:created>
  <dcterms:modified xsi:type="dcterms:W3CDTF">2026-08-24T05:46:07Z</dcterms:modified>
</cp:coreProperties>
</file>