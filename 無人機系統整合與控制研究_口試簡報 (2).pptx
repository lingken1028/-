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337" r:id="rId10"/>
    <p:sldId id="320" r:id="rId11"/>
    <p:sldId id="336" r:id="rId12"/>
    <p:sldId id="335" r:id="rId13"/>
    <p:sldId id="334" r:id="rId14"/>
    <p:sldId id="323" r:id="rId15"/>
    <p:sldId id="284" r:id="rId16"/>
    <p:sldId id="286" r:id="rId17"/>
    <p:sldId id="283" r:id="rId18"/>
    <p:sldId id="307" r:id="rId19"/>
    <p:sldId id="317" r:id="rId20"/>
    <p:sldId id="315" r:id="rId21"/>
    <p:sldId id="339" r:id="rId22"/>
    <p:sldId id="280" r:id="rId23"/>
    <p:sldId id="287" r:id="rId24"/>
    <p:sldId id="300" r:id="rId25"/>
    <p:sldId id="288" r:id="rId26"/>
    <p:sldId id="293" r:id="rId27"/>
    <p:sldId id="294" r:id="rId28"/>
    <p:sldId id="290" r:id="rId29"/>
    <p:sldId id="291" r:id="rId30"/>
    <p:sldId id="295" r:id="rId31"/>
    <p:sldId id="296" r:id="rId32"/>
    <p:sldId id="297" r:id="rId33"/>
    <p:sldId id="298" r:id="rId34"/>
    <p:sldId id="292" r:id="rId35"/>
    <p:sldId id="289" r:id="rId36"/>
    <p:sldId id="299" r:id="rId37"/>
    <p:sldId id="301" r:id="rId38"/>
    <p:sldId id="302" r:id="rId39"/>
    <p:sldId id="303" r:id="rId40"/>
    <p:sldId id="310" r:id="rId41"/>
    <p:sldId id="304" r:id="rId42"/>
    <p:sldId id="305" r:id="rId43"/>
    <p:sldId id="306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6984"/>
    <a:srgbClr val="2389A8"/>
    <a:srgbClr val="C0C4CB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 autoAdjust="0"/>
    <p:restoredTop sz="52867" autoAdjust="0"/>
  </p:normalViewPr>
  <p:slideViewPr>
    <p:cSldViewPr snapToGrid="0" snapToObjects="1">
      <p:cViewPr>
        <p:scale>
          <a:sx n="75" d="100"/>
          <a:sy n="75" d="100"/>
        </p:scale>
        <p:origin x="714" y="5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2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0 字≈0 秒 ｜ </a:t>
            </a:r>
            <a:r>
              <a:rPr dirty="0" err="1"/>
              <a:t>完整版</a:t>
            </a:r>
            <a:r>
              <a:rPr dirty="0"/>
              <a:t> 166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怎麼講】停</a:t>
            </a:r>
            <a:r>
              <a:rPr dirty="0"/>
              <a:t> 3 </a:t>
            </a:r>
            <a:r>
              <a:rPr dirty="0" err="1"/>
              <a:t>秒讓委員讀完題目,不需逐字念。自我介紹後直接進目錄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【口頭示範】各位委員早安,</a:t>
            </a:r>
            <a:r>
              <a:rPr dirty="0" err="1"/>
              <a:t>我是〔姓名</a:t>
            </a:r>
            <a:r>
              <a:rPr dirty="0"/>
              <a:t>〕,</a:t>
            </a:r>
            <a:r>
              <a:rPr dirty="0" err="1"/>
              <a:t>指導教授是〔教授</a:t>
            </a:r>
            <a:r>
              <a:rPr dirty="0"/>
              <a:t>〕。</a:t>
            </a:r>
            <a:r>
              <a:rPr dirty="0" err="1"/>
              <a:t>今天報告的題目是「無人機系統整合與控制研究</a:t>
            </a:r>
            <a:r>
              <a:t>」— 主要工作是把一套商用飛控移植到另一顆微控制器上,並在這個平臺上延伸出室內定位與多機控制。</a:t>
            </a:r>
            <a:endParaRPr dirty="0"/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提醒】封面的姓名、教授、系所、日期務必在口試前填妥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「各位口試委員、教授好，我是林寗墾。今天我要報告的題目是</a:t>
            </a:r>
            <a:r>
              <a:rPr lang="en-US" altLang="zh-TW" dirty="0"/>
              <a:t>『</a:t>
            </a:r>
            <a:r>
              <a:rPr lang="zh-TW" altLang="en-US" dirty="0"/>
              <a:t>無人機系統整合與控制研究</a:t>
            </a:r>
            <a:r>
              <a:rPr lang="en-US" altLang="zh-TW" dirty="0"/>
              <a:t>』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這是今天的簡報大綱，主要分為五個部分： 首先是</a:t>
            </a:r>
            <a:r>
              <a:rPr lang="zh-TW" altLang="en-US" b="1" dirty="0"/>
              <a:t>研究背景與動機</a:t>
            </a:r>
            <a:r>
              <a:rPr lang="zh-TW" altLang="en-US" dirty="0"/>
              <a:t>，說明室內微型無人機開發面臨的痛點。 </a:t>
            </a:r>
            <a:endParaRPr lang="en-US" altLang="zh-TW" dirty="0"/>
          </a:p>
          <a:p>
            <a:r>
              <a:rPr lang="zh-TW" altLang="en-US" dirty="0"/>
              <a:t>接著進入核心實作，我會依序介紹硬體層面的</a:t>
            </a:r>
            <a:r>
              <a:rPr lang="zh-TW" altLang="en-US" b="1" dirty="0"/>
              <a:t>自製飛控電路板</a:t>
            </a:r>
            <a:r>
              <a:rPr lang="zh-TW" altLang="en-US" dirty="0"/>
              <a:t>、韌體層面的</a:t>
            </a:r>
            <a:r>
              <a:rPr lang="zh-TW" altLang="en-US" b="1" dirty="0"/>
              <a:t>飛控韌體移植</a:t>
            </a:r>
            <a:r>
              <a:rPr lang="zh-TW" altLang="en-US" dirty="0"/>
              <a:t>，以及應用層面的 </a:t>
            </a:r>
            <a:r>
              <a:rPr lang="en-US" altLang="zh-TW" b="1" dirty="0"/>
              <a:t>BLE </a:t>
            </a:r>
            <a:r>
              <a:rPr lang="zh-TW" altLang="en-US" b="1" dirty="0"/>
              <a:t>室內定位整合</a:t>
            </a:r>
            <a:r>
              <a:rPr lang="zh-TW" altLang="en-US" dirty="0"/>
              <a:t>。 最後則是</a:t>
            </a:r>
            <a:r>
              <a:rPr lang="zh-TW" altLang="en-US" b="1" dirty="0"/>
              <a:t>結論與未來展望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首先，讓我們進入第一部分：研究背景與動機。」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effectLst/>
                <a:latin typeface="Google Sans Text"/>
              </a:rPr>
              <a:t>「各位委員，在進行室內無人機開發與實驗時，我們主要面臨三項限制：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第一，</a:t>
            </a:r>
            <a:r>
              <a:rPr lang="zh-TW" altLang="en-US" b="1" dirty="0">
                <a:effectLst/>
                <a:latin typeface="Google Sans Text"/>
              </a:rPr>
              <a:t>傳統硬體故障難以檢測與更換</a:t>
            </a:r>
            <a:r>
              <a:rPr lang="zh-TW" altLang="en-US" dirty="0">
                <a:effectLst/>
                <a:latin typeface="Google Sans Text"/>
              </a:rPr>
              <a:t>。市面上的微型飛控板大部分元件都是直接焊接固定在</a:t>
            </a:r>
            <a:r>
              <a:rPr lang="en-US" altLang="zh-TW" dirty="0">
                <a:effectLst/>
                <a:latin typeface="Google Sans Text"/>
              </a:rPr>
              <a:t>PCB</a:t>
            </a:r>
            <a:r>
              <a:rPr lang="zh-TW" altLang="en-US" dirty="0">
                <a:effectLst/>
                <a:latin typeface="Google Sans Text"/>
              </a:rPr>
              <a:t>上，一旦出現異常或硬體損壞，不僅極難單獨用儀器量測除錯，拆卸替換</a:t>
            </a:r>
            <a:r>
              <a:rPr lang="zh-CN" altLang="en-US" dirty="0">
                <a:effectLst/>
                <a:latin typeface="Google Sans Text"/>
              </a:rPr>
              <a:t>也需要較爲專業設備與手法</a:t>
            </a:r>
            <a:r>
              <a:rPr lang="zh-TW" altLang="en-US" dirty="0">
                <a:effectLst/>
                <a:latin typeface="Google Sans Text"/>
              </a:rPr>
              <a:t>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第二，</a:t>
            </a:r>
            <a:r>
              <a:rPr lang="zh-TW" altLang="en-US" b="1" dirty="0">
                <a:effectLst/>
                <a:latin typeface="Google Sans Text"/>
              </a:rPr>
              <a:t>通訊協定與射頻整合</a:t>
            </a:r>
            <a:r>
              <a:rPr lang="zh-TW" altLang="en-US" dirty="0">
                <a:effectLst/>
                <a:latin typeface="Google Sans Text"/>
              </a:rPr>
              <a:t>。傳統 </a:t>
            </a:r>
            <a:r>
              <a:rPr lang="en-US" altLang="zh-TW" dirty="0">
                <a:effectLst/>
                <a:latin typeface="Google Sans Text"/>
              </a:rPr>
              <a:t>MiniFly </a:t>
            </a:r>
            <a:r>
              <a:rPr lang="zh-TW" altLang="en-US" dirty="0">
                <a:effectLst/>
                <a:latin typeface="Google Sans Text"/>
              </a:rPr>
              <a:t>需外接 </a:t>
            </a:r>
            <a:r>
              <a:rPr lang="en-US" altLang="zh-TW" dirty="0">
                <a:effectLst/>
                <a:latin typeface="Google Sans Text"/>
              </a:rPr>
              <a:t>nRF24L01 RF </a:t>
            </a:r>
            <a:r>
              <a:rPr lang="zh-TW" altLang="en-US" dirty="0">
                <a:effectLst/>
                <a:latin typeface="Google Sans Text"/>
              </a:rPr>
              <a:t>模組，而常見 </a:t>
            </a:r>
            <a:r>
              <a:rPr lang="en-US" altLang="zh-TW">
                <a:effectLst/>
                <a:latin typeface="Google Sans Text"/>
              </a:rPr>
              <a:t>ESP </a:t>
            </a:r>
            <a:r>
              <a:rPr lang="zh-TW" altLang="en-US">
                <a:effectLst/>
                <a:latin typeface="Google Sans Text"/>
              </a:rPr>
              <a:t>平臺又無法原生相容原廠 </a:t>
            </a:r>
            <a:r>
              <a:rPr lang="en-US" altLang="zh-TW">
                <a:effectLst/>
                <a:latin typeface="Google Sans Text"/>
              </a:rPr>
              <a:t>ESB </a:t>
            </a:r>
            <a:r>
              <a:rPr lang="zh-TW" altLang="en-US" dirty="0">
                <a:effectLst/>
                <a:latin typeface="Google Sans Text"/>
              </a:rPr>
              <a:t>協定。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第三，</a:t>
            </a:r>
            <a:r>
              <a:rPr lang="zh-TW" altLang="en-US" b="1" dirty="0">
                <a:effectLst/>
                <a:latin typeface="Google Sans Text"/>
              </a:rPr>
              <a:t>室內無法使用衛星定位</a:t>
            </a:r>
            <a:r>
              <a:rPr lang="zh-TW" altLang="en-US" dirty="0">
                <a:effectLst/>
                <a:latin typeface="Google Sans Text"/>
              </a:rPr>
              <a:t>。在無 </a:t>
            </a:r>
            <a:r>
              <a:rPr lang="en-US" altLang="zh-TW" dirty="0">
                <a:effectLst/>
                <a:latin typeface="Google Sans Text"/>
              </a:rPr>
              <a:t>GNSS </a:t>
            </a:r>
            <a:r>
              <a:rPr lang="zh-TW" altLang="en-US" dirty="0">
                <a:effectLst/>
                <a:latin typeface="Google Sans Text"/>
              </a:rPr>
              <a:t>環境下，無人機必須依靠自主定位。 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總結來說，本研究的做法就是</a:t>
            </a:r>
            <a:r>
              <a:rPr lang="zh-TW" altLang="en-US" b="1" dirty="0">
                <a:effectLst/>
                <a:latin typeface="Google Sans Text"/>
              </a:rPr>
              <a:t>自行設計易檢測與更換的</a:t>
            </a:r>
            <a:r>
              <a:rPr lang="en-US" altLang="zh-TW" b="1" dirty="0">
                <a:effectLst/>
                <a:latin typeface="Google Sans Text"/>
              </a:rPr>
              <a:t>PCB</a:t>
            </a:r>
            <a:r>
              <a:rPr lang="zh-TW" altLang="en-US" b="1" dirty="0">
                <a:effectLst/>
                <a:latin typeface="Google Sans Text"/>
              </a:rPr>
              <a:t>、移植韌體至 </a:t>
            </a:r>
            <a:r>
              <a:rPr lang="en-US" altLang="zh-TW" b="1" dirty="0">
                <a:effectLst/>
                <a:latin typeface="Google Sans Text"/>
              </a:rPr>
              <a:t>nRF52840</a:t>
            </a:r>
            <a:r>
              <a:rPr lang="zh-TW" altLang="en-US" b="1" dirty="0">
                <a:effectLst/>
                <a:latin typeface="Google Sans Text"/>
              </a:rPr>
              <a:t>，並整合 </a:t>
            </a:r>
            <a:r>
              <a:rPr lang="en-US" altLang="zh-TW" b="1" dirty="0">
                <a:effectLst/>
                <a:latin typeface="Google Sans Text"/>
              </a:rPr>
              <a:t>BLE </a:t>
            </a:r>
            <a:r>
              <a:rPr lang="zh-TW" altLang="en-US" b="1">
                <a:effectLst/>
                <a:latin typeface="Google Sans Text"/>
              </a:rPr>
              <a:t>室內定位</a:t>
            </a:r>
            <a:r>
              <a:rPr lang="zh-TW" altLang="en-US">
                <a:effectLst/>
                <a:latin typeface="Google Sans Text"/>
              </a:rPr>
              <a:t>，打造高擴充性的無人機實驗平臺。」 </a:t>
            </a:r>
            <a:endParaRPr lang="zh-TW" altLang="en-US" dirty="0">
              <a:effectLst/>
              <a:latin typeface="Google Sans Tex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「本研究的核心目標與貢獻可歸納為三個部分：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第一是</a:t>
            </a:r>
            <a:r>
              <a:rPr lang="zh-TW" altLang="en-US" b="1" dirty="0"/>
              <a:t>自製飛控電路板</a:t>
            </a:r>
            <a:r>
              <a:rPr lang="zh-TW" altLang="en-US" dirty="0"/>
              <a:t>。</a:t>
            </a:r>
            <a:r>
              <a:rPr lang="en-US" altLang="zh-TW" dirty="0">
                <a:effectLst/>
                <a:latin typeface="Google Sans Text"/>
              </a:rPr>
              <a:t>layout</a:t>
            </a:r>
            <a:r>
              <a:rPr lang="zh-TW" altLang="en-US" dirty="0"/>
              <a:t>可拆卸的插拔式載板，大幅降低過去硬體損壞時難以檢測與更換的門檻。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韌體移植</a:t>
            </a:r>
            <a:r>
              <a:rPr lang="zh-TW" altLang="en-US" dirty="0"/>
              <a:t>。我們將 </a:t>
            </a:r>
            <a:r>
              <a:rPr lang="en-US" altLang="zh-TW" dirty="0"/>
              <a:t>MiniFly </a:t>
            </a:r>
            <a:r>
              <a:rPr lang="zh-TW" altLang="en-US" dirty="0"/>
              <a:t>飛控韌體完整移植到 </a:t>
            </a:r>
            <a:r>
              <a:rPr lang="en-US" altLang="zh-TW" b="1" dirty="0"/>
              <a:t>nRF52840</a:t>
            </a:r>
            <a:r>
              <a:rPr lang="zh-TW" altLang="en-US" dirty="0"/>
              <a:t> 晶片上，在單晶片內整合 </a:t>
            </a:r>
            <a:r>
              <a:rPr lang="en-US" altLang="zh-TW" dirty="0"/>
              <a:t>2.4GHz RF</a:t>
            </a:r>
            <a:r>
              <a:rPr lang="zh-TW" altLang="en-US" dirty="0"/>
              <a:t>，並相容原廠的 </a:t>
            </a:r>
            <a:r>
              <a:rPr lang="en-US" altLang="zh-TW" dirty="0"/>
              <a:t>ATK ESB </a:t>
            </a:r>
            <a:r>
              <a:rPr lang="zh-TW" altLang="en-US" dirty="0"/>
              <a:t>通訊協定。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第三則是</a:t>
            </a:r>
            <a:r>
              <a:rPr lang="zh-TW" altLang="en-US" b="1" dirty="0"/>
              <a:t>整合 </a:t>
            </a:r>
            <a:r>
              <a:rPr lang="en-US" altLang="zh-TW" b="1" dirty="0"/>
              <a:t>BLE </a:t>
            </a:r>
            <a:r>
              <a:rPr lang="zh-TW" altLang="en-US" b="1" dirty="0"/>
              <a:t>室內定位</a:t>
            </a:r>
            <a:r>
              <a:rPr lang="zh-TW" altLang="en-US" dirty="0"/>
              <a:t>，補足無 </a:t>
            </a:r>
            <a:r>
              <a:rPr lang="en-US" altLang="zh-TW" dirty="0"/>
              <a:t>GNSS </a:t>
            </a:r>
            <a:r>
              <a:rPr lang="zh-TW" altLang="en-US" dirty="0"/>
              <a:t>環境下的自主定位能力。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接下來，我將依序介紹硬體電路設計、韌體移植過程與定位實作細節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</a:t>
            </a:r>
            <a:r>
              <a:rPr lang="zh-CN" altLang="en-US" dirty="0"/>
              <a:t>本</a:t>
            </a:r>
            <a:r>
              <a:rPr lang="zh-TW" altLang="en-US" dirty="0"/>
              <a:t>頁展示的是本研究的</a:t>
            </a:r>
            <a:r>
              <a:rPr lang="zh-TW" altLang="en-US" b="1" dirty="0"/>
              <a:t>系統總架構</a:t>
            </a:r>
            <a:r>
              <a:rPr lang="zh-TW" altLang="en-US" dirty="0"/>
              <a:t>，整體分為</a:t>
            </a:r>
            <a:r>
              <a:rPr lang="en-US" altLang="zh-TW" dirty="0"/>
              <a:t>『</a:t>
            </a:r>
            <a:r>
              <a:rPr lang="zh-TW" altLang="en-US" dirty="0"/>
              <a:t>控制</a:t>
            </a:r>
            <a:r>
              <a:rPr lang="en-US" altLang="zh-TW" dirty="0"/>
              <a:t>』</a:t>
            </a:r>
            <a:r>
              <a:rPr lang="zh-TW" altLang="en-US" dirty="0"/>
              <a:t>與</a:t>
            </a:r>
            <a:r>
              <a:rPr lang="en-US" altLang="zh-TW" dirty="0"/>
              <a:t>『</a:t>
            </a:r>
            <a:r>
              <a:rPr lang="zh-TW" altLang="en-US" dirty="0"/>
              <a:t>定位</a:t>
            </a:r>
            <a:r>
              <a:rPr lang="en-US" altLang="zh-TW" dirty="0"/>
              <a:t>』</a:t>
            </a:r>
            <a:r>
              <a:rPr lang="zh-TW" altLang="en-US" dirty="0"/>
              <a:t>兩條鏈路：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首先在控制鏈路上，最上層是 </a:t>
            </a:r>
            <a:r>
              <a:rPr lang="en-US" altLang="zh-TW" b="1" dirty="0"/>
              <a:t>PC </a:t>
            </a:r>
            <a:r>
              <a:rPr lang="zh-TW" altLang="en-US" b="1" dirty="0"/>
              <a:t>上位機</a:t>
            </a:r>
            <a:r>
              <a:rPr lang="zh-TW" altLang="en-US" dirty="0"/>
              <a:t>，作為系統的運算，負責地圖顯示、定位解算與生成控制指令。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指令下傳給</a:t>
            </a:r>
            <a:r>
              <a:rPr lang="zh-CN" altLang="en-US" dirty="0"/>
              <a:t>飛控子系統 </a:t>
            </a:r>
            <a:r>
              <a:rPr lang="zh-TW" altLang="en-US" dirty="0"/>
              <a:t>的 </a:t>
            </a:r>
            <a:r>
              <a:rPr lang="en-US" altLang="zh-TW" b="1" dirty="0"/>
              <a:t>ATK </a:t>
            </a:r>
            <a:r>
              <a:rPr lang="zh-TW" altLang="en-US" b="1" dirty="0"/>
              <a:t>遙控器</a:t>
            </a:r>
            <a:r>
              <a:rPr lang="zh-TW" altLang="en-US" dirty="0"/>
              <a:t>，透過 </a:t>
            </a:r>
            <a:r>
              <a:rPr lang="en-US" altLang="zh-TW" dirty="0"/>
              <a:t>2.4GHz ESB </a:t>
            </a:r>
            <a:r>
              <a:rPr lang="zh-TW" altLang="en-US" dirty="0"/>
              <a:t>協定，指令會傳送給：</a:t>
            </a:r>
            <a:r>
              <a:rPr lang="zh-TW" altLang="en-US" b="1" dirty="0"/>
              <a:t>飛機 </a:t>
            </a:r>
            <a:r>
              <a:rPr lang="en-US" altLang="zh-TW" b="1" dirty="0"/>
              <a:t>A</a:t>
            </a:r>
            <a:r>
              <a:rPr lang="zh-TW" altLang="en-US" dirty="0"/>
              <a:t> 是原廠機；</a:t>
            </a:r>
            <a:r>
              <a:rPr lang="zh-TW" altLang="en-US" b="1" dirty="0"/>
              <a:t>飛機 </a:t>
            </a:r>
            <a:r>
              <a:rPr lang="en-US" altLang="zh-TW" b="1" dirty="0"/>
              <a:t>B</a:t>
            </a:r>
            <a:r>
              <a:rPr lang="zh-TW" altLang="en-US" dirty="0"/>
              <a:t> 是我們的自製載板插上 </a:t>
            </a:r>
            <a:r>
              <a:rPr lang="en-US" altLang="zh-TW" b="1" dirty="0"/>
              <a:t>nRF52840</a:t>
            </a:r>
            <a:r>
              <a:rPr lang="zh-TW" altLang="en-US" dirty="0"/>
              <a:t>，驗證韌體移植；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則是同一塊載板直接換插 </a:t>
            </a:r>
            <a:r>
              <a:rPr lang="en-US" altLang="zh-TW" b="1" dirty="0"/>
              <a:t>ESP32S3</a:t>
            </a:r>
            <a:r>
              <a:rPr lang="zh-TW" altLang="en-US" dirty="0"/>
              <a:t>，驗證硬體模組化更換的能力。</a:t>
            </a:r>
            <a:r>
              <a:rPr lang="zh-CN" altLang="en-US" dirty="0"/>
              <a:t>指令由上位機透過 </a:t>
            </a:r>
            <a:r>
              <a:rPr lang="en-US" altLang="zh-TW" b="1" dirty="0"/>
              <a:t>ESP32S3</a:t>
            </a:r>
            <a:r>
              <a:rPr lang="zh-CN" altLang="en-US" b="1" dirty="0"/>
              <a:t>中繼站 </a:t>
            </a:r>
            <a:r>
              <a:rPr lang="zh-TW" altLang="en-US" dirty="0"/>
              <a:t>透</a:t>
            </a:r>
            <a:r>
              <a:rPr lang="zh-CN" altLang="en-US" dirty="0"/>
              <a:t>過 </a:t>
            </a:r>
            <a:r>
              <a:rPr lang="en-US" altLang="zh-CN" dirty="0"/>
              <a:t>ESP-NOW </a:t>
            </a:r>
            <a:r>
              <a:rPr lang="zh-CN" altLang="en-US" dirty="0"/>
              <a:t>協定傳輸給 ：</a:t>
            </a:r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最後是</a:t>
            </a:r>
            <a:r>
              <a:rPr lang="zh-TW" altLang="en-US" b="1" dirty="0"/>
              <a:t>定位鏈路</a:t>
            </a:r>
            <a:r>
              <a:rPr lang="zh-TW" altLang="en-US" dirty="0"/>
              <a:t>：三架飛機在飛行時都會廣播 </a:t>
            </a:r>
            <a:r>
              <a:rPr lang="en-US" altLang="zh-TW" dirty="0"/>
              <a:t>BLE </a:t>
            </a:r>
            <a:r>
              <a:rPr lang="zh-TW" altLang="en-US" dirty="0"/>
              <a:t>信標，由場地周圍的 </a:t>
            </a:r>
            <a:r>
              <a:rPr lang="en-US" altLang="zh-TW" b="1" dirty="0"/>
              <a:t>4 </a:t>
            </a:r>
            <a:r>
              <a:rPr lang="zh-TW" altLang="en-US" b="1" dirty="0"/>
              <a:t>個 </a:t>
            </a:r>
            <a:r>
              <a:rPr lang="en-US" altLang="zh-TW" b="1" dirty="0"/>
              <a:t>ESP32 </a:t>
            </a:r>
            <a:r>
              <a:rPr lang="zh-TW" altLang="en-US" b="1" dirty="0"/>
              <a:t>錨點</a:t>
            </a:r>
            <a:r>
              <a:rPr lang="zh-TW" altLang="en-US" dirty="0"/>
              <a:t>進行被動掃描，再透過 </a:t>
            </a:r>
            <a:r>
              <a:rPr lang="en-US" altLang="zh-TW" b="1" dirty="0"/>
              <a:t>ESP</a:t>
            </a:r>
            <a:r>
              <a:rPr lang="zh-CN" altLang="en-US" b="1" dirty="0"/>
              <a:t>中繼站 </a:t>
            </a:r>
            <a:r>
              <a:rPr lang="zh-TW" altLang="en-US" dirty="0"/>
              <a:t>將強度數據傳回 </a:t>
            </a:r>
            <a:r>
              <a:rPr lang="en-US" altLang="zh-TW" dirty="0"/>
              <a:t>PC </a:t>
            </a:r>
            <a:r>
              <a:rPr lang="zh-TW" altLang="en-US" dirty="0"/>
              <a:t>上位機進行計算。</a:t>
            </a:r>
          </a:p>
          <a:p>
            <a:r>
              <a:rPr lang="zh-TW" altLang="en-US"/>
              <a:t>這套架構成功建立了兼具多機控制與室內定位能力的實驗平臺。」</a:t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</a:t>
            </a:r>
            <a:r>
              <a:rPr lang="zh-CN" altLang="en-US" dirty="0"/>
              <a:t>七</a:t>
            </a:r>
            <a:r>
              <a:rPr lang="zh-TW" altLang="en-US" dirty="0"/>
              <a:t>頁展示的是我們自製飛控板的四項硬體設計重點：</a:t>
            </a:r>
          </a:p>
          <a:p>
            <a:r>
              <a:rPr lang="zh-TW" altLang="en-US" dirty="0"/>
              <a:t>第一是</a:t>
            </a:r>
            <a:r>
              <a:rPr lang="zh-TW" altLang="en-US" b="1" dirty="0"/>
              <a:t>模組化設計</a:t>
            </a:r>
            <a:r>
              <a:rPr lang="zh-TW" altLang="en-US" dirty="0"/>
              <a:t>，</a:t>
            </a:r>
            <a:r>
              <a:rPr lang="en-US" altLang="zh-CN" dirty="0"/>
              <a:t>MCU</a:t>
            </a:r>
            <a:r>
              <a:rPr lang="zh-TW" altLang="en-US" dirty="0"/>
              <a:t>和 </a:t>
            </a:r>
            <a:r>
              <a:rPr lang="en-US" altLang="zh-TW" dirty="0"/>
              <a:t>GY-91 </a:t>
            </a:r>
            <a:r>
              <a:rPr lang="zh-TW" altLang="en-US" dirty="0"/>
              <a:t>感測器都採用排母連接，方便獨立拆裝與訊號量測。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機臂一體化</a:t>
            </a:r>
            <a:r>
              <a:rPr lang="zh-TW" altLang="en-US" dirty="0"/>
              <a:t>，直接用 </a:t>
            </a:r>
            <a:r>
              <a:rPr lang="en-US" altLang="zh-TW" dirty="0"/>
              <a:t>PCB </a:t>
            </a:r>
            <a:r>
              <a:rPr lang="zh-TW" altLang="en-US" dirty="0"/>
              <a:t>當作機身結構與馬達座，實現輕量化。</a:t>
            </a:r>
          </a:p>
          <a:p>
            <a:endParaRPr lang="en-US" altLang="zh-TW" dirty="0"/>
          </a:p>
          <a:p>
            <a:r>
              <a:rPr lang="zh-TW" altLang="en-US" dirty="0"/>
              <a:t>第</a:t>
            </a:r>
            <a:r>
              <a:rPr lang="zh-CN" altLang="en-US" dirty="0"/>
              <a:t>三</a:t>
            </a:r>
            <a:r>
              <a:rPr lang="zh-TW" altLang="en-US" dirty="0"/>
              <a:t>是</a:t>
            </a:r>
            <a:r>
              <a:rPr lang="zh-TW" altLang="en-US" b="1" dirty="0"/>
              <a:t>重心平衡與空間利用</a:t>
            </a:r>
            <a:r>
              <a:rPr lang="zh-TW" altLang="en-US" dirty="0"/>
              <a:t>，</a:t>
            </a:r>
            <a:r>
              <a:rPr lang="zh-CN" altLang="en-US" dirty="0"/>
              <a:t>母排</a:t>
            </a:r>
            <a:r>
              <a:rPr lang="zh-TW" altLang="en-US" dirty="0"/>
              <a:t>架下方空隙</a:t>
            </a:r>
            <a:r>
              <a:rPr lang="zh-CN" altLang="en-US" dirty="0"/>
              <a:t>放</a:t>
            </a:r>
            <a:r>
              <a:rPr lang="zh-TW" altLang="en-US" dirty="0"/>
              <a:t>置元件</a:t>
            </a:r>
            <a:r>
              <a:rPr lang="zh-CN" altLang="en-US" dirty="0"/>
              <a:t>，可使用較大顆元件容易更換和維護，提升高利用率</a:t>
            </a:r>
            <a:r>
              <a:rPr lang="zh-TW" altLang="en-US" dirty="0"/>
              <a:t>，並對稱擺放模組，確保整體重心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較平衡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</a:t>
            </a:r>
            <a:r>
              <a:rPr lang="zh-CN" altLang="en-US"/>
              <a:t>四</a:t>
            </a:r>
            <a:r>
              <a:rPr lang="zh-TW" altLang="en-US"/>
              <a:t>是</a:t>
            </a:r>
            <a:r>
              <a:rPr lang="zh-TW" altLang="en-US" b="1"/>
              <a:t>降低電磁幹擾</a:t>
            </a:r>
            <a:r>
              <a:rPr lang="zh-TW" altLang="en-US"/>
              <a:t>。</a:t>
            </a:r>
            <a:r>
              <a:rPr lang="zh-TW" altLang="en-US" dirty="0"/>
              <a:t>將馬達插座配置於背面，</a:t>
            </a:r>
            <a:r>
              <a:rPr lang="en-US" altLang="zh-TW" dirty="0"/>
              <a:t>PCB </a:t>
            </a:r>
            <a:r>
              <a:rPr lang="zh-TW" altLang="en-US" dirty="0"/>
              <a:t>厚度與母</a:t>
            </a:r>
            <a:r>
              <a:rPr lang="zh-CN" altLang="en-US" dirty="0"/>
              <a:t>排</a:t>
            </a:r>
            <a:r>
              <a:rPr lang="zh-TW" altLang="en-US" dirty="0"/>
              <a:t>高度拉開距離，降低高電流切換的電磁； 於馬達採用 </a:t>
            </a:r>
            <a:r>
              <a:rPr lang="en-US" altLang="zh-TW" dirty="0"/>
              <a:t>N-MOSFET </a:t>
            </a:r>
            <a:r>
              <a:rPr lang="zh-TW" altLang="en-US" dirty="0"/>
              <a:t>進行低側驅動，並於馬達兩端並聯 </a:t>
            </a:r>
            <a:r>
              <a:rPr lang="en-US" altLang="zh-TW" dirty="0"/>
              <a:t>SS14 </a:t>
            </a:r>
            <a:r>
              <a:rPr lang="zh-TW" altLang="en-US" dirty="0"/>
              <a:t>續流二極體。當 </a:t>
            </a:r>
            <a:r>
              <a:rPr lang="en-US" altLang="zh-TW" dirty="0"/>
              <a:t>MOSFET </a:t>
            </a:r>
            <a:r>
              <a:rPr lang="zh-TW" altLang="en-US" dirty="0"/>
              <a:t>切換關閉時，馬達會產生反電動勢，二極體能提供電流迴路，防止汲極</a:t>
            </a:r>
            <a:r>
              <a:rPr lang="zh-CN" altLang="en-US" dirty="0"/>
              <a:t>（</a:t>
            </a:r>
            <a:r>
              <a:rPr lang="en-US" altLang="zh-TW" dirty="0"/>
              <a:t>Drain </a:t>
            </a:r>
            <a:r>
              <a:rPr lang="zh-CN" altLang="en-US" dirty="0"/>
              <a:t>）</a:t>
            </a:r>
            <a:r>
              <a:rPr lang="zh-TW" altLang="en-US" dirty="0"/>
              <a:t>腳位產生高壓擊穿 </a:t>
            </a:r>
            <a:r>
              <a:rPr lang="en-US" altLang="zh-TW" dirty="0"/>
              <a:t>MOSFET</a:t>
            </a:r>
            <a:r>
              <a:rPr lang="zh-TW" altLang="en-US" dirty="0"/>
              <a:t>；同時搭配 </a:t>
            </a:r>
            <a:r>
              <a:rPr lang="en-US" altLang="zh-TW" dirty="0"/>
              <a:t>100 </a:t>
            </a:r>
            <a:r>
              <a:rPr lang="en-US" altLang="zh-TW" err="1"/>
              <a:t>nF</a:t>
            </a:r>
            <a:r>
              <a:rPr lang="en-US" altLang="zh-TW"/>
              <a:t> </a:t>
            </a:r>
            <a:r>
              <a:rPr lang="zh-TW" altLang="en-US"/>
              <a:t>去耦電容濾除高頻切換雜訊，避免幹擾經由電源與接地路徑耦合至 </a:t>
            </a:r>
            <a:r>
              <a:rPr lang="en-US" altLang="zh-TW"/>
              <a:t>IMU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t>接下來第八頁，我將說明本研究使用的三個飛控平臺……」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「第八頁是本研究實際使用的三個飛控平臺對照。</a:t>
            </a:r>
          </a:p>
          <a:p>
            <a:endParaRPr/>
          </a:p>
          <a:p>
            <a:r>
              <a:t>第一列是 ATK-MiniFly 原機。主控是 STM32F411，96 MHz 的 Cortex-M4，無線另外掛一顆 nRF51822 加上 RFX2401C 功率放大晶片，跑的是原廠韌體。它在本研究裡有兩個角色：一是韌體移植的來源，二是後面多機控制的其中一架受控機。</a:t>
            </a:r>
          </a:p>
          <a:p>
            <a:endParaRPr/>
          </a:p>
          <a:p>
            <a:r>
              <a:t>第二列是自製電路板插上 XIAO nRF52840。這顆是 64 MHz 的 Cortex-M4F，帶浮點運算單元，並且內建 RADIO 無線電，所以主控與無線合併在同一顆晶片上，不需要外掛射頻晶片。韌體是本研究移植的版本，這一列是本研究的主要對象。</a:t>
            </a:r>
          </a:p>
          <a:p>
            <a:endParaRPr/>
          </a:p>
          <a:p>
            <a:r>
              <a:t>第三列是同一塊自製電路板，換插 XIAO ESP32S3，改用 WiFi 與 BLE，跑的是開源的 ESP-FC 韌體。</a:t>
            </a:r>
          </a:p>
          <a:p>
            <a:endParaRPr/>
          </a:p>
          <a:p>
            <a:r>
              <a:t>這裡要請委員注意的是，第二列和第三列用的是同一塊電路板，只是換插不同的主控模組。這正好驗證了上一頁講的模組化設計——排母引出腳位之後，主控確實可以整顆更換。</a:t>
            </a:r>
          </a:p>
          <a:p>
            <a:endParaRPr/>
          </a:p>
          <a:p>
            <a:r>
              <a:t>第三列之所以不列為本研究的移植成果，是因為 ESP32 的飛控生態已經成熟，再做一次沒有研究上的增量，所以直接採用開源方案，把力氣集中在 nRF52840 這一顆上。</a:t>
            </a:r>
          </a:p>
          <a:p>
            <a:endParaRPr/>
          </a:p>
          <a:p>
            <a:r>
              <a:t>接下來第九頁，我將說明原廠的系統框架……」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「第九頁是原廠 </a:t>
            </a:r>
            <a:r>
              <a:rPr lang="en-US" altLang="zh-TW" dirty="0"/>
              <a:t>ATK-</a:t>
            </a:r>
            <a:r>
              <a:rPr lang="en-US" altLang="zh-TW" dirty="0" err="1"/>
              <a:t>MiniFly</a:t>
            </a:r>
            <a:r>
              <a:rPr lang="zh-TW" altLang="en-US" dirty="0"/>
              <a:t> 的系統框架，這張圖出自原廠開發指南的圖 </a:t>
            </a:r>
            <a:r>
              <a:rPr lang="en-US" altLang="zh-TW" dirty="0"/>
              <a:t>4.1.1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從圖上可以看到，原廠採用的是雙 </a:t>
            </a:r>
            <a:r>
              <a:rPr lang="en-US" altLang="zh-TW" dirty="0"/>
              <a:t>MCU </a:t>
            </a:r>
            <a:r>
              <a:rPr lang="zh-TW" altLang="en-US" dirty="0"/>
              <a:t>架構。左邊這顆 </a:t>
            </a:r>
            <a:r>
              <a:rPr lang="en-US" altLang="zh-TW" dirty="0"/>
              <a:t>NRF51822 </a:t>
            </a:r>
            <a:r>
              <a:rPr lang="zh-TW" altLang="en-US" dirty="0"/>
              <a:t>是 </a:t>
            </a:r>
            <a:r>
              <a:rPr lang="en-US" altLang="zh-TW" dirty="0"/>
              <a:t>Cortex-M0</a:t>
            </a:r>
            <a:r>
              <a:rPr lang="zh-TW" altLang="en-US" dirty="0"/>
              <a:t>，負責無線通訊與電源管理，前面另外掛了一顆 </a:t>
            </a:r>
            <a:r>
              <a:rPr lang="en-US" altLang="zh-TW" dirty="0"/>
              <a:t>RF </a:t>
            </a:r>
            <a:r>
              <a:rPr lang="zh-TW" altLang="en-US" dirty="0"/>
              <a:t>功率放大晶片；右邊這顆 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Cortex-M4</a:t>
            </a:r>
            <a:r>
              <a:rPr lang="zh-TW" altLang="en-US" dirty="0"/>
              <a:t>，負責感測器讀取、資料融合、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控制與馬達輸出。</a:t>
            </a:r>
          </a:p>
          <a:p>
            <a:endParaRPr lang="zh-TW" altLang="en-US" dirty="0"/>
          </a:p>
          <a:p>
            <a:r>
              <a:rPr lang="zh-TW" altLang="en-US" dirty="0"/>
              <a:t>兩顆晶片之間以 </a:t>
            </a:r>
            <a:r>
              <a:rPr lang="en-US" altLang="zh-TW" dirty="0"/>
              <a:t>UART </a:t>
            </a:r>
            <a:r>
              <a:rPr lang="zh-TW" altLang="en-US" dirty="0"/>
              <a:t>相連。遙控器的訊號先由 </a:t>
            </a:r>
            <a:r>
              <a:rPr lang="en-US" altLang="zh-TW" dirty="0"/>
              <a:t>NRF51822 </a:t>
            </a:r>
            <a:r>
              <a:rPr lang="zh-TW" altLang="en-US" dirty="0"/>
              <a:t>接收，再經串口轉發給 </a:t>
            </a:r>
            <a:r>
              <a:rPr lang="en-US" altLang="zh-TW" dirty="0"/>
              <a:t>STM32 </a:t>
            </a:r>
            <a:r>
              <a:rPr lang="zh-TW" altLang="en-US" dirty="0"/>
              <a:t>處理。</a:t>
            </a:r>
          </a:p>
          <a:p>
            <a:endParaRPr lang="zh-TW" altLang="en-US" dirty="0"/>
          </a:p>
          <a:p>
            <a:r>
              <a:rPr lang="zh-TW" altLang="en-US" dirty="0"/>
              <a:t>右邊接的是十軸感測器，包含三軸加速度計、三軸陀螺儀、三軸磁力計與氣壓計，透過 </a:t>
            </a:r>
            <a:r>
              <a:rPr lang="en-US" altLang="zh-TW" dirty="0"/>
              <a:t>IIC </a:t>
            </a:r>
            <a:r>
              <a:rPr lang="zh-TW" altLang="en-US" dirty="0"/>
              <a:t>匯流排連到主控。</a:t>
            </a:r>
          </a:p>
          <a:p>
            <a:endParaRPr lang="zh-TW" altLang="en-US" dirty="0"/>
          </a:p>
          <a:p>
            <a:r>
              <a:rPr lang="zh-TW" altLang="en-US" dirty="0"/>
              <a:t>下方這一排是電源部分，包含電源管理、充電電路與 </a:t>
            </a:r>
            <a:r>
              <a:rPr lang="en-US" altLang="zh-TW" dirty="0"/>
              <a:t>USB </a:t>
            </a:r>
            <a:r>
              <a:rPr lang="zh-TW" altLang="en-US" dirty="0"/>
              <a:t>介面。原廠在這裡用了 </a:t>
            </a:r>
            <a:r>
              <a:rPr lang="en-US" altLang="zh-TW" dirty="0"/>
              <a:t>TP4059 </a:t>
            </a:r>
            <a:r>
              <a:rPr lang="zh-TW" altLang="en-US" dirty="0"/>
              <a:t>充電晶片與兩顆 </a:t>
            </a:r>
            <a:r>
              <a:rPr lang="en-US" altLang="zh-TW" dirty="0"/>
              <a:t>XC6204 </a:t>
            </a:r>
            <a:r>
              <a:rPr lang="zh-TW" altLang="en-US" dirty="0"/>
              <a:t>穩壓晶片。</a:t>
            </a:r>
          </a:p>
          <a:p>
            <a:endParaRPr lang="zh-TW" altLang="en-US" dirty="0"/>
          </a:p>
          <a:p>
            <a:r>
              <a:rPr lang="zh-TW" altLang="en-US" dirty="0"/>
              <a:t>之所以先看原廠的框架，是因為接下來第十頁我會用同樣的畫法呈現本研究的架構，兩張圖並排就能看出差異在哪裡。</a:t>
            </a:r>
          </a:p>
          <a:p>
            <a:endParaRPr lang="zh-TW" altLang="en-US" dirty="0"/>
          </a:p>
          <a:p>
            <a:r>
              <a:rPr lang="zh-TW" altLang="en-US" dirty="0"/>
              <a:t>接下來第十頁，我將說明本研究的系統框架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9816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「</a:t>
            </a:r>
            <a:r>
              <a:rPr dirty="0" err="1"/>
              <a:t>第九頁是原廠</a:t>
            </a:r>
            <a:r>
              <a:rPr dirty="0"/>
              <a:t> ATK-</a:t>
            </a:r>
            <a:r>
              <a:rPr dirty="0" err="1"/>
              <a:t>MiniFly</a:t>
            </a:r>
            <a:r>
              <a:rPr dirty="0"/>
              <a:t> </a:t>
            </a:r>
            <a:r>
              <a:rPr dirty="0" err="1"/>
              <a:t>的系統框架，這張圖出自原廠開發指南的圖</a:t>
            </a:r>
            <a:r>
              <a:rPr dirty="0"/>
              <a:t> 4.1.1。</a:t>
            </a:r>
          </a:p>
          <a:p>
            <a:endParaRPr dirty="0"/>
          </a:p>
          <a:p>
            <a:r>
              <a:rPr dirty="0" err="1"/>
              <a:t>從圖上可以看到，原廠採用的是雙</a:t>
            </a:r>
            <a:r>
              <a:rPr dirty="0"/>
              <a:t> MCU </a:t>
            </a:r>
            <a:r>
              <a:rPr dirty="0" err="1"/>
              <a:t>架構。左邊這顆</a:t>
            </a:r>
            <a:r>
              <a:rPr dirty="0"/>
              <a:t> NRF51822 是 Cortex-M0，負責無線通訊與電源管理，前面另外掛了一顆 RF </a:t>
            </a:r>
            <a:r>
              <a:rPr dirty="0" err="1"/>
              <a:t>功率放大晶片；右邊這顆</a:t>
            </a:r>
            <a:r>
              <a:rPr dirty="0"/>
              <a:t> STM32F411 是 Cortex-M4，負責感測器讀取、資料融合、PID </a:t>
            </a:r>
            <a:r>
              <a:rPr dirty="0" err="1"/>
              <a:t>控制與馬達輸出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兩顆晶片之間以</a:t>
            </a:r>
            <a:r>
              <a:rPr dirty="0"/>
              <a:t> UART </a:t>
            </a:r>
            <a:r>
              <a:rPr dirty="0" err="1"/>
              <a:t>相連。遙控器的訊號先由</a:t>
            </a:r>
            <a:r>
              <a:rPr dirty="0"/>
              <a:t> NRF51822 </a:t>
            </a:r>
            <a:r>
              <a:rPr dirty="0" err="1"/>
              <a:t>接收，再經串口轉發給</a:t>
            </a:r>
            <a:r>
              <a:rPr dirty="0"/>
              <a:t> STM32 </a:t>
            </a:r>
            <a:r>
              <a:rPr dirty="0" err="1"/>
              <a:t>處理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右邊接的是十軸感測器，包含三軸加速度計、三軸陀螺儀、三軸磁力計與氣壓計，透過</a:t>
            </a:r>
            <a:r>
              <a:rPr dirty="0"/>
              <a:t> IIC </a:t>
            </a:r>
            <a:r>
              <a:rPr dirty="0" err="1"/>
              <a:t>匯流排連到主控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下方這一排是電源部分，包含電源管理、充電電路與</a:t>
            </a:r>
            <a:r>
              <a:rPr dirty="0"/>
              <a:t> USB </a:t>
            </a:r>
            <a:r>
              <a:rPr dirty="0" err="1"/>
              <a:t>介面。原廠在這裡用了</a:t>
            </a:r>
            <a:r>
              <a:rPr dirty="0"/>
              <a:t> TP4059 </a:t>
            </a:r>
            <a:r>
              <a:rPr dirty="0" err="1"/>
              <a:t>充電晶片與兩顆</a:t>
            </a:r>
            <a:r>
              <a:rPr dirty="0"/>
              <a:t> XC6204 </a:t>
            </a:r>
            <a:r>
              <a:rPr dirty="0" err="1"/>
              <a:t>穩壓晶片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之所以先看原廠的框架，是因為接下來第十頁我會用同樣的畫法呈現本研究的架構，兩張圖並排就能看出差異在哪裡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接下來第十頁，我將說明本研究的系統框架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769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ESB 是 Nordic </a:t>
            </a:r>
            <a:r>
              <a:rPr dirty="0" err="1"/>
              <a:t>專有的</a:t>
            </a:r>
            <a:r>
              <a:rPr dirty="0"/>
              <a:t> 2.4GHz 協</a:t>
            </a:r>
            <a:r>
              <a:rPr lang="zh-CN" altLang="en-US" dirty="0"/>
              <a:t>定</a:t>
            </a:r>
            <a:r>
              <a:rPr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nRF24</a:t>
            </a:r>
            <a:r>
              <a:rPr lang="zh-CN" altLang="en-US" dirty="0"/>
              <a:t>系列</a:t>
            </a:r>
            <a:r>
              <a:rPr lang="en-US" altLang="zh-TW" dirty="0"/>
              <a:t> </a:t>
            </a:r>
            <a:r>
              <a:rPr lang="zh-TW" altLang="en-US" dirty="0"/>
              <a:t>有專用的硬體 </a:t>
            </a:r>
            <a:r>
              <a:rPr lang="en-US" altLang="zh-TW" dirty="0"/>
              <a:t>ESB </a:t>
            </a:r>
            <a:r>
              <a:rPr lang="zh-TW" altLang="en-US" dirty="0"/>
              <a:t>處理器，而 </a:t>
            </a:r>
            <a:r>
              <a:rPr lang="en-US" altLang="zh-TW" dirty="0"/>
              <a:t>nRF52840 </a:t>
            </a:r>
            <a:r>
              <a:rPr lang="zh-TW" altLang="en-US" dirty="0"/>
              <a:t>則是</a:t>
            </a:r>
            <a:r>
              <a:rPr lang="zh-CN" altLang="en-US" dirty="0"/>
              <a:t>需要</a:t>
            </a:r>
            <a:r>
              <a:rPr lang="zh-TW" altLang="en-US" dirty="0"/>
              <a:t>在韌體中對 </a:t>
            </a:r>
            <a:r>
              <a:rPr lang="en-US" altLang="zh-TW" dirty="0"/>
              <a:t>RADIO </a:t>
            </a:r>
            <a:r>
              <a:rPr lang="zh-TW" altLang="en-US" dirty="0"/>
              <a:t>的底層暫存器進行配置</a:t>
            </a:r>
            <a:r>
              <a:rPr lang="zh-CN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rPr dirty="0" err="1"/>
              <a:t>關鍵在於:這個協議在</a:t>
            </a:r>
            <a:r>
              <a:rPr dirty="0"/>
              <a:t> nRF24L </a:t>
            </a:r>
            <a:r>
              <a:rPr dirty="0" err="1"/>
              <a:t>系列</a:t>
            </a:r>
            <a:r>
              <a:rPr dirty="0"/>
              <a:t>(</a:t>
            </a:r>
            <a:r>
              <a:rPr dirty="0" err="1"/>
              <a:t>遙控器用的那顆</a:t>
            </a:r>
            <a:r>
              <a:rPr dirty="0"/>
              <a:t>)</a:t>
            </a:r>
            <a:r>
              <a:rPr dirty="0" err="1"/>
              <a:t>是硬體內建的,但</a:t>
            </a:r>
            <a:r>
              <a:rPr dirty="0"/>
              <a:t> nRF5 </a:t>
            </a:r>
            <a:r>
              <a:rPr dirty="0" err="1"/>
              <a:t>系列沒有這個硬體。移植時必須用</a:t>
            </a:r>
            <a:r>
              <a:rPr dirty="0"/>
              <a:t> RADIO </a:t>
            </a:r>
            <a:r>
              <a:rPr dirty="0" err="1"/>
              <a:t>外設自行把封包格式設定成一模一樣,才能與遙控器互通</a:t>
            </a:r>
            <a:r>
              <a:rPr dirty="0"/>
              <a:t> —— </a:t>
            </a:r>
            <a:r>
              <a:rPr dirty="0" err="1"/>
              <a:t>這就是無線層必須從暫存器層重建的原因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可能被問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Q:資料傳輸需要 CRC </a:t>
            </a:r>
            <a:r>
              <a:rPr dirty="0" err="1"/>
              <a:t>嗎?為什麼只有一個</a:t>
            </a:r>
            <a:r>
              <a:rPr dirty="0"/>
              <a:t>?</a:t>
            </a:r>
          </a:p>
          <a:p>
            <a:r>
              <a:rPr dirty="0"/>
              <a:t>A:空中封包由 ESB 的 CRC </a:t>
            </a:r>
            <a:r>
              <a:rPr dirty="0" err="1"/>
              <a:t>負責,設定為</a:t>
            </a:r>
            <a:r>
              <a:rPr dirty="0"/>
              <a:t> CRC16-CCITT(</a:t>
            </a:r>
            <a:r>
              <a:rPr dirty="0" err="1"/>
              <a:t>多項式</a:t>
            </a:r>
            <a:r>
              <a:rPr dirty="0"/>
              <a:t> 0x11021、初值 0xFFFF),</a:t>
            </a:r>
            <a:r>
              <a:rPr dirty="0" err="1"/>
              <a:t>由硬體自動計算與檢查,錯誤封包直接丟棄不會進到軟體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ATKP </a:t>
            </a:r>
            <a:r>
              <a:rPr dirty="0" err="1"/>
              <a:t>協議本身另有一個「求和取低</a:t>
            </a:r>
            <a:r>
              <a:rPr dirty="0"/>
              <a:t> 8 </a:t>
            </a:r>
            <a:r>
              <a:rPr dirty="0" err="1"/>
              <a:t>位」的校驗位元組,但那是走</a:t>
            </a:r>
            <a:r>
              <a:rPr dirty="0"/>
              <a:t> USB </a:t>
            </a:r>
            <a:r>
              <a:rPr dirty="0" err="1"/>
              <a:t>時用的。經無線傳送時,空中封包的載荷只放</a:t>
            </a:r>
            <a:r>
              <a:rPr dirty="0"/>
              <a:t> </a:t>
            </a:r>
            <a:r>
              <a:rPr dirty="0" err="1"/>
              <a:t>msgID、dataLen</a:t>
            </a:r>
            <a:r>
              <a:rPr dirty="0"/>
              <a:t> 與 data </a:t>
            </a:r>
            <a:r>
              <a:rPr dirty="0" err="1"/>
              <a:t>三部分,不帶</a:t>
            </a:r>
            <a:r>
              <a:rPr dirty="0"/>
              <a:t> ATKP </a:t>
            </a:r>
            <a:r>
              <a:rPr dirty="0" err="1"/>
              <a:t>的起始碼與校驗和</a:t>
            </a:r>
            <a:r>
              <a:rPr dirty="0"/>
              <a:t> —— </a:t>
            </a:r>
            <a:r>
              <a:rPr dirty="0" err="1"/>
              <a:t>因為位址欄已經負責識別、CRC</a:t>
            </a:r>
            <a:r>
              <a:rPr dirty="0"/>
              <a:t> </a:t>
            </a:r>
            <a:r>
              <a:rPr dirty="0" err="1"/>
              <a:t>已經負責檢查,再加一層是多餘的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所以是一層</a:t>
            </a:r>
            <a:r>
              <a:rPr dirty="0"/>
              <a:t> </a:t>
            </a:r>
            <a:r>
              <a:rPr dirty="0" err="1"/>
              <a:t>CRC,不是兩層;兩層校驗只出現在</a:t>
            </a:r>
            <a:r>
              <a:rPr dirty="0"/>
              <a:t> USB </a:t>
            </a:r>
            <a:r>
              <a:rPr dirty="0" err="1"/>
              <a:t>路徑</a:t>
            </a:r>
            <a:r>
              <a:rPr dirty="0"/>
              <a:t>(ATKP </a:t>
            </a:r>
            <a:r>
              <a:rPr dirty="0" err="1"/>
              <a:t>校驗和</a:t>
            </a:r>
            <a:r>
              <a:rPr dirty="0"/>
              <a:t>)</a:t>
            </a:r>
            <a:r>
              <a:rPr dirty="0" err="1"/>
              <a:t>與無線路徑</a:t>
            </a:r>
            <a:r>
              <a:rPr dirty="0"/>
              <a:t>(ESB CRC)</a:t>
            </a:r>
            <a:r>
              <a:rPr dirty="0" err="1"/>
              <a:t>各自的鏈路上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「第十六頁說明上位機送往飛控的封包格式。</a:t>
            </a:r>
          </a:p>
          <a:p>
            <a:endParaRPr/>
          </a:p>
          <a:p>
            <a:r>
              <a:t>整包由六個欄位組成：兩個起始碼、功能字、長度、資料，最後是校驗和。橘框圈起來的三格——功能字、長度、資料——才是原廠定義的 ATKP 封包本體；兩端的起始碼與校驗和，是走 USB 時才加上去的。</a:t>
            </a:r>
          </a:p>
          <a:p>
            <a:endParaRPr/>
          </a:p>
          <a:p>
            <a:r>
              <a:t>下方是解鎖指令的實際例子：AA AF 01 01 A1 FC。AA AF 是起始碼，01 是命令封包的功能字，第二個 01 表示資料只有一個 Byte，A1 是解鎖的命令碼，最後的 FC 是把前面五個 Byte 相加取低 8 位得到的校驗值。</a:t>
            </a:r>
          </a:p>
          <a:p>
            <a:endParaRPr/>
          </a:p>
          <a:p>
            <a:r>
              <a:t>這個封包如果走無線，就是裝在上一頁 ESB 封包的載荷裡，起始碼與校驗和都不帶。</a:t>
            </a:r>
          </a:p>
          <a:p>
            <a:endParaRPr/>
          </a:p>
          <a:p>
            <a:r>
              <a:t>可能被問:</a:t>
            </a:r>
          </a:p>
          <a:p>
            <a:endParaRPr/>
          </a:p>
          <a:p>
            <a:r>
              <a:t>Q:起始碼為什麼是兩個?</a:t>
            </a:r>
          </a:p>
          <a:p>
            <a:r>
              <a:t>A:第一個固定 0xAA，第二個用來標示方向。原廠定義 0xAF 是上位機送往飛控這個方向，0xAA 則是飛控回送上位機。同樣一套 ATKP 封包，靠第二個起始碼就能分辨是誰送給誰。</a:t>
            </a:r>
          </a:p>
          <a:p>
            <a:endParaRPr/>
          </a:p>
          <a:p>
            <a:r>
              <a:t>Q:無線既然不用幀頭，為什麼原廠手冊的方向表裡有「四軸←遙控器」這一項?</a:t>
            </a:r>
          </a:p>
          <a:p>
            <a:r>
              <a:t>A:因為那指的不是空中的形態。原廠手冊寫明，遙控器與 NRF51822 之間走無線，直接傳 ATKP 封包不加幀頭；但 NRF51822 收到後要再經串口轉發給 STM32F411，而「NRF51822 與 STM32F411 通信使用的串口方式，數據格式跟 usblink 鏈路一樣」，也就是要補上幀頭與校驗。</a:t>
            </a:r>
          </a:p>
          <a:p>
            <a:endParaRPr/>
          </a:p>
          <a:p>
            <a:r>
              <a:t>所以幀頭是給有線那一段用的。這一點在本研究反而消失了——合併成單晶片之後，那段串口不存在，RADIO 收到的 ATKP 直接進控制流程，不需要再框一次。</a:t>
            </a:r>
          </a:p>
          <a:p>
            <a:endParaRPr/>
          </a:p>
          <a:p>
            <a:r>
              <a:t>接下來第十七頁，我將播放移植後的實機飛行影片……」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24 字≈7 秒 ｜ 完整版 331 字≈1.5 分</a:t>
            </a:r>
          </a:p>
          <a:p>
            <a:endParaRPr/>
          </a:p>
          <a:p>
            <a:r>
              <a:t>【一句話】移植成果的整體驗證:從上電到降落,全程沒有剪接。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**開機自檢** — 七個驅動模組依序通過,LED 指示狀態。這一段對應驅動層移植那頁。</a:t>
            </a:r>
          </a:p>
          <a:p>
            <a:r>
              <a:t>② **遙控器配對成功** — 這代表 ESB 空中相容的三項對齊(位序反轉、動態載荷、速率)全部做對了,否則連不上。</a:t>
            </a:r>
          </a:p>
          <a:p>
            <a:r>
              <a:t>③ **起飛、定高懸停** — 對應高度估計鏈的三項增強。</a:t>
            </a:r>
          </a:p>
          <a:p>
            <a:r>
              <a:t>④ **斷訊維持** — 我故意讓訊號中斷,注意**高度沒有掉**,訊號回來後無縫續飛。</a:t>
            </a:r>
          </a:p>
          <a:p>
            <a:r>
              <a:t>⑤ 降落。</a:t>
            </a:r>
          </a:p>
          <a:p>
            <a:endParaRPr/>
          </a:p>
          <a:p>
            <a:r>
              <a:t>【★ 這支影片放在這裡的原因】</a:t>
            </a:r>
          </a:p>
          <a:p>
            <a:r>
              <a:t>到這一頁為止,單機的所有內容(硬體、移植、三大挑戰、控制、安全)都講完了。這支影片是它們的**綜合驗證** — 每一個環節在影片裡都看得到對應的畫面。下一章才進入多機。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Q:為什麼特別展示斷訊維持?</a:t>
            </a:r>
          </a:p>
          <a:p>
            <a:r>
              <a:t>A:它是多機控制的安全基礎。廣播模式下每臺本來就會有短暫收不到指令的空檔(點名那一下),這個機制把「輪空」定義為正常狀態,多機才可行。這也是為什麼這支影片排在多機章之前。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40 字≈11 秒 ｜ </a:t>
            </a:r>
            <a:r>
              <a:rPr dirty="0" err="1"/>
              <a:t>完整版</a:t>
            </a:r>
            <a:r>
              <a:rPr dirty="0"/>
              <a:t> 702 字≈3.2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一句話】核心概念是廣播定址:一份指令廣播出去,兩台同時收到,再由飛機自己判斷要不要執行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為什麼是「飛機自己判斷」而不是「遙控器只發給某一台</a:t>
            </a:r>
            <a:r>
              <a:rPr dirty="0"/>
              <a:t>」】</a:t>
            </a:r>
          </a:p>
          <a:p>
            <a:r>
              <a:rPr dirty="0" err="1"/>
              <a:t>這是整章的關鍵設計思想。若由發射端決定收件人</a:t>
            </a:r>
            <a:r>
              <a:rPr dirty="0"/>
              <a:t>(</a:t>
            </a:r>
            <a:r>
              <a:rPr dirty="0" err="1"/>
              <a:t>那就是分時尋址</a:t>
            </a:r>
            <a:r>
              <a:rPr dirty="0"/>
              <a:t>),</a:t>
            </a:r>
            <a:r>
              <a:rPr dirty="0" err="1"/>
              <a:t>帶寬必然</a:t>
            </a:r>
            <a:r>
              <a:rPr dirty="0"/>
              <a:t> O(N)、</a:t>
            </a:r>
            <a:r>
              <a:rPr dirty="0" err="1"/>
              <a:t>各機指令必然錯開。改成「一包全體同收、由接收端自己判斷」之後,發送次數與台數無關</a:t>
            </a:r>
            <a:r>
              <a:rPr dirty="0"/>
              <a:t> — **</a:t>
            </a:r>
            <a:r>
              <a:rPr dirty="0" err="1"/>
              <a:t>這是</a:t>
            </a:r>
            <a:r>
              <a:rPr dirty="0"/>
              <a:t> O(1) 與 O(N) </a:t>
            </a:r>
            <a:r>
              <a:rPr dirty="0" err="1"/>
              <a:t>的分野,也是編隊能不能同步的分野</a:t>
            </a:r>
            <a:r>
              <a:rPr dirty="0"/>
              <a:t>**。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資料鏈路】PC</a:t>
            </a:r>
            <a:r>
              <a:rPr dirty="0"/>
              <a:t> </a:t>
            </a:r>
            <a:r>
              <a:rPr dirty="0" err="1"/>
              <a:t>上位機做定位與決策</a:t>
            </a:r>
            <a:r>
              <a:rPr dirty="0"/>
              <a:t> → 經 USB 以 ATKP </a:t>
            </a:r>
            <a:r>
              <a:rPr dirty="0" err="1"/>
              <a:t>格式交給遙控器</a:t>
            </a:r>
            <a:r>
              <a:rPr dirty="0"/>
              <a:t> → </a:t>
            </a:r>
            <a:r>
              <a:rPr dirty="0" err="1"/>
              <a:t>遙控器原樣廣播</a:t>
            </a:r>
            <a:r>
              <a:rPr dirty="0"/>
              <a:t> → </a:t>
            </a:r>
            <a:r>
              <a:rPr dirty="0" err="1"/>
              <a:t>兩台飛機各有自己的</a:t>
            </a:r>
            <a:r>
              <a:rPr dirty="0"/>
              <a:t> ID </a:t>
            </a:r>
            <a:r>
              <a:rPr dirty="0" err="1"/>
              <a:t>與私有位址;兩台同時也都發</a:t>
            </a:r>
            <a:r>
              <a:rPr dirty="0"/>
              <a:t> BLE </a:t>
            </a:r>
            <a:r>
              <a:rPr dirty="0" err="1"/>
              <a:t>信標給四個錨點,所以能同時被定位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三個機制,都已實機驗證</a:t>
            </a:r>
            <a:r>
              <a:rPr dirty="0"/>
              <a:t>】</a:t>
            </a:r>
          </a:p>
          <a:p>
            <a:r>
              <a:rPr dirty="0"/>
              <a:t>① **</a:t>
            </a:r>
            <a:r>
              <a:rPr dirty="0" err="1"/>
              <a:t>廣播選台</a:t>
            </a:r>
            <a:r>
              <a:rPr dirty="0"/>
              <a:t>(</a:t>
            </a:r>
            <a:r>
              <a:rPr dirty="0" err="1"/>
              <a:t>模式</a:t>
            </a:r>
            <a:r>
              <a:rPr dirty="0"/>
              <a:t> A </a:t>
            </a:r>
            <a:r>
              <a:rPr dirty="0" err="1"/>
              <a:t>擴展</a:t>
            </a:r>
            <a:r>
              <a:rPr dirty="0"/>
              <a:t>)** — </a:t>
            </a:r>
            <a:r>
              <a:rPr dirty="0" err="1"/>
              <a:t>一包全體同收,包尾附目標字節;選中的執行、其餘懸停待命</a:t>
            </a:r>
            <a:r>
              <a:rPr dirty="0"/>
              <a:t>。</a:t>
            </a:r>
          </a:p>
          <a:p>
            <a:r>
              <a:rPr dirty="0"/>
              <a:t>② **</a:t>
            </a:r>
            <a:r>
              <a:rPr dirty="0" err="1"/>
              <a:t>多工廣播</a:t>
            </a:r>
            <a:r>
              <a:rPr dirty="0"/>
              <a:t>(</a:t>
            </a:r>
            <a:r>
              <a:rPr dirty="0" err="1"/>
              <a:t>模式</a:t>
            </a:r>
            <a:r>
              <a:rPr dirty="0"/>
              <a:t> B)** — </a:t>
            </a:r>
            <a:r>
              <a:rPr dirty="0" err="1"/>
              <a:t>一個廣播包裡裝兩台各自獨立的指令段,兩機同收後各取自己那段</a:t>
            </a:r>
            <a:r>
              <a:rPr dirty="0"/>
              <a:t>,**</a:t>
            </a:r>
            <a:r>
              <a:rPr dirty="0" err="1"/>
              <a:t>可同時做不同動作</a:t>
            </a:r>
            <a:r>
              <a:rPr dirty="0"/>
              <a:t>**。</a:t>
            </a:r>
            <a:r>
              <a:rPr dirty="0" err="1"/>
              <a:t>這是本研究的亮點</a:t>
            </a:r>
            <a:r>
              <a:rPr dirty="0"/>
              <a:t>。</a:t>
            </a:r>
          </a:p>
          <a:p>
            <a:r>
              <a:rPr dirty="0"/>
              <a:t>③ **</a:t>
            </a:r>
            <a:r>
              <a:rPr dirty="0" err="1"/>
              <a:t>廣播點名</a:t>
            </a:r>
            <a:r>
              <a:rPr dirty="0"/>
              <a:t>** — </a:t>
            </a:r>
            <a:r>
              <a:rPr dirty="0" err="1"/>
              <a:t>廣播是單向不回</a:t>
            </a:r>
            <a:r>
              <a:rPr dirty="0"/>
              <a:t> ACK </a:t>
            </a:r>
            <a:r>
              <a:rPr dirty="0" err="1"/>
              <a:t>的,遙控器看不到飛機狀態,所以每隔約</a:t>
            </a:r>
            <a:r>
              <a:rPr dirty="0"/>
              <a:t> 0.13 </a:t>
            </a:r>
            <a:r>
              <a:rPr dirty="0" err="1"/>
              <a:t>秒切一次私有去探詢一台,把電量與在線狀態取回來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三者不是三選一,而是分層並存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模式</a:t>
            </a:r>
            <a:r>
              <a:rPr dirty="0"/>
              <a:t> A </a:t>
            </a:r>
            <a:r>
              <a:rPr dirty="0" err="1"/>
              <a:t>供人手操作</a:t>
            </a:r>
            <a:r>
              <a:rPr dirty="0"/>
              <a:t>(</a:t>
            </a:r>
            <a:r>
              <a:rPr dirty="0" err="1"/>
              <a:t>遙控器只有一份搖桿值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模式</a:t>
            </a:r>
            <a:r>
              <a:rPr dirty="0"/>
              <a:t> B 供 PC </a:t>
            </a:r>
            <a:r>
              <a:rPr dirty="0" err="1"/>
              <a:t>自動編隊</a:t>
            </a:r>
            <a:r>
              <a:rPr dirty="0"/>
              <a:t>(</a:t>
            </a:r>
            <a:r>
              <a:rPr dirty="0" err="1"/>
              <a:t>指令來源能算出各機不同目標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私有模式供逐台調參與讀狀態</a:t>
            </a:r>
            <a:endParaRPr dirty="0"/>
          </a:p>
          <a:p>
            <a:r>
              <a:rPr dirty="0" err="1"/>
              <a:t>它們用不同的</a:t>
            </a:r>
            <a:r>
              <a:rPr dirty="0"/>
              <a:t> </a:t>
            </a:r>
            <a:r>
              <a:rPr dirty="0" err="1"/>
              <a:t>msgID</a:t>
            </a:r>
            <a:r>
              <a:rPr dirty="0"/>
              <a:t> </a:t>
            </a:r>
            <a:r>
              <a:rPr dirty="0" err="1"/>
              <a:t>與位址,飛機端依</a:t>
            </a:r>
            <a:r>
              <a:rPr dirty="0"/>
              <a:t> </a:t>
            </a:r>
            <a:r>
              <a:rPr dirty="0" err="1"/>
              <a:t>msgID</a:t>
            </a:r>
            <a:r>
              <a:rPr dirty="0"/>
              <a:t> </a:t>
            </a:r>
            <a:r>
              <a:rPr dirty="0" err="1"/>
              <a:t>分流,可即時切換而不衝突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先給個伏筆】這三個機制不是一開始就這樣設計的</a:t>
            </a:r>
            <a:r>
              <a:rPr dirty="0"/>
              <a:t> — </a:t>
            </a:r>
            <a:r>
              <a:rPr dirty="0" err="1"/>
              <a:t>下一頁先講協議基礎,再下一頁講我走過的彎路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Q:現在能同時飛兩台嗎?</a:t>
            </a:r>
          </a:p>
          <a:p>
            <a:r>
              <a:rPr dirty="0"/>
              <a:t>A:三個機制都有實機影片。但「機制通了」和「兩台一起編隊飛完一段航線」是兩件事,後者尚未完整演示 — </a:t>
            </a:r>
            <a:r>
              <a:rPr dirty="0" err="1"/>
              <a:t>我在系統邊界那頁也是這樣標的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Q:為什麼遙控器要原樣轉發而不解析?</a:t>
            </a:r>
          </a:p>
          <a:p>
            <a:r>
              <a:rPr dirty="0"/>
              <a:t>A:讓遙控器保持單純的無線橋,PC </a:t>
            </a:r>
            <a:r>
              <a:rPr dirty="0" err="1"/>
              <a:t>的擴展不需要動遙控器韌體。模式</a:t>
            </a:r>
            <a:r>
              <a:rPr dirty="0"/>
              <a:t> B </a:t>
            </a:r>
            <a:r>
              <a:rPr dirty="0" err="1"/>
              <a:t>就是這樣加進來的</a:t>
            </a:r>
            <a:r>
              <a:rPr dirty="0"/>
              <a:t> — </a:t>
            </a:r>
            <a:r>
              <a:rPr dirty="0" err="1"/>
              <a:t>遙控器一行控制邏輯都沒改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27 字≈7 秒 ｜ 完整版 429 字≈1.9 分</a:t>
            </a:r>
          </a:p>
          <a:p>
            <a:endParaRPr/>
          </a:p>
          <a:p>
            <a:r>
              <a:t>【一句話】核心洞察只有一句:一切差異的根源是「要不要 ACK」。</a:t>
            </a:r>
          </a:p>
          <a:p>
            <a:r>
              <a:t>【展開這句話】</a:t>
            </a:r>
          </a:p>
          <a:p>
            <a:r>
              <a:t>· 要 ACK → 有回傳、有硬體重傳,可以逐台偵測丟包;但**必須逐台發送,指令必然錯開**。</a:t>
            </a:r>
          </a:p>
          <a:p>
            <a:r>
              <a:t>· 不要 ACK → 才能一包全體同收、真正同步;代價是**遙控器完全看不到飛機**。</a:t>
            </a:r>
          </a:p>
          <a:p>
            <a:endParaRPr/>
          </a:p>
          <a:p>
            <a:r>
              <a:t>【左邊 帶寬與同步性對照】</a:t>
            </a:r>
          </a:p>
          <a:p>
            <a:r>
              <a:t>· 私有要發 N 次,廣播只發 1 次</a:t>
            </a:r>
          </a:p>
          <a:p>
            <a:r>
              <a:t>· 私有各機錯開,廣播同時到達</a:t>
            </a:r>
          </a:p>
          <a:p>
            <a:r>
              <a:t>· 狀態回傳只有私有原生具備</a:t>
            </a:r>
          </a:p>
          <a:p>
            <a:endParaRPr/>
          </a:p>
          <a:p>
            <a:r>
              <a:t>【右邊 三種機制各自的定位】</a:t>
            </a:r>
          </a:p>
          <a:p>
            <a:r>
              <a:t>① 模式 C 私有 ACK 一對一 — 適合逐台調參與讀狀態</a:t>
            </a:r>
          </a:p>
          <a:p>
            <a:r>
              <a:t>② 模式 A 擴展 廣播選台 — 一次控一台、其餘懸停</a:t>
            </a:r>
          </a:p>
          <a:p>
            <a:r>
              <a:t>③ 模式 B 多工廣播 — 一包內各機獨立指令,帶寬仍是 O(1) 但可同時做不同動作</a:t>
            </a:r>
          </a:p>
          <a:p>
            <a:endParaRPr/>
          </a:p>
          <a:p>
            <a:r>
              <a:t>【結論】編隊同步場景廣播壓倒性勝出;需要逐台狀態時仍需私有 — 所以我三種都保留,而且可以即時切換。</a:t>
            </a:r>
          </a:p>
          <a:p>
            <a:endParaRPr/>
          </a:p>
          <a:p>
            <a:r>
              <a:t>【這頁的方法論價值】機制選擇服從研究目標,沒有絕對優劣。這是我想強調的判斷方式,也是全篇最像研究結論的一句話。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Q:三種機制會不會互相幹擾?</a:t>
            </a:r>
          </a:p>
          <a:p>
            <a:r>
              <a:t>A:不會。它們用不同的 msgID 與位址,飛機端依 msgID 分流;而且同一時刻只有一種模式生效,可由遙控器即時切換。</a:t>
            </a:r>
          </a:p>
          <a:p>
            <a:endParaRPr/>
          </a:p>
          <a:p>
            <a:r>
              <a:t>Q:為什麼不只保留最好的那一種?</a:t>
            </a:r>
          </a:p>
          <a:p>
            <a:r>
              <a:t>A:沒有絕對最好的。編隊同步要廣播、逐台讀狀態要私有 — 機制選擇服從使用情境,這正是本頁想表達的方法論。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674 字≈3.1 分</a:t>
            </a:r>
          </a:p>
          <a:p>
            <a:endParaRPr/>
          </a:p>
          <a:p>
            <a:r>
              <a:t>【一句話】訊號中斷不等於一定要墜落 — 這頁同時是單機安全的核心,也是多機控制的地基。</a:t>
            </a:r>
          </a:p>
          <a:p>
            <a:endParaRPr/>
          </a:p>
          <a:p>
            <a:r>
              <a:t>【核心問題】遙控訊號中斷時,飛機該怎麼辦?「立刻切斷馬達」最保守,但**多數中斷是短暫的**(天線遮擋、瞬時幹擾、封包碰撞),直接停機等於把一次可恢復的抖動變成一次墜機。</a:t>
            </a:r>
          </a:p>
          <a:p>
            <a:endParaRPr/>
          </a:p>
          <a:p>
            <a:r>
              <a:t>【★ 為什麼需要三種而不是一種】</a:t>
            </a:r>
          </a:p>
          <a:p>
            <a:r>
              <a:t>因為「最好的策略」取決於場景,不存在通用解:</a:t>
            </a:r>
          </a:p>
          <a:p>
            <a:r>
              <a:t>· **模式 0 斷線寬限續飛** — 中斷後維持定高最多 2 秒,訊號回來即無縫續飛,超時才轉緩降。適合**訊號本來就會間歇中斷**的場合。</a:t>
            </a:r>
          </a:p>
          <a:p>
            <a:r>
              <a:t>· **模式 1 懸停等待再緩降** — 原地懸停約 8 秒,留出操作者反應與接管的時間窗,超時再受控緩降。適合**有人監看的手動飛行**。</a:t>
            </a:r>
          </a:p>
          <a:p>
            <a:r>
              <a:t>· **模式 2 立即緩降** — 中斷即受控緩降、觸地自動停機,不等待。適合**未知環境或不容許漂移**的場合。</a:t>
            </a:r>
          </a:p>
          <a:p>
            <a:endParaRPr/>
          </a:p>
          <a:p>
            <a:r>
              <a:t>【三者的共同點】都是**同一套失控保護狀態機**,差別只在「等多久」與「等的時候做什麼」。不是三份獨立程式碼,而是同一個狀態機的三組參數 — 所以未來可由上位機即時切換。</a:t>
            </a:r>
          </a:p>
          <a:p>
            <a:endParaRPr/>
          </a:p>
          <a:p>
            <a:r>
              <a:t>【★ 關鍵銜接 — 這頁存在的真正理由】</a:t>
            </a:r>
          </a:p>
          <a:p>
            <a:r>
              <a:t>模式 0 的「寬限等待」正是多機廣播控制的地基。廣播模式下每台飛機**本來就會有短暫收不到指令的空檔** — 點名那一下就是(約 0.13 秒)。若沒有寬限維持,每次輪空都會觸發失控保護,多機根本不成立。</a:t>
            </a:r>
          </a:p>
          <a:p>
            <a:r>
              <a:t>寬限維持把「輪空」重新定義為**正常狀態**,而不是異常。這是單機安全設計反過來成就多機能力的例子。</a:t>
            </a:r>
          </a:p>
          <a:p>
            <a:endParaRPr/>
          </a:p>
          <a:p>
            <a:r>
              <a:t>【現場播放三支實測影片】模式0.mp4、模式1.mp4、模式2.mp4</a:t>
            </a:r>
          </a:p>
          <a:p>
            <a:endParaRPr/>
          </a:p>
          <a:p>
            <a:r>
              <a:t>【備詢·不念】</a:t>
            </a:r>
          </a:p>
          <a:p>
            <a:r>
              <a:t>Q:2 秒的寬限怎麼定的?</a:t>
            </a:r>
          </a:p>
          <a:p>
            <a:r>
              <a:t>A:實測經驗值。太短會因偶發丟包誤觸發降落,太長則真失聯時遲遲不處置。2 秒是兩者的平衡點,而且遠大於點名輪空的 0.13 秒,留有充足餘裕。</a:t>
            </a:r>
          </a:p>
          <a:p>
            <a:endParaRPr/>
          </a:p>
          <a:p>
            <a:r>
              <a:t>Q:三種策略怎麼選?</a:t>
            </a:r>
          </a:p>
          <a:p>
            <a:r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45 字≈12 秒 ｜ </a:t>
            </a:r>
            <a:r>
              <a:rPr dirty="0" err="1"/>
              <a:t>完整版</a:t>
            </a:r>
            <a:r>
              <a:rPr dirty="0"/>
              <a:t> 165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一句話】接下來進系統二:定位。從</a:t>
            </a:r>
            <a:r>
              <a:rPr dirty="0"/>
              <a:t> RSSI </a:t>
            </a:r>
            <a:r>
              <a:rPr dirty="0" err="1"/>
              <a:t>這個訊號本身,到九步定位引擎,再到與文獻的對照與改進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怎麼講】這一章的順序是:先給四步全貌,再依序展開硬體、位置閉環、RSSI</a:t>
            </a:r>
            <a:r>
              <a:rPr dirty="0"/>
              <a:t> </a:t>
            </a:r>
            <a:r>
              <a:rPr dirty="0" err="1"/>
              <a:t>的三層深入、時槽寄生信標,最後是濾波三部曲與文獻對照。這裡要先提醒委員一件事:定位是本論文的支撐貢獻,不是主貢獻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320 字≈1.5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一句話】先給一張全景圖,再進細節</a:t>
            </a:r>
            <a:r>
              <a:rPr dirty="0"/>
              <a:t> — </a:t>
            </a:r>
            <a:r>
              <a:rPr dirty="0" err="1"/>
              <a:t>定位這一大塊分四個步驟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四個步驟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訊號採集</a:t>
            </a:r>
            <a:r>
              <a:rPr dirty="0"/>
              <a:t> — </a:t>
            </a:r>
            <a:r>
              <a:rPr dirty="0" err="1"/>
              <a:t>四個固定錨點持續廣播,信標接收各錨的訊號強度</a:t>
            </a:r>
            <a:r>
              <a:rPr dirty="0"/>
              <a:t>(RSSI)</a:t>
            </a:r>
          </a:p>
          <a:p>
            <a:r>
              <a:rPr dirty="0"/>
              <a:t>② </a:t>
            </a:r>
            <a:r>
              <a:rPr dirty="0" err="1"/>
              <a:t>距離換算</a:t>
            </a:r>
            <a:r>
              <a:rPr dirty="0"/>
              <a:t> — </a:t>
            </a:r>
            <a:r>
              <a:rPr dirty="0" err="1"/>
              <a:t>用對數距離模型把訊號強度轉為到各錨的估計距離</a:t>
            </a:r>
            <a:endParaRPr dirty="0"/>
          </a:p>
          <a:p>
            <a:r>
              <a:rPr dirty="0"/>
              <a:t>③ </a:t>
            </a:r>
            <a:r>
              <a:rPr dirty="0" err="1"/>
              <a:t>濾波處理</a:t>
            </a:r>
            <a:r>
              <a:rPr dirty="0"/>
              <a:t> — </a:t>
            </a:r>
            <a:r>
              <a:rPr dirty="0" err="1"/>
              <a:t>自適應</a:t>
            </a:r>
            <a:r>
              <a:rPr dirty="0"/>
              <a:t> </a:t>
            </a:r>
            <a:r>
              <a:rPr dirty="0" err="1"/>
              <a:t>Kalman:靜止強平滑、移動快跟手,對抗</a:t>
            </a:r>
            <a:r>
              <a:rPr dirty="0"/>
              <a:t> RSSI </a:t>
            </a:r>
            <a:r>
              <a:rPr dirty="0" err="1"/>
              <a:t>先天波動</a:t>
            </a:r>
            <a:endParaRPr dirty="0"/>
          </a:p>
          <a:p>
            <a:r>
              <a:rPr dirty="0"/>
              <a:t>④ </a:t>
            </a:r>
            <a:r>
              <a:rPr dirty="0" err="1"/>
              <a:t>定位解算</a:t>
            </a:r>
            <a:r>
              <a:rPr dirty="0"/>
              <a:t> — </a:t>
            </a:r>
            <a:r>
              <a:rPr dirty="0" err="1"/>
              <a:t>多錨距離交會出座標,上位機地圖即時顯示軌跡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接下來的展開順序】定位網路硬體</a:t>
            </a:r>
            <a:r>
              <a:rPr dirty="0"/>
              <a:t> → </a:t>
            </a:r>
            <a:r>
              <a:rPr dirty="0" err="1"/>
              <a:t>位置閉環</a:t>
            </a:r>
            <a:r>
              <a:rPr dirty="0"/>
              <a:t> → RSSI </a:t>
            </a:r>
            <a:r>
              <a:rPr dirty="0" err="1"/>
              <a:t>三層深入</a:t>
            </a:r>
            <a:r>
              <a:rPr dirty="0"/>
              <a:t> → </a:t>
            </a:r>
            <a:r>
              <a:rPr dirty="0" err="1"/>
              <a:t>時槽寄生信標</a:t>
            </a:r>
            <a:r>
              <a:rPr dirty="0"/>
              <a:t> → </a:t>
            </a:r>
            <a:r>
              <a:rPr dirty="0" err="1"/>
              <a:t>濾波三部曲</a:t>
            </a:r>
            <a:r>
              <a:rPr dirty="0"/>
              <a:t> → </a:t>
            </a:r>
            <a:r>
              <a:rPr dirty="0" err="1"/>
              <a:t>文獻對照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要先提醒委員一件事】定位是本論文的</a:t>
            </a:r>
            <a:r>
              <a:rPr dirty="0"/>
              <a:t>**</a:t>
            </a:r>
            <a:r>
              <a:rPr dirty="0" err="1"/>
              <a:t>支撐貢獻</a:t>
            </a:r>
            <a:r>
              <a:rPr dirty="0"/>
              <a:t>**,</a:t>
            </a:r>
            <a:r>
              <a:rPr dirty="0" err="1"/>
              <a:t>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的韌體重構。這樣講可以避免委員把評分重心放錯地方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A:與第三台飛控平臺同型,採購與韌體維護成本低;且其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共線會使幾何精度因數(GDOP)劣化,交會出的位置誤差被放大。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用約定的通道,BLE 廣播用 37/38/39 三個廣播通道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確定的收發空隙內,而且視窗時長受控。原則是:**控制安全永遠優先於定位**。如果某一輪的空隙不夠(例如遙控封包來得密),就跳過這次信標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平臺用自身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Q:三台飛機的信標會不會互相幹擾?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隨距離平方增長,所以單位元面積的功率密度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但那是自由空間。室內有牆、有傢俱、有反射,衰減比自由空間快。所以把指數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這裡我要特別誠實(重要)】以上是除錯過程中在軟體與模擬層觀察到的**定性改善**,不是真實硬體的精度數字。真實硬體的定位精度實驗還沒做完,要等完整聯通後才能量化。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完全乾淨,四錨交會的幾何也會因為錨的分佈而放大誤差。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23 字≈6 秒 ｜ </a:t>
            </a:r>
            <a:r>
              <a:rPr dirty="0" err="1"/>
              <a:t>完整版</a:t>
            </a:r>
            <a:r>
              <a:rPr dirty="0"/>
              <a:t> 368 字≈1.7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一句話】功能矩陣直接回答一個問題:你比現有的多了什麼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載板</a:t>
            </a:r>
            <a:r>
              <a:rPr dirty="0"/>
              <a:t> — </a:t>
            </a:r>
            <a:r>
              <a:rPr dirty="0" err="1"/>
              <a:t>只有本研究有</a:t>
            </a:r>
            <a:endParaRPr dirty="0"/>
          </a:p>
          <a:p>
            <a:r>
              <a:rPr dirty="0"/>
              <a:t>· nRF52840 </a:t>
            </a:r>
            <a:r>
              <a:rPr dirty="0" err="1"/>
              <a:t>單晶片飛控</a:t>
            </a:r>
            <a:r>
              <a:rPr dirty="0"/>
              <a:t> — </a:t>
            </a:r>
            <a:r>
              <a:rPr dirty="0" err="1"/>
              <a:t>本文的移植成果</a:t>
            </a:r>
            <a:endParaRPr dirty="0"/>
          </a:p>
          <a:p>
            <a:r>
              <a:rPr dirty="0"/>
              <a:t>· ESP32S3 </a:t>
            </a:r>
            <a:r>
              <a:rPr dirty="0" err="1"/>
              <a:t>支援</a:t>
            </a:r>
            <a:r>
              <a:rPr dirty="0"/>
              <a:t> — </a:t>
            </a:r>
            <a:r>
              <a:rPr dirty="0" err="1"/>
              <a:t>本研究同板直插</a:t>
            </a:r>
            <a:r>
              <a:rPr dirty="0"/>
              <a:t>(</a:t>
            </a:r>
            <a:r>
              <a:rPr dirty="0" err="1"/>
              <a:t>注意這一列</a:t>
            </a:r>
            <a:r>
              <a:rPr dirty="0"/>
              <a:t> ESP-FC </a:t>
            </a:r>
            <a:r>
              <a:rPr dirty="0" err="1"/>
              <a:t>也有</a:t>
            </a:r>
            <a:r>
              <a:rPr dirty="0"/>
              <a:t> ✓,</a:t>
            </a:r>
            <a:r>
              <a:rPr dirty="0" err="1"/>
              <a:t>我沒有選擇性呈現</a:t>
            </a:r>
            <a:r>
              <a:rPr dirty="0"/>
              <a:t>)</a:t>
            </a:r>
          </a:p>
          <a:p>
            <a:r>
              <a:rPr dirty="0"/>
              <a:t>· ATKP </a:t>
            </a:r>
            <a:r>
              <a:rPr dirty="0" err="1"/>
              <a:t>地面站協議</a:t>
            </a:r>
            <a:r>
              <a:rPr dirty="0"/>
              <a:t> — </a:t>
            </a:r>
            <a:r>
              <a:rPr dirty="0" err="1"/>
              <a:t>從原廠移植保留</a:t>
            </a:r>
            <a:endParaRPr dirty="0"/>
          </a:p>
          <a:p>
            <a:r>
              <a:rPr dirty="0"/>
              <a:t>· BLE-RSSI </a:t>
            </a:r>
            <a:r>
              <a:rPr dirty="0" err="1"/>
              <a:t>室內定位</a:t>
            </a:r>
            <a:r>
              <a:rPr dirty="0"/>
              <a:t> — </a:t>
            </a:r>
            <a:r>
              <a:rPr dirty="0" err="1"/>
              <a:t>本研究新增</a:t>
            </a:r>
            <a:r>
              <a:rPr dirty="0"/>
              <a:t>(</a:t>
            </a:r>
            <a:r>
              <a:rPr dirty="0" err="1"/>
              <a:t>四錨</a:t>
            </a:r>
            <a:r>
              <a:rPr dirty="0"/>
              <a:t> + </a:t>
            </a:r>
            <a:r>
              <a:rPr dirty="0" err="1"/>
              <a:t>引擎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單遙控多機</a:t>
            </a:r>
            <a:r>
              <a:rPr dirty="0"/>
              <a:t>(</a:t>
            </a:r>
            <a:r>
              <a:rPr dirty="0" err="1"/>
              <a:t>廣播架構</a:t>
            </a:r>
            <a:r>
              <a:rPr dirty="0"/>
              <a:t>) — </a:t>
            </a:r>
            <a:r>
              <a:rPr dirty="0" err="1"/>
              <a:t>本研究新增,三機制實測</a:t>
            </a:r>
            <a:endParaRPr dirty="0"/>
          </a:p>
          <a:p>
            <a:r>
              <a:rPr dirty="0"/>
              <a:t>· </a:t>
            </a:r>
            <a:r>
              <a:rPr dirty="0" err="1"/>
              <a:t>上位機整合</a:t>
            </a:r>
            <a:r>
              <a:rPr dirty="0"/>
              <a:t> — 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一句話收束】本研究</a:t>
            </a:r>
            <a:r>
              <a:rPr dirty="0"/>
              <a:t> = </a:t>
            </a:r>
            <a:r>
              <a:rPr dirty="0" err="1"/>
              <a:t>硬體彈性</a:t>
            </a:r>
            <a:r>
              <a:rPr dirty="0"/>
              <a:t>(</a:t>
            </a:r>
            <a:r>
              <a:rPr dirty="0" err="1"/>
              <a:t>可換</a:t>
            </a:r>
            <a:r>
              <a:rPr dirty="0"/>
              <a:t> MCU)+ </a:t>
            </a:r>
            <a:r>
              <a:rPr dirty="0" err="1"/>
              <a:t>協議傳承</a:t>
            </a:r>
            <a:r>
              <a:rPr dirty="0"/>
              <a:t>(ATKP)+ </a:t>
            </a:r>
            <a:r>
              <a:rPr dirty="0" err="1"/>
              <a:t>能力擴展</a:t>
            </a:r>
            <a:r>
              <a:rPr dirty="0"/>
              <a:t>(</a:t>
            </a:r>
            <a:r>
              <a:rPr dirty="0" err="1"/>
              <a:t>定位</a:t>
            </a:r>
            <a:r>
              <a:rPr dirty="0"/>
              <a:t>/</a:t>
            </a:r>
            <a:r>
              <a:rPr dirty="0" err="1"/>
              <a:t>多機</a:t>
            </a:r>
            <a:r>
              <a:rPr dirty="0"/>
              <a:t>/</a:t>
            </a:r>
            <a:r>
              <a:rPr dirty="0" err="1"/>
              <a:t>分級失控保護</a:t>
            </a:r>
            <a:r>
              <a:rPr dirty="0"/>
              <a:t>)</a:t>
            </a:r>
            <a:r>
              <a:rPr dirty="0" err="1"/>
              <a:t>的交集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【要主動提的一點】ESP32S3 </a:t>
            </a:r>
            <a:r>
              <a:rPr dirty="0" err="1"/>
              <a:t>那一列</a:t>
            </a:r>
            <a:r>
              <a:rPr dirty="0"/>
              <a:t> ESP-FC </a:t>
            </a:r>
            <a:r>
              <a:rPr dirty="0" err="1"/>
              <a:t>是勝出的</a:t>
            </a:r>
            <a:r>
              <a:rPr dirty="0"/>
              <a:t> — </a:t>
            </a:r>
            <a:r>
              <a:rPr dirty="0" err="1"/>
              <a:t>我沒有刻意隱藏。誠實呈現對照,比全部打勾更可信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Q:ESP-FC 在 ESP32S3 </a:t>
            </a:r>
            <a:r>
              <a:rPr dirty="0" err="1"/>
              <a:t>那一列也打勾,那你的優勢在哪</a:t>
            </a:r>
            <a:r>
              <a:rPr dirty="0"/>
              <a:t>?</a:t>
            </a:r>
          </a:p>
          <a:p>
            <a:r>
              <a:rPr dirty="0"/>
              <a:t>A:我沒有隱藏這一點。</a:t>
            </a:r>
            <a:r>
              <a:t>ESP-FC 是成熟的開源方案,我直接採用它當第三平臺。本研究的價值在**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的載板</a:t>
            </a:r>
            <a:r>
              <a:rPr dirty="0"/>
              <a:t>**與**跨 MCU </a:t>
            </a:r>
            <a:r>
              <a:rPr dirty="0" err="1"/>
              <a:t>的韌體重構</a:t>
            </a:r>
            <a:r>
              <a:rPr dirty="0"/>
              <a:t>** — </a:t>
            </a:r>
            <a:r>
              <a:rPr dirty="0" err="1"/>
              <a:t>讓不同晶片能在同一物理基底上被公平評估,這是既有方案都沒有的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Q:原廠 MiniFly </a:t>
            </a:r>
            <a:r>
              <a:rPr dirty="0" err="1"/>
              <a:t>也能飛,你的差別是什麼</a:t>
            </a:r>
            <a:r>
              <a:rPr dirty="0"/>
              <a:t>?</a:t>
            </a:r>
          </a:p>
          <a:p>
            <a:r>
              <a:rPr dirty="0"/>
              <a:t>A:原廠是封閉的雙 </a:t>
            </a:r>
            <a:r>
              <a:t>MCU 架構,無法更換主控、無法擴展定位與多機。本研究把它重建成可自行掌握、可繼續延伸的平臺。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個飛控平臺同板實證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28 字≈8 秒 ｜ </a:t>
            </a:r>
            <a:r>
              <a:rPr dirty="0" err="1"/>
              <a:t>完整版</a:t>
            </a:r>
            <a:r>
              <a:rPr dirty="0"/>
              <a:t> 457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一句話】五項工作、各自的真實狀態</a:t>
            </a:r>
            <a:r>
              <a:rPr dirty="0"/>
              <a:t> — </a:t>
            </a:r>
            <a:r>
              <a:rPr dirty="0" err="1"/>
              <a:t>注意兩處標籤是有意區分的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逐項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飛控載板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自製</a:t>
            </a:r>
            <a:r>
              <a:rPr dirty="0"/>
              <a:t> PCB </a:t>
            </a:r>
            <a:r>
              <a:t>+ 雙平臺直插實證)</a:t>
            </a:r>
            <a:endParaRPr dirty="0"/>
          </a:p>
          <a:p>
            <a:r>
              <a:rPr dirty="0"/>
              <a:t>② 跨 MCU </a:t>
            </a:r>
            <a:r>
              <a:rPr dirty="0" err="1"/>
              <a:t>韌體移植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(雙 </a:t>
            </a:r>
            <a:r>
              <a:rPr dirty="0" err="1"/>
              <a:t>MCU→單晶片</a:t>
            </a:r>
            <a:r>
              <a:rPr dirty="0"/>
              <a:t> + </a:t>
            </a:r>
            <a:r>
              <a:rPr dirty="0" err="1"/>
              <a:t>三層系統問題</a:t>
            </a:r>
            <a:r>
              <a:rPr dirty="0"/>
              <a:t>)</a:t>
            </a:r>
          </a:p>
          <a:p>
            <a:r>
              <a:rPr dirty="0"/>
              <a:t>③ BLE </a:t>
            </a:r>
            <a:r>
              <a:rPr dirty="0" err="1"/>
              <a:t>定位引擎</a:t>
            </a:r>
            <a:r>
              <a:rPr dirty="0"/>
              <a:t> — **</a:t>
            </a:r>
            <a:r>
              <a:rPr dirty="0" err="1"/>
              <a:t>設計完成</a:t>
            </a:r>
            <a:r>
              <a:rPr dirty="0"/>
              <a:t>**(</a:t>
            </a:r>
            <a:r>
              <a:rPr dirty="0" err="1"/>
              <a:t>九步處理鏈</a:t>
            </a:r>
            <a:r>
              <a:rPr dirty="0"/>
              <a:t> + </a:t>
            </a:r>
            <a:r>
              <a:rPr dirty="0" err="1"/>
              <a:t>文獻對照</a:t>
            </a:r>
            <a:r>
              <a:rPr dirty="0"/>
              <a:t>),</a:t>
            </a:r>
            <a:r>
              <a:rPr dirty="0" err="1"/>
              <a:t>精度尚待量化</a:t>
            </a:r>
            <a:endParaRPr dirty="0"/>
          </a:p>
          <a:p>
            <a:r>
              <a:rPr dirty="0"/>
              <a:t>④ </a:t>
            </a:r>
            <a:r>
              <a:rPr dirty="0" err="1"/>
              <a:t>地面站整合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r>
              <a:rPr dirty="0"/>
              <a:t>)</a:t>
            </a:r>
          </a:p>
          <a:p>
            <a:r>
              <a:rPr dirty="0"/>
              <a:t>⑤ </a:t>
            </a:r>
            <a:r>
              <a:rPr dirty="0" err="1"/>
              <a:t>單遙控多機</a:t>
            </a:r>
            <a:r>
              <a:rPr dirty="0"/>
              <a:t> — **</a:t>
            </a:r>
            <a:r>
              <a:rPr dirty="0" err="1"/>
              <a:t>實測驗證</a:t>
            </a:r>
            <a:r>
              <a:rPr dirty="0"/>
              <a:t>**(</a:t>
            </a:r>
            <a:r>
              <a:rPr dirty="0" err="1"/>
              <a:t>廣播定址</a:t>
            </a:r>
            <a:r>
              <a:rPr dirty="0"/>
              <a:t> + </a:t>
            </a:r>
            <a:r>
              <a:rPr dirty="0" err="1"/>
              <a:t>多工廣播</a:t>
            </a:r>
            <a:r>
              <a:rPr dirty="0"/>
              <a:t> + </a:t>
            </a:r>
            <a:r>
              <a:rPr dirty="0" err="1"/>
              <a:t>點名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第③和第⑤的標籤不同,這是刻意的</a:t>
            </a:r>
            <a:r>
              <a:rPr dirty="0"/>
              <a:t>】</a:t>
            </a:r>
          </a:p>
          <a:p>
            <a:r>
              <a:rPr dirty="0" err="1"/>
              <a:t>定位標「設計完成」而不是「實測驗證</a:t>
            </a:r>
            <a:r>
              <a:rPr dirty="0"/>
              <a:t>」,</a:t>
            </a:r>
            <a:r>
              <a:rPr dirty="0" err="1"/>
              <a:t>因為硬體精度實驗還沒做完</a:t>
            </a:r>
            <a:r>
              <a:rPr dirty="0"/>
              <a:t> — </a:t>
            </a:r>
            <a:r>
              <a:rPr dirty="0" err="1"/>
              <a:t>我不會把設計完成說成實測完成</a:t>
            </a:r>
            <a:r>
              <a:rPr dirty="0"/>
              <a:t>。</a:t>
            </a:r>
          </a:p>
          <a:p>
            <a:r>
              <a:rPr dirty="0" err="1"/>
              <a:t>多機標「實測驗證</a:t>
            </a:r>
            <a:r>
              <a:rPr dirty="0"/>
              <a:t>」,</a:t>
            </a:r>
            <a:r>
              <a:rPr dirty="0" err="1"/>
              <a:t>因為三個機制都有實機影片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收束的話】這份研究把一套封閉的商用飛控,拆解到暫存器層級再重建在另一顆晶片上;過程中做出了可換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Q:為什麼定位標「設計完成」而多機標「實測驗證」?</a:t>
            </a:r>
          </a:p>
          <a:p>
            <a:r>
              <a:rPr dirty="0"/>
              <a:t>A:標準一致 — </a:t>
            </a:r>
            <a:r>
              <a:rPr dirty="0" err="1"/>
              <a:t>有實機驗證的才標實測。多機三個機制都有實機影片;定位鏈路雖已打通,但精度數字尚未量化,所以只標設計完成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Q:五項工作哪一項最重要?</a:t>
            </a:r>
          </a:p>
          <a:p>
            <a:r>
              <a:rPr dirty="0"/>
              <a:t>A:跨 </a:t>
            </a:r>
            <a:r>
              <a:t>MCU 韌體移植。它是全篇的技術核心,其餘四項都建立在這個平臺之上。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31 字≈8 秒 ｜ </a:t>
            </a:r>
            <a:r>
              <a:rPr dirty="0" err="1"/>
              <a:t>完整版</a:t>
            </a:r>
            <a:r>
              <a:rPr dirty="0"/>
              <a:t> 362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一句話】三個方向的未來工作,其中一個正好證明可換</a:t>
            </a:r>
            <a:r>
              <a:rPr dirty="0"/>
              <a:t> MCU </a:t>
            </a:r>
            <a:r>
              <a:rPr dirty="0" err="1"/>
              <a:t>載板的價值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未來工作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完成</a:t>
            </a:r>
            <a:r>
              <a:rPr dirty="0"/>
              <a:t> PC </a:t>
            </a:r>
            <a:r>
              <a:rPr dirty="0" err="1"/>
              <a:t>端自動編隊</a:t>
            </a:r>
            <a:r>
              <a:rPr dirty="0"/>
              <a:t> — </a:t>
            </a:r>
            <a:r>
              <a:rPr dirty="0" err="1"/>
              <a:t>以定位回授驅動多工廣播,這是模式</a:t>
            </a:r>
            <a:r>
              <a:rPr dirty="0"/>
              <a:t> B </a:t>
            </a:r>
            <a:r>
              <a:rPr dirty="0" err="1"/>
              <a:t>打通後最直接的延伸</a:t>
            </a:r>
            <a:endParaRPr dirty="0"/>
          </a:p>
          <a:p>
            <a:r>
              <a:rPr dirty="0"/>
              <a:t>② </a:t>
            </a:r>
            <a:r>
              <a:rPr dirty="0" err="1"/>
              <a:t>定位精度實測與量化</a:t>
            </a:r>
            <a:r>
              <a:rPr dirty="0"/>
              <a:t> — </a:t>
            </a:r>
            <a:r>
              <a:rPr dirty="0" err="1"/>
              <a:t>目前唯一的量化空缺</a:t>
            </a:r>
            <a:endParaRPr dirty="0"/>
          </a:p>
          <a:p>
            <a:r>
              <a:rPr dirty="0"/>
              <a:t>③ BLE 6.0 </a:t>
            </a:r>
            <a:r>
              <a:rPr dirty="0" err="1"/>
              <a:t>通道探測</a:t>
            </a:r>
            <a:r>
              <a:rPr dirty="0"/>
              <a:t> — </a:t>
            </a:r>
            <a:r>
              <a:rPr dirty="0" err="1"/>
              <a:t>這是新標準內建的高精度測距。要升級只需換一顆支援的</a:t>
            </a:r>
            <a:r>
              <a:rPr dirty="0"/>
              <a:t> MCU </a:t>
            </a:r>
            <a:r>
              <a:rPr dirty="0" err="1"/>
              <a:t>插上去</a:t>
            </a:r>
            <a:r>
              <a:rPr dirty="0"/>
              <a:t> ← **</a:t>
            </a:r>
            <a:r>
              <a:rPr dirty="0" err="1"/>
              <a:t>這正是可換</a:t>
            </a:r>
            <a:r>
              <a:rPr dirty="0"/>
              <a:t> MCU </a:t>
            </a:r>
            <a:r>
              <a:rPr dirty="0" err="1"/>
              <a:t>載板的優勢,呼應主貢獻二</a:t>
            </a:r>
            <a:r>
              <a:rPr dirty="0"/>
              <a:t>**</a:t>
            </a:r>
          </a:p>
          <a:p>
            <a:r>
              <a:t>④ 光流、雷射測距與平臺化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結語】這份研究把一套封閉的商用飛控,拆解到暫存器層級再重建在另一顆晶片上;過程中做出了可換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感謝教授指導,感謝各位委員,敬請指教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Q:未來工作有優先順序嗎?</a:t>
            </a:r>
          </a:p>
          <a:p>
            <a:r>
              <a:rPr dirty="0"/>
              <a:t>A:第一是定位精度實測與量化,那是目前唯一的空缺;第二是 PC </a:t>
            </a:r>
            <a:r>
              <a:rPr dirty="0" err="1"/>
              <a:t>端自動編隊,模式</a:t>
            </a:r>
            <a:r>
              <a:rPr dirty="0"/>
              <a:t> B </a:t>
            </a:r>
            <a:r>
              <a:rPr dirty="0" err="1"/>
              <a:t>打通後這是最直接的延伸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Q:BLE 6.0 </a:t>
            </a:r>
            <a:r>
              <a:rPr dirty="0" err="1"/>
              <a:t>通道探測要換硬體嗎</a:t>
            </a:r>
            <a:r>
              <a:rPr dirty="0"/>
              <a:t>?</a:t>
            </a:r>
          </a:p>
          <a:p>
            <a:r>
              <a:rPr dirty="0"/>
              <a:t>A:要換一顆支援的 MCU — </a:t>
            </a:r>
            <a:r>
              <a:rPr dirty="0" err="1"/>
              <a:t>而這正好是可換</a:t>
            </a:r>
            <a:r>
              <a:rPr dirty="0"/>
              <a:t> MCU </a:t>
            </a:r>
            <a:r>
              <a:rPr dirty="0" err="1"/>
              <a:t>載板的價值:只需拔插主控,不必重做整塊板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研究生: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[你的姓名]</a:t>
            </a: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指導教授: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[教授姓名] 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[系所名稱]中華民國 [○○○] 年 [○]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9273" y="23957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韌體移植與通訊協定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9273" y="426110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95577" y="4434840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5577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6514" y="447929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9273" y="519379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95577" y="5367528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6514" y="541147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結論與未來展望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傳統硬體故障難以檢測與更換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0200" y="20665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傳統微型飛控將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與感測器直接焊接於</a:t>
            </a:r>
            <a:r>
              <a:rPr lang="zh-CN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載板上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，當元件損壞或異常時難以單獨量測除錯，且無法拆卸更換。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開源平臺的 </a:t>
            </a:r>
            <a:r>
              <a:rPr lang="en-US" altLang="zh-TW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協定與晶片架構受到硬體限制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需外接射頻模塊（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模組），且常見的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平臺硬體底層難以原生支援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3542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室內無法使用衛星定位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室內、隧道與倉儲環境收不到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GNSS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衛星訊號。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146304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 sz="2000"/>
          </a:p>
        </p:txBody>
      </p:sp>
      <p:sp>
        <p:nvSpPr>
          <p:cNvPr id="22" name="Text 20"/>
          <p:cNvSpPr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本研究的做法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58000" y="1773936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自主設計一款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支援可更換 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 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核心板</a:t>
            </a:r>
            <a:r>
              <a:rPr 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的PCB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並將商用飛控韌體移植至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SoC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平臺，</a:t>
            </a:r>
            <a:endParaRPr lang="en-US" altLang="zh-TW" sz="1600" dirty="0">
              <a:solidFill>
                <a:srgbClr val="FFFFFF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同時於該平臺上導入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室內定位系統。</a:t>
            </a:r>
            <a:endParaRPr lang="en-US" sz="160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99EA73AE-6D6E-4E98-9F2B-C9C8F69EF9CF}"/>
              </a:ext>
            </a:extLst>
          </p:cNvPr>
          <p:cNvSpPr/>
          <p:nvPr/>
        </p:nvSpPr>
        <p:spPr>
          <a:xfrm>
            <a:off x="685800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4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24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D849FB7-B18B-479C-9310-2B24D8C5F42E}"/>
              </a:ext>
            </a:extLst>
          </p:cNvPr>
          <p:cNvSpPr/>
          <p:nvPr/>
        </p:nvSpPr>
        <p:spPr>
          <a:xfrm>
            <a:off x="6858000" y="3762756"/>
            <a:ext cx="4572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建立兼具高自主修改度、方便檢測更換、原廠通訊相容性與室內定位能力的微型無人機實驗平臺。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4E5FA17-FC17-481B-9146-CAFC7200EA69}"/>
              </a:ext>
            </a:extLst>
          </p:cNvPr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4D070E44-C7BD-4430-92F9-E08F2A516C65}"/>
              </a:ext>
            </a:extLst>
          </p:cNvPr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68FE900-A2C4-43AF-A30A-26AFC4169D35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1F31D7D-CF7E-4834-8E7F-8D5FCBB7829E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96755BA-2F93-4602-AD7A-D47392B7E4C4}"/>
              </a:ext>
            </a:extLst>
          </p:cNvPr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自製飛控電路板（硬體層面）</a:t>
            </a:r>
            <a:endParaRPr lang="en-US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2B77CB8-637F-4E4F-90D7-CADE5F102232}"/>
              </a:ext>
            </a:extLst>
          </p:cNvPr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解決傳統飛控焊接難以儀器檢測與單獨替換痛點，提升實驗擴充與維護性。</a:t>
            </a:r>
            <a:endParaRPr lang="en-US" sz="16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4FB756C-84CF-400E-9E82-70BA0ADAA2EB}"/>
              </a:ext>
            </a:extLst>
          </p:cNvPr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84AD2A24-5577-4BE0-917F-C86DC6036FE7}"/>
              </a:ext>
            </a:extLst>
          </p:cNvPr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E223A43-97C3-49C6-AF09-6D27DDCCBB79}"/>
              </a:ext>
            </a:extLst>
          </p:cNvPr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27FDCD2-C3D4-403D-9D8A-6639FB27EE1E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D56D99B6-4B58-4FA6-BD20-F44540958339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2980B869-7BFE-483B-B81D-9789382E42F4}"/>
              </a:ext>
            </a:extLst>
          </p:cNvPr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飛控韌體移植（韌體與通訊層面）</a:t>
            </a:r>
            <a:endParaRPr lang="en-US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00968B82-DC34-4CB4-ABB7-8BCB99AACEB9}"/>
              </a:ext>
            </a:extLst>
          </p:cNvPr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整合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2.4GHz RF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並原生支援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通訊協定，完全相容原廠遙控生態。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A9A03510-DDAC-42BC-90E7-3E2C3C87D63F}"/>
              </a:ext>
            </a:extLst>
          </p:cNvPr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53590D6-CC96-4067-A057-ED70B4C85248}"/>
              </a:ext>
            </a:extLst>
          </p:cNvPr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43A419DA-FE00-4DFB-98B8-8B166DCB444D}"/>
              </a:ext>
            </a:extLst>
          </p:cNvPr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A72934C9-4513-4631-ABD3-EFE99FA75DCC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8428737E-743B-4315-B884-15F46E373337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59A5D810-C694-4E2E-A78F-5F0D98E539C7}"/>
              </a:ext>
            </a:extLst>
          </p:cNvPr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室內定位整合（應用層面）</a:t>
            </a:r>
            <a:endParaRPr lang="en-US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35B19DFB-11F3-4A4C-90FE-37DABDB6A47A}"/>
              </a:ext>
            </a:extLst>
          </p:cNvPr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實現微型無人機於室內環境之自主定位與控制能力。</a:t>
            </a:r>
            <a:endParaRPr lang="en-US" sz="16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3A260918-3638-44ED-8035-5E79E3C9DE56}"/>
              </a:ext>
            </a:extLst>
          </p:cNvPr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上位機:顯示地圖、解算位置、下達指令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飛控系統(系統一)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遙控器(</a:t>
            </a:r>
            <a:r>
              <a:rPr lang="zh-CN" alt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連接電腦與發送控制信號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4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定位系統(系統二)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zh-TW" alt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中繼站</a:t>
            </a:r>
            <a:r>
              <a:rPr 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(連接無線與電腦)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</a:t>
            </a:r>
            <a:r>
              <a:rPr lang="en-US" sz="1200" b="1" dirty="0"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</a:t>
            </a: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9" name="Text 37"/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自製電路板與</a:t>
            </a:r>
            <a:r>
              <a:rPr lang="zh-CN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系統架構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電路板設計</a:t>
            </a:r>
            <a:r>
              <a:rPr lang="en-US" altLang="zh-TW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、 </a:t>
            </a:r>
            <a:r>
              <a:rPr lang="zh-CN" alt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23731"/>
            <a:ext cx="3931920" cy="464347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4663440" y="1423731"/>
            <a:ext cx="6949440" cy="4643469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937760" y="16459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硬體設計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937760" y="2103119"/>
            <a:ext cx="6400800" cy="984123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2" name="Shape 9"/>
          <p:cNvSpPr/>
          <p:nvPr/>
        </p:nvSpPr>
        <p:spPr>
          <a:xfrm>
            <a:off x="5120640" y="233172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50992" y="219456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50992" y="2487167"/>
            <a:ext cx="55321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採用雙排母引出腳位，支援</a:t>
            </a:r>
            <a:r>
              <a:rPr lang="en-US" altLang="zh-CN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 與 </a:t>
            </a:r>
            <a:r>
              <a:rPr lang="en-US" altLang="zh-TW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感測模組獨立拆裝與訊號檢測。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37760" y="316668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4"/>
          <p:cNvSpPr/>
          <p:nvPr/>
        </p:nvSpPr>
        <p:spPr>
          <a:xfrm>
            <a:off x="5120640" y="3349561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5"/>
          <p:cNvSpPr/>
          <p:nvPr/>
        </p:nvSpPr>
        <p:spPr>
          <a:xfrm>
            <a:off x="5120640" y="33495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650992" y="3237012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板框一體化輕量結構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650992" y="3550729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本體兼具機身結構與機臂，端點直接整合馬達固定座，實現結構輕量化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37760" y="505057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2" name="Shape 19"/>
          <p:cNvSpPr/>
          <p:nvPr/>
        </p:nvSpPr>
        <p:spPr>
          <a:xfrm>
            <a:off x="5120640" y="523345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0"/>
          <p:cNvSpPr/>
          <p:nvPr/>
        </p:nvSpPr>
        <p:spPr>
          <a:xfrm>
            <a:off x="5120640" y="523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50992" y="5142009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降低電磁幹擾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</a:t>
            </a:r>
            <a:r>
              <a:rPr lang="en-US" altLang="zh-CN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EMI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）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650992" y="5526056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M1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～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插座置於背面、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置於正面；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板厚與母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高度增加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軸距離，降低電磁耦合。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馬達端配置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SS14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續流二極體與去耦電容，吸收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瞬間電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壓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變化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與高頻雜訊。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937760" y="4095022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7" name="Shape 24"/>
          <p:cNvSpPr/>
          <p:nvPr/>
        </p:nvSpPr>
        <p:spPr>
          <a:xfrm>
            <a:off x="5120640" y="4277902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5"/>
          <p:cNvSpPr/>
          <p:nvPr/>
        </p:nvSpPr>
        <p:spPr>
          <a:xfrm>
            <a:off x="5120640" y="42779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3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650992" y="4186462"/>
            <a:ext cx="5532120" cy="285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重心平衡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與空間利用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50992" y="447907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母排架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模組產生的下方空隙佈置被動元件，提高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板面利用率。</a:t>
            </a:r>
            <a:endParaRPr lang="en-US" altLang="zh-TW" sz="11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對稱佈置主控與感測器，確保安裝後重心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比較平衡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3761266-4EA9-40DA-A391-20BCEDF14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21980" y="2095236"/>
            <a:ext cx="2387380" cy="3486288"/>
          </a:xfrm>
          <a:prstGeom prst="rect">
            <a:avLst/>
          </a:prstGeom>
        </p:spPr>
      </p:pic>
      <p:pic>
        <p:nvPicPr>
          <p:cNvPr id="34" name="Image 1" descr="img/pcb_back.png">
            <a:extLst>
              <a:ext uri="{FF2B5EF4-FFF2-40B4-BE49-F238E27FC236}">
                <a16:creationId xmlns:a16="http://schemas.microsoft.com/office/drawing/2014/main" id="{C2645FC4-D408-4EA2-BEA0-3F0956DABBB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5344" y="3621023"/>
            <a:ext cx="2330496" cy="2401716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0CBE9AF6-31FF-46E5-B999-27DE9317DDC0}"/>
              </a:ext>
            </a:extLst>
          </p:cNvPr>
          <p:cNvSpPr/>
          <p:nvPr/>
        </p:nvSpPr>
        <p:spPr>
          <a:xfrm>
            <a:off x="788276" y="5125896"/>
            <a:ext cx="178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pic>
        <p:nvPicPr>
          <p:cNvPr id="7" name="Image 0" descr="img/pcb_front.png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98" y="1546544"/>
            <a:ext cx="2330496" cy="24649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94829" y="1913928"/>
            <a:ext cx="1927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飛控平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 MCU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r>
              <a:rPr lang="zh-CN" alt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（被移植）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對照組,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也是多機控制的一員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nRF52840(M4F)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</a:t>
            </a:r>
            <a:r>
              <a:rPr lang="en-US" altLang="zh-CN" sz="11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</a:t>
            </a:r>
            <a:r>
              <a:rPr lang="en-US" altLang="zh-CN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研究對象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ESP32S3(LX7)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驗證主控</a:t>
            </a:r>
            <a:endParaRPr lang="en-US" sz="11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本研究硬體架構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2395CAC-08D8-40D2-9983-DA6A4213C989}"/>
              </a:ext>
            </a:extLst>
          </p:cNvPr>
          <p:cNvGrpSpPr/>
          <p:nvPr/>
        </p:nvGrpSpPr>
        <p:grpSpPr>
          <a:xfrm>
            <a:off x="912419" y="1389899"/>
            <a:ext cx="7953270" cy="4464154"/>
            <a:chOff x="2413000" y="1422400"/>
            <a:chExt cx="8599389" cy="4368800"/>
          </a:xfrm>
        </p:grpSpPr>
        <p:sp>
          <p:nvSpPr>
            <p:cNvPr id="8" name="Rectangle 7"/>
            <p:cNvSpPr/>
            <p:nvPr/>
          </p:nvSpPr>
          <p:spPr>
            <a:xfrm>
              <a:off x="4445000" y="14224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馬達驅動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413000" y="2235200"/>
              <a:ext cx="4318000" cy="2717800"/>
            </a:xfrm>
            <a:prstGeom prst="rect">
              <a:avLst/>
            </a:prstGeom>
            <a:solidFill>
              <a:srgbClr val="E8F1FB"/>
            </a:solidFill>
            <a:ln w="15240">
              <a:solidFill>
                <a:srgbClr val="333333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endParaRPr sz="24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489200" y="2286000"/>
              <a:ext cx="2789033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dirty="0">
                  <a:solidFill>
                    <a:srgbClr val="111111"/>
                  </a:solidFill>
                </a:rPr>
                <a:t>XIAO nRF52840 Sense </a:t>
              </a:r>
              <a:r>
                <a:rPr sz="1200" b="1" dirty="0" err="1">
                  <a:solidFill>
                    <a:srgbClr val="111111"/>
                  </a:solidFill>
                </a:rPr>
                <a:t>模組</a:t>
              </a:r>
              <a:r>
                <a:rPr sz="1200" b="1" dirty="0">
                  <a:solidFill>
                    <a:srgbClr val="111111"/>
                  </a:solidFill>
                </a:rPr>
                <a:t>(</a:t>
              </a:r>
              <a:r>
                <a:rPr sz="1200" b="1" dirty="0" err="1">
                  <a:solidFill>
                    <a:srgbClr val="111111"/>
                  </a:solidFill>
                </a:rPr>
                <a:t>可插拔更換</a:t>
              </a:r>
              <a:r>
                <a:rPr sz="1200" b="1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90800" y="2540000"/>
              <a:ext cx="3962400" cy="965200"/>
            </a:xfrm>
            <a:prstGeom prst="rect">
              <a:avLst/>
            </a:prstGeom>
            <a:solidFill>
              <a:srgbClr val="7B9FE0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nRF52840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64MHz Cortex-M4F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1MB FLASH ｜ 256KB RAM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908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板載晶片天線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6482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LSM6DS3TR-C</a:t>
              </a: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板載六軸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590800" y="4292600"/>
              <a:ext cx="3962400" cy="5334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內建充電電路</a:t>
              </a:r>
              <a:r>
                <a:rPr sz="1600" b="0" dirty="0">
                  <a:solidFill>
                    <a:srgbClr val="111111"/>
                  </a:solidFill>
                </a:rPr>
                <a:t>(BQ25101)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493000" y="2362200"/>
              <a:ext cx="2286000" cy="13970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GY-91　10DOF</a:t>
              </a: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三軸加速度計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三軸陀螺儀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三軸磁力計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氣壓計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93000" y="4038600"/>
              <a:ext cx="2286000" cy="7874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鋰電池</a:t>
              </a:r>
              <a:endParaRPr sz="1600" b="0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>
                  <a:solidFill>
                    <a:srgbClr val="111111"/>
                  </a:solidFill>
                </a:rPr>
                <a:t>(</a:t>
              </a:r>
              <a:r>
                <a:rPr lang="zh-CN" altLang="en-US" sz="1200" b="0" dirty="0">
                  <a:solidFill>
                    <a:srgbClr val="111111"/>
                  </a:solidFill>
                </a:rPr>
                <a:t>可</a:t>
              </a:r>
              <a:r>
                <a:rPr sz="1200" b="0" dirty="0" err="1">
                  <a:solidFill>
                    <a:srgbClr val="111111"/>
                  </a:solidFill>
                </a:rPr>
                <a:t>經模組內建電路充電</a:t>
              </a:r>
              <a:r>
                <a:rPr sz="1200" b="0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3000" y="51816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>
                  <a:solidFill>
                    <a:srgbClr val="111111"/>
                  </a:solidFill>
                </a:rPr>
                <a:t>USB </a:t>
              </a:r>
              <a:r>
                <a:rPr lang="zh-CN" altLang="en-US" sz="1600" b="0" dirty="0">
                  <a:solidFill>
                    <a:srgbClr val="111111"/>
                  </a:solidFill>
                </a:rPr>
                <a:t>接口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67569" y="2032000"/>
              <a:ext cx="46006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PWM×4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37272" y="2819400"/>
              <a:ext cx="349456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TWIM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786590" y="4191000"/>
              <a:ext cx="650820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BAT+/BAT−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936924" y="4953000"/>
              <a:ext cx="50815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CDC / 5V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5588000" y="2032000"/>
              <a:ext cx="0" cy="2032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6731000" y="30607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6731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3556000" y="4953000"/>
              <a:ext cx="0" cy="2286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9779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0541000" y="1727200"/>
              <a:ext cx="0" cy="270510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H="1">
              <a:off x="6731000" y="1727200"/>
              <a:ext cx="38100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10704611" y="2930634"/>
              <a:ext cx="307778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VBAT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C595DE-8A25-4B62-A378-8531CF6AB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467" y="987722"/>
            <a:ext cx="2566293" cy="191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mazon.com: GY-91 MPU9250 BMP280 10DOF 羅盤加速陀螺儀感測器模組9 軸態度感測器9 軸適用於Arduino : 工業與科學">
            <a:extLst>
              <a:ext uri="{FF2B5EF4-FFF2-40B4-BE49-F238E27FC236}">
                <a16:creationId xmlns:a16="http://schemas.microsoft.com/office/drawing/2014/main" id="{94E6B216-0664-46B7-998B-18B24EB37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865" y="3823116"/>
            <a:ext cx="2583589" cy="205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603BEA0D-BDF6-4228-B87A-DC4549B451FB}"/>
              </a:ext>
            </a:extLst>
          </p:cNvPr>
          <p:cNvSpPr txBox="1"/>
          <p:nvPr/>
        </p:nvSpPr>
        <p:spPr>
          <a:xfrm>
            <a:off x="9288333" y="2702108"/>
            <a:ext cx="2921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111111"/>
                </a:solidFill>
              </a:rPr>
              <a:t>XIAO nRF52840 Sense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132C182-50D1-47FF-8AA6-35F8244E6D09}"/>
              </a:ext>
            </a:extLst>
          </p:cNvPr>
          <p:cNvSpPr txBox="1"/>
          <p:nvPr/>
        </p:nvSpPr>
        <p:spPr>
          <a:xfrm>
            <a:off x="9497060" y="5895098"/>
            <a:ext cx="2448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rgbClr val="111111"/>
                </a:solidFill>
              </a:rPr>
              <a:t>GY-91</a:t>
            </a:r>
            <a:endParaRPr lang="en-US" altLang="zh-TW" sz="1800" b="1" dirty="0">
              <a:solidFill>
                <a:srgbClr val="11111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原廠系統框架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pic>
        <p:nvPicPr>
          <p:cNvPr id="8" name="Picture 7" descr="atk_framework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1905000"/>
            <a:ext cx="11064240" cy="405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控制晶片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3B33985C-031C-4518-B458-7B123F6F012F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C9D69F9E-28B0-4694-A918-4DF941D37BAB}"/>
              </a:ext>
            </a:extLst>
          </p:cNvPr>
          <p:cNvSpPr txBox="1"/>
          <p:nvPr/>
        </p:nvSpPr>
        <p:spPr>
          <a:xfrm>
            <a:off x="777240" y="14968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原廠　兩顆晶片分工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373DAEB1-4EAA-42AF-A0E8-6469BCC34502}"/>
              </a:ext>
            </a:extLst>
          </p:cNvPr>
          <p:cNvSpPr/>
          <p:nvPr/>
        </p:nvSpPr>
        <p:spPr>
          <a:xfrm>
            <a:off x="889000" y="1930400"/>
            <a:ext cx="22225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Cortex-M0 · 16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無線通訊 · 電源管理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35334CE-EEEC-452D-92FA-E27CCBF487EC}"/>
              </a:ext>
            </a:extLst>
          </p:cNvPr>
          <p:cNvSpPr/>
          <p:nvPr/>
        </p:nvSpPr>
        <p:spPr>
          <a:xfrm>
            <a:off x="3276600" y="1930400"/>
            <a:ext cx="23114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96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感測 · 融合 · PID · 馬達</a:t>
            </a: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0246E99-BD33-4860-942A-E30DC6722D61}"/>
              </a:ext>
            </a:extLst>
          </p:cNvPr>
          <p:cNvCxnSpPr/>
          <p:nvPr/>
        </p:nvCxnSpPr>
        <p:spPr>
          <a:xfrm>
            <a:off x="3111500" y="22987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31FF19D-333A-4730-A18C-FA79ECEC49F6}"/>
              </a:ext>
            </a:extLst>
          </p:cNvPr>
          <p:cNvSpPr txBox="1"/>
          <p:nvPr/>
        </p:nvSpPr>
        <p:spPr>
          <a:xfrm>
            <a:off x="889000" y="27622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兩顆之間以 UART 相連,遙控指令需轉發一次(ATKP 協定)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D28EDA4A-D005-47FF-9F06-43D196EC5666}"/>
              </a:ext>
            </a:extLst>
          </p:cNvPr>
          <p:cNvSpPr txBox="1"/>
          <p:nvPr/>
        </p:nvSpPr>
        <p:spPr>
          <a:xfrm>
            <a:off x="889000" y="30416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韌體分為兩份,需各自燒錄</a:t>
            </a: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57FA5E72-14A2-4C41-BAC3-5D39E5204A75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07674DC0-7110-465D-AB02-BBF4EB9373A8}"/>
              </a:ext>
            </a:extLst>
          </p:cNvPr>
          <p:cNvSpPr txBox="1"/>
          <p:nvPr/>
        </p:nvSpPr>
        <p:spPr>
          <a:xfrm>
            <a:off x="6261100" y="14968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本研究　單顆晶片整合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69150E0E-9F45-433F-9531-E869873FA7CB}"/>
              </a:ext>
            </a:extLst>
          </p:cNvPr>
          <p:cNvSpPr/>
          <p:nvPr/>
        </p:nvSpPr>
        <p:spPr>
          <a:xfrm>
            <a:off x="6350000" y="1930400"/>
            <a:ext cx="2286000" cy="11430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64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含 FPU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1 MB FLASH · 256 KB RAM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B0C63025-284A-49D1-8917-4DEF60670814}"/>
              </a:ext>
            </a:extLst>
          </p:cNvPr>
          <p:cNvSpPr/>
          <p:nvPr/>
        </p:nvSpPr>
        <p:spPr>
          <a:xfrm>
            <a:off x="8890000" y="19304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RADIO 收發</a:t>
            </a: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5232C98E-1AD2-4ACD-97EF-79F9839B2B81}"/>
              </a:ext>
            </a:extLst>
          </p:cNvPr>
          <p:cNvSpPr/>
          <p:nvPr/>
        </p:nvSpPr>
        <p:spPr>
          <a:xfrm>
            <a:off x="8890000" y="23241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感測 · 融合 · PID</a:t>
            </a: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604B725A-988B-4B91-B889-49AEEB062413}"/>
              </a:ext>
            </a:extLst>
          </p:cNvPr>
          <p:cNvSpPr/>
          <p:nvPr/>
        </p:nvSpPr>
        <p:spPr>
          <a:xfrm>
            <a:off x="8890000" y="27178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馬達 · USB</a:t>
            </a:r>
          </a:p>
        </p:txBody>
      </p:sp>
      <p:cxnSp>
        <p:nvCxnSpPr>
          <p:cNvPr id="40" name="Connector 18">
            <a:extLst>
              <a:ext uri="{FF2B5EF4-FFF2-40B4-BE49-F238E27FC236}">
                <a16:creationId xmlns:a16="http://schemas.microsoft.com/office/drawing/2014/main" id="{F147B9D9-C290-4F54-913B-899A71CB473C}"/>
              </a:ext>
            </a:extLst>
          </p:cNvPr>
          <p:cNvCxnSpPr/>
          <p:nvPr/>
        </p:nvCxnSpPr>
        <p:spPr>
          <a:xfrm>
            <a:off x="8661400" y="2501900"/>
            <a:ext cx="2286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19">
            <a:extLst>
              <a:ext uri="{FF2B5EF4-FFF2-40B4-BE49-F238E27FC236}">
                <a16:creationId xmlns:a16="http://schemas.microsoft.com/office/drawing/2014/main" id="{F80E3494-8E2B-44CA-867E-CE45F02EB164}"/>
              </a:ext>
            </a:extLst>
          </p:cNvPr>
          <p:cNvSpPr txBox="1"/>
          <p:nvPr/>
        </p:nvSpPr>
        <p:spPr>
          <a:xfrm>
            <a:off x="6350000" y="3168630"/>
            <a:ext cx="508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無跨晶片通訊,資料在同一顆晶片內流動;燒錄</a:t>
            </a:r>
            <a:r>
              <a:rPr lang="zh-CN" altLang="en-US" sz="1400" dirty="0">
                <a:solidFill>
                  <a:srgbClr val="6B7A8C"/>
                </a:solidFill>
              </a:rPr>
              <a:t>一次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D9E6B91C-9B94-4DBE-A2E4-309E77B82BCD}"/>
              </a:ext>
            </a:extLst>
          </p:cNvPr>
          <p:cNvSpPr/>
          <p:nvPr/>
        </p:nvSpPr>
        <p:spPr>
          <a:xfrm>
            <a:off x="548640" y="4013200"/>
            <a:ext cx="5232400" cy="23114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3764AF65-29DB-4FDD-A57F-ECA149E6C375}"/>
              </a:ext>
            </a:extLst>
          </p:cNvPr>
          <p:cNvSpPr txBox="1"/>
          <p:nvPr/>
        </p:nvSpPr>
        <p:spPr>
          <a:xfrm>
            <a:off x="777240" y="41003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開發與燒錄</a:t>
            </a: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BADA53EA-D020-41BA-9335-F451A830305D}"/>
              </a:ext>
            </a:extLst>
          </p:cNvPr>
          <p:cNvSpPr txBox="1"/>
          <p:nvPr/>
        </p:nvSpPr>
        <p:spPr>
          <a:xfrm>
            <a:off x="777240" y="4585107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45" name="TextBox 23">
            <a:extLst>
              <a:ext uri="{FF2B5EF4-FFF2-40B4-BE49-F238E27FC236}">
                <a16:creationId xmlns:a16="http://schemas.microsoft.com/office/drawing/2014/main" id="{CEECB63B-3A81-40C5-B5E5-B82C9707531E}"/>
              </a:ext>
            </a:extLst>
          </p:cNvPr>
          <p:cNvSpPr txBox="1"/>
          <p:nvPr/>
        </p:nvSpPr>
        <p:spPr>
          <a:xfrm>
            <a:off x="1917700" y="4600496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Keil MDK ｜</a:t>
            </a:r>
          </a:p>
        </p:txBody>
      </p:sp>
      <p:sp>
        <p:nvSpPr>
          <p:cNvPr id="46" name="TextBox 24">
            <a:extLst>
              <a:ext uri="{FF2B5EF4-FFF2-40B4-BE49-F238E27FC236}">
                <a16:creationId xmlns:a16="http://schemas.microsoft.com/office/drawing/2014/main" id="{B7DDEE7D-4C83-4DB8-B388-FC43A5F0C919}"/>
              </a:ext>
            </a:extLst>
          </p:cNvPr>
          <p:cNvSpPr txBox="1"/>
          <p:nvPr/>
        </p:nvSpPr>
        <p:spPr>
          <a:xfrm>
            <a:off x="1917700" y="4823937"/>
            <a:ext cx="3810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TW" sz="1400" b="0" dirty="0">
                <a:solidFill>
                  <a:srgbClr val="6B7A8C"/>
                </a:solidFill>
              </a:rPr>
              <a:t>DAP </a:t>
            </a:r>
            <a:r>
              <a:rPr lang="zh-TW" altLang="en-US" sz="1400" b="0" dirty="0">
                <a:solidFill>
                  <a:srgbClr val="6B7A8C"/>
                </a:solidFill>
              </a:rPr>
              <a:t>調試器</a:t>
            </a:r>
            <a:r>
              <a:rPr lang="en-US" altLang="zh-TW" sz="1400" b="0" dirty="0">
                <a:solidFill>
                  <a:srgbClr val="6B7A8C"/>
                </a:solidFill>
              </a:rPr>
              <a:t>(</a:t>
            </a:r>
            <a:r>
              <a:rPr lang="zh-TW" altLang="en-US" sz="1400" b="0" dirty="0">
                <a:solidFill>
                  <a:srgbClr val="6B7A8C"/>
                </a:solidFill>
              </a:rPr>
              <a:t>需切換 </a:t>
            </a:r>
            <a:r>
              <a:rPr lang="en-US" altLang="zh-TW" sz="1400" b="0" dirty="0">
                <a:solidFill>
                  <a:srgbClr val="6B7A8C"/>
                </a:solidFill>
              </a:rPr>
              <a:t>STM32</a:t>
            </a:r>
            <a:r>
              <a:rPr lang="zh-TW" altLang="en-US" sz="1400" b="0" dirty="0">
                <a:solidFill>
                  <a:srgbClr val="6B7A8C"/>
                </a:solidFill>
              </a:rPr>
              <a:t>／</a:t>
            </a:r>
            <a:r>
              <a:rPr lang="en-US" altLang="zh-TW" sz="1400" b="0" dirty="0">
                <a:solidFill>
                  <a:srgbClr val="6B7A8C"/>
                </a:solidFill>
              </a:rPr>
              <a:t>NRF51 </a:t>
            </a:r>
            <a:r>
              <a:rPr lang="zh-TW" altLang="en-US" sz="1400" b="0" dirty="0">
                <a:solidFill>
                  <a:srgbClr val="6B7A8C"/>
                </a:solidFill>
              </a:rPr>
              <a:t>開關</a:t>
            </a:r>
            <a:r>
              <a:rPr lang="en-US" altLang="zh-TW" sz="1400" b="0" dirty="0">
                <a:solidFill>
                  <a:srgbClr val="6B7A8C"/>
                </a:solidFill>
              </a:rPr>
              <a:t>)</a:t>
            </a:r>
            <a:r>
              <a:rPr sz="1400" b="0" dirty="0">
                <a:solidFill>
                  <a:srgbClr val="6B7A8C"/>
                </a:solidFill>
              </a:rPr>
              <a:t>或 USB </a:t>
            </a:r>
            <a:r>
              <a:rPr sz="1400" b="0" dirty="0" err="1">
                <a:solidFill>
                  <a:srgbClr val="6B7A8C"/>
                </a:solidFill>
              </a:rPr>
              <a:t>固件升級</a:t>
            </a:r>
            <a:r>
              <a:rPr lang="zh-CN" altLang="en-US" sz="1400" b="0" dirty="0">
                <a:solidFill>
                  <a:srgbClr val="6B7A8C"/>
                </a:solidFill>
              </a:rPr>
              <a:t>（</a:t>
            </a:r>
            <a:r>
              <a:rPr lang="en-US" altLang="zh-CN" sz="1400" b="0" dirty="0">
                <a:solidFill>
                  <a:srgbClr val="6B7A8C"/>
                </a:solidFill>
              </a:rPr>
              <a:t>STM32</a:t>
            </a:r>
            <a:r>
              <a:rPr lang="zh-CN" altLang="en-US" sz="1400" b="0" dirty="0">
                <a:solidFill>
                  <a:srgbClr val="6B7A8C"/>
                </a:solidFill>
              </a:rPr>
              <a:t>）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7" name="TextBox 25">
            <a:extLst>
              <a:ext uri="{FF2B5EF4-FFF2-40B4-BE49-F238E27FC236}">
                <a16:creationId xmlns:a16="http://schemas.microsoft.com/office/drawing/2014/main" id="{9877E7E9-9A5F-4041-8415-040A0FDC6A25}"/>
              </a:ext>
            </a:extLst>
          </p:cNvPr>
          <p:cNvSpPr txBox="1"/>
          <p:nvPr/>
        </p:nvSpPr>
        <p:spPr>
          <a:xfrm>
            <a:off x="779780" y="5404822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48" name="TextBox 26">
            <a:extLst>
              <a:ext uri="{FF2B5EF4-FFF2-40B4-BE49-F238E27FC236}">
                <a16:creationId xmlns:a16="http://schemas.microsoft.com/office/drawing/2014/main" id="{F2481C5C-7854-46B8-A710-54DB1BA5F1C1}"/>
              </a:ext>
            </a:extLst>
          </p:cNvPr>
          <p:cNvSpPr txBox="1"/>
          <p:nvPr/>
        </p:nvSpPr>
        <p:spPr>
          <a:xfrm>
            <a:off x="1920240" y="54202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VS Code + </a:t>
            </a:r>
            <a:r>
              <a:rPr sz="1400" b="0" dirty="0" err="1">
                <a:solidFill>
                  <a:srgbClr val="6B7A8C"/>
                </a:solidFill>
              </a:rPr>
              <a:t>PlatformIO</a:t>
            </a:r>
            <a:r>
              <a:rPr sz="1400" b="0" dirty="0">
                <a:solidFill>
                  <a:srgbClr val="6B7A8C"/>
                </a:solidFill>
              </a:rPr>
              <a:t> ｜ Arduino </a:t>
            </a:r>
            <a:r>
              <a:rPr sz="1400" b="0" dirty="0" err="1">
                <a:solidFill>
                  <a:srgbClr val="6B7A8C"/>
                </a:solidFill>
              </a:rPr>
              <a:t>框架</a:t>
            </a:r>
            <a:r>
              <a:rPr sz="1400" b="0" dirty="0">
                <a:solidFill>
                  <a:srgbClr val="6B7A8C"/>
                </a:solidFill>
              </a:rPr>
              <a:t>(XIAO BSP)</a:t>
            </a:r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34C88782-D5A3-4E14-9D69-590CD581F403}"/>
              </a:ext>
            </a:extLst>
          </p:cNvPr>
          <p:cNvSpPr txBox="1"/>
          <p:nvPr/>
        </p:nvSpPr>
        <p:spPr>
          <a:xfrm>
            <a:off x="1920240" y="56488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雙擊 RESET 進 Bootloader → USB 直接上傳</a:t>
            </a:r>
          </a:p>
        </p:txBody>
      </p:sp>
      <p:sp>
        <p:nvSpPr>
          <p:cNvPr id="51" name="Rounded Rectangle 29">
            <a:extLst>
              <a:ext uri="{FF2B5EF4-FFF2-40B4-BE49-F238E27FC236}">
                <a16:creationId xmlns:a16="http://schemas.microsoft.com/office/drawing/2014/main" id="{16405214-08D2-4E7F-8C4D-2CF65CE82873}"/>
              </a:ext>
            </a:extLst>
          </p:cNvPr>
          <p:cNvSpPr/>
          <p:nvPr/>
        </p:nvSpPr>
        <p:spPr>
          <a:xfrm>
            <a:off x="6032500" y="4013200"/>
            <a:ext cx="5580380" cy="2311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TextBox 30">
            <a:extLst>
              <a:ext uri="{FF2B5EF4-FFF2-40B4-BE49-F238E27FC236}">
                <a16:creationId xmlns:a16="http://schemas.microsoft.com/office/drawing/2014/main" id="{422D6D3C-46B7-4519-8FFC-7CBB9583EB57}"/>
              </a:ext>
            </a:extLst>
          </p:cNvPr>
          <p:cNvSpPr txBox="1"/>
          <p:nvPr/>
        </p:nvSpPr>
        <p:spPr>
          <a:xfrm>
            <a:off x="6261100" y="41003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電源與充電</a:t>
            </a:r>
          </a:p>
        </p:txBody>
      </p:sp>
      <p:sp>
        <p:nvSpPr>
          <p:cNvPr id="53" name="Rounded Rectangle 31">
            <a:extLst>
              <a:ext uri="{FF2B5EF4-FFF2-40B4-BE49-F238E27FC236}">
                <a16:creationId xmlns:a16="http://schemas.microsoft.com/office/drawing/2014/main" id="{70F85FD0-848D-4435-A205-BC139A5A544C}"/>
              </a:ext>
            </a:extLst>
          </p:cNvPr>
          <p:cNvSpPr/>
          <p:nvPr/>
        </p:nvSpPr>
        <p:spPr>
          <a:xfrm>
            <a:off x="6350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TP4059 充電晶片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500 mA</a:t>
            </a:r>
          </a:p>
        </p:txBody>
      </p:sp>
      <p:sp>
        <p:nvSpPr>
          <p:cNvPr id="54" name="Rounded Rectangle 32">
            <a:extLst>
              <a:ext uri="{FF2B5EF4-FFF2-40B4-BE49-F238E27FC236}">
                <a16:creationId xmlns:a16="http://schemas.microsoft.com/office/drawing/2014/main" id="{DCACA4FC-D4C4-4F45-9D7C-8D68017750A1}"/>
              </a:ext>
            </a:extLst>
          </p:cNvPr>
          <p:cNvSpPr/>
          <p:nvPr/>
        </p:nvSpPr>
        <p:spPr>
          <a:xfrm>
            <a:off x="9017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XC6204B302 LDO ×2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分別供電</a:t>
            </a:r>
          </a:p>
        </p:txBody>
      </p:sp>
      <p:sp>
        <p:nvSpPr>
          <p:cNvPr id="55" name="TextBox 33">
            <a:extLst>
              <a:ext uri="{FF2B5EF4-FFF2-40B4-BE49-F238E27FC236}">
                <a16:creationId xmlns:a16="http://schemas.microsoft.com/office/drawing/2014/main" id="{57491187-735F-4E24-B34C-BF1D502C6A8C}"/>
              </a:ext>
            </a:extLst>
          </p:cNvPr>
          <p:cNvSpPr txBox="1"/>
          <p:nvPr/>
        </p:nvSpPr>
        <p:spPr>
          <a:xfrm>
            <a:off x="6350000" y="5127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原廠：載板上有獨立的充電與穩壓晶片</a:t>
            </a:r>
          </a:p>
        </p:txBody>
      </p:sp>
      <p:sp>
        <p:nvSpPr>
          <p:cNvPr id="56" name="Rounded Rectangle 34">
            <a:extLst>
              <a:ext uri="{FF2B5EF4-FFF2-40B4-BE49-F238E27FC236}">
                <a16:creationId xmlns:a16="http://schemas.microsoft.com/office/drawing/2014/main" id="{9D049588-0D95-4A14-A604-0B13747B1280}"/>
              </a:ext>
            </a:extLst>
          </p:cNvPr>
          <p:cNvSpPr/>
          <p:nvPr/>
        </p:nvSpPr>
        <p:spPr>
          <a:xfrm>
            <a:off x="6350000" y="5435600"/>
            <a:ext cx="2413000" cy="5334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BQ25101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模組內建充電</a:t>
            </a:r>
          </a:p>
        </p:txBody>
      </p:sp>
      <p:sp>
        <p:nvSpPr>
          <p:cNvPr id="57" name="Rounded Rectangle 35">
            <a:extLst>
              <a:ext uri="{FF2B5EF4-FFF2-40B4-BE49-F238E27FC236}">
                <a16:creationId xmlns:a16="http://schemas.microsoft.com/office/drawing/2014/main" id="{605EBAC0-3A7E-4CDD-AFD5-C69407F5AF99}"/>
              </a:ext>
            </a:extLst>
          </p:cNvPr>
          <p:cNvSpPr/>
          <p:nvPr/>
        </p:nvSpPr>
        <p:spPr>
          <a:xfrm>
            <a:off x="9017000" y="5435600"/>
            <a:ext cx="2413000" cy="5334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濾波電容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載板僅此一項</a:t>
            </a:r>
          </a:p>
        </p:txBody>
      </p:sp>
      <p:sp>
        <p:nvSpPr>
          <p:cNvPr id="58" name="TextBox 36">
            <a:extLst>
              <a:ext uri="{FF2B5EF4-FFF2-40B4-BE49-F238E27FC236}">
                <a16:creationId xmlns:a16="http://schemas.microsoft.com/office/drawing/2014/main" id="{93392ECE-8B75-4FAD-92E9-0A1A7D54BCF5}"/>
              </a:ext>
            </a:extLst>
          </p:cNvPr>
          <p:cNvSpPr txBox="1"/>
          <p:nvPr/>
        </p:nvSpPr>
        <p:spPr>
          <a:xfrm>
            <a:off x="6350000" y="6016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>
                <a:solidFill>
                  <a:srgbClr val="6B7A8C"/>
                </a:solidFill>
              </a:rPr>
              <a:t>本研究：載板無獨立充電與穩壓晶片,充電由模組內建電路完成</a:t>
            </a:r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30393CC3-37DE-4BF8-875A-EE4738A281F8}"/>
              </a:ext>
            </a:extLst>
          </p:cNvPr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慣性感測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2C1F0271-68DB-4CA2-9968-1F3B0AD04FFE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B36FB864-F908-4F2B-BAF1-283F06D55AE7}"/>
              </a:ext>
            </a:extLst>
          </p:cNvPr>
          <p:cNvSpPr txBox="1"/>
          <p:nvPr/>
        </p:nvSpPr>
        <p:spPr>
          <a:xfrm>
            <a:off x="777240" y="15122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原廠　感測器焊死在載板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195F7ADA-2ED2-40CE-ADF8-2B4EFB467350}"/>
              </a:ext>
            </a:extLst>
          </p:cNvPr>
          <p:cNvSpPr/>
          <p:nvPr/>
        </p:nvSpPr>
        <p:spPr>
          <a:xfrm>
            <a:off x="889000" y="1955800"/>
            <a:ext cx="22225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MPU9250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C3DEC3C-1A4D-4247-A7B8-34C03DF2E0B3}"/>
              </a:ext>
            </a:extLst>
          </p:cNvPr>
          <p:cNvSpPr/>
          <p:nvPr/>
        </p:nvSpPr>
        <p:spPr>
          <a:xfrm>
            <a:off x="3276600" y="1955800"/>
            <a:ext cx="23114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BMP280 / SPL06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氣壓計</a:t>
            </a: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EA8B27F4-AA92-4A69-BD87-845FD60F6CB1}"/>
              </a:ext>
            </a:extLst>
          </p:cNvPr>
          <p:cNvCxnSpPr/>
          <p:nvPr/>
        </p:nvCxnSpPr>
        <p:spPr>
          <a:xfrm flipH="1">
            <a:off x="3111500" y="22733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D400ECEE-EDE2-40F7-82FB-61E387160BDB}"/>
              </a:ext>
            </a:extLst>
          </p:cNvPr>
          <p:cNvSpPr txBox="1"/>
          <p:nvPr/>
        </p:nvSpPr>
        <p:spPr>
          <a:xfrm>
            <a:off x="889000" y="2685286"/>
            <a:ext cx="4699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九軸掛主控 IIC1(PB8/PB9),位址 0xD2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氣壓計串接在九軸的輔助 IIC 之下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1045D9E9-DFEE-4824-99E4-200FA4764266}"/>
              </a:ext>
            </a:extLst>
          </p:cNvPr>
          <p:cNvSpPr txBox="1"/>
          <p:nvPr/>
        </p:nvSpPr>
        <p:spPr>
          <a:xfrm>
            <a:off x="889000" y="3167886"/>
            <a:ext cx="4699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讀取:中斷 + DMA + 信號量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感測器直接焊死,壞了無法單獨更換,也無備援</a:t>
            </a: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B591CF4D-F1A3-4D07-865C-6112337FA756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69BAA8B2-06FB-43C0-8FC7-10E0747B206A}"/>
              </a:ext>
            </a:extLst>
          </p:cNvPr>
          <p:cNvSpPr txBox="1"/>
          <p:nvPr/>
        </p:nvSpPr>
        <p:spPr>
          <a:xfrm>
            <a:off x="626110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本研究　模組化 + 備援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5BE26969-CDE8-4BEB-A61F-2217DF64541B}"/>
              </a:ext>
            </a:extLst>
          </p:cNvPr>
          <p:cNvSpPr/>
          <p:nvPr/>
        </p:nvSpPr>
        <p:spPr>
          <a:xfrm>
            <a:off x="6350000" y="1955800"/>
            <a:ext cx="2413000" cy="6350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 模組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MPU9250 + BMP280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E3C87834-9BE0-499C-A510-D326D2EC90F4}"/>
              </a:ext>
            </a:extLst>
          </p:cNvPr>
          <p:cNvSpPr/>
          <p:nvPr/>
        </p:nvSpPr>
        <p:spPr>
          <a:xfrm>
            <a:off x="9042400" y="1955800"/>
            <a:ext cx="2387600" cy="635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板載六軸備援</a:t>
            </a:r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623A91FE-EF3C-4852-980F-62A5976FCA41}"/>
              </a:ext>
            </a:extLst>
          </p:cNvPr>
          <p:cNvSpPr txBox="1"/>
          <p:nvPr/>
        </p:nvSpPr>
        <p:spPr>
          <a:xfrm>
            <a:off x="6350000" y="26852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以排針座連接,可插拔更換或換成其他型號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讀取:TWIM + EasyDMA,設定 RXD.PTR/MAXCNT 由硬體搬資料</a:t>
            </a: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25084B08-3D43-455A-A540-B87572F47002}"/>
              </a:ext>
            </a:extLst>
          </p:cNvPr>
          <p:cNvSpPr txBox="1"/>
          <p:nvPr/>
        </p:nvSpPr>
        <p:spPr>
          <a:xfrm>
            <a:off x="6350000" y="31678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開機自動探測 0x68 / 0x69 雙位址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主感測失效時,自動改用板載六軸維持基本姿態量測</a:t>
            </a:r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F44A0199-B747-47D3-83D9-958777BA37C8}"/>
              </a:ext>
            </a:extLst>
          </p:cNvPr>
          <p:cNvSpPr/>
          <p:nvPr/>
        </p:nvSpPr>
        <p:spPr>
          <a:xfrm>
            <a:off x="548640" y="4064000"/>
            <a:ext cx="11064240" cy="203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E307C6D0-46D2-471E-9FAE-BF84FE0CF9B4}"/>
              </a:ext>
            </a:extLst>
          </p:cNvPr>
          <p:cNvSpPr txBox="1"/>
          <p:nvPr/>
        </p:nvSpPr>
        <p:spPr>
          <a:xfrm>
            <a:off x="777240" y="4179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感測資料的讀取路徑</a:t>
            </a: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7041FC57-7A12-488C-8719-63CD5E75B344}"/>
              </a:ext>
            </a:extLst>
          </p:cNvPr>
          <p:cNvSpPr/>
          <p:nvPr/>
        </p:nvSpPr>
        <p:spPr>
          <a:xfrm>
            <a:off x="889000" y="4775200"/>
            <a:ext cx="1905000" cy="609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 + 氣壓</a:t>
            </a:r>
          </a:p>
        </p:txBody>
      </p:sp>
      <p:sp>
        <p:nvSpPr>
          <p:cNvPr id="43" name="Rounded Rectangle 21">
            <a:extLst>
              <a:ext uri="{FF2B5EF4-FFF2-40B4-BE49-F238E27FC236}">
                <a16:creationId xmlns:a16="http://schemas.microsoft.com/office/drawing/2014/main" id="{DACF23F5-7D7C-4FB6-BBFE-A8BC3D86D5BA}"/>
              </a:ext>
            </a:extLst>
          </p:cNvPr>
          <p:cNvSpPr/>
          <p:nvPr/>
        </p:nvSpPr>
        <p:spPr>
          <a:xfrm>
            <a:off x="3810000" y="4775200"/>
            <a:ext cx="1905000" cy="609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TWIM + EasyDMA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硬體搬運</a:t>
            </a:r>
          </a:p>
        </p:txBody>
      </p:sp>
      <p:sp>
        <p:nvSpPr>
          <p:cNvPr id="44" name="Rounded Rectangle 22">
            <a:extLst>
              <a:ext uri="{FF2B5EF4-FFF2-40B4-BE49-F238E27FC236}">
                <a16:creationId xmlns:a16="http://schemas.microsoft.com/office/drawing/2014/main" id="{D094E36A-50EA-47D8-A7BD-2140DC60404E}"/>
              </a:ext>
            </a:extLst>
          </p:cNvPr>
          <p:cNvSpPr/>
          <p:nvPr/>
        </p:nvSpPr>
        <p:spPr>
          <a:xfrm>
            <a:off x="6731000" y="4775200"/>
            <a:ext cx="1905000" cy="6096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姿態融合</a:t>
            </a:r>
          </a:p>
        </p:txBody>
      </p:sp>
      <p:cxnSp>
        <p:nvCxnSpPr>
          <p:cNvPr id="45" name="Connector 23">
            <a:extLst>
              <a:ext uri="{FF2B5EF4-FFF2-40B4-BE49-F238E27FC236}">
                <a16:creationId xmlns:a16="http://schemas.microsoft.com/office/drawing/2014/main" id="{DE651A97-1B9A-4BB3-B4FF-D163A291277D}"/>
              </a:ext>
            </a:extLst>
          </p:cNvPr>
          <p:cNvCxnSpPr/>
          <p:nvPr/>
        </p:nvCxnSpPr>
        <p:spPr>
          <a:xfrm>
            <a:off x="2794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24">
            <a:extLst>
              <a:ext uri="{FF2B5EF4-FFF2-40B4-BE49-F238E27FC236}">
                <a16:creationId xmlns:a16="http://schemas.microsoft.com/office/drawing/2014/main" id="{29572C4B-80A4-406F-B73A-CD7EE11DB4AE}"/>
              </a:ext>
            </a:extLst>
          </p:cNvPr>
          <p:cNvCxnSpPr/>
          <p:nvPr/>
        </p:nvCxnSpPr>
        <p:spPr>
          <a:xfrm>
            <a:off x="5715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25">
            <a:extLst>
              <a:ext uri="{FF2B5EF4-FFF2-40B4-BE49-F238E27FC236}">
                <a16:creationId xmlns:a16="http://schemas.microsoft.com/office/drawing/2014/main" id="{BF202988-F6C2-4F43-8684-1EB01D6F6169}"/>
              </a:ext>
            </a:extLst>
          </p:cNvPr>
          <p:cNvSpPr/>
          <p:nvPr/>
        </p:nvSpPr>
        <p:spPr>
          <a:xfrm>
            <a:off x="9271000" y="4775200"/>
            <a:ext cx="2159000" cy="6096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失效時接手</a:t>
            </a:r>
          </a:p>
        </p:txBody>
      </p:sp>
      <p:cxnSp>
        <p:nvCxnSpPr>
          <p:cNvPr id="48" name="Connector 26">
            <a:extLst>
              <a:ext uri="{FF2B5EF4-FFF2-40B4-BE49-F238E27FC236}">
                <a16:creationId xmlns:a16="http://schemas.microsoft.com/office/drawing/2014/main" id="{4302147E-BD81-45FE-ABE7-81226A01856E}"/>
              </a:ext>
            </a:extLst>
          </p:cNvPr>
          <p:cNvCxnSpPr/>
          <p:nvPr/>
        </p:nvCxnSpPr>
        <p:spPr>
          <a:xfrm flipH="1">
            <a:off x="8636000" y="5080000"/>
            <a:ext cx="635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27">
            <a:extLst>
              <a:ext uri="{FF2B5EF4-FFF2-40B4-BE49-F238E27FC236}">
                <a16:creationId xmlns:a16="http://schemas.microsoft.com/office/drawing/2014/main" id="{FE1B0DF9-E664-418D-B73E-83B2B1DEC83B}"/>
              </a:ext>
            </a:extLst>
          </p:cNvPr>
          <p:cNvSpPr txBox="1"/>
          <p:nvPr/>
        </p:nvSpPr>
        <p:spPr>
          <a:xfrm>
            <a:off x="889000" y="5520819"/>
            <a:ext cx="10414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CPU 設定指標後由硬體自行搬移資料,不需逐位元組等待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無線通訊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9" name="Rounded Rectangle 5">
            <a:extLst>
              <a:ext uri="{FF2B5EF4-FFF2-40B4-BE49-F238E27FC236}">
                <a16:creationId xmlns:a16="http://schemas.microsoft.com/office/drawing/2014/main" id="{2F4AE6AF-905E-4657-8CFC-9F7510C8B922}"/>
              </a:ext>
            </a:extLst>
          </p:cNvPr>
          <p:cNvSpPr/>
          <p:nvPr/>
        </p:nvSpPr>
        <p:spPr>
          <a:xfrm>
            <a:off x="548640" y="1397000"/>
            <a:ext cx="11064240" cy="190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84FC6010-6A2C-4D84-9B62-C5F1E5C9FB1C}"/>
              </a:ext>
            </a:extLst>
          </p:cNvPr>
          <p:cNvSpPr txBox="1"/>
          <p:nvPr/>
        </p:nvSpPr>
        <p:spPr>
          <a:xfrm>
            <a:off x="77724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訊號路徑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2282D5CC-C4F8-4786-883C-8EE1F6292998}"/>
              </a:ext>
            </a:extLst>
          </p:cNvPr>
          <p:cNvSpPr/>
          <p:nvPr/>
        </p:nvSpPr>
        <p:spPr>
          <a:xfrm>
            <a:off x="889000" y="1981200"/>
            <a:ext cx="1397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71B114BC-536B-4C5F-8D4A-C6149FBEA174}"/>
              </a:ext>
            </a:extLst>
          </p:cNvPr>
          <p:cNvSpPr/>
          <p:nvPr/>
        </p:nvSpPr>
        <p:spPr>
          <a:xfrm>
            <a:off x="2667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RFX2401C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FEFE3EB5-379D-41F2-9AF0-26D6F33CA0F8}"/>
              </a:ext>
            </a:extLst>
          </p:cNvPr>
          <p:cNvSpPr/>
          <p:nvPr/>
        </p:nvSpPr>
        <p:spPr>
          <a:xfrm>
            <a:off x="4953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radiolink 解析</a:t>
            </a:r>
          </a:p>
        </p:txBody>
      </p:sp>
      <p:cxnSp>
        <p:nvCxnSpPr>
          <p:cNvPr id="34" name="Connector 10">
            <a:extLst>
              <a:ext uri="{FF2B5EF4-FFF2-40B4-BE49-F238E27FC236}">
                <a16:creationId xmlns:a16="http://schemas.microsoft.com/office/drawing/2014/main" id="{1144F056-A658-4D06-8B13-2E0160DAFA32}"/>
              </a:ext>
            </a:extLst>
          </p:cNvPr>
          <p:cNvCxnSpPr/>
          <p:nvPr/>
        </p:nvCxnSpPr>
        <p:spPr>
          <a:xfrm>
            <a:off x="2286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11">
            <a:extLst>
              <a:ext uri="{FF2B5EF4-FFF2-40B4-BE49-F238E27FC236}">
                <a16:creationId xmlns:a16="http://schemas.microsoft.com/office/drawing/2014/main" id="{96133DF5-9976-4BB4-882E-5C06D074A409}"/>
              </a:ext>
            </a:extLst>
          </p:cNvPr>
          <p:cNvCxnSpPr/>
          <p:nvPr/>
        </p:nvCxnSpPr>
        <p:spPr>
          <a:xfrm>
            <a:off x="4572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12">
            <a:extLst>
              <a:ext uri="{FF2B5EF4-FFF2-40B4-BE49-F238E27FC236}">
                <a16:creationId xmlns:a16="http://schemas.microsoft.com/office/drawing/2014/main" id="{CA91381A-041F-4F79-BF6D-6F878341E7BF}"/>
              </a:ext>
            </a:extLst>
          </p:cNvPr>
          <p:cNvSpPr txBox="1"/>
          <p:nvPr/>
        </p:nvSpPr>
        <p:spPr>
          <a:xfrm>
            <a:off x="2667000" y="2612519"/>
            <a:ext cx="4191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原廠：經射頻晶片再由 UART 轉發,共兩段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39D87BBE-3B9E-4627-90D1-0B4422BA176C}"/>
              </a:ext>
            </a:extLst>
          </p:cNvPr>
          <p:cNvSpPr/>
          <p:nvPr/>
        </p:nvSpPr>
        <p:spPr>
          <a:xfrm>
            <a:off x="7620000" y="1985963"/>
            <a:ext cx="1397000" cy="5588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B37C49E9-AFE9-4EB6-A0E1-8276B64DA238}"/>
              </a:ext>
            </a:extLst>
          </p:cNvPr>
          <p:cNvSpPr/>
          <p:nvPr/>
        </p:nvSpPr>
        <p:spPr>
          <a:xfrm>
            <a:off x="9398000" y="1985963"/>
            <a:ext cx="19050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cxnSp>
        <p:nvCxnSpPr>
          <p:cNvPr id="39" name="Connector 15">
            <a:extLst>
              <a:ext uri="{FF2B5EF4-FFF2-40B4-BE49-F238E27FC236}">
                <a16:creationId xmlns:a16="http://schemas.microsoft.com/office/drawing/2014/main" id="{70ED8401-9E49-49EA-806F-03E032994D7A}"/>
              </a:ext>
            </a:extLst>
          </p:cNvPr>
          <p:cNvCxnSpPr/>
          <p:nvPr/>
        </p:nvCxnSpPr>
        <p:spPr>
          <a:xfrm>
            <a:off x="9017000" y="2265363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16">
            <a:extLst>
              <a:ext uri="{FF2B5EF4-FFF2-40B4-BE49-F238E27FC236}">
                <a16:creationId xmlns:a16="http://schemas.microsoft.com/office/drawing/2014/main" id="{0B923233-E3EF-4506-9A85-97D9E32DE5F9}"/>
              </a:ext>
            </a:extLst>
          </p:cNvPr>
          <p:cNvSpPr txBox="1"/>
          <p:nvPr/>
        </p:nvSpPr>
        <p:spPr>
          <a:xfrm>
            <a:off x="7620000" y="2617282"/>
            <a:ext cx="381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本研究：主控直接收發,一段到位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FD278E93-7213-4BEA-9E6C-8D1C7CD5A0B6}"/>
              </a:ext>
            </a:extLst>
          </p:cNvPr>
          <p:cNvSpPr/>
          <p:nvPr/>
        </p:nvSpPr>
        <p:spPr>
          <a:xfrm>
            <a:off x="548640" y="3581400"/>
            <a:ext cx="5232400" cy="25146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18">
            <a:extLst>
              <a:ext uri="{FF2B5EF4-FFF2-40B4-BE49-F238E27FC236}">
                <a16:creationId xmlns:a16="http://schemas.microsoft.com/office/drawing/2014/main" id="{AC983C40-1EAB-4C47-9C4F-ECF565BDB6BE}"/>
              </a:ext>
            </a:extLst>
          </p:cNvPr>
          <p:cNvSpPr txBox="1"/>
          <p:nvPr/>
        </p:nvSpPr>
        <p:spPr>
          <a:xfrm>
            <a:off x="777240" y="36966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射頻與速率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4B6436D4-1049-40EF-BB9C-315F099509BB}"/>
              </a:ext>
            </a:extLst>
          </p:cNvPr>
          <p:cNvSpPr/>
          <p:nvPr/>
        </p:nvSpPr>
        <p:spPr>
          <a:xfrm>
            <a:off x="889000" y="4140200"/>
            <a:ext cx="22225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RFX2401C 功放</a:t>
            </a:r>
          </a:p>
        </p:txBody>
      </p:sp>
      <p:sp>
        <p:nvSpPr>
          <p:cNvPr id="44" name="Rounded Rectangle 20">
            <a:extLst>
              <a:ext uri="{FF2B5EF4-FFF2-40B4-BE49-F238E27FC236}">
                <a16:creationId xmlns:a16="http://schemas.microsoft.com/office/drawing/2014/main" id="{39AA1FF8-BA84-491D-AA26-E8897EFF1A40}"/>
              </a:ext>
            </a:extLst>
          </p:cNvPr>
          <p:cNvSpPr/>
          <p:nvPr/>
        </p:nvSpPr>
        <p:spPr>
          <a:xfrm>
            <a:off x="3276600" y="4140200"/>
            <a:ext cx="23114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250 Kbps</a:t>
            </a: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A35DDCBA-EC63-4D97-9B6E-54E4A11E9CC8}"/>
              </a:ext>
            </a:extLst>
          </p:cNvPr>
          <p:cNvSpPr txBox="1"/>
          <p:nvPr/>
        </p:nvSpPr>
        <p:spPr>
          <a:xfrm>
            <a:off x="889000" y="47969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原廠：外掛射頻晶片,速率 250 Kbps</a:t>
            </a:r>
          </a:p>
        </p:txBody>
      </p:sp>
      <p:sp>
        <p:nvSpPr>
          <p:cNvPr id="46" name="Rounded Rectangle 22">
            <a:extLst>
              <a:ext uri="{FF2B5EF4-FFF2-40B4-BE49-F238E27FC236}">
                <a16:creationId xmlns:a16="http://schemas.microsoft.com/office/drawing/2014/main" id="{C3643040-F67F-415C-B3B1-E3FDACE540EB}"/>
              </a:ext>
            </a:extLst>
          </p:cNvPr>
          <p:cNvSpPr/>
          <p:nvPr/>
        </p:nvSpPr>
        <p:spPr>
          <a:xfrm>
            <a:off x="889000" y="5105400"/>
            <a:ext cx="22225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sp>
        <p:nvSpPr>
          <p:cNvPr id="47" name="Rounded Rectangle 23">
            <a:extLst>
              <a:ext uri="{FF2B5EF4-FFF2-40B4-BE49-F238E27FC236}">
                <a16:creationId xmlns:a16="http://schemas.microsoft.com/office/drawing/2014/main" id="{178F56BE-EEA3-496F-BD5F-CC2E5C9C78B8}"/>
              </a:ext>
            </a:extLst>
          </p:cNvPr>
          <p:cNvSpPr/>
          <p:nvPr/>
        </p:nvSpPr>
        <p:spPr>
          <a:xfrm>
            <a:off x="3276600" y="5105400"/>
            <a:ext cx="2311400" cy="5588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Mbps</a:t>
            </a:r>
          </a:p>
        </p:txBody>
      </p:sp>
      <p:sp>
        <p:nvSpPr>
          <p:cNvPr id="48" name="TextBox 24">
            <a:extLst>
              <a:ext uri="{FF2B5EF4-FFF2-40B4-BE49-F238E27FC236}">
                <a16:creationId xmlns:a16="http://schemas.microsoft.com/office/drawing/2014/main" id="{12E9E3D3-0ABD-48AC-8B27-13E16712B392}"/>
              </a:ext>
            </a:extLst>
          </p:cNvPr>
          <p:cNvSpPr txBox="1"/>
          <p:nvPr/>
        </p:nvSpPr>
        <p:spPr>
          <a:xfrm>
            <a:off x="889000" y="57367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本研究：無外掛晶片;不支援 250K,兩端同改 1 Mbps</a:t>
            </a:r>
          </a:p>
        </p:txBody>
      </p:sp>
      <p:sp>
        <p:nvSpPr>
          <p:cNvPr id="49" name="Rounded Rectangle 25">
            <a:extLst>
              <a:ext uri="{FF2B5EF4-FFF2-40B4-BE49-F238E27FC236}">
                <a16:creationId xmlns:a16="http://schemas.microsoft.com/office/drawing/2014/main" id="{1522BAC6-6221-4B2C-8A31-A3120965E318}"/>
              </a:ext>
            </a:extLst>
          </p:cNvPr>
          <p:cNvSpPr/>
          <p:nvPr/>
        </p:nvSpPr>
        <p:spPr>
          <a:xfrm>
            <a:off x="6032500" y="3581400"/>
            <a:ext cx="55803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26">
            <a:extLst>
              <a:ext uri="{FF2B5EF4-FFF2-40B4-BE49-F238E27FC236}">
                <a16:creationId xmlns:a16="http://schemas.microsoft.com/office/drawing/2014/main" id="{9396D249-D027-45C3-8B52-013E6E5A6B0F}"/>
              </a:ext>
            </a:extLst>
          </p:cNvPr>
          <p:cNvSpPr txBox="1"/>
          <p:nvPr/>
        </p:nvSpPr>
        <p:spPr>
          <a:xfrm>
            <a:off x="6261100" y="36966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驅動實作</a:t>
            </a:r>
          </a:p>
        </p:txBody>
      </p:sp>
      <p:sp>
        <p:nvSpPr>
          <p:cNvPr id="51" name="TextBox 27">
            <a:extLst>
              <a:ext uri="{FF2B5EF4-FFF2-40B4-BE49-F238E27FC236}">
                <a16:creationId xmlns:a16="http://schemas.microsoft.com/office/drawing/2014/main" id="{4975D990-AAFE-4C39-9DDF-90DF2F30D08D}"/>
              </a:ext>
            </a:extLst>
          </p:cNvPr>
          <p:cNvSpPr txBox="1"/>
          <p:nvPr/>
        </p:nvSpPr>
        <p:spPr>
          <a:xfrm>
            <a:off x="6350000" y="41184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52" name="TextBox 28">
            <a:extLst>
              <a:ext uri="{FF2B5EF4-FFF2-40B4-BE49-F238E27FC236}">
                <a16:creationId xmlns:a16="http://schemas.microsoft.com/office/drawing/2014/main" id="{1AC8B13B-9A01-4570-A3E5-7C828CC634BB}"/>
              </a:ext>
            </a:extLst>
          </p:cNvPr>
          <p:cNvSpPr txBox="1"/>
          <p:nvPr/>
        </p:nvSpPr>
        <p:spPr>
          <a:xfrm>
            <a:off x="6350000" y="43870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沿用 nRF51 現成的 ESB 函式庫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主控端只需解析 UART 位元組流</a:t>
            </a:r>
          </a:p>
        </p:txBody>
      </p:sp>
      <p:sp>
        <p:nvSpPr>
          <p:cNvPr id="53" name="TextBox 29">
            <a:extLst>
              <a:ext uri="{FF2B5EF4-FFF2-40B4-BE49-F238E27FC236}">
                <a16:creationId xmlns:a16="http://schemas.microsoft.com/office/drawing/2014/main" id="{16349D3F-1A00-40E1-B185-4AE49FFA0FC4}"/>
              </a:ext>
            </a:extLst>
          </p:cNvPr>
          <p:cNvSpPr txBox="1"/>
          <p:nvPr/>
        </p:nvSpPr>
        <p:spPr>
          <a:xfrm>
            <a:off x="6350000" y="49058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54" name="TextBox 30">
            <a:extLst>
              <a:ext uri="{FF2B5EF4-FFF2-40B4-BE49-F238E27FC236}">
                <a16:creationId xmlns:a16="http://schemas.microsoft.com/office/drawing/2014/main" id="{98469C9B-97BD-4231-8C8D-575EFB7EDD99}"/>
              </a:ext>
            </a:extLst>
          </p:cNvPr>
          <p:cNvSpPr txBox="1"/>
          <p:nvPr/>
        </p:nvSpPr>
        <p:spPr>
          <a:xfrm>
            <a:off x="6350000" y="52887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無現成函式庫可用,需直接設定 RADIO 暫存器：</a:t>
            </a:r>
          </a:p>
          <a:p>
            <a:pPr algn="l"/>
            <a:r>
              <a:rPr sz="1200" b="0">
                <a:solidFill>
                  <a:srgbClr val="6B7A8C"/>
                </a:solidFill>
              </a:rPr>
              <a:t>頻率、封包格式、CRC、白化,並逐項對齊空中格式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ESB 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無線協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2192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專有的 2.4GHz 協</a:t>
            </a:r>
            <a:r>
              <a:rPr lang="zh-CN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。nRF24L 系列由硬體內建,nRF5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系列須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配置 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暫存器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38" y="2827020"/>
            <a:ext cx="10881361" cy="3416125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62001" y="303836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封包結構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77239" y="35560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6"/>
          <p:cNvSpPr/>
          <p:nvPr/>
        </p:nvSpPr>
        <p:spPr>
          <a:xfrm>
            <a:off x="777239" y="35560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556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08960" y="355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39" y="40767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2" name="Text 30"/>
          <p:cNvSpPr/>
          <p:nvPr/>
        </p:nvSpPr>
        <p:spPr>
          <a:xfrm>
            <a:off x="777239" y="40767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423160" y="40767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108960" y="40767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← 必須逐bit 反轉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39" y="4597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777239" y="4597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封包控制欄位 PCF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423160" y="4597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9bit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108960" y="4597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載荷長度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6bit ｜ 封包編號 PID 2bit ｜ 免回覆 NO_ACK 1bit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7239" y="51181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4" name="Text 42"/>
          <p:cNvSpPr/>
          <p:nvPr/>
        </p:nvSpPr>
        <p:spPr>
          <a:xfrm>
            <a:off x="777239" y="51181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r>
              <a:rPr lang="en-US" altLang="zh-CN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Payload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423160" y="51181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108960" y="5118100"/>
            <a:ext cx="282598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封包:MsgID + DataLen + Data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77239" y="56388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8" name="Text 46"/>
          <p:cNvSpPr/>
          <p:nvPr/>
        </p:nvSpPr>
        <p:spPr>
          <a:xfrm>
            <a:off x="777239" y="5638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423160" y="56388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108960" y="56388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</a:t>
            </a: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2Byte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15</a:t>
            </a:r>
            <a:endParaRPr lang="en-US" sz="1100" dirty="0"/>
          </a:p>
        </p:txBody>
      </p:sp>
      <p:sp>
        <p:nvSpPr>
          <p:cNvPr id="58" name="TextBox 22">
            <a:extLst>
              <a:ext uri="{FF2B5EF4-FFF2-40B4-BE49-F238E27FC236}">
                <a16:creationId xmlns:a16="http://schemas.microsoft.com/office/drawing/2014/main" id="{D93528D6-070B-46CB-861B-96B9B026CB76}"/>
              </a:ext>
            </a:extLst>
          </p:cNvPr>
          <p:cNvSpPr txBox="1"/>
          <p:nvPr/>
        </p:nvSpPr>
        <p:spPr>
          <a:xfrm>
            <a:off x="6218629" y="4053616"/>
            <a:ext cx="658473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146984"/>
                </a:solidFill>
                <a:latin typeface="Microsoft JhengHei"/>
              </a:rPr>
              <a:t>PCF</a:t>
            </a:r>
          </a:p>
        </p:txBody>
      </p:sp>
      <p:sp>
        <p:nvSpPr>
          <p:cNvPr id="59" name="TextBox 23">
            <a:extLst>
              <a:ext uri="{FF2B5EF4-FFF2-40B4-BE49-F238E27FC236}">
                <a16:creationId xmlns:a16="http://schemas.microsoft.com/office/drawing/2014/main" id="{D2C8E281-F6AE-4EC9-9569-735523E95C36}"/>
              </a:ext>
            </a:extLst>
          </p:cNvPr>
          <p:cNvSpPr txBox="1"/>
          <p:nvPr/>
        </p:nvSpPr>
        <p:spPr>
          <a:xfrm>
            <a:off x="7052250" y="409012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Length</a:t>
            </a:r>
          </a:p>
        </p:txBody>
      </p:sp>
      <p:sp>
        <p:nvSpPr>
          <p:cNvPr id="60" name="TextBox 24">
            <a:extLst>
              <a:ext uri="{FF2B5EF4-FFF2-40B4-BE49-F238E27FC236}">
                <a16:creationId xmlns:a16="http://schemas.microsoft.com/office/drawing/2014/main" id="{08F8A290-2936-47B7-B37C-806FDB9FF0F0}"/>
              </a:ext>
            </a:extLst>
          </p:cNvPr>
          <p:cNvSpPr txBox="1"/>
          <p:nvPr/>
        </p:nvSpPr>
        <p:spPr>
          <a:xfrm>
            <a:off x="8085520" y="409012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6 bit</a:t>
            </a:r>
          </a:p>
        </p:txBody>
      </p:sp>
      <p:sp>
        <p:nvSpPr>
          <p:cNvPr id="61" name="TextBox 25">
            <a:extLst>
              <a:ext uri="{FF2B5EF4-FFF2-40B4-BE49-F238E27FC236}">
                <a16:creationId xmlns:a16="http://schemas.microsoft.com/office/drawing/2014/main" id="{C8E61B83-5D58-435C-9F90-0D52ABD1A69B}"/>
              </a:ext>
            </a:extLst>
          </p:cNvPr>
          <p:cNvSpPr txBox="1"/>
          <p:nvPr/>
        </p:nvSpPr>
        <p:spPr>
          <a:xfrm>
            <a:off x="8817042" y="410426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載荷長度 0–32 B</a:t>
            </a:r>
          </a:p>
        </p:txBody>
      </p:sp>
      <p:sp>
        <p:nvSpPr>
          <p:cNvPr id="62" name="TextBox 26">
            <a:extLst>
              <a:ext uri="{FF2B5EF4-FFF2-40B4-BE49-F238E27FC236}">
                <a16:creationId xmlns:a16="http://schemas.microsoft.com/office/drawing/2014/main" id="{20638194-2A44-4A35-B24B-42ADA66A0D66}"/>
              </a:ext>
            </a:extLst>
          </p:cNvPr>
          <p:cNvSpPr txBox="1"/>
          <p:nvPr/>
        </p:nvSpPr>
        <p:spPr>
          <a:xfrm>
            <a:off x="7052250" y="450160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PID</a:t>
            </a:r>
          </a:p>
        </p:txBody>
      </p:sp>
      <p:sp>
        <p:nvSpPr>
          <p:cNvPr id="63" name="TextBox 27">
            <a:extLst>
              <a:ext uri="{FF2B5EF4-FFF2-40B4-BE49-F238E27FC236}">
                <a16:creationId xmlns:a16="http://schemas.microsoft.com/office/drawing/2014/main" id="{FDC7E332-F24F-4698-9466-0E0A80AEC9C3}"/>
              </a:ext>
            </a:extLst>
          </p:cNvPr>
          <p:cNvSpPr txBox="1"/>
          <p:nvPr/>
        </p:nvSpPr>
        <p:spPr>
          <a:xfrm>
            <a:off x="8085520" y="450160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2 bit</a:t>
            </a:r>
          </a:p>
        </p:txBody>
      </p:sp>
      <p:sp>
        <p:nvSpPr>
          <p:cNvPr id="64" name="TextBox 28">
            <a:extLst>
              <a:ext uri="{FF2B5EF4-FFF2-40B4-BE49-F238E27FC236}">
                <a16:creationId xmlns:a16="http://schemas.microsoft.com/office/drawing/2014/main" id="{D147665C-BDCA-406D-AA85-E8795842A41E}"/>
              </a:ext>
            </a:extLst>
          </p:cNvPr>
          <p:cNvSpPr txBox="1"/>
          <p:nvPr/>
        </p:nvSpPr>
        <p:spPr>
          <a:xfrm>
            <a:off x="8817042" y="451574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分辨新包／重送</a:t>
            </a:r>
          </a:p>
        </p:txBody>
      </p:sp>
      <p:sp>
        <p:nvSpPr>
          <p:cNvPr id="65" name="TextBox 29">
            <a:extLst>
              <a:ext uri="{FF2B5EF4-FFF2-40B4-BE49-F238E27FC236}">
                <a16:creationId xmlns:a16="http://schemas.microsoft.com/office/drawing/2014/main" id="{4E0EF677-DD8A-44B1-BDE6-7AE8B8296974}"/>
              </a:ext>
            </a:extLst>
          </p:cNvPr>
          <p:cNvSpPr txBox="1"/>
          <p:nvPr/>
        </p:nvSpPr>
        <p:spPr>
          <a:xfrm>
            <a:off x="7052250" y="4913081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NO_ACK</a:t>
            </a:r>
          </a:p>
        </p:txBody>
      </p:sp>
      <p:sp>
        <p:nvSpPr>
          <p:cNvPr id="66" name="TextBox 30">
            <a:extLst>
              <a:ext uri="{FF2B5EF4-FFF2-40B4-BE49-F238E27FC236}">
                <a16:creationId xmlns:a16="http://schemas.microsoft.com/office/drawing/2014/main" id="{E4602709-6D66-4820-8461-CFE312EBE5FD}"/>
              </a:ext>
            </a:extLst>
          </p:cNvPr>
          <p:cNvSpPr txBox="1"/>
          <p:nvPr/>
        </p:nvSpPr>
        <p:spPr>
          <a:xfrm>
            <a:off x="8085520" y="4913081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1 bit</a:t>
            </a:r>
          </a:p>
        </p:txBody>
      </p:sp>
      <p:sp>
        <p:nvSpPr>
          <p:cNvPr id="67" name="TextBox 31">
            <a:extLst>
              <a:ext uri="{FF2B5EF4-FFF2-40B4-BE49-F238E27FC236}">
                <a16:creationId xmlns:a16="http://schemas.microsoft.com/office/drawing/2014/main" id="{75F6467C-6F23-4C42-AE27-40A43972D071}"/>
              </a:ext>
            </a:extLst>
          </p:cNvPr>
          <p:cNvSpPr txBox="1"/>
          <p:nvPr/>
        </p:nvSpPr>
        <p:spPr>
          <a:xfrm>
            <a:off x="8817042" y="4927227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27384"/>
                </a:solidFill>
                <a:latin typeface="Microsoft JhengHei"/>
              </a:rPr>
              <a:t>1 = 不要求回覆</a:t>
            </a:r>
          </a:p>
        </p:txBody>
      </p:sp>
      <p:sp>
        <p:nvSpPr>
          <p:cNvPr id="72" name="TextBox 34">
            <a:extLst>
              <a:ext uri="{FF2B5EF4-FFF2-40B4-BE49-F238E27FC236}">
                <a16:creationId xmlns:a16="http://schemas.microsoft.com/office/drawing/2014/main" id="{5E771ED8-0C5D-4355-80FF-9872BBEC1F3C}"/>
              </a:ext>
            </a:extLst>
          </p:cNvPr>
          <p:cNvSpPr txBox="1"/>
          <p:nvPr/>
        </p:nvSpPr>
        <p:spPr>
          <a:xfrm>
            <a:off x="6231301" y="3540062"/>
            <a:ext cx="63313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700" b="1" dirty="0">
                <a:solidFill>
                  <a:srgbClr val="146984"/>
                </a:solidFill>
                <a:latin typeface="Microsoft JhengHei"/>
              </a:rPr>
              <a:t>地址</a:t>
            </a:r>
            <a:endParaRPr sz="1700" b="1" dirty="0">
              <a:solidFill>
                <a:srgbClr val="146984"/>
              </a:solidFill>
              <a:latin typeface="Microsoft JhengHei"/>
            </a:endParaRPr>
          </a:p>
        </p:txBody>
      </p:sp>
      <p:sp>
        <p:nvSpPr>
          <p:cNvPr id="73" name="TextBox 37">
            <a:extLst>
              <a:ext uri="{FF2B5EF4-FFF2-40B4-BE49-F238E27FC236}">
                <a16:creationId xmlns:a16="http://schemas.microsoft.com/office/drawing/2014/main" id="{0C76EF1F-0EC5-407A-BCE7-062D67FC4A4B}"/>
              </a:ext>
            </a:extLst>
          </p:cNvPr>
          <p:cNvSpPr txBox="1"/>
          <p:nvPr/>
        </p:nvSpPr>
        <p:spPr>
          <a:xfrm>
            <a:off x="6955872" y="3432517"/>
            <a:ext cx="4345779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23364C"/>
                </a:solidFill>
                <a:latin typeface="Microsoft JhengHei"/>
              </a:rPr>
              <a:t>寫入位址前需位元反轉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，因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ATK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遙控器是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MSB,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本研究是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LSB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通訊協議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749808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480143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88920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2788920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0xAF/0</a:t>
            </a:r>
            <a:r>
              <a:rPr lang="en-US" altLang="zh-CN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xAA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9428" y="2480143"/>
            <a:ext cx="1920239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28032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4828032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功能欄位</a:t>
            </a:r>
          </a:p>
        </p:txBody>
      </p:sp>
      <p:sp>
        <p:nvSpPr>
          <p:cNvPr id="18" name="Text 16"/>
          <p:cNvSpPr/>
          <p:nvPr/>
        </p:nvSpPr>
        <p:spPr>
          <a:xfrm>
            <a:off x="4828032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altLang="zh-CN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</a:rPr>
              <a:t>Msg ID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47104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0" name="Text 18"/>
          <p:cNvSpPr/>
          <p:nvPr/>
        </p:nvSpPr>
        <p:spPr>
          <a:xfrm>
            <a:off x="6547104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47104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資料Byte數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66176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1"/>
          <p:cNvSpPr/>
          <p:nvPr/>
        </p:nvSpPr>
        <p:spPr>
          <a:xfrm>
            <a:off x="8266176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6176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0~30 Byte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39528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939528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85248" y="2480143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求和取低1Byte </a:t>
            </a:r>
            <a:r>
              <a:rPr lang="en-US" altLang="zh-CN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80200" cy="29108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 AA AF 01 01 A1 FC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023359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4" name="Text 32"/>
          <p:cNvSpPr/>
          <p:nvPr/>
        </p:nvSpPr>
        <p:spPr>
          <a:xfrm>
            <a:off x="4023359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 → 飛控、遙控器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 CMD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59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0" name="Text 38"/>
          <p:cNvSpPr/>
          <p:nvPr/>
        </p:nvSpPr>
        <p:spPr>
          <a:xfrm>
            <a:off x="4023359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Byte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 ARM 命令碼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23359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6" name="Text 44"/>
          <p:cNvSpPr/>
          <p:nvPr/>
        </p:nvSpPr>
        <p:spPr>
          <a:xfrm>
            <a:off x="4023359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3794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相加取低 8 位 = FC</a:t>
            </a:r>
            <a:endParaRPr lang="en-US" sz="16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98D7658-73BE-468E-BDAD-4B38A39D5F07}"/>
              </a:ext>
            </a:extLst>
          </p:cNvPr>
          <p:cNvGrpSpPr/>
          <p:nvPr/>
        </p:nvGrpSpPr>
        <p:grpSpPr>
          <a:xfrm>
            <a:off x="4754879" y="1585039"/>
            <a:ext cx="5157216" cy="1241567"/>
            <a:chOff x="4855464" y="1509761"/>
            <a:chExt cx="5113528" cy="1241567"/>
          </a:xfrm>
        </p:grpSpPr>
        <p:sp>
          <p:nvSpPr>
            <p:cNvPr id="49" name="Rectangle 48"/>
            <p:cNvSpPr/>
            <p:nvPr/>
          </p:nvSpPr>
          <p:spPr>
            <a:xfrm>
              <a:off x="4855464" y="1778508"/>
              <a:ext cx="5113528" cy="972820"/>
            </a:xfrm>
            <a:prstGeom prst="rect">
              <a:avLst/>
            </a:prstGeom>
            <a:noFill/>
            <a:ln w="25400">
              <a:solidFill>
                <a:srgbClr val="E893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884788" y="1509761"/>
              <a:ext cx="893379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en-US" altLang="zh-CN" sz="1600" b="1" i="1" dirty="0">
                  <a:solidFill>
                    <a:srgbClr val="E8934A"/>
                  </a:solidFill>
                </a:rPr>
                <a:t>ATKP </a:t>
              </a:r>
              <a:r>
                <a:rPr lang="zh-CN" altLang="en-US" sz="1600" b="1" i="1" dirty="0">
                  <a:solidFill>
                    <a:srgbClr val="E8934A"/>
                  </a:solidFill>
                </a:rPr>
                <a:t>封包</a:t>
              </a:r>
              <a:endParaRPr sz="1600" b="1" i="1" dirty="0">
                <a:solidFill>
                  <a:srgbClr val="E8934A"/>
                </a:solidFill>
              </a:endParaRPr>
            </a:p>
          </p:txBody>
        </p:sp>
      </p:grp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3E2ACED0-3955-4A83-B2FB-A8698F1C95D5}"/>
              </a:ext>
            </a:extLst>
          </p:cNvPr>
          <p:cNvSpPr/>
          <p:nvPr/>
        </p:nvSpPr>
        <p:spPr>
          <a:xfrm>
            <a:off x="7269481" y="3118870"/>
            <a:ext cx="4343400" cy="2900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2">
            <a:extLst>
              <a:ext uri="{FF2B5EF4-FFF2-40B4-BE49-F238E27FC236}">
                <a16:creationId xmlns:a16="http://schemas.microsoft.com/office/drawing/2014/main" id="{2A4C84D7-B5D8-41B3-8998-C4C9E1A33D45}"/>
              </a:ext>
            </a:extLst>
          </p:cNvPr>
          <p:cNvSpPr txBox="1"/>
          <p:nvPr/>
        </p:nvSpPr>
        <p:spPr>
          <a:xfrm>
            <a:off x="7516369" y="3410875"/>
            <a:ext cx="3865626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CN" altLang="en-US" sz="1700" b="1" dirty="0">
                <a:solidFill>
                  <a:srgbClr val="183052"/>
                </a:solidFill>
                <a:latin typeface="Microsoft JhengHei"/>
              </a:rPr>
              <a:t>注意</a:t>
            </a:r>
            <a:endParaRPr sz="17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C262D6B-044C-45B1-9966-26C7802DE3C1}"/>
              </a:ext>
            </a:extLst>
          </p:cNvPr>
          <p:cNvSpPr txBox="1"/>
          <p:nvPr/>
        </p:nvSpPr>
        <p:spPr>
          <a:xfrm>
            <a:off x="7516370" y="3764818"/>
            <a:ext cx="3865626" cy="10275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400" b="0" dirty="0">
                <a:solidFill>
                  <a:srgbClr val="23364C"/>
                </a:solidFill>
                <a:latin typeface="Microsoft JhengHei"/>
              </a:rPr>
              <a:t>ATK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中 </a:t>
            </a:r>
            <a:r>
              <a:rPr lang="en-US" altLang="zh-CN" sz="1400" b="0" dirty="0" err="1">
                <a:solidFill>
                  <a:srgbClr val="23364C"/>
                </a:solidFill>
                <a:latin typeface="Microsoft JhengHei"/>
              </a:rPr>
              <a:t>nRF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與 </a:t>
            </a:r>
            <a:r>
              <a:rPr lang="en-US" altLang="zh-CN" sz="1400" dirty="0">
                <a:solidFill>
                  <a:srgbClr val="23364C"/>
                </a:solidFill>
                <a:latin typeface="Microsoft JhengHei"/>
              </a:rPr>
              <a:t>STM </a:t>
            </a:r>
            <a:r>
              <a:rPr lang="zh-CN" altLang="en-US" sz="1400" dirty="0">
                <a:solidFill>
                  <a:srgbClr val="23364C"/>
                </a:solidFill>
                <a:latin typeface="Microsoft JhengHei"/>
              </a:rPr>
              <a:t>之間通過</a:t>
            </a:r>
            <a:r>
              <a:rPr lang="en-US" altLang="zh-TW" sz="1400" b="0" dirty="0">
                <a:solidFill>
                  <a:srgbClr val="1B2A4A"/>
                </a:solidFill>
              </a:rPr>
              <a:t>UART</a:t>
            </a:r>
            <a:r>
              <a:rPr lang="zh-CN" altLang="en-US" sz="1400" b="0" dirty="0">
                <a:solidFill>
                  <a:srgbClr val="1B2A4A"/>
                </a:solidFill>
              </a:rPr>
              <a:t>使用該通訊協議進行溝通。</a:t>
            </a:r>
            <a:r>
              <a:rPr lang="en-US" altLang="zh-TW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而本研究中只在與上位機溝通中使用。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實機影片(一):移植後的飛行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【影片位置:此處替換為飛行影片截圖】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影片內容: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開機自檢、遙控器配對、起飛、定高懸停、訊號中斷後繼續飛、降落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　請注意: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訊號中斷那一段,飛機高度沒有掉下來,訊號回來就繼續飛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9312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(定位與決策)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25806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廣播轉發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 flipV="1">
            <a:off x="5349240" y="2121408"/>
            <a:ext cx="640080" cy="301752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nRF自製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3" name="Shape 21"/>
          <p:cNvSpPr/>
          <p:nvPr/>
        </p:nvSpPr>
        <p:spPr>
          <a:xfrm flipV="1">
            <a:off x="8138160" y="2770633"/>
            <a:ext cx="640080" cy="320039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發出藍牙訊號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400" dirty="0"/>
          </a:p>
        </p:txBody>
      </p:sp>
      <p:sp>
        <p:nvSpPr>
          <p:cNvPr id="41" name="Rounded Rectangle 14">
            <a:extLst>
              <a:ext uri="{FF2B5EF4-FFF2-40B4-BE49-F238E27FC236}">
                <a16:creationId xmlns:a16="http://schemas.microsoft.com/office/drawing/2014/main" id="{00935FB2-DCB4-400F-BAF8-3B96215BEED8}"/>
              </a:ext>
            </a:extLst>
          </p:cNvPr>
          <p:cNvSpPr/>
          <p:nvPr/>
        </p:nvSpPr>
        <p:spPr>
          <a:xfrm>
            <a:off x="550848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Rounded Rectangle 15">
            <a:extLst>
              <a:ext uri="{FF2B5EF4-FFF2-40B4-BE49-F238E27FC236}">
                <a16:creationId xmlns:a16="http://schemas.microsoft.com/office/drawing/2014/main" id="{06FCC066-AD2F-4278-8770-D74040E3144F}"/>
              </a:ext>
            </a:extLst>
          </p:cNvPr>
          <p:cNvSpPr/>
          <p:nvPr/>
        </p:nvSpPr>
        <p:spPr>
          <a:xfrm>
            <a:off x="550848" y="4019470"/>
            <a:ext cx="3519704" cy="45720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02242CE-65E7-4599-BB4C-3CFB0726D7C2}"/>
              </a:ext>
            </a:extLst>
          </p:cNvPr>
          <p:cNvSpPr txBox="1"/>
          <p:nvPr/>
        </p:nvSpPr>
        <p:spPr>
          <a:xfrm>
            <a:off x="715440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3BA3824B-6A27-474D-ABBB-DE40D6082046}"/>
              </a:ext>
            </a:extLst>
          </p:cNvPr>
          <p:cNvSpPr txBox="1"/>
          <p:nvPr/>
        </p:nvSpPr>
        <p:spPr>
          <a:xfrm>
            <a:off x="752016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同一封包</a:t>
            </a:r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，同一指令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5" name="Rounded Rectangle 18">
            <a:extLst>
              <a:ext uri="{FF2B5EF4-FFF2-40B4-BE49-F238E27FC236}">
                <a16:creationId xmlns:a16="http://schemas.microsoft.com/office/drawing/2014/main" id="{826908FC-A0DD-4A16-A125-F67E3244BFC5}"/>
              </a:ext>
            </a:extLst>
          </p:cNvPr>
          <p:cNvSpPr/>
          <p:nvPr/>
        </p:nvSpPr>
        <p:spPr>
          <a:xfrm>
            <a:off x="4271720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Rounded Rectangle 19">
            <a:extLst>
              <a:ext uri="{FF2B5EF4-FFF2-40B4-BE49-F238E27FC236}">
                <a16:creationId xmlns:a16="http://schemas.microsoft.com/office/drawing/2014/main" id="{CB62C852-DE8A-4F44-A6FB-3C0C68D93773}"/>
              </a:ext>
            </a:extLst>
          </p:cNvPr>
          <p:cNvSpPr/>
          <p:nvPr/>
        </p:nvSpPr>
        <p:spPr>
          <a:xfrm>
            <a:off x="4271720" y="4019470"/>
            <a:ext cx="3519704" cy="457200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0BCF020D-F535-4659-B2F5-B5462A424878}"/>
              </a:ext>
            </a:extLst>
          </p:cNvPr>
          <p:cNvSpPr txBox="1"/>
          <p:nvPr/>
        </p:nvSpPr>
        <p:spPr>
          <a:xfrm>
            <a:off x="4436312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8" name="TextBox 21">
            <a:extLst>
              <a:ext uri="{FF2B5EF4-FFF2-40B4-BE49-F238E27FC236}">
                <a16:creationId xmlns:a16="http://schemas.microsoft.com/office/drawing/2014/main" id="{7C89FB75-E5F4-4F09-94E3-FDB841CB1752}"/>
              </a:ext>
            </a:extLst>
          </p:cNvPr>
          <p:cNvSpPr txBox="1"/>
          <p:nvPr/>
        </p:nvSpPr>
        <p:spPr>
          <a:xfrm>
            <a:off x="4472888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一包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不同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指令；各機取自己的段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9" name="Rounded Rectangle 22">
            <a:extLst>
              <a:ext uri="{FF2B5EF4-FFF2-40B4-BE49-F238E27FC236}">
                <a16:creationId xmlns:a16="http://schemas.microsoft.com/office/drawing/2014/main" id="{A924CD6F-F369-40A9-A736-C4747B8D6E13}"/>
              </a:ext>
            </a:extLst>
          </p:cNvPr>
          <p:cNvSpPr/>
          <p:nvPr/>
        </p:nvSpPr>
        <p:spPr>
          <a:xfrm>
            <a:off x="7956016" y="402336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Rounded Rectangle 23">
            <a:extLst>
              <a:ext uri="{FF2B5EF4-FFF2-40B4-BE49-F238E27FC236}">
                <a16:creationId xmlns:a16="http://schemas.microsoft.com/office/drawing/2014/main" id="{D4ABED9E-6061-4067-AA34-2512412B3BDE}"/>
              </a:ext>
            </a:extLst>
          </p:cNvPr>
          <p:cNvSpPr/>
          <p:nvPr/>
        </p:nvSpPr>
        <p:spPr>
          <a:xfrm>
            <a:off x="7956016" y="4023360"/>
            <a:ext cx="3519704" cy="45720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狀態查詢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D728FC0B-74FF-4198-A7C9-7E36011D174C}"/>
              </a:ext>
            </a:extLst>
          </p:cNvPr>
          <p:cNvSpPr txBox="1"/>
          <p:nvPr/>
        </p:nvSpPr>
        <p:spPr>
          <a:xfrm>
            <a:off x="8120608" y="460679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輪流取得狀態</a:t>
            </a:r>
          </a:p>
        </p:txBody>
      </p:sp>
      <p:sp>
        <p:nvSpPr>
          <p:cNvPr id="52" name="TextBox 25">
            <a:extLst>
              <a:ext uri="{FF2B5EF4-FFF2-40B4-BE49-F238E27FC236}">
                <a16:creationId xmlns:a16="http://schemas.microsoft.com/office/drawing/2014/main" id="{32A9D13F-38BD-4B95-9946-4228CFF3FF07}"/>
              </a:ext>
            </a:extLst>
          </p:cNvPr>
          <p:cNvSpPr txBox="1"/>
          <p:nvPr/>
        </p:nvSpPr>
        <p:spPr>
          <a:xfrm>
            <a:off x="8157184" y="521988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每約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lang="en-US" sz="1200" b="0" dirty="0">
                <a:solidFill>
                  <a:srgbClr val="627384"/>
                </a:solidFill>
                <a:latin typeface="Microsoft JhengHei"/>
              </a:rPr>
              <a:t>130</a:t>
            </a:r>
            <a:r>
              <a:rPr lang="en-US" altLang="zh-CN" sz="1200" b="0" dirty="0">
                <a:solidFill>
                  <a:srgbClr val="627384"/>
                </a:solidFill>
                <a:latin typeface="Microsoft JhengHei"/>
              </a:rPr>
              <a:t>ms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回一對一查詢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44" name="Rounded Rectangle 7">
            <a:extLst>
              <a:ext uri="{FF2B5EF4-FFF2-40B4-BE49-F238E27FC236}">
                <a16:creationId xmlns:a16="http://schemas.microsoft.com/office/drawing/2014/main" id="{E3CB8829-8ACE-472F-9CE5-A6946D4E2E2D}"/>
              </a:ext>
            </a:extLst>
          </p:cNvPr>
          <p:cNvSpPr/>
          <p:nvPr/>
        </p:nvSpPr>
        <p:spPr>
          <a:xfrm>
            <a:off x="2287805" y="1709928"/>
            <a:ext cx="2929058" cy="530352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一對一</a:t>
            </a:r>
            <a:endParaRPr sz="14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7A85A126-31E7-4ED1-A12E-AB059FE8A5B7}"/>
              </a:ext>
            </a:extLst>
          </p:cNvPr>
          <p:cNvSpPr/>
          <p:nvPr/>
        </p:nvSpPr>
        <p:spPr>
          <a:xfrm>
            <a:off x="5288963" y="1709928"/>
            <a:ext cx="2929058" cy="530352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6" name="Rounded Rectangle 9">
            <a:extLst>
              <a:ext uri="{FF2B5EF4-FFF2-40B4-BE49-F238E27FC236}">
                <a16:creationId xmlns:a16="http://schemas.microsoft.com/office/drawing/2014/main" id="{D30A9E94-1EB5-4C6F-B0EB-85BD4BD482DD}"/>
              </a:ext>
            </a:extLst>
          </p:cNvPr>
          <p:cNvSpPr/>
          <p:nvPr/>
        </p:nvSpPr>
        <p:spPr>
          <a:xfrm>
            <a:off x="8290121" y="1709928"/>
            <a:ext cx="2929058" cy="530352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Rounded Rectangle 10">
            <a:extLst>
              <a:ext uri="{FF2B5EF4-FFF2-40B4-BE49-F238E27FC236}">
                <a16:creationId xmlns:a16="http://schemas.microsoft.com/office/drawing/2014/main" id="{FFA43171-FC25-49B8-AA41-AC72782959E5}"/>
              </a:ext>
            </a:extLst>
          </p:cNvPr>
          <p:cNvSpPr/>
          <p:nvPr/>
        </p:nvSpPr>
        <p:spPr>
          <a:xfrm>
            <a:off x="593457" y="2350008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48" name="TextBox 11">
            <a:extLst>
              <a:ext uri="{FF2B5EF4-FFF2-40B4-BE49-F238E27FC236}">
                <a16:creationId xmlns:a16="http://schemas.microsoft.com/office/drawing/2014/main" id="{ED13D70E-FAE0-41B1-97D3-94306075B7F1}"/>
              </a:ext>
            </a:extLst>
          </p:cNvPr>
          <p:cNvSpPr txBox="1"/>
          <p:nvPr/>
        </p:nvSpPr>
        <p:spPr>
          <a:xfrm>
            <a:off x="665557" y="2513260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發送次數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49" name="Rounded Rectangle 12">
            <a:extLst>
              <a:ext uri="{FF2B5EF4-FFF2-40B4-BE49-F238E27FC236}">
                <a16:creationId xmlns:a16="http://schemas.microsoft.com/office/drawing/2014/main" id="{A58852A1-04F3-4682-9876-7263A61A09D4}"/>
              </a:ext>
            </a:extLst>
          </p:cNvPr>
          <p:cNvSpPr/>
          <p:nvPr/>
        </p:nvSpPr>
        <p:spPr>
          <a:xfrm>
            <a:off x="2287805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TextBox 13">
            <a:extLst>
              <a:ext uri="{FF2B5EF4-FFF2-40B4-BE49-F238E27FC236}">
                <a16:creationId xmlns:a16="http://schemas.microsoft.com/office/drawing/2014/main" id="{615356D1-DFAF-4DE6-91A3-F57F5DBCC035}"/>
              </a:ext>
            </a:extLst>
          </p:cNvPr>
          <p:cNvSpPr txBox="1"/>
          <p:nvPr/>
        </p:nvSpPr>
        <p:spPr>
          <a:xfrm>
            <a:off x="2359904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N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次（逐架</a:t>
            </a:r>
            <a:r>
              <a:rPr sz="1200" b="0" dirty="0">
                <a:solidFill>
                  <a:srgbClr val="23364C"/>
                </a:solidFill>
                <a:latin typeface="Microsoft JhengHei"/>
              </a:rPr>
              <a:t>）</a:t>
            </a:r>
          </a:p>
        </p:txBody>
      </p:sp>
      <p:sp>
        <p:nvSpPr>
          <p:cNvPr id="51" name="Rounded Rectangle 14">
            <a:extLst>
              <a:ext uri="{FF2B5EF4-FFF2-40B4-BE49-F238E27FC236}">
                <a16:creationId xmlns:a16="http://schemas.microsoft.com/office/drawing/2014/main" id="{239B00D6-4287-427D-A0A3-F447C6618B13}"/>
              </a:ext>
            </a:extLst>
          </p:cNvPr>
          <p:cNvSpPr/>
          <p:nvPr/>
        </p:nvSpPr>
        <p:spPr>
          <a:xfrm>
            <a:off x="5288963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2" name="TextBox 15">
            <a:extLst>
              <a:ext uri="{FF2B5EF4-FFF2-40B4-BE49-F238E27FC236}">
                <a16:creationId xmlns:a16="http://schemas.microsoft.com/office/drawing/2014/main" id="{FE148406-234D-41E0-A711-F781BCF2E751}"/>
              </a:ext>
            </a:extLst>
          </p:cNvPr>
          <p:cNvSpPr txBox="1"/>
          <p:nvPr/>
        </p:nvSpPr>
        <p:spPr>
          <a:xfrm>
            <a:off x="5361063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2031CBF9-877C-4968-9BE8-DCFCDB12619C}"/>
              </a:ext>
            </a:extLst>
          </p:cNvPr>
          <p:cNvSpPr/>
          <p:nvPr/>
        </p:nvSpPr>
        <p:spPr>
          <a:xfrm>
            <a:off x="8290121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4" name="TextBox 17">
            <a:extLst>
              <a:ext uri="{FF2B5EF4-FFF2-40B4-BE49-F238E27FC236}">
                <a16:creationId xmlns:a16="http://schemas.microsoft.com/office/drawing/2014/main" id="{BB745189-59C3-464E-B023-0E56ADC9E1F9}"/>
              </a:ext>
            </a:extLst>
          </p:cNvPr>
          <p:cNvSpPr txBox="1"/>
          <p:nvPr/>
        </p:nvSpPr>
        <p:spPr>
          <a:xfrm>
            <a:off x="8362221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5" name="Rounded Rectangle 18">
            <a:extLst>
              <a:ext uri="{FF2B5EF4-FFF2-40B4-BE49-F238E27FC236}">
                <a16:creationId xmlns:a16="http://schemas.microsoft.com/office/drawing/2014/main" id="{1DCCA4A6-8806-42DD-9C57-FED4C0ED8943}"/>
              </a:ext>
            </a:extLst>
          </p:cNvPr>
          <p:cNvSpPr/>
          <p:nvPr/>
        </p:nvSpPr>
        <p:spPr>
          <a:xfrm>
            <a:off x="593457" y="3017520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671B39FA-8BAB-4508-AE71-BBCF87694746}"/>
              </a:ext>
            </a:extLst>
          </p:cNvPr>
          <p:cNvSpPr txBox="1"/>
          <p:nvPr/>
        </p:nvSpPr>
        <p:spPr>
          <a:xfrm>
            <a:off x="665557" y="3180772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指令同步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7" name="Rounded Rectangle 20">
            <a:extLst>
              <a:ext uri="{FF2B5EF4-FFF2-40B4-BE49-F238E27FC236}">
                <a16:creationId xmlns:a16="http://schemas.microsoft.com/office/drawing/2014/main" id="{7489162F-4780-4B38-8A83-30AED294E6B1}"/>
              </a:ext>
            </a:extLst>
          </p:cNvPr>
          <p:cNvSpPr/>
          <p:nvPr/>
        </p:nvSpPr>
        <p:spPr>
          <a:xfrm>
            <a:off x="2287805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BD4E2E57-A5B9-4CCF-9F56-AC07CFA9C63D}"/>
              </a:ext>
            </a:extLst>
          </p:cNvPr>
          <p:cNvSpPr txBox="1"/>
          <p:nvPr/>
        </p:nvSpPr>
        <p:spPr>
          <a:xfrm>
            <a:off x="2359904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各架錯開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9" name="Rounded Rectangle 22">
            <a:extLst>
              <a:ext uri="{FF2B5EF4-FFF2-40B4-BE49-F238E27FC236}">
                <a16:creationId xmlns:a16="http://schemas.microsoft.com/office/drawing/2014/main" id="{54262C15-E7B9-4EAD-AEEC-8FB6B9AE62DE}"/>
              </a:ext>
            </a:extLst>
          </p:cNvPr>
          <p:cNvSpPr/>
          <p:nvPr/>
        </p:nvSpPr>
        <p:spPr>
          <a:xfrm>
            <a:off x="5288963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EFF66070-D58E-4F48-BEA0-551A583C13DD}"/>
              </a:ext>
            </a:extLst>
          </p:cNvPr>
          <p:cNvSpPr txBox="1"/>
          <p:nvPr/>
        </p:nvSpPr>
        <p:spPr>
          <a:xfrm>
            <a:off x="5361063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1" name="Rounded Rectangle 24">
            <a:extLst>
              <a:ext uri="{FF2B5EF4-FFF2-40B4-BE49-F238E27FC236}">
                <a16:creationId xmlns:a16="http://schemas.microsoft.com/office/drawing/2014/main" id="{5073EDF5-AC75-462D-88CB-0D77D213623E}"/>
              </a:ext>
            </a:extLst>
          </p:cNvPr>
          <p:cNvSpPr/>
          <p:nvPr/>
        </p:nvSpPr>
        <p:spPr>
          <a:xfrm>
            <a:off x="8290121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2" name="TextBox 25">
            <a:extLst>
              <a:ext uri="{FF2B5EF4-FFF2-40B4-BE49-F238E27FC236}">
                <a16:creationId xmlns:a16="http://schemas.microsoft.com/office/drawing/2014/main" id="{6DC0BF43-863A-4740-B2C5-456F0D6E47BE}"/>
              </a:ext>
            </a:extLst>
          </p:cNvPr>
          <p:cNvSpPr txBox="1"/>
          <p:nvPr/>
        </p:nvSpPr>
        <p:spPr>
          <a:xfrm>
            <a:off x="8362221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3" name="Rounded Rectangle 26">
            <a:extLst>
              <a:ext uri="{FF2B5EF4-FFF2-40B4-BE49-F238E27FC236}">
                <a16:creationId xmlns:a16="http://schemas.microsoft.com/office/drawing/2014/main" id="{74C0EBFC-F281-4248-91C6-86EDA38F7FAE}"/>
              </a:ext>
            </a:extLst>
          </p:cNvPr>
          <p:cNvSpPr/>
          <p:nvPr/>
        </p:nvSpPr>
        <p:spPr>
          <a:xfrm>
            <a:off x="593457" y="3685032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4" name="TextBox 27">
            <a:extLst>
              <a:ext uri="{FF2B5EF4-FFF2-40B4-BE49-F238E27FC236}">
                <a16:creationId xmlns:a16="http://schemas.microsoft.com/office/drawing/2014/main" id="{F20E75B1-F897-4D68-9E5A-2E08FF9E003B}"/>
              </a:ext>
            </a:extLst>
          </p:cNvPr>
          <p:cNvSpPr txBox="1"/>
          <p:nvPr/>
        </p:nvSpPr>
        <p:spPr>
          <a:xfrm>
            <a:off x="665557" y="3848284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狀態回覆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65" name="Rounded Rectangle 28">
            <a:extLst>
              <a:ext uri="{FF2B5EF4-FFF2-40B4-BE49-F238E27FC236}">
                <a16:creationId xmlns:a16="http://schemas.microsoft.com/office/drawing/2014/main" id="{2A1CCD0E-8B3E-44BE-BC94-BF3C21D59CAE}"/>
              </a:ext>
            </a:extLst>
          </p:cNvPr>
          <p:cNvSpPr/>
          <p:nvPr/>
        </p:nvSpPr>
        <p:spPr>
          <a:xfrm>
            <a:off x="2287805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29">
            <a:extLst>
              <a:ext uri="{FF2B5EF4-FFF2-40B4-BE49-F238E27FC236}">
                <a16:creationId xmlns:a16="http://schemas.microsoft.com/office/drawing/2014/main" id="{4196EB04-806B-48D0-BDFD-290769109061}"/>
              </a:ext>
            </a:extLst>
          </p:cNvPr>
          <p:cNvSpPr txBox="1"/>
          <p:nvPr/>
        </p:nvSpPr>
        <p:spPr>
          <a:xfrm>
            <a:off x="2359904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✓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有,可重送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7" name="Rounded Rectangle 30">
            <a:extLst>
              <a:ext uri="{FF2B5EF4-FFF2-40B4-BE49-F238E27FC236}">
                <a16:creationId xmlns:a16="http://schemas.microsoft.com/office/drawing/2014/main" id="{A590AD31-79DB-4DD7-944F-35FFDC01CBBC}"/>
              </a:ext>
            </a:extLst>
          </p:cNvPr>
          <p:cNvSpPr/>
          <p:nvPr/>
        </p:nvSpPr>
        <p:spPr>
          <a:xfrm>
            <a:off x="5288963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8" name="TextBox 31">
            <a:extLst>
              <a:ext uri="{FF2B5EF4-FFF2-40B4-BE49-F238E27FC236}">
                <a16:creationId xmlns:a16="http://schemas.microsoft.com/office/drawing/2014/main" id="{8784467B-10D6-43E8-A8EA-AC3C1FD64D49}"/>
              </a:ext>
            </a:extLst>
          </p:cNvPr>
          <p:cNvSpPr txBox="1"/>
          <p:nvPr/>
        </p:nvSpPr>
        <p:spPr>
          <a:xfrm>
            <a:off x="5361063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69" name="Rounded Rectangle 32">
            <a:extLst>
              <a:ext uri="{FF2B5EF4-FFF2-40B4-BE49-F238E27FC236}">
                <a16:creationId xmlns:a16="http://schemas.microsoft.com/office/drawing/2014/main" id="{144FC58C-8AB6-4367-92B8-BC061B94F853}"/>
              </a:ext>
            </a:extLst>
          </p:cNvPr>
          <p:cNvSpPr/>
          <p:nvPr/>
        </p:nvSpPr>
        <p:spPr>
          <a:xfrm>
            <a:off x="8290121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" name="TextBox 33">
            <a:extLst>
              <a:ext uri="{FF2B5EF4-FFF2-40B4-BE49-F238E27FC236}">
                <a16:creationId xmlns:a16="http://schemas.microsoft.com/office/drawing/2014/main" id="{A098A78B-34ED-4F25-BA15-33FF1FAD33F9}"/>
              </a:ext>
            </a:extLst>
          </p:cNvPr>
          <p:cNvSpPr txBox="1"/>
          <p:nvPr/>
        </p:nvSpPr>
        <p:spPr>
          <a:xfrm>
            <a:off x="8362221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71" name="Rounded Rectangle 34">
            <a:extLst>
              <a:ext uri="{FF2B5EF4-FFF2-40B4-BE49-F238E27FC236}">
                <a16:creationId xmlns:a16="http://schemas.microsoft.com/office/drawing/2014/main" id="{FEB25110-2A71-4025-B912-300C98A896B3}"/>
              </a:ext>
            </a:extLst>
          </p:cNvPr>
          <p:cNvSpPr/>
          <p:nvPr/>
        </p:nvSpPr>
        <p:spPr>
          <a:xfrm>
            <a:off x="593457" y="4352543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2" name="TextBox 35">
            <a:extLst>
              <a:ext uri="{FF2B5EF4-FFF2-40B4-BE49-F238E27FC236}">
                <a16:creationId xmlns:a16="http://schemas.microsoft.com/office/drawing/2014/main" id="{5A6197E7-9824-40C0-8986-B010DFA0659F}"/>
              </a:ext>
            </a:extLst>
          </p:cNvPr>
          <p:cNvSpPr txBox="1"/>
          <p:nvPr/>
        </p:nvSpPr>
        <p:spPr>
          <a:xfrm>
            <a:off x="665557" y="4515795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同時操控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73" name="Rounded Rectangle 36">
            <a:extLst>
              <a:ext uri="{FF2B5EF4-FFF2-40B4-BE49-F238E27FC236}">
                <a16:creationId xmlns:a16="http://schemas.microsoft.com/office/drawing/2014/main" id="{E0FD3305-FD99-4F52-8817-D13A734FB854}"/>
              </a:ext>
            </a:extLst>
          </p:cNvPr>
          <p:cNvSpPr/>
          <p:nvPr/>
        </p:nvSpPr>
        <p:spPr>
          <a:xfrm>
            <a:off x="2287805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4" name="TextBox 37">
            <a:extLst>
              <a:ext uri="{FF2B5EF4-FFF2-40B4-BE49-F238E27FC236}">
                <a16:creationId xmlns:a16="http://schemas.microsoft.com/office/drawing/2014/main" id="{84A96ABE-E61B-4E20-A72E-E4CF7384F2DB}"/>
              </a:ext>
            </a:extLst>
          </p:cNvPr>
          <p:cNvSpPr txBox="1"/>
          <p:nvPr/>
        </p:nvSpPr>
        <p:spPr>
          <a:xfrm>
            <a:off x="2359904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架</a:t>
            </a:r>
          </a:p>
        </p:txBody>
      </p:sp>
      <p:sp>
        <p:nvSpPr>
          <p:cNvPr id="75" name="Rounded Rectangle 38">
            <a:extLst>
              <a:ext uri="{FF2B5EF4-FFF2-40B4-BE49-F238E27FC236}">
                <a16:creationId xmlns:a16="http://schemas.microsoft.com/office/drawing/2014/main" id="{A330B67A-42EE-445B-87B1-F6A9A6507CD8}"/>
              </a:ext>
            </a:extLst>
          </p:cNvPr>
          <p:cNvSpPr/>
          <p:nvPr/>
        </p:nvSpPr>
        <p:spPr>
          <a:xfrm>
            <a:off x="5288963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E1C02E1-D5B0-416B-A06F-09F673F08ED9}"/>
              </a:ext>
            </a:extLst>
          </p:cNvPr>
          <p:cNvSpPr txBox="1"/>
          <p:nvPr/>
        </p:nvSpPr>
        <p:spPr>
          <a:xfrm>
            <a:off x="5361063" y="4515796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多架；</a:t>
            </a:r>
            <a:r>
              <a:rPr lang="zh-TW" altLang="en-US" sz="1200" dirty="0">
                <a:solidFill>
                  <a:srgbClr val="23364C"/>
                </a:solidFill>
                <a:latin typeface="Microsoft JhengHei"/>
              </a:rPr>
              <a:t>同步</a:t>
            </a:r>
            <a:endParaRPr lang="zh-TW" altLang="en-US"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77" name="Rounded Rectangle 40">
            <a:extLst>
              <a:ext uri="{FF2B5EF4-FFF2-40B4-BE49-F238E27FC236}">
                <a16:creationId xmlns:a16="http://schemas.microsoft.com/office/drawing/2014/main" id="{FE4600E7-25B9-4FDA-BDC9-86ED1EC69B20}"/>
              </a:ext>
            </a:extLst>
          </p:cNvPr>
          <p:cNvSpPr/>
          <p:nvPr/>
        </p:nvSpPr>
        <p:spPr>
          <a:xfrm>
            <a:off x="8290121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8" name="TextBox 41">
            <a:extLst>
              <a:ext uri="{FF2B5EF4-FFF2-40B4-BE49-F238E27FC236}">
                <a16:creationId xmlns:a16="http://schemas.microsoft.com/office/drawing/2014/main" id="{25ED75BA-8434-42C4-9F3F-BCDBA7222A24}"/>
              </a:ext>
            </a:extLst>
          </p:cNvPr>
          <p:cNvSpPr txBox="1"/>
          <p:nvPr/>
        </p:nvSpPr>
        <p:spPr>
          <a:xfrm>
            <a:off x="8362221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架；可不同動作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00481" y="190392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9823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79823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79823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98895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98895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98895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6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17967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117967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17967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Byte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91319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6" name="Text 24"/>
          <p:cNvSpPr/>
          <p:nvPr/>
        </p:nvSpPr>
        <p:spPr>
          <a:xfrm>
            <a:off x="7791319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目標位元組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837039" y="2445894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0=全體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1=nRF 2=ATK</a:t>
            </a:r>
            <a:endParaRPr lang="en-US" sz="1600" dirty="0"/>
          </a:p>
        </p:txBody>
      </p:sp>
      <p:sp>
        <p:nvSpPr>
          <p:cNvPr id="60" name="Rounded Rectangle 27">
            <a:extLst>
              <a:ext uri="{FF2B5EF4-FFF2-40B4-BE49-F238E27FC236}">
                <a16:creationId xmlns:a16="http://schemas.microsoft.com/office/drawing/2014/main" id="{5049BE56-5DD9-4081-830C-41C98CA93480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FFFFFF"/>
              </a:solidFill>
            </a:endParaRPr>
          </a:p>
        </p:txBody>
      </p:sp>
      <p:sp>
        <p:nvSpPr>
          <p:cNvPr id="61" name="TextBox 28">
            <a:extLst>
              <a:ext uri="{FF2B5EF4-FFF2-40B4-BE49-F238E27FC236}">
                <a16:creationId xmlns:a16="http://schemas.microsoft.com/office/drawing/2014/main" id="{62C70F1B-ED08-475F-AD1C-6D7ECC757344}"/>
              </a:ext>
            </a:extLst>
          </p:cNvPr>
          <p:cNvSpPr txBox="1"/>
          <p:nvPr/>
        </p:nvSpPr>
        <p:spPr>
          <a:xfrm>
            <a:off x="777240" y="3188652"/>
            <a:ext cx="635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remoterData_t　27 Byte</a:t>
            </a:r>
          </a:p>
        </p:txBody>
      </p:sp>
      <p:sp>
        <p:nvSpPr>
          <p:cNvPr id="62" name="Rounded Rectangle 29">
            <a:extLst>
              <a:ext uri="{FF2B5EF4-FFF2-40B4-BE49-F238E27FC236}">
                <a16:creationId xmlns:a16="http://schemas.microsoft.com/office/drawing/2014/main" id="{2C8AA37C-59CC-4874-990A-2DE381535412}"/>
              </a:ext>
            </a:extLst>
          </p:cNvPr>
          <p:cNvSpPr/>
          <p:nvPr/>
        </p:nvSpPr>
        <p:spPr>
          <a:xfrm>
            <a:off x="777240" y="3657599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onsolas"/>
              </a:rPr>
              <a:t>roll / pitch / yaw</a:t>
            </a:r>
          </a:p>
        </p:txBody>
      </p:sp>
      <p:sp>
        <p:nvSpPr>
          <p:cNvPr id="63" name="TextBox 30">
            <a:extLst>
              <a:ext uri="{FF2B5EF4-FFF2-40B4-BE49-F238E27FC236}">
                <a16:creationId xmlns:a16="http://schemas.microsoft.com/office/drawing/2014/main" id="{31AE2D0C-3C5E-4D9B-ADBD-041D34FCCB0F}"/>
              </a:ext>
            </a:extLst>
          </p:cNvPr>
          <p:cNvSpPr txBox="1"/>
          <p:nvPr/>
        </p:nvSpPr>
        <p:spPr>
          <a:xfrm>
            <a:off x="3048000" y="3687622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12 B</a:t>
            </a:r>
          </a:p>
        </p:txBody>
      </p:sp>
      <p:sp>
        <p:nvSpPr>
          <p:cNvPr id="64" name="TextBox 31">
            <a:extLst>
              <a:ext uri="{FF2B5EF4-FFF2-40B4-BE49-F238E27FC236}">
                <a16:creationId xmlns:a16="http://schemas.microsoft.com/office/drawing/2014/main" id="{5FBE5B14-BE79-4829-A324-0A3A4BE89E1F}"/>
              </a:ext>
            </a:extLst>
          </p:cNvPr>
          <p:cNvSpPr txBox="1"/>
          <p:nvPr/>
        </p:nvSpPr>
        <p:spPr>
          <a:xfrm>
            <a:off x="3937000" y="3703010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姿態,各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83C57ECD-1155-4E2C-9E90-B925DF7206EB}"/>
              </a:ext>
            </a:extLst>
          </p:cNvPr>
          <p:cNvSpPr/>
          <p:nvPr/>
        </p:nvSpPr>
        <p:spPr>
          <a:xfrm>
            <a:off x="777240" y="4074796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thrust</a:t>
            </a:r>
          </a:p>
        </p:txBody>
      </p:sp>
      <p:sp>
        <p:nvSpPr>
          <p:cNvPr id="66" name="TextBox 33">
            <a:extLst>
              <a:ext uri="{FF2B5EF4-FFF2-40B4-BE49-F238E27FC236}">
                <a16:creationId xmlns:a16="http://schemas.microsoft.com/office/drawing/2014/main" id="{6864A6B0-F09E-489D-A183-3060942D85F0}"/>
              </a:ext>
            </a:extLst>
          </p:cNvPr>
          <p:cNvSpPr txBox="1"/>
          <p:nvPr/>
        </p:nvSpPr>
        <p:spPr>
          <a:xfrm>
            <a:off x="3048000" y="411173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4 B</a:t>
            </a:r>
          </a:p>
        </p:txBody>
      </p:sp>
      <p:sp>
        <p:nvSpPr>
          <p:cNvPr id="67" name="TextBox 34">
            <a:extLst>
              <a:ext uri="{FF2B5EF4-FFF2-40B4-BE49-F238E27FC236}">
                <a16:creationId xmlns:a16="http://schemas.microsoft.com/office/drawing/2014/main" id="{CB25066F-4ABD-41BE-B888-9F4573A8BBBB}"/>
              </a:ext>
            </a:extLst>
          </p:cNvPr>
          <p:cNvSpPr txBox="1"/>
          <p:nvPr/>
        </p:nvSpPr>
        <p:spPr>
          <a:xfrm>
            <a:off x="3937001" y="412712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1B2A4A"/>
                </a:solidFill>
              </a:rPr>
              <a:t>油門,4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11A13BFB-9B68-44AE-A776-64FB66C08E56}"/>
              </a:ext>
            </a:extLst>
          </p:cNvPr>
          <p:cNvSpPr/>
          <p:nvPr/>
        </p:nvSpPr>
        <p:spPr>
          <a:xfrm>
            <a:off x="776925" y="4497582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trimRoll / trimPitch</a:t>
            </a:r>
          </a:p>
        </p:txBody>
      </p:sp>
      <p:sp>
        <p:nvSpPr>
          <p:cNvPr id="69" name="TextBox 36">
            <a:extLst>
              <a:ext uri="{FF2B5EF4-FFF2-40B4-BE49-F238E27FC236}">
                <a16:creationId xmlns:a16="http://schemas.microsoft.com/office/drawing/2014/main" id="{8809D641-2091-47AA-A967-68F49840B2D7}"/>
              </a:ext>
            </a:extLst>
          </p:cNvPr>
          <p:cNvSpPr txBox="1"/>
          <p:nvPr/>
        </p:nvSpPr>
        <p:spPr>
          <a:xfrm>
            <a:off x="3048001" y="455388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8 B</a:t>
            </a:r>
          </a:p>
        </p:txBody>
      </p:sp>
      <p:sp>
        <p:nvSpPr>
          <p:cNvPr id="70" name="TextBox 37">
            <a:extLst>
              <a:ext uri="{FF2B5EF4-FFF2-40B4-BE49-F238E27FC236}">
                <a16:creationId xmlns:a16="http://schemas.microsoft.com/office/drawing/2014/main" id="{A816D2A6-1CFF-4E54-9524-E415C8D5FDAA}"/>
              </a:ext>
            </a:extLst>
          </p:cNvPr>
          <p:cNvSpPr txBox="1"/>
          <p:nvPr/>
        </p:nvSpPr>
        <p:spPr>
          <a:xfrm>
            <a:off x="3937001" y="456927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微調,各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sz="1400" b="0" dirty="0" err="1">
                <a:solidFill>
                  <a:srgbClr val="1B2A4A"/>
                </a:solidFill>
              </a:rPr>
              <a:t>浮點</a:t>
            </a:r>
            <a:r>
              <a:rPr lang="zh-CN" altLang="en-US" sz="140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1" name="Rounded Rectangle 38">
            <a:extLst>
              <a:ext uri="{FF2B5EF4-FFF2-40B4-BE49-F238E27FC236}">
                <a16:creationId xmlns:a16="http://schemas.microsoft.com/office/drawing/2014/main" id="{256C9383-34AC-4527-86C6-AF25AA120D61}"/>
              </a:ext>
            </a:extLst>
          </p:cNvPr>
          <p:cNvSpPr/>
          <p:nvPr/>
        </p:nvSpPr>
        <p:spPr>
          <a:xfrm>
            <a:off x="777240" y="4919694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ctrlMode</a:t>
            </a:r>
          </a:p>
        </p:txBody>
      </p:sp>
      <p:sp>
        <p:nvSpPr>
          <p:cNvPr id="72" name="TextBox 39">
            <a:extLst>
              <a:ext uri="{FF2B5EF4-FFF2-40B4-BE49-F238E27FC236}">
                <a16:creationId xmlns:a16="http://schemas.microsoft.com/office/drawing/2014/main" id="{50B4C72D-8442-42D5-8EB1-C7BBECBD6F9B}"/>
              </a:ext>
            </a:extLst>
          </p:cNvPr>
          <p:cNvSpPr txBox="1"/>
          <p:nvPr/>
        </p:nvSpPr>
        <p:spPr>
          <a:xfrm>
            <a:off x="3048000" y="4979054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73" name="TextBox 40">
            <a:extLst>
              <a:ext uri="{FF2B5EF4-FFF2-40B4-BE49-F238E27FC236}">
                <a16:creationId xmlns:a16="http://schemas.microsoft.com/office/drawing/2014/main" id="{3CF79F1C-5B33-4C2F-8F78-D4C3FA228F73}"/>
              </a:ext>
            </a:extLst>
          </p:cNvPr>
          <p:cNvSpPr txBox="1"/>
          <p:nvPr/>
        </p:nvSpPr>
        <p:spPr>
          <a:xfrm>
            <a:off x="3937000" y="4994442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控制模式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4" name="Rounded Rectangle 41">
            <a:extLst>
              <a:ext uri="{FF2B5EF4-FFF2-40B4-BE49-F238E27FC236}">
                <a16:creationId xmlns:a16="http://schemas.microsoft.com/office/drawing/2014/main" id="{2E23CC78-70F6-44A3-B596-FCC75EE30011}"/>
              </a:ext>
            </a:extLst>
          </p:cNvPr>
          <p:cNvSpPr/>
          <p:nvPr/>
        </p:nvSpPr>
        <p:spPr>
          <a:xfrm>
            <a:off x="777240" y="5337579"/>
            <a:ext cx="2133600" cy="387346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</a:rPr>
              <a:t>flightMode</a:t>
            </a:r>
            <a:r>
              <a:rPr sz="1400" b="1" dirty="0">
                <a:solidFill>
                  <a:srgbClr val="FFFFFF"/>
                </a:solidFill>
              </a:rPr>
              <a:t> / </a:t>
            </a:r>
            <a:r>
              <a:rPr sz="1400" b="1" dirty="0" err="1">
                <a:solidFill>
                  <a:srgbClr val="FFFFFF"/>
                </a:solidFill>
              </a:rPr>
              <a:t>RCLock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5" name="TextBox 42">
            <a:extLst>
              <a:ext uri="{FF2B5EF4-FFF2-40B4-BE49-F238E27FC236}">
                <a16:creationId xmlns:a16="http://schemas.microsoft.com/office/drawing/2014/main" id="{82CA0E8B-640A-4C0D-8FAA-CE3AD140DAFA}"/>
              </a:ext>
            </a:extLst>
          </p:cNvPr>
          <p:cNvSpPr txBox="1"/>
          <p:nvPr/>
        </p:nvSpPr>
        <p:spPr>
          <a:xfrm>
            <a:off x="3048001" y="5385038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76" name="TextBox 43">
            <a:extLst>
              <a:ext uri="{FF2B5EF4-FFF2-40B4-BE49-F238E27FC236}">
                <a16:creationId xmlns:a16="http://schemas.microsoft.com/office/drawing/2014/main" id="{874C731D-E4B1-4C1D-839C-F2F34C359830}"/>
              </a:ext>
            </a:extLst>
          </p:cNvPr>
          <p:cNvSpPr txBox="1"/>
          <p:nvPr/>
        </p:nvSpPr>
        <p:spPr>
          <a:xfrm>
            <a:off x="3937001" y="5400426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飛行模式、遙控鎖定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8" name="Rounded Rectangle 45">
            <a:extLst>
              <a:ext uri="{FF2B5EF4-FFF2-40B4-BE49-F238E27FC236}">
                <a16:creationId xmlns:a16="http://schemas.microsoft.com/office/drawing/2014/main" id="{27A79B0F-0298-4862-B784-B42380E0DD10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▶  </a:t>
            </a:r>
            <a:r>
              <a:rPr sz="1600" b="1" dirty="0" err="1">
                <a:solidFill>
                  <a:srgbClr val="FFFFFF"/>
                </a:solidFill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</a:rPr>
              <a:t> 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1484F2F6-89A8-4B4F-BBE3-F725C060F6DE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>
              <a:solidFill>
                <a:srgbClr val="FFFFFF"/>
              </a:solidFill>
            </a:endParaRPr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13CBF27A-921B-4A3D-8B4D-3020F7D985EF}"/>
              </a:ext>
            </a:extLst>
          </p:cNvPr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 dirty="0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660904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60904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60904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79976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79976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79976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1+8×N</a:t>
            </a:r>
          </a:p>
        </p:txBody>
      </p:sp>
      <p:sp>
        <p:nvSpPr>
          <p:cNvPr id="22" name="Shape 20"/>
          <p:cNvSpPr/>
          <p:nvPr/>
        </p:nvSpPr>
        <p:spPr>
          <a:xfrm>
            <a:off x="6099048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099048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架數</a:t>
            </a: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99048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 Byte</a:t>
            </a:r>
          </a:p>
        </p:txBody>
      </p:sp>
      <p:sp>
        <p:nvSpPr>
          <p:cNvPr id="79" name="Rounded Rectangle 45">
            <a:extLst>
              <a:ext uri="{FF2B5EF4-FFF2-40B4-BE49-F238E27FC236}">
                <a16:creationId xmlns:a16="http://schemas.microsoft.com/office/drawing/2014/main" id="{F9958EC4-058D-4B57-846C-475BC8B7279B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▶  </a:t>
            </a:r>
            <a:r>
              <a:rPr sz="1600" b="1" dirty="0" err="1">
                <a:solidFill>
                  <a:srgbClr val="FFFFFF"/>
                </a:solidFill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</a:rPr>
              <a:t> </a:t>
            </a: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086D78FE-C126-4107-A8B6-A7543A541449}"/>
              </a:ext>
            </a:extLst>
          </p:cNvPr>
          <p:cNvSpPr txBox="1"/>
          <p:nvPr/>
        </p:nvSpPr>
        <p:spPr>
          <a:xfrm>
            <a:off x="777240" y="3188652"/>
            <a:ext cx="3937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b="1" dirty="0">
                <a:solidFill>
                  <a:srgbClr val="0A4D6E"/>
                </a:solidFill>
              </a:rPr>
              <a:t>Fly data</a:t>
            </a:r>
            <a:endParaRPr b="1" dirty="0">
              <a:solidFill>
                <a:srgbClr val="0A4D6E"/>
              </a:solidFill>
            </a:endParaRPr>
          </a:p>
        </p:txBody>
      </p:sp>
      <p:sp>
        <p:nvSpPr>
          <p:cNvPr id="82" name="Rounded Rectangle 19">
            <a:extLst>
              <a:ext uri="{FF2B5EF4-FFF2-40B4-BE49-F238E27FC236}">
                <a16:creationId xmlns:a16="http://schemas.microsoft.com/office/drawing/2014/main" id="{1CE39A41-64D6-4A8C-91C9-667B9B55BA49}"/>
              </a:ext>
            </a:extLst>
          </p:cNvPr>
          <p:cNvSpPr/>
          <p:nvPr/>
        </p:nvSpPr>
        <p:spPr>
          <a:xfrm>
            <a:off x="777240" y="3632200"/>
            <a:ext cx="1554480" cy="381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83" name="TextBox 20">
            <a:extLst>
              <a:ext uri="{FF2B5EF4-FFF2-40B4-BE49-F238E27FC236}">
                <a16:creationId xmlns:a16="http://schemas.microsoft.com/office/drawing/2014/main" id="{39F224F4-88B7-43B5-9782-899C836A72F8}"/>
              </a:ext>
            </a:extLst>
          </p:cNvPr>
          <p:cNvSpPr txBox="1"/>
          <p:nvPr/>
        </p:nvSpPr>
        <p:spPr>
          <a:xfrm>
            <a:off x="2423160" y="36739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4" name="TextBox 21">
            <a:extLst>
              <a:ext uri="{FF2B5EF4-FFF2-40B4-BE49-F238E27FC236}">
                <a16:creationId xmlns:a16="http://schemas.microsoft.com/office/drawing/2014/main" id="{9235A3F3-9F3A-4496-8BEC-0B8DE777C257}"/>
              </a:ext>
            </a:extLst>
          </p:cNvPr>
          <p:cNvSpPr txBox="1"/>
          <p:nvPr/>
        </p:nvSpPr>
        <p:spPr>
          <a:xfrm>
            <a:off x="3108960" y="36893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與本機編號比對,不符即跳過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5" name="Rounded Rectangle 22">
            <a:extLst>
              <a:ext uri="{FF2B5EF4-FFF2-40B4-BE49-F238E27FC236}">
                <a16:creationId xmlns:a16="http://schemas.microsoft.com/office/drawing/2014/main" id="{192FB708-7FC9-40D2-9369-B60E108ECF55}"/>
              </a:ext>
            </a:extLst>
          </p:cNvPr>
          <p:cNvSpPr/>
          <p:nvPr/>
        </p:nvSpPr>
        <p:spPr>
          <a:xfrm>
            <a:off x="777240" y="40386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flags</a:t>
            </a:r>
          </a:p>
        </p:txBody>
      </p:sp>
      <p:sp>
        <p:nvSpPr>
          <p:cNvPr id="86" name="TextBox 23">
            <a:extLst>
              <a:ext uri="{FF2B5EF4-FFF2-40B4-BE49-F238E27FC236}">
                <a16:creationId xmlns:a16="http://schemas.microsoft.com/office/drawing/2014/main" id="{A2993932-A48C-4CB7-BCA8-12F26C9290CA}"/>
              </a:ext>
            </a:extLst>
          </p:cNvPr>
          <p:cNvSpPr txBox="1"/>
          <p:nvPr/>
        </p:nvSpPr>
        <p:spPr>
          <a:xfrm>
            <a:off x="2423160" y="40803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7" name="TextBox 24">
            <a:extLst>
              <a:ext uri="{FF2B5EF4-FFF2-40B4-BE49-F238E27FC236}">
                <a16:creationId xmlns:a16="http://schemas.microsoft.com/office/drawing/2014/main" id="{6A11B1F3-398F-4EA2-9530-2869F5F88EB2}"/>
              </a:ext>
            </a:extLst>
          </p:cNvPr>
          <p:cNvSpPr txBox="1"/>
          <p:nvPr/>
        </p:nvSpPr>
        <p:spPr>
          <a:xfrm>
            <a:off x="3108960" y="40957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sz="1400" b="0" dirty="0">
                <a:solidFill>
                  <a:srgbClr val="1B2A4A"/>
                </a:solidFill>
              </a:rPr>
              <a:t>B</a:t>
            </a:r>
            <a:r>
              <a:rPr sz="1400" b="0" dirty="0">
                <a:solidFill>
                  <a:srgbClr val="1B2A4A"/>
                </a:solidFill>
              </a:rPr>
              <a:t>it</a:t>
            </a:r>
            <a:r>
              <a:rPr lang="en-US" sz="1400" b="0" dirty="0">
                <a:solidFill>
                  <a:srgbClr val="1B2A4A"/>
                </a:solidFill>
              </a:rPr>
              <a:t> </a:t>
            </a:r>
            <a:r>
              <a:rPr sz="1400" b="0" dirty="0">
                <a:solidFill>
                  <a:srgbClr val="1B2A4A"/>
                </a:solidFill>
              </a:rPr>
              <a:t>0 = </a:t>
            </a:r>
            <a:r>
              <a:rPr sz="1400" b="0" dirty="0" err="1">
                <a:solidFill>
                  <a:srgbClr val="1B2A4A"/>
                </a:solidFill>
              </a:rPr>
              <a:t>懸停待命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8" name="Rounded Rectangle 25">
            <a:extLst>
              <a:ext uri="{FF2B5EF4-FFF2-40B4-BE49-F238E27FC236}">
                <a16:creationId xmlns:a16="http://schemas.microsoft.com/office/drawing/2014/main" id="{ED295DFD-7BEE-4015-A4E0-DE3B47FC4846}"/>
              </a:ext>
            </a:extLst>
          </p:cNvPr>
          <p:cNvSpPr/>
          <p:nvPr/>
        </p:nvSpPr>
        <p:spPr>
          <a:xfrm>
            <a:off x="777240" y="44450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thrust</a:t>
            </a:r>
          </a:p>
        </p:txBody>
      </p:sp>
      <p:sp>
        <p:nvSpPr>
          <p:cNvPr id="89" name="TextBox 26">
            <a:extLst>
              <a:ext uri="{FF2B5EF4-FFF2-40B4-BE49-F238E27FC236}">
                <a16:creationId xmlns:a16="http://schemas.microsoft.com/office/drawing/2014/main" id="{EE2A9DAC-B178-4E31-843D-F0773BC80AF9}"/>
              </a:ext>
            </a:extLst>
          </p:cNvPr>
          <p:cNvSpPr txBox="1"/>
          <p:nvPr/>
        </p:nvSpPr>
        <p:spPr>
          <a:xfrm>
            <a:off x="2423160" y="44867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90" name="TextBox 27">
            <a:extLst>
              <a:ext uri="{FF2B5EF4-FFF2-40B4-BE49-F238E27FC236}">
                <a16:creationId xmlns:a16="http://schemas.microsoft.com/office/drawing/2014/main" id="{A7D4ADD9-DEB5-4142-9433-F3BC3E0C609E}"/>
              </a:ext>
            </a:extLst>
          </p:cNvPr>
          <p:cNvSpPr txBox="1"/>
          <p:nvPr/>
        </p:nvSpPr>
        <p:spPr>
          <a:xfrm>
            <a:off x="3108960" y="45021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油門</a:t>
            </a:r>
          </a:p>
        </p:txBody>
      </p:sp>
      <p:sp>
        <p:nvSpPr>
          <p:cNvPr id="91" name="Rounded Rectangle 28">
            <a:extLst>
              <a:ext uri="{FF2B5EF4-FFF2-40B4-BE49-F238E27FC236}">
                <a16:creationId xmlns:a16="http://schemas.microsoft.com/office/drawing/2014/main" id="{0CDC0167-0223-4AC6-BCF0-ED4F18DD82A8}"/>
              </a:ext>
            </a:extLst>
          </p:cNvPr>
          <p:cNvSpPr/>
          <p:nvPr/>
        </p:nvSpPr>
        <p:spPr>
          <a:xfrm>
            <a:off x="777240" y="48514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roll / pitch / yaw</a:t>
            </a:r>
          </a:p>
        </p:txBody>
      </p:sp>
      <p:sp>
        <p:nvSpPr>
          <p:cNvPr id="92" name="TextBox 29">
            <a:extLst>
              <a:ext uri="{FF2B5EF4-FFF2-40B4-BE49-F238E27FC236}">
                <a16:creationId xmlns:a16="http://schemas.microsoft.com/office/drawing/2014/main" id="{6564E37E-5D4D-4ADA-A80D-C92F7FD01FCD}"/>
              </a:ext>
            </a:extLst>
          </p:cNvPr>
          <p:cNvSpPr txBox="1"/>
          <p:nvPr/>
        </p:nvSpPr>
        <p:spPr>
          <a:xfrm>
            <a:off x="2423160" y="48931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3 B</a:t>
            </a:r>
          </a:p>
        </p:txBody>
      </p:sp>
      <p:sp>
        <p:nvSpPr>
          <p:cNvPr id="93" name="TextBox 30">
            <a:extLst>
              <a:ext uri="{FF2B5EF4-FFF2-40B4-BE49-F238E27FC236}">
                <a16:creationId xmlns:a16="http://schemas.microsoft.com/office/drawing/2014/main" id="{6F09DA36-CE09-445C-A26F-E08C3C2ACDD9}"/>
              </a:ext>
            </a:extLst>
          </p:cNvPr>
          <p:cNvSpPr txBox="1"/>
          <p:nvPr/>
        </p:nvSpPr>
        <p:spPr>
          <a:xfrm>
            <a:off x="3108960" y="49085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姿態,各 1 Byte</a:t>
            </a:r>
          </a:p>
        </p:txBody>
      </p:sp>
      <p:sp>
        <p:nvSpPr>
          <p:cNvPr id="94" name="Rounded Rectangle 31">
            <a:extLst>
              <a:ext uri="{FF2B5EF4-FFF2-40B4-BE49-F238E27FC236}">
                <a16:creationId xmlns:a16="http://schemas.microsoft.com/office/drawing/2014/main" id="{4E72659A-E45D-4D2F-83C4-B97BB04C7452}"/>
              </a:ext>
            </a:extLst>
          </p:cNvPr>
          <p:cNvSpPr/>
          <p:nvPr/>
        </p:nvSpPr>
        <p:spPr>
          <a:xfrm>
            <a:off x="777240" y="52578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保留</a:t>
            </a:r>
          </a:p>
        </p:txBody>
      </p:sp>
      <p:sp>
        <p:nvSpPr>
          <p:cNvPr id="95" name="TextBox 32">
            <a:extLst>
              <a:ext uri="{FF2B5EF4-FFF2-40B4-BE49-F238E27FC236}">
                <a16:creationId xmlns:a16="http://schemas.microsoft.com/office/drawing/2014/main" id="{6CAB2100-7592-470C-AB18-EF19E23C93A9}"/>
              </a:ext>
            </a:extLst>
          </p:cNvPr>
          <p:cNvSpPr txBox="1"/>
          <p:nvPr/>
        </p:nvSpPr>
        <p:spPr>
          <a:xfrm>
            <a:off x="2423160" y="52995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96" name="TextBox 33">
            <a:extLst>
              <a:ext uri="{FF2B5EF4-FFF2-40B4-BE49-F238E27FC236}">
                <a16:creationId xmlns:a16="http://schemas.microsoft.com/office/drawing/2014/main" id="{D04648C9-8984-49F1-8049-B0B3AEBDBB96}"/>
              </a:ext>
            </a:extLst>
          </p:cNvPr>
          <p:cNvSpPr txBox="1"/>
          <p:nvPr/>
        </p:nvSpPr>
        <p:spPr>
          <a:xfrm>
            <a:off x="3108960" y="53149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未使用</a:t>
            </a:r>
          </a:p>
        </p:txBody>
      </p:sp>
      <p:sp>
        <p:nvSpPr>
          <p:cNvPr id="97" name="Rounded Rectangle 50">
            <a:extLst>
              <a:ext uri="{FF2B5EF4-FFF2-40B4-BE49-F238E27FC236}">
                <a16:creationId xmlns:a16="http://schemas.microsoft.com/office/drawing/2014/main" id="{1D03B969-4226-4731-B793-EDE52932E844}"/>
              </a:ext>
            </a:extLst>
          </p:cNvPr>
          <p:cNvSpPr/>
          <p:nvPr/>
        </p:nvSpPr>
        <p:spPr>
          <a:xfrm>
            <a:off x="7818120" y="1916473"/>
            <a:ext cx="1600200" cy="47548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Fly data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8" name="TextBox 49">
            <a:extLst>
              <a:ext uri="{FF2B5EF4-FFF2-40B4-BE49-F238E27FC236}">
                <a16:creationId xmlns:a16="http://schemas.microsoft.com/office/drawing/2014/main" id="{59A9B17F-E525-4923-BC61-A0CF1E1E2F6D}"/>
              </a:ext>
            </a:extLst>
          </p:cNvPr>
          <p:cNvSpPr txBox="1"/>
          <p:nvPr/>
        </p:nvSpPr>
        <p:spPr>
          <a:xfrm>
            <a:off x="8196580" y="2477446"/>
            <a:ext cx="889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en-US" sz="1600" dirty="0">
                <a:solidFill>
                  <a:srgbClr val="6B7A8C"/>
                </a:solidFill>
              </a:rPr>
              <a:t>8</a:t>
            </a:r>
            <a:r>
              <a:rPr sz="1600" b="0" dirty="0">
                <a:solidFill>
                  <a:srgbClr val="6B7A8C"/>
                </a:solidFill>
              </a:rPr>
              <a:t> Byte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風險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5CED72D3-7509-4CCA-8BBB-C678830D055F}"/>
              </a:ext>
            </a:extLst>
          </p:cNvPr>
          <p:cNvSpPr/>
          <p:nvPr/>
        </p:nvSpPr>
        <p:spPr>
          <a:xfrm>
            <a:off x="594360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D4AD9D9-B054-471C-B524-204701D47007}"/>
              </a:ext>
            </a:extLst>
          </p:cNvPr>
          <p:cNvSpPr/>
          <p:nvPr/>
        </p:nvSpPr>
        <p:spPr>
          <a:xfrm>
            <a:off x="758952" y="1452879"/>
            <a:ext cx="420624" cy="420624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6131A7-F089-4BC4-8007-E090B0B91D2B}"/>
              </a:ext>
            </a:extLst>
          </p:cNvPr>
          <p:cNvSpPr txBox="1"/>
          <p:nvPr/>
        </p:nvSpPr>
        <p:spPr>
          <a:xfrm>
            <a:off x="758952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發送端一次只能對一架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AD69E33-B6B9-421B-AF52-DA88B246F7FC}"/>
              </a:ext>
            </a:extLst>
          </p:cNvPr>
          <p:cNvSpPr txBox="1"/>
          <p:nvPr/>
        </p:nvSpPr>
        <p:spPr>
          <a:xfrm>
            <a:off x="795528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627384"/>
                </a:solidFill>
                <a:latin typeface="Microsoft JhengHei"/>
              </a:rPr>
              <a:t>ESB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只有一組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TX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位址暫存器；切換目標需先改寫位址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75BCFDB2-8D67-4A9C-ABAE-3485A32FE5AB}"/>
              </a:ext>
            </a:extLst>
          </p:cNvPr>
          <p:cNvSpPr/>
          <p:nvPr/>
        </p:nvSpPr>
        <p:spPr>
          <a:xfrm>
            <a:off x="4096512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FE86A703-ED8D-48AF-A797-2D1F511CF493}"/>
              </a:ext>
            </a:extLst>
          </p:cNvPr>
          <p:cNvSpPr/>
          <p:nvPr/>
        </p:nvSpPr>
        <p:spPr>
          <a:xfrm>
            <a:off x="4261104" y="1452879"/>
            <a:ext cx="420624" cy="420624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E8B7F78C-065F-4D6C-9DFB-3AC1E347DB54}"/>
              </a:ext>
            </a:extLst>
          </p:cNvPr>
          <p:cNvSpPr txBox="1"/>
          <p:nvPr/>
        </p:nvSpPr>
        <p:spPr>
          <a:xfrm>
            <a:off x="4261104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架數越多，輪空越久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45320FEB-F1F3-4734-88D0-3307E0C89B96}"/>
              </a:ext>
            </a:extLst>
          </p:cNvPr>
          <p:cNvSpPr txBox="1"/>
          <p:nvPr/>
        </p:nvSpPr>
        <p:spPr>
          <a:xfrm>
            <a:off x="4297680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目前一輪點名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2～3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架；架數增加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，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循環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一圈時間等比拉長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4" name="Rounded Rectangle 15">
            <a:extLst>
              <a:ext uri="{FF2B5EF4-FFF2-40B4-BE49-F238E27FC236}">
                <a16:creationId xmlns:a16="http://schemas.microsoft.com/office/drawing/2014/main" id="{1619DDAE-EE99-44E7-969F-F905635B8C16}"/>
              </a:ext>
            </a:extLst>
          </p:cNvPr>
          <p:cNvSpPr/>
          <p:nvPr/>
        </p:nvSpPr>
        <p:spPr>
          <a:xfrm>
            <a:off x="7598664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16">
            <a:extLst>
              <a:ext uri="{FF2B5EF4-FFF2-40B4-BE49-F238E27FC236}">
                <a16:creationId xmlns:a16="http://schemas.microsoft.com/office/drawing/2014/main" id="{5DFAE6DF-931E-4313-9C61-5CB73B237E94}"/>
              </a:ext>
            </a:extLst>
          </p:cNvPr>
          <p:cNvSpPr/>
          <p:nvPr/>
        </p:nvSpPr>
        <p:spPr>
          <a:xfrm>
            <a:off x="7763256" y="1452879"/>
            <a:ext cx="420624" cy="420624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113A171-E776-4EB5-9A0C-AE61D4B12F82}"/>
              </a:ext>
            </a:extLst>
          </p:cNvPr>
          <p:cNvSpPr txBox="1"/>
          <p:nvPr/>
        </p:nvSpPr>
        <p:spPr>
          <a:xfrm>
            <a:off x="7763256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183052"/>
                </a:solidFill>
                <a:latin typeface="Microsoft JhengHei"/>
              </a:rPr>
              <a:t>輪空若被判失聯會墜機</a:t>
            </a:r>
            <a:endParaRPr sz="16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38B7720-9A22-4F33-A115-E1AF65BFCE91}"/>
              </a:ext>
            </a:extLst>
          </p:cNvPr>
          <p:cNvSpPr txBox="1"/>
          <p:nvPr/>
        </p:nvSpPr>
        <p:spPr>
          <a:xfrm>
            <a:off x="7799832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可能觸發降落／停機，因此必須分開判斷輪空與失聯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8" name="Rounded Rectangle 19">
            <a:extLst>
              <a:ext uri="{FF2B5EF4-FFF2-40B4-BE49-F238E27FC236}">
                <a16:creationId xmlns:a16="http://schemas.microsoft.com/office/drawing/2014/main" id="{B1DCFB17-79AF-4153-A7EC-6696DF93C376}"/>
              </a:ext>
            </a:extLst>
          </p:cNvPr>
          <p:cNvSpPr/>
          <p:nvPr/>
        </p:nvSpPr>
        <p:spPr>
          <a:xfrm>
            <a:off x="594360" y="3721267"/>
            <a:ext cx="5102352" cy="566928"/>
          </a:xfrm>
          <a:prstGeom prst="roundRect">
            <a:avLst/>
          </a:prstGeom>
          <a:solidFill>
            <a:srgbClr val="388F6C"/>
          </a:solidFill>
          <a:ln w="12700">
            <a:solidFill>
              <a:srgbClr val="388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短暫輪空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保持現狀／等待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9" name="Rounded Rectangle 20">
            <a:extLst>
              <a:ext uri="{FF2B5EF4-FFF2-40B4-BE49-F238E27FC236}">
                <a16:creationId xmlns:a16="http://schemas.microsoft.com/office/drawing/2014/main" id="{4F841D72-A14C-4116-A567-16264D352160}"/>
              </a:ext>
            </a:extLst>
          </p:cNvPr>
          <p:cNvSpPr/>
          <p:nvPr/>
        </p:nvSpPr>
        <p:spPr>
          <a:xfrm>
            <a:off x="6071616" y="3703146"/>
            <a:ext cx="5102352" cy="566928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持續超時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才進入失聯保護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AE3262C4-34C9-4A9B-8AAE-C751374889CF}"/>
              </a:ext>
            </a:extLst>
          </p:cNvPr>
          <p:cNvSpPr txBox="1"/>
          <p:nvPr/>
        </p:nvSpPr>
        <p:spPr>
          <a:xfrm>
            <a:off x="594360" y="4332129"/>
            <a:ext cx="27432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83052"/>
                </a:solidFill>
                <a:latin typeface="Microsoft JhengHei"/>
              </a:rPr>
              <a:t>控制時序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C9464425-F0CB-4D9F-87FA-33C56284C710}"/>
              </a:ext>
            </a:extLst>
          </p:cNvPr>
          <p:cNvSpPr/>
          <p:nvPr/>
        </p:nvSpPr>
        <p:spPr>
          <a:xfrm>
            <a:off x="59436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FB3DA373-4F25-4951-AC43-AC84B5287387}"/>
              </a:ext>
            </a:extLst>
          </p:cNvPr>
          <p:cNvSpPr/>
          <p:nvPr/>
        </p:nvSpPr>
        <p:spPr>
          <a:xfrm>
            <a:off x="112471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88545F4A-843F-48C9-954C-5520AA3A888B}"/>
              </a:ext>
            </a:extLst>
          </p:cNvPr>
          <p:cNvSpPr/>
          <p:nvPr/>
        </p:nvSpPr>
        <p:spPr>
          <a:xfrm>
            <a:off x="165506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B2BD6AA2-5552-406E-A6EB-1E7952249AA0}"/>
              </a:ext>
            </a:extLst>
          </p:cNvPr>
          <p:cNvSpPr/>
          <p:nvPr/>
        </p:nvSpPr>
        <p:spPr>
          <a:xfrm>
            <a:off x="218541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5" name="Rounded Rectangle 11">
            <a:extLst>
              <a:ext uri="{FF2B5EF4-FFF2-40B4-BE49-F238E27FC236}">
                <a16:creationId xmlns:a16="http://schemas.microsoft.com/office/drawing/2014/main" id="{E739764B-394C-47BE-A585-37388D3611B2}"/>
              </a:ext>
            </a:extLst>
          </p:cNvPr>
          <p:cNvSpPr/>
          <p:nvPr/>
        </p:nvSpPr>
        <p:spPr>
          <a:xfrm>
            <a:off x="271576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6" name="Rounded Rectangle 12">
            <a:extLst>
              <a:ext uri="{FF2B5EF4-FFF2-40B4-BE49-F238E27FC236}">
                <a16:creationId xmlns:a16="http://schemas.microsoft.com/office/drawing/2014/main" id="{1E739B2F-1A60-4EDA-8597-EC4757D9B9E9}"/>
              </a:ext>
            </a:extLst>
          </p:cNvPr>
          <p:cNvSpPr/>
          <p:nvPr/>
        </p:nvSpPr>
        <p:spPr>
          <a:xfrm>
            <a:off x="324612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D996B50C-00EA-46A6-9CBE-657A5595DBCE}"/>
              </a:ext>
            </a:extLst>
          </p:cNvPr>
          <p:cNvSpPr/>
          <p:nvPr/>
        </p:nvSpPr>
        <p:spPr>
          <a:xfrm>
            <a:off x="377647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09F03A19-2341-4C29-AFA1-D30D180301A4}"/>
              </a:ext>
            </a:extLst>
          </p:cNvPr>
          <p:cNvSpPr/>
          <p:nvPr/>
        </p:nvSpPr>
        <p:spPr>
          <a:xfrm>
            <a:off x="430682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9" name="Rounded Rectangle 15">
            <a:extLst>
              <a:ext uri="{FF2B5EF4-FFF2-40B4-BE49-F238E27FC236}">
                <a16:creationId xmlns:a16="http://schemas.microsoft.com/office/drawing/2014/main" id="{4F4F76C0-88D5-40F6-B4F9-95BF39FD60A9}"/>
              </a:ext>
            </a:extLst>
          </p:cNvPr>
          <p:cNvSpPr/>
          <p:nvPr/>
        </p:nvSpPr>
        <p:spPr>
          <a:xfrm>
            <a:off x="483717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0" name="Rounded Rectangle 16">
            <a:extLst>
              <a:ext uri="{FF2B5EF4-FFF2-40B4-BE49-F238E27FC236}">
                <a16:creationId xmlns:a16="http://schemas.microsoft.com/office/drawing/2014/main" id="{DA108FED-89A4-438B-9E25-02A9BB026033}"/>
              </a:ext>
            </a:extLst>
          </p:cNvPr>
          <p:cNvSpPr/>
          <p:nvPr/>
        </p:nvSpPr>
        <p:spPr>
          <a:xfrm>
            <a:off x="536752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AFD2FE46-28E2-41DF-9C4F-4E9B88D604C8}"/>
              </a:ext>
            </a:extLst>
          </p:cNvPr>
          <p:cNvSpPr/>
          <p:nvPr/>
        </p:nvSpPr>
        <p:spPr>
          <a:xfrm>
            <a:off x="589788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B4FB710F-73DE-4288-84FE-A126EAFC359B}"/>
              </a:ext>
            </a:extLst>
          </p:cNvPr>
          <p:cNvSpPr/>
          <p:nvPr/>
        </p:nvSpPr>
        <p:spPr>
          <a:xfrm>
            <a:off x="642823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FB5B42E6-1D64-45D2-B946-135666A31E2B}"/>
              </a:ext>
            </a:extLst>
          </p:cNvPr>
          <p:cNvSpPr/>
          <p:nvPr/>
        </p:nvSpPr>
        <p:spPr>
          <a:xfrm>
            <a:off x="7068312" y="4836835"/>
            <a:ext cx="658368" cy="50292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Q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BC8A4D03-DFC7-4633-B556-7F36FCD7F693}"/>
              </a:ext>
            </a:extLst>
          </p:cNvPr>
          <p:cNvSpPr txBox="1"/>
          <p:nvPr/>
        </p:nvSpPr>
        <p:spPr>
          <a:xfrm>
            <a:off x="594360" y="5432755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B：廣播控制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×12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Q：一對一點名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約每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en-US" sz="1400" b="1" dirty="0">
                <a:solidFill>
                  <a:srgbClr val="23364C"/>
                </a:solidFill>
                <a:latin typeface="Microsoft JhengHei"/>
              </a:rPr>
              <a:t>130</a:t>
            </a:r>
            <a:r>
              <a:rPr lang="en-US" altLang="zh-CN" sz="1400" b="1" dirty="0">
                <a:solidFill>
                  <a:srgbClr val="23364C"/>
                </a:solidFill>
                <a:latin typeface="Microsoft JhengHei"/>
              </a:rPr>
              <a:t>ms </a:t>
            </a:r>
            <a:r>
              <a:rPr lang="zh-CN" altLang="en-US" sz="1400" b="1" dirty="0">
                <a:solidFill>
                  <a:srgbClr val="23364C"/>
                </a:solidFill>
                <a:latin typeface="Microsoft JhengHei"/>
              </a:rPr>
              <a:t>詢問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一次</a:t>
            </a:r>
            <a:endParaRPr sz="1400" b="1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9A8DCC5C-CA40-438B-A075-627ACAA27651}"/>
              </a:ext>
            </a:extLst>
          </p:cNvPr>
          <p:cNvSpPr txBox="1"/>
          <p:nvPr/>
        </p:nvSpPr>
        <p:spPr>
          <a:xfrm>
            <a:off x="594360" y="5825947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查到狀態後立即切回廣播，等待上限 </a:t>
            </a:r>
            <a:r>
              <a:rPr lang="en-US" altLang="zh-TW" sz="1400" b="0" dirty="0">
                <a:solidFill>
                  <a:srgbClr val="627384"/>
                </a:solidFill>
                <a:latin typeface="Microsoft JhengHei"/>
              </a:rPr>
              <a:t>50 </a:t>
            </a:r>
            <a:r>
              <a:rPr lang="en-US" altLang="zh-TW" sz="1400" b="0" dirty="0" err="1">
                <a:solidFill>
                  <a:srgbClr val="627384"/>
                </a:solidFill>
                <a:latin typeface="Microsoft JhengHei"/>
              </a:rPr>
              <a:t>ms</a:t>
            </a:r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46EF0B4-5640-41AC-88C0-95B0EE5AB4FE}"/>
              </a:ext>
            </a:extLst>
          </p:cNvPr>
          <p:cNvGrpSpPr/>
          <p:nvPr/>
        </p:nvGrpSpPr>
        <p:grpSpPr>
          <a:xfrm>
            <a:off x="635000" y="1163377"/>
            <a:ext cx="10210800" cy="1180799"/>
            <a:chOff x="635000" y="1861369"/>
            <a:chExt cx="10210800" cy="1180799"/>
          </a:xfrm>
        </p:grpSpPr>
        <p:sp>
          <p:nvSpPr>
            <p:cNvPr id="42" name="Rectangle 7">
              <a:extLst>
                <a:ext uri="{FF2B5EF4-FFF2-40B4-BE49-F238E27FC236}">
                  <a16:creationId xmlns:a16="http://schemas.microsoft.com/office/drawing/2014/main" id="{8A3883EC-7B68-4107-AC99-B0444CE16540}"/>
                </a:ext>
              </a:extLst>
            </p:cNvPr>
            <p:cNvSpPr/>
            <p:nvPr/>
          </p:nvSpPr>
          <p:spPr>
            <a:xfrm>
              <a:off x="635000" y="1905000"/>
              <a:ext cx="1905000" cy="736600"/>
            </a:xfrm>
            <a:prstGeom prst="roundRect">
              <a:avLst/>
            </a:prstGeom>
            <a:solidFill>
              <a:srgbClr val="8FD4A8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正常飛行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遙控指令連續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A0D8388B-C124-44D1-AA2A-02DF109670D8}"/>
                </a:ext>
              </a:extLst>
            </p:cNvPr>
            <p:cNvSpPr/>
            <p:nvPr/>
          </p:nvSpPr>
          <p:spPr>
            <a:xfrm>
              <a:off x="34036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偵測到中斷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逾時未收到新指令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4" name="Rectangle 9">
              <a:extLst>
                <a:ext uri="{FF2B5EF4-FFF2-40B4-BE49-F238E27FC236}">
                  <a16:creationId xmlns:a16="http://schemas.microsoft.com/office/drawing/2014/main" id="{B395D103-9E97-40A2-A250-9DB54E49C68B}"/>
                </a:ext>
              </a:extLst>
            </p:cNvPr>
            <p:cNvSpPr/>
            <p:nvPr/>
          </p:nvSpPr>
          <p:spPr>
            <a:xfrm>
              <a:off x="61722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寬限維持</a:t>
              </a:r>
              <a:endParaRPr sz="1600" b="1" dirty="0">
                <a:solidFill>
                  <a:srgbClr val="111111"/>
                </a:solidFill>
              </a:endParaRPr>
            </a:p>
          </p:txBody>
        </p:sp>
        <p:sp>
          <p:nvSpPr>
            <p:cNvPr id="45" name="Rectangle 10">
              <a:extLst>
                <a:ext uri="{FF2B5EF4-FFF2-40B4-BE49-F238E27FC236}">
                  <a16:creationId xmlns:a16="http://schemas.microsoft.com/office/drawing/2014/main" id="{E95EE396-BDAA-4575-8A93-4CAD01F1F123}"/>
                </a:ext>
              </a:extLst>
            </p:cNvPr>
            <p:cNvSpPr/>
            <p:nvPr/>
          </p:nvSpPr>
          <p:spPr>
            <a:xfrm>
              <a:off x="8940800" y="1905000"/>
              <a:ext cx="1905000" cy="736600"/>
            </a:xfrm>
            <a:prstGeom prst="roundRect">
              <a:avLst/>
            </a:prstGeom>
            <a:solidFill>
              <a:srgbClr val="F0AEA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下降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著陸後鎖定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cxnSp>
          <p:nvCxnSpPr>
            <p:cNvPr id="46" name="Connector 11">
              <a:extLst>
                <a:ext uri="{FF2B5EF4-FFF2-40B4-BE49-F238E27FC236}">
                  <a16:creationId xmlns:a16="http://schemas.microsoft.com/office/drawing/2014/main" id="{627C74D1-1078-47F1-B8A8-78A78D1DFCA7}"/>
                </a:ext>
              </a:extLst>
            </p:cNvPr>
            <p:cNvCxnSpPr/>
            <p:nvPr/>
          </p:nvCxnSpPr>
          <p:spPr>
            <a:xfrm>
              <a:off x="25400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12">
              <a:extLst>
                <a:ext uri="{FF2B5EF4-FFF2-40B4-BE49-F238E27FC236}">
                  <a16:creationId xmlns:a16="http://schemas.microsoft.com/office/drawing/2014/main" id="{68B87A5C-7C1F-42E9-BB6E-8729A8286FFD}"/>
                </a:ext>
              </a:extLst>
            </p:cNvPr>
            <p:cNvCxnSpPr/>
            <p:nvPr/>
          </p:nvCxnSpPr>
          <p:spPr>
            <a:xfrm>
              <a:off x="53086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13">
              <a:extLst>
                <a:ext uri="{FF2B5EF4-FFF2-40B4-BE49-F238E27FC236}">
                  <a16:creationId xmlns:a16="http://schemas.microsoft.com/office/drawing/2014/main" id="{54B3AED7-97D8-4078-AA9C-B4A9A70DBC7D}"/>
                </a:ext>
              </a:extLst>
            </p:cNvPr>
            <p:cNvCxnSpPr/>
            <p:nvPr/>
          </p:nvCxnSpPr>
          <p:spPr>
            <a:xfrm>
              <a:off x="80772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14">
              <a:extLst>
                <a:ext uri="{FF2B5EF4-FFF2-40B4-BE49-F238E27FC236}">
                  <a16:creationId xmlns:a16="http://schemas.microsoft.com/office/drawing/2014/main" id="{D3B8EB4C-E6D5-43B4-A14C-2144F72F272C}"/>
                </a:ext>
              </a:extLst>
            </p:cNvPr>
            <p:cNvSpPr txBox="1"/>
            <p:nvPr/>
          </p:nvSpPr>
          <p:spPr>
            <a:xfrm>
              <a:off x="8221786" y="1861369"/>
              <a:ext cx="538609" cy="43088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逾時</a:t>
              </a:r>
              <a:endParaRPr lang="en-US" sz="1400" dirty="0">
                <a:solidFill>
                  <a:srgbClr val="111111"/>
                </a:solidFill>
              </a:endParaRPr>
            </a:p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未恢復</a:t>
              </a:r>
              <a:endParaRPr sz="1100" dirty="0">
                <a:solidFill>
                  <a:srgbClr val="111111"/>
                </a:solidFill>
              </a:endParaRPr>
            </a:p>
          </p:txBody>
        </p:sp>
        <p:sp>
          <p:nvSpPr>
            <p:cNvPr id="50" name="TextBox 18">
              <a:extLst>
                <a:ext uri="{FF2B5EF4-FFF2-40B4-BE49-F238E27FC236}">
                  <a16:creationId xmlns:a16="http://schemas.microsoft.com/office/drawing/2014/main" id="{60C1F8CF-2DFC-4E36-9C17-D63BE909FED5}"/>
                </a:ext>
              </a:extLst>
            </p:cNvPr>
            <p:cNvSpPr txBox="1"/>
            <p:nvPr/>
          </p:nvSpPr>
          <p:spPr>
            <a:xfrm>
              <a:off x="3889998" y="2795947"/>
              <a:ext cx="856004" cy="24622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600" dirty="0" err="1">
                  <a:solidFill>
                    <a:srgbClr val="0A4D6E"/>
                  </a:solidFill>
                </a:rPr>
                <a:t>訊號恢復</a:t>
              </a:r>
              <a:r>
                <a:rPr sz="1200" dirty="0">
                  <a:solidFill>
                    <a:srgbClr val="0A4D6E"/>
                  </a:solidFill>
                </a:rPr>
                <a:t> 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6BDA951-EA5E-46AE-8AFA-24C2B7275A72}"/>
              </a:ext>
            </a:extLst>
          </p:cNvPr>
          <p:cNvCxnSpPr>
            <a:cxnSpLocks/>
          </p:cNvCxnSpPr>
          <p:nvPr/>
        </p:nvCxnSpPr>
        <p:spPr>
          <a:xfrm rot="5400000">
            <a:off x="4356100" y="-824992"/>
            <a:ext cx="12700" cy="5537200"/>
          </a:xfrm>
          <a:prstGeom prst="bentConnector3">
            <a:avLst>
              <a:gd name="adj1" fmla="val 346666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EDEFA0D-DA6B-4DD6-A351-1C6EBEC25759}"/>
              </a:ext>
            </a:extLst>
          </p:cNvPr>
          <p:cNvSpPr/>
          <p:nvPr/>
        </p:nvSpPr>
        <p:spPr>
          <a:xfrm>
            <a:off x="658368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19">
            <a:extLst>
              <a:ext uri="{FF2B5EF4-FFF2-40B4-BE49-F238E27FC236}">
                <a16:creationId xmlns:a16="http://schemas.microsoft.com/office/drawing/2014/main" id="{53B85354-B185-473C-B0F9-29062DDA5D3F}"/>
              </a:ext>
            </a:extLst>
          </p:cNvPr>
          <p:cNvSpPr/>
          <p:nvPr/>
        </p:nvSpPr>
        <p:spPr>
          <a:xfrm>
            <a:off x="658368" y="3063240"/>
            <a:ext cx="3246120" cy="457200"/>
          </a:xfrm>
          <a:prstGeom prst="roundRect">
            <a:avLst/>
          </a:prstGeom>
          <a:solidFill>
            <a:srgbClr val="135B7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TW" altLang="en-US" sz="1500" b="1" dirty="0">
                <a:solidFill>
                  <a:srgbClr val="FFFFFF"/>
                </a:solidFill>
                <a:latin typeface="Microsoft JhengHei"/>
              </a:rPr>
              <a:t>模式 </a:t>
            </a:r>
            <a:r>
              <a:rPr lang="en-US" altLang="zh-TW" sz="1500" b="1" dirty="0">
                <a:solidFill>
                  <a:srgbClr val="FFFFFF"/>
                </a:solidFill>
                <a:latin typeface="Microsoft JhengHei"/>
              </a:rPr>
              <a:t>0</a:t>
            </a:r>
          </a:p>
        </p:txBody>
      </p:sp>
      <p:sp>
        <p:nvSpPr>
          <p:cNvPr id="61" name="TextBox 20">
            <a:extLst>
              <a:ext uri="{FF2B5EF4-FFF2-40B4-BE49-F238E27FC236}">
                <a16:creationId xmlns:a16="http://schemas.microsoft.com/office/drawing/2014/main" id="{12F18D8F-9259-4506-AFC3-1F5310FD9D61}"/>
              </a:ext>
            </a:extLst>
          </p:cNvPr>
          <p:cNvSpPr txBox="1"/>
          <p:nvPr/>
        </p:nvSpPr>
        <p:spPr>
          <a:xfrm>
            <a:off x="822959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2" name="TextBox 21">
            <a:extLst>
              <a:ext uri="{FF2B5EF4-FFF2-40B4-BE49-F238E27FC236}">
                <a16:creationId xmlns:a16="http://schemas.microsoft.com/office/drawing/2014/main" id="{916A734D-3E56-4F0E-8C00-B959D043A9B0}"/>
              </a:ext>
            </a:extLst>
          </p:cNvPr>
          <p:cNvSpPr txBox="1"/>
          <p:nvPr/>
        </p:nvSpPr>
        <p:spPr>
          <a:xfrm>
            <a:off x="822959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約 </a:t>
            </a:r>
            <a:r>
              <a:rPr lang="en-US" altLang="zh-CN" sz="1300" b="1" dirty="0">
                <a:solidFill>
                  <a:srgbClr val="135B78"/>
                </a:solidFill>
                <a:latin typeface="Microsoft JhengHei"/>
              </a:rPr>
              <a:t>2 </a:t>
            </a:r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秒</a:t>
            </a:r>
          </a:p>
        </p:txBody>
      </p:sp>
      <p:sp>
        <p:nvSpPr>
          <p:cNvPr id="63" name="Rounded Rectangle 23">
            <a:extLst>
              <a:ext uri="{FF2B5EF4-FFF2-40B4-BE49-F238E27FC236}">
                <a16:creationId xmlns:a16="http://schemas.microsoft.com/office/drawing/2014/main" id="{9B701ABE-26B0-4388-8681-3876DA05674F}"/>
              </a:ext>
            </a:extLst>
          </p:cNvPr>
          <p:cNvSpPr/>
          <p:nvPr/>
        </p:nvSpPr>
        <p:spPr>
          <a:xfrm>
            <a:off x="4160520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24">
            <a:extLst>
              <a:ext uri="{FF2B5EF4-FFF2-40B4-BE49-F238E27FC236}">
                <a16:creationId xmlns:a16="http://schemas.microsoft.com/office/drawing/2014/main" id="{4D4B2357-13D3-4288-B155-933D07590621}"/>
              </a:ext>
            </a:extLst>
          </p:cNvPr>
          <p:cNvSpPr/>
          <p:nvPr/>
        </p:nvSpPr>
        <p:spPr>
          <a:xfrm>
            <a:off x="4160520" y="3063240"/>
            <a:ext cx="3246120" cy="457200"/>
          </a:xfrm>
          <a:prstGeom prst="roundRect">
            <a:avLst/>
          </a:prstGeom>
          <a:solidFill>
            <a:srgbClr val="2389A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65" name="TextBox 25">
            <a:extLst>
              <a:ext uri="{FF2B5EF4-FFF2-40B4-BE49-F238E27FC236}">
                <a16:creationId xmlns:a16="http://schemas.microsoft.com/office/drawing/2014/main" id="{F47C470E-9E47-4320-9163-2DFF7AD8A8D0}"/>
              </a:ext>
            </a:extLst>
          </p:cNvPr>
          <p:cNvSpPr txBox="1"/>
          <p:nvPr/>
        </p:nvSpPr>
        <p:spPr>
          <a:xfrm>
            <a:off x="4325112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6" name="TextBox 26">
            <a:extLst>
              <a:ext uri="{FF2B5EF4-FFF2-40B4-BE49-F238E27FC236}">
                <a16:creationId xmlns:a16="http://schemas.microsoft.com/office/drawing/2014/main" id="{E3CE39DE-3AA6-4EBB-A5B5-E4F668DE8748}"/>
              </a:ext>
            </a:extLst>
          </p:cNvPr>
          <p:cNvSpPr txBox="1"/>
          <p:nvPr/>
        </p:nvSpPr>
        <p:spPr>
          <a:xfrm>
            <a:off x="4325112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EB8B3B"/>
                </a:solidFill>
                <a:latin typeface="Microsoft JhengHei"/>
              </a:rPr>
              <a:t>約 8 秒</a:t>
            </a:r>
          </a:p>
        </p:txBody>
      </p:sp>
      <p:sp>
        <p:nvSpPr>
          <p:cNvPr id="67" name="Rounded Rectangle 28">
            <a:extLst>
              <a:ext uri="{FF2B5EF4-FFF2-40B4-BE49-F238E27FC236}">
                <a16:creationId xmlns:a16="http://schemas.microsoft.com/office/drawing/2014/main" id="{86C1D7DC-78E8-43BC-BFF7-7F19E7E2D2E8}"/>
              </a:ext>
            </a:extLst>
          </p:cNvPr>
          <p:cNvSpPr/>
          <p:nvPr/>
        </p:nvSpPr>
        <p:spPr>
          <a:xfrm>
            <a:off x="7662671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9">
            <a:extLst>
              <a:ext uri="{FF2B5EF4-FFF2-40B4-BE49-F238E27FC236}">
                <a16:creationId xmlns:a16="http://schemas.microsoft.com/office/drawing/2014/main" id="{278037C0-D23D-48CD-B640-B8230EC1DFE9}"/>
              </a:ext>
            </a:extLst>
          </p:cNvPr>
          <p:cNvSpPr/>
          <p:nvPr/>
        </p:nvSpPr>
        <p:spPr>
          <a:xfrm>
            <a:off x="7662671" y="3063240"/>
            <a:ext cx="3246120" cy="4572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2</a:t>
            </a:r>
          </a:p>
        </p:txBody>
      </p:sp>
      <p:sp>
        <p:nvSpPr>
          <p:cNvPr id="69" name="TextBox 30">
            <a:extLst>
              <a:ext uri="{FF2B5EF4-FFF2-40B4-BE49-F238E27FC236}">
                <a16:creationId xmlns:a16="http://schemas.microsoft.com/office/drawing/2014/main" id="{21649678-1B4E-4B2E-A054-F43724EF9608}"/>
              </a:ext>
            </a:extLst>
          </p:cNvPr>
          <p:cNvSpPr txBox="1"/>
          <p:nvPr/>
        </p:nvSpPr>
        <p:spPr>
          <a:xfrm>
            <a:off x="7827263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緩降</a:t>
            </a:r>
          </a:p>
        </p:txBody>
      </p:sp>
      <p:sp>
        <p:nvSpPr>
          <p:cNvPr id="70" name="TextBox 31">
            <a:extLst>
              <a:ext uri="{FF2B5EF4-FFF2-40B4-BE49-F238E27FC236}">
                <a16:creationId xmlns:a16="http://schemas.microsoft.com/office/drawing/2014/main" id="{E8330931-3865-49E6-8183-6323184D5D55}"/>
              </a:ext>
            </a:extLst>
          </p:cNvPr>
          <p:cNvSpPr txBox="1"/>
          <p:nvPr/>
        </p:nvSpPr>
        <p:spPr>
          <a:xfrm>
            <a:off x="7827263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 err="1">
                <a:solidFill>
                  <a:srgbClr val="C24C46"/>
                </a:solidFill>
                <a:latin typeface="Microsoft JhengHei"/>
              </a:rPr>
              <a:t>立即</a:t>
            </a:r>
            <a:endParaRPr sz="1300" b="1" dirty="0">
              <a:solidFill>
                <a:srgbClr val="C24C46"/>
              </a:solidFill>
              <a:latin typeface="Microsoft JhengHei"/>
            </a:endParaRPr>
          </a:p>
        </p:txBody>
      </p:sp>
      <p:sp>
        <p:nvSpPr>
          <p:cNvPr id="71" name="Shape 11">
            <a:extLst>
              <a:ext uri="{FF2B5EF4-FFF2-40B4-BE49-F238E27FC236}">
                <a16:creationId xmlns:a16="http://schemas.microsoft.com/office/drawing/2014/main" id="{56A96F7D-6311-44EB-B580-63721965A6B7}"/>
              </a:ext>
            </a:extLst>
          </p:cNvPr>
          <p:cNvSpPr/>
          <p:nvPr/>
        </p:nvSpPr>
        <p:spPr>
          <a:xfrm rot="5400000">
            <a:off x="2084831" y="4498848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Shape 21">
            <a:extLst>
              <a:ext uri="{FF2B5EF4-FFF2-40B4-BE49-F238E27FC236}">
                <a16:creationId xmlns:a16="http://schemas.microsoft.com/office/drawing/2014/main" id="{E84C2029-01DE-41D0-B4C9-FD541D31D943}"/>
              </a:ext>
            </a:extLst>
          </p:cNvPr>
          <p:cNvSpPr/>
          <p:nvPr/>
        </p:nvSpPr>
        <p:spPr>
          <a:xfrm rot="5400000">
            <a:off x="5586984" y="4498848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>
              <a:solidFill>
                <a:srgbClr val="2389A8"/>
              </a:solidFill>
            </a:endParaRPr>
          </a:p>
        </p:txBody>
      </p:sp>
      <p:sp>
        <p:nvSpPr>
          <p:cNvPr id="73" name="Shape 31">
            <a:extLst>
              <a:ext uri="{FF2B5EF4-FFF2-40B4-BE49-F238E27FC236}">
                <a16:creationId xmlns:a16="http://schemas.microsoft.com/office/drawing/2014/main" id="{7F5B1463-4907-4047-8618-D4D58D3E1D04}"/>
              </a:ext>
            </a:extLst>
          </p:cNvPr>
          <p:cNvSpPr/>
          <p:nvPr/>
        </p:nvSpPr>
        <p:spPr>
          <a:xfrm rot="5400000">
            <a:off x="9089135" y="4498848"/>
            <a:ext cx="384048" cy="402336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閘道(一台)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 20 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錨點(四個,位置固定且已知)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若當下空檔不足就跳過這次定位訊號,不佔用接收遙控指令的時機。飛行安全優先於定位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 USB 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 dBm。每降低 10 分貝代表功率變成十分之一。室內藍牙常見範圍約 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訊號經牆面與地面反射後,多條路徑疊在一起互相幹擾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 5 到 15 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訊號強度跳動示意(飛機靜止不動)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連續取樣(飛機完全靜止)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衰減指數(反映環境特性)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訊號濾波(1/3):問題說明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 到 3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分貝之間跳動。這是反射與環境幹擾造成的,無法消除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 1 分貝,換算後可能差到數十公分甚至一公尺以上。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訊號濾波(2/3):依情況調整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訊號濾波(3/3):實際除錯過程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 = 目前位置 + 速度 × 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她的實測值(非本研究成績)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實機影片(四):室內定位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目前的量化數據(一):硬體與定位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 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1.88m為對標目標,本研究精度待量化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目前的量化數據(二):多機控制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 19、三架共 27 個位元組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 ATK 設手動、nRF 設懸停,結果只有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位元組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 32 個位元組,因此一個封包最多容納三架;兩架同時編隊飛行尚未完整展示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46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本研究從自行設計電路板、移植飛控韌體,到室內定位與多機控制,建立了一套可以自行修改、也能繼續延伸的無人機平臺</a:t>
            </a: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6684</TotalTime>
  <Words>8493</Words>
  <Application>Microsoft Office PowerPoint</Application>
  <PresentationFormat>宽屏</PresentationFormat>
  <Paragraphs>1612</Paragraphs>
  <Slides>43</Slides>
  <Notes>38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53" baseType="lpstr">
      <vt:lpstr>Google Sans Text</vt:lpstr>
      <vt:lpstr>Microsoft JhengHei</vt:lpstr>
      <vt:lpstr>Noto Sans CJK TC</vt:lpstr>
      <vt:lpstr>Noto Serif CJK TC</vt:lpstr>
      <vt:lpstr>Arial</vt:lpstr>
      <vt:lpstr>Calibri</vt:lpstr>
      <vt:lpstr>Consolas</vt:lpstr>
      <vt:lpstr>Courier New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261</cp:revision>
  <dcterms:created xsi:type="dcterms:W3CDTF">2026-07-21T07:02:54Z</dcterms:created>
  <dcterms:modified xsi:type="dcterms:W3CDTF">2026-08-24T11:36:51Z</dcterms:modified>
</cp:coreProperties>
</file>