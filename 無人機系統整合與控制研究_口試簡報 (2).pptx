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12" r:id="rId63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6" r:id="rId32"/>
    <p:sldId id="283" r:id="rId29"/>
    <p:sldId id="284" r:id="rId30"/>
    <p:sldId id="285" r:id="rId31"/>
    <p:sldId id="307" r:id="rId58"/>
    <p:sldId id="313" r:id="rId64"/>
    <p:sldId id="308" r:id="rId59"/>
    <p:sldId id="309" r:id="rId60"/>
    <p:sldId id="311" r:id="rId62"/>
    <p:sldId id="314" r:id="rId65"/>
    <p:sldId id="287" r:id="rId33"/>
    <p:sldId id="300" r:id="rId46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1" r:id="rId47"/>
    <p:sldId id="302" r:id="rId48"/>
    <p:sldId id="303" r:id="rId49"/>
    <p:sldId id="310" r:id="rId61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2.xml"/><Relationship Id="rId32" Type="http://schemas.openxmlformats.org/officeDocument/2006/relationships/slide" Target="slides/slide29.xml"/><Relationship Id="rId33" Type="http://schemas.openxmlformats.org/officeDocument/2006/relationships/slide" Target="slides/slide39.xml"/><Relationship Id="rId34" Type="http://schemas.openxmlformats.org/officeDocument/2006/relationships/slide" Target="slides/slide41.xml"/><Relationship Id="rId35" Type="http://schemas.openxmlformats.org/officeDocument/2006/relationships/slide" Target="slides/slide42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40.xml"/><Relationship Id="rId47" Type="http://schemas.openxmlformats.org/officeDocument/2006/relationships/slide" Target="slides/slide53.xml"/><Relationship Id="rId48" Type="http://schemas.openxmlformats.org/officeDocument/2006/relationships/slide" Target="slides/slide54.xml"/><Relationship Id="rId49" Type="http://schemas.openxmlformats.org/officeDocument/2006/relationships/slide" Target="slides/slide55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openxmlformats.org/officeDocument/2006/relationships/slide" Target="slides/slide33.xml"/><Relationship Id="rId59" Type="http://schemas.openxmlformats.org/officeDocument/2006/relationships/slide" Target="slides/slide35.xml"/><Relationship Id="rId60" Type="http://schemas.openxmlformats.org/officeDocument/2006/relationships/slide" Target="slides/slide36.xml"/><Relationship Id="rId61" Type="http://schemas.openxmlformats.org/officeDocument/2006/relationships/slide" Target="slides/slide56.xml"/><Relationship Id="rId62" Type="http://schemas.openxmlformats.org/officeDocument/2006/relationships/slide" Target="slides/slide37.xml"/><Relationship Id="rId63" Type="http://schemas.openxmlformats.org/officeDocument/2006/relationships/slide" Target="slides/slide14.xml"/><Relationship Id="rId64" Type="http://schemas.openxmlformats.org/officeDocument/2006/relationships/slide" Target="slides/slide34.xml"/><Relationship Id="rId6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0 字≈0 秒 ｜ 完整版 166 字≈0.8 分</a:t>
            </a:r>
          </a:p>
          <a:p/>
          <a:p>
            <a:r>
              <a:t>【怎麼講】停 3 秒讓委員讀完題目,不需逐字念。自我介紹後直接進目錄。</a:t>
            </a:r>
          </a:p>
          <a:p/>
          <a:p>
            <a:r>
              <a:t>【口頭示範】各位委員早安,我是〔姓名〕,指導教授是〔教授〕。今天報告的題目是「無人機系統整合與控制研究」— 主要工作是把一套商用飛控移植到另一顆微控制器上,並在這個平台上延伸出室內定位與多機控制。</a:t>
            </a:r>
          </a:p>
          <a:p/>
          <a:p>
            <a:r>
              <a:t>【★ 提醒】封面的姓名、教授、系所、日期務必在口試前填妥。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39 字≈11 秒 ｜ 完整版 298 字≈1.4 分</a:t>
            </a:r>
          </a:p>
          <a:p/>
          <a:p>
            <a:r>
              <a:t>【一句話】五個部分,主軸在中間三項 — 韌體移植是研究核心,多機與定位是平台能力的延伸。</a:t>
            </a:r>
          </a:p>
          <a:p/>
          <a:p>
            <a:r>
              <a:t>【怎麼講】</a:t>
            </a:r>
          </a:p>
          <a:p>
            <a:r>
              <a:t>① 研究背景與動機 — 為什麼要自製可換 MCU 平台,以及三項貢獻與誠實進度</a:t>
            </a:r>
          </a:p>
          <a:p>
            <a:r>
              <a:t>② 系統總架構 — 三層整合與自製載板</a:t>
            </a:r>
          </a:p>
          <a:p>
            <a:r>
              <a:t>③ **韌體移植** — 驅動七層重寫、三大系統級挑戰、控制與安全。這是全篇的技術核心</a:t>
            </a:r>
          </a:p>
          <a:p>
            <a:r>
              <a:t>④ **多機控制** — 廣播架構的三個機制,含本研究亮點多工廣播</a:t>
            </a:r>
          </a:p>
          <a:p>
            <a:r>
              <a:t>⑤ 室內定位系統 — RSSI、自適應濾波,以及最後的驗證與總結</a:t>
            </a:r>
          </a:p>
          <a:p/>
          <a:p>
            <a:r>
              <a:t>【要先建立的認知】主軸是第③項的跨 MCU 韌體重構;④⑤是驗證平台價值的應用支撐。這個主次關係我在貢獻頁還會再講一次。</a:t>
            </a:r>
          </a:p>
          <a:p/>
          <a:p>
            <a:r>
              <a:t>【時間】整場約三十分鐘。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18 字≈5 秒 ｜ 完整版 284 字≈1.3 分</a:t>
            </a:r>
          </a:p>
          <a:p/>
          <a:p>
            <a:r>
              <a:t>【一句話】三個動機,第三個才是真正的研究缺口。</a:t>
            </a:r>
          </a:p>
          <a:p>
            <a:r>
              <a:t>【怎麼講】</a:t>
            </a:r>
          </a:p>
          <a:p>
            <a:r>
              <a:t>① 室內無 GPS:水泥牆會嚴重衰減 GPS 的 L1 載波(1575 MHz),隧道與倉儲環境更是收不到。</a:t>
            </a:r>
          </a:p>
          <a:p>
            <a:r>
              <a:t>② 商業方案封閉且昂貴:市售飛控多為封閉系統難以客製;高精度定位設備如 Vicon、UWB 成本高昂。</a:t>
            </a:r>
          </a:p>
          <a:p>
            <a:r>
              <a:t>③ 無法公平比較異構 MCU ← 這是關鍵。傳統做法換 MCU 就要換整套外圍電路,會引入不同的感測器走線雜訊與電路板分布電容 — 那比出來的是「整塊板」的差異,不是晶片本身的差異。</a:t>
            </a:r>
          </a:p>
          <a:p/>
          <a:p>
            <a:r>
              <a:t>【切入點】所以我設計硬體外設解耦的通用載板:在完全相同的物理基底上,插不同的 MCU 做公平評估與重構。</a:t>
            </a:r>
          </a:p>
          <a:p/>
          <a:p>
            <a:r>
              <a:t>【備詢·不念】</a:t>
            </a:r>
          </a:p>
          <a:p>
            <a:r>
              <a:t>Q:為什麼不用現成開發板?</a:t>
            </a:r>
          </a:p>
          <a:p>
            <a:r>
              <a:t>A:就強攻這個公平性 — 控制變因一致,才能客觀評估晶片本身。現成開發板每塊的外圍佈線都不同,比較結果混雜了電路差異。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32 字≈9 秒 ｜ 完整版 357 字≈1.6 分</a:t>
            </a:r>
          </a:p>
          <a:p/>
          <a:p>
            <a:r>
              <a:t>【一句話】三項貢獻,主次分明:前兩項是主貢獻,第三項是驗證平台價值的支撐。</a:t>
            </a:r>
          </a:p>
          <a:p>
            <a:r>
              <a:t>【怎麼講】</a:t>
            </a:r>
          </a:p>
          <a:p>
            <a:r>
              <a:t>① 主貢獻一 — 跨 MCU 異構韌體架構之重構。把原廠的雙 MCU 串口橋接架構,重構為 nRF52840 單晶片全能架構。這是暫存器層級的重寫,涉及無線 ESB、USB CDC、FreeRTOS 排程三層系統的底層改造。</a:t>
            </a:r>
          </a:p>
          <a:p>
            <a:r>
              <a:t>② 主貢獻二 — 可換 MCU 飛控硬體載板。雙排母座把電源、I2C、SPI、PWM 引出,插不同 XIAO 即換平台,實現硬體外設標準化。</a:t>
            </a:r>
          </a:p>
          <a:p>
            <a:r>
              <a:t>③ 支撐貢獻 — 室內定位與多機控制平台。BLE-RSSI 非連接定位網路 + 自適應濾波 + 位置閉環;單一遙控器廣播控制多機,三機制已實測。</a:t>
            </a:r>
          </a:p>
          <a:p/>
          <a:p>
            <a:r>
              <a:t>【主軸要說清楚】研究核心在貢獻一與二的跨 MCU 重構;定位與多機是用來驗證這個平台真的有價值的應用支撐。</a:t>
            </a:r>
          </a:p>
          <a:p/>
          <a:p>
            <a:r>
              <a:t>【備詢·不念】</a:t>
            </a:r>
          </a:p>
          <a:p>
            <a:r>
              <a:t>Q:這不就是剪貼程式碼嗎?</a:t>
            </a:r>
          </a:p>
          <a:p>
            <a:r>
              <a:t>A:兩顆晶片的暫存器架構完全不同 — STM32 的 HAL 和 Nordic 的 nrfx 是兩套機制,無線從外掛專用晶片改成主控內建 RADIO,USB 與排程都要重新實現。這是異構韌體架構的重構與精簡,不是搬移。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14 字≈4 秒 ｜ 完整版 355 字≈1.6 分</a:t>
            </a:r>
          </a:p>
          <a:p/>
          <a:p>
            <a:r>
              <a:t>【一句話】以真實進度誠實呈現,不誇大。</a:t>
            </a:r>
          </a:p>
          <a:p/>
          <a:p>
            <a:r>
              <a:t>【已完成】自製可換 MCU 電路板、nRF52840 韌體移植(七模組)、三層系統問題解決、感測融合+定高+失控保護、定位網路、定位引擎設計、ESP32S3 同板直插驗證。</a:t>
            </a:r>
          </a:p>
          <a:p/>
          <a:p>
            <a:r>
              <a:t>【進行中】PC 上位機與遙控器完整聯通、多機三機制實測後的整合、定位精度硬體實測量化、定位改進驗證。</a:t>
            </a:r>
          </a:p>
          <a:p/>
          <a:p>
            <a:r>
              <a:t>【待進行】雙機同時受控編隊飛行、定位閉環自由飛、精度量化達標、論文撰寫完稿。</a:t>
            </a:r>
          </a:p>
          <a:p/>
          <a:p>
            <a:r>
              <a:t>【為什麼要放這一頁】口試最怕「聲明超過實作」。把狀態標清楚,委員的注意力就會放在「已完成的部分做得多深」,而不是「有沒有虛報」。後面每一章我都會標明哪些是實測、哪些是設計。</a:t>
            </a:r>
          </a:p>
          <a:p/>
          <a:p>
            <a:r>
              <a:t>【★ 要主動說的一句】多機控制的三個機制都已實測,但「兩機同時編隊飛行」還沒完整演示 — 這兩件事不同,我在結論頁也是這樣標的。</a:t>
            </a:r>
          </a:p>
          <a:p/>
          <a:p>
            <a:r>
              <a:t>【備詢·不念】</a:t>
            </a:r>
          </a:p>
          <a:p>
            <a:r>
              <a:t>Q:為什麼有些項目還在進行中就來口試?</a:t>
            </a:r>
          </a:p>
          <a:p>
            <a:r>
              <a:t>A:碩士研究本就有時程。我把每項的真實狀態標清楚,已完成的部分深度足夠支撐論文論述;進行中的部分我也說得出還差什麼、要怎麼做。</a:t>
            </a:r>
          </a:p>
          <a:p/>
          <a:p>
            <a:r>
              <a:t>Q:定位精度什麼時候能量化?</a:t>
            </a:r>
          </a:p>
          <a:p>
            <a:r>
              <a:t>A:需要 PC 與遙控器完整聯通後,在固定場地做多點靜置與軌跡實驗。這是目前唯一的量化空缺。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36 字≈10 秒 ｜ 完整版 349 字≈1.6 分</a:t>
            </a:r>
          </a:p>
          <a:p/>
          <a:p>
            <a:r>
              <a:t>【一句話】整個研究分三層:上位機負責看與算、飛控負責飛、定位網路負責知道自己在哪。</a:t>
            </a:r>
          </a:p>
          <a:p>
            <a:r>
              <a:t>【怎麼講】</a:t>
            </a:r>
          </a:p>
          <a:p>
            <a:r>
              <a:t>① 最上層是 PC 上位機:顯示地圖、解算定位、以 ATKP 格式下指令。</a:t>
            </a:r>
          </a:p>
          <a:p>
            <a:r>
              <a:t>② 中間經 ATK 遙控器 — 它已改造成廣播定址,把 PC 的指令原樣廣播給所有飛機。</a:t>
            </a:r>
          </a:p>
          <a:p>
            <a:r>
              <a:t>③ 往下走 2.4GHz ESB 到三台飛機:A 是 ATK 原機、B 是自製板插 nRF52840、C 是同一塊板插 ESP32S3。</a:t>
            </a:r>
          </a:p>
          <a:p>
            <a:r>
              <a:t>④ 另一條線是定位:三台都廣播 BLE 信標,四個錨點被動掃描,經定位閘道回到上位機。</a:t>
            </a:r>
          </a:p>
          <a:p/>
          <a:p>
            <a:r>
              <a:t>【邊界要先講清楚】飛機C(ESP32S3)是「同板直插」的硬體驗證,飛控韌體用的是開源 ESP-FC,不在本文的移植範圍內。這一點主動說明,比被問到再解釋好 — 它恰好證明可換 MCU 載板真的能換平台。</a:t>
            </a:r>
          </a:p>
          <a:p/>
          <a:p>
            <a:r>
              <a:t>【備詢·不念】</a:t>
            </a:r>
          </a:p>
          <a:p>
            <a:r>
              <a:t>Q:為什麼要三台?</a:t>
            </a:r>
          </a:p>
          <a:p>
            <a:r>
              <a:t>A:兩台用於多機控制實證,第三台用於證明載板的平台可換性。三台都能被同一套定位網路採集,說明定位層與飛控平台無關。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38 字≈10 秒 ｜ 完整版 384 字≈1.7 分</a:t>
            </a:r>
          </a:p>
          <a:p/>
          <a:p>
            <a:r>
              <a:t>【一句話】接下來進系統一:從自己畫的板子,到把商用韌體搬上單晶片,再到三個系統級難題。</a:t>
            </a:r>
          </a:p>
          <a:p/>
          <a:p>
            <a:r>
              <a:t>【這一章的結構(先給委員一張路線圖)】</a:t>
            </a:r>
          </a:p>
          <a:p>
            <a:r>
              <a:t>① **硬體** — 可換 MCU 載板,是整個研究的物理基底</a:t>
            </a:r>
          </a:p>
          <a:p>
            <a:r>
              <a:t>② **移植** — 七層驅動重寫、雙 MCU 併成單晶片</a:t>
            </a:r>
          </a:p>
          <a:p>
            <a:r>
              <a:t>③ **三大挑戰** — 無線協議、USB、排程節拍。這是全篇技術含金量最高的部分</a:t>
            </a:r>
          </a:p>
          <a:p>
            <a:r>
              <a:t>④ **控制與安全** — 感測融合、高度估計、分級失控保護</a:t>
            </a:r>
          </a:p>
          <a:p>
            <a:r>
              <a:t>⑤ **多機控制** — 廣播架構三機制</a:t>
            </a:r>
          </a:p>
          <a:p/>
          <a:p>
            <a:r>
              <a:t>【★ 主次要先說清楚】</a:t>
            </a:r>
          </a:p>
          <a:p>
            <a:r>
              <a:t>前三塊是「我做了什麼」與「難在哪」,那是**研究核心**;後兩塊是在這個平台上長出來的能力。委員評分時如果把重心放在定位或多機,反而會低估這篇論文的技術份量 — 所以我在這裡先定調。</a:t>
            </a:r>
          </a:p>
          <a:p/>
          <a:p>
            <a:r>
              <a:t>【一句串場】整章的主線是一句話:**把一套封閉的雙 MCU 商用飛控,拆解到暫存器層級,重建在另一顆單晶片上**。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31 字≈8 秒 ｜ 完整版 637 字≈2.9 分</a:t>
            </a:r>
          </a:p>
          <a:p/>
          <a:p>
            <a:r>
              <a:t>【一句話】五項設計特點,每一項都能在電路圖上指得出來,而且都有工程理由。</a:t>
            </a:r>
          </a:p>
          <a:p/>
          <a:p>
            <a:r>
              <a:t>【① 可換主控(核心)】雙排母座把電源軌、I2C、SPI、PWM 引出,XIAO 直插即用 — 換 MCU 即換平台。</a:t>
            </a:r>
          </a:p>
          <a:p>
            <a:r>
              <a:t>**這一項為什麼是核心**:它讓「在完全相同的物理基底上比較不同 MCU」成為可能。市售開發板每塊的外圍佈線都不同,比出來的是整塊板的差異,不是晶片的差異。</a:t>
            </a:r>
          </a:p>
          <a:p/>
          <a:p>
            <a:r>
              <a:t>【② 機架電路一體化】PCB 本體就是四臂機架,馬達座整合,不需要額外結構件。減重、減零件、減組裝誤差。</a:t>
            </a:r>
          </a:p>
          <a:p/>
          <a:p>
            <a:r>
              <a:t>【③ 抗干擾佈局】四層板,內層是完整地平面。馬達驅動的高頻大電流迴路限制在背面,用地平面做電磁屏蔽。</a:t>
            </a:r>
          </a:p>
          <a:p>
            <a:r>
              <a:t>**為什麼一定要四層**:兩層板做不出完整的內層地平面。而馬達是全板最大的雜訊源(kHz 級開關、安培級電流),沒有屏蔽的話雜訊會直接耦合到正面的 IMU 與氣壓計 — 那會表現成姿態抖動與高度亂跳。</a:t>
            </a:r>
          </a:p>
          <a:p/>
          <a:p>
            <a:r>
              <a:t>【④ 感測器置於幾何中心】IMU 對齊四個馬達軸線交會的幾何中心。</a:t>
            </a:r>
          </a:p>
          <a:p>
            <a:r>
              <a:t>**物理原因**:機體繞 Z 軸旋轉時,離軸的感測器會承受向心加速度 ω²r。放在中心 r→0,這一項自然消失 — **免除了複雜的軟體偏心補償**。用佈局解決問題,比用演算法補償更可靠。</a:t>
            </a:r>
          </a:p>
          <a:p/>
          <a:p>
            <a:r>
              <a:t>【⑤ 馬達續流保護】MOSFET 驅動並聯續流二極體與濾波電容。</a:t>
            </a:r>
          </a:p>
          <a:p>
            <a:r>
              <a:t>**為什麼需要**:馬達是電感性負載,開關瞬間電流無法突變,會產生反向電動勢(Flyback)電壓突波。續流二極體給這股電流一條回路,把突波鉗制在安全範圍,否則會擊穿功率管。</a:t>
            </a:r>
          </a:p>
          <a:p/>
          <a:p>
            <a:r>
              <a:t>【備詢·不念】</a:t>
            </a:r>
          </a:p>
          <a:p>
            <a:r>
              <a:t>Q:馬達開關的反電動勢怎麼不燒 MOS 管?</a:t>
            </a:r>
          </a:p>
          <a:p>
            <a:r>
              <a:t>A:直接指續流二極體 — 它給反向電流一條回路,把電壓突波鉗在安全範圍。</a:t>
            </a:r>
          </a:p>
          <a:p/>
          <a:p>
            <a:r>
              <a:t>Q:怎麼抗電磁干擾?</a:t>
            </a:r>
          </a:p>
          <a:p>
            <a:r>
              <a:t>A:指四層板的內層地平面屏蔽,加上馬達走背面的佈局決定。這是佈局層級的解法,不是靠濾波補救。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27 字≈7 秒 ｜ 完整版 385 字≈1.8 分</a:t>
            </a:r>
          </a:p>
          <a:p/>
          <a:p>
            <a:r>
              <a:t>【一句話】把設計落到實體:原理圖的四個區塊,對應到板子的正反面。</a:t>
            </a:r>
          </a:p>
          <a:p/>
          <a:p>
            <a:r>
              <a:t>【原理圖四個區塊】主控插座(可換 MCU)、GY-91 感測介面、四路 MOSFET 驅動、電源濾波,加上雙 LED 指示。</a:t>
            </a:r>
          </a:p>
          <a:p/>
          <a:p>
            <a:r>
              <a:t>【正反面的分工是刻意的】</a:t>
            </a:r>
          </a:p>
          <a:p>
            <a:r>
              <a:t>· **正面**:主控、感測器、指示燈 — 都是低電流、高靈敏度的元件</a:t>
            </a:r>
          </a:p>
          <a:p>
            <a:r>
              <a:t>· **背面**:四角的馬達連接器 M1~M4 — 高頻、大電流</a:t>
            </a:r>
          </a:p>
          <a:p/>
          <a:p>
            <a:r>
              <a:t>【★ 為什麼要這樣分】</a:t>
            </a:r>
          </a:p>
          <a:p>
            <a:r>
              <a:t>馬達是全板最大的雜訊源。把它限制在背面,讓內層地平面隔在中間,雜訊就不容易耦合到正面的 IMU 與氣壓計。**這是用板層結構做隔離,而不是靠事後濾波** — 濾波只能減弱已經耦合進來的雜訊,佈局能從源頭避免。</a:t>
            </a:r>
          </a:p>
          <a:p/>
          <a:p>
            <a:r>
              <a:t>【電源濾波為什麼重要】馬達啟停時電流變化劇烈,會在電源軌上造成壓降與突波。若不濾,主控可能因為瞬時欠壓而重啟 — 那在空中就是墜機。所以電源入口與各功能區都有去耦電容。</a:t>
            </a:r>
          </a:p>
          <a:p/>
          <a:p>
            <a:r>
              <a:t>【備詢·不念】</a:t>
            </a:r>
          </a:p>
          <a:p>
            <a:r>
              <a:t>Q:為什麼感測器要放幾何中心?</a:t>
            </a:r>
          </a:p>
          <a:p>
            <a:r>
              <a:t>A:離旋轉中心越近,機體轉動時感測器承受的向心加速度 ω²r 越小,姿態解算受到的擾動就越小。r→0 時這一項消失。</a:t>
            </a:r>
          </a:p>
          <a:p/>
          <a:p>
            <a:r>
              <a:t>Q:板子自己畫的還是改別人的?</a:t>
            </a:r>
          </a:p>
          <a:p>
            <a:r>
              <a:t>A:自己從原理圖開始畫的。可換主控的雙排母座是核心設計,市面上沒有現成的。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27 字≈7 秒 ｜ 完整版 461 字≈2.1 分</a:t>
            </a:r>
          </a:p>
          <a:p/>
          <a:p>
            <a:r>
              <a:t>【一句話】三個平台的精確對照 — 重點在後兩列共用同一塊自製板。</a:t>
            </a:r>
          </a:p>
          <a:p/>
          <a:p>
            <a:r>
              <a:t>【逐列講】</a:t>
            </a:r>
          </a:p>
          <a:p>
            <a:r>
              <a:t>① **ATK 原機**:STM32F411 主控 + nRF51822 無線 + PA 功放,跑原廠韌體。它是對照組,也是多機控制的成員之一。</a:t>
            </a:r>
          </a:p>
          <a:p>
            <a:r>
              <a:t>② **自製板 + nRF52840**:單晶片 M4F,內建 RADIO 收發 ESB,跑本文移植的韌體 — 這是主要研究對象。</a:t>
            </a:r>
          </a:p>
          <a:p>
            <a:r>
              <a:t>③ **自製板 + ESP32S3**:WiFi/BLE,跑開源 ESP-FC。</a:t>
            </a:r>
          </a:p>
          <a:p/>
          <a:p>
            <a:r>
              <a:t>【★ 這頁的重點不是三個平台,而是「後兩列共用同一塊板」】</a:t>
            </a:r>
          </a:p>
          <a:p>
            <a:r>
              <a:t>換插主控即換平台 — 這不是三塊不同的板子在比,而是**同一個物理基底上換晶片**。這正是研究動機第三點(無法公平比較異構 MCU)的直接回應:控制變因一致,比較結果才歸因得到晶片本身。</a:t>
            </a:r>
          </a:p>
          <a:p/>
          <a:p>
            <a:r>
              <a:t>【第三個平台的角色要主動界定】</a:t>
            </a:r>
          </a:p>
          <a:p>
            <a:r>
              <a:t>ESP32S3 那一列跑的是開源 ESP-FC,**不在本文的移植範圍內**。它存在的意義是證明載板真的能換平台。主動說明比被問到再解釋好 — 而且它恰好是「可換 MCU」這個貢獻最直接的證據。</a:t>
            </a:r>
          </a:p>
          <a:p/>
          <a:p>
            <a:r>
              <a:t>【備詢·不念】</a:t>
            </a:r>
          </a:p>
          <a:p>
            <a:r>
              <a:t>Q:為什麼不三個平台都自己移植?</a:t>
            </a:r>
          </a:p>
          <a:p>
            <a:r>
              <a:t>A:ESP32 生態已經非常成熟,再做一次沒有研究增量。我把力氣放在沒人做過的 nRF52840 重構上,ESP32S3 直接採用成熟方案當平台驗證。</a:t>
            </a:r>
          </a:p>
          <a:p/>
          <a:p>
            <a:r>
              <a:t>Q:三台都能被定位嗎?</a:t>
            </a:r>
          </a:p>
          <a:p>
            <a:r>
              <a:t>A:能。三台的 BLE 信標格式統一,以 droneId 區分,四個錨點一次掃描就收齊 — 這在定位那章會展開。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48 字≈13 秒 ｜ 完整版 765 字≈3.5 分</a:t>
            </a:r>
          </a:p>
          <a:p/>
          <a:p>
            <a:r>
              <a:t>【一句話】驅動層是韌體裡直接碰硬體的最底層 — 換晶片時這層幾乎要全部重寫,因為兩顆晶片的暫存器完全不同。</a:t>
            </a:r>
          </a:p>
          <a:p/>
          <a:p>
            <a:r>
              <a:t>【七層逐項講】</a:t>
            </a:r>
          </a:p>
          <a:p>
            <a:r>
              <a:t>① 腳位控制:原廠用 STM32 HAL,我改用 nrfx(Nordic 官方底層函式庫)。兩顆晶片的腳位編號與暫存器映射不同,我逐一對應到自製板的實際佈線。</a:t>
            </a:r>
          </a:p>
          <a:p/>
          <a:p>
            <a:r>
              <a:t>② 感測讀取 ← 這層最值得講。原廠是阻塞式 I2C:CPU 發出讀取命令後,卡在 while 迴圈裡等完成標誌,這段時間純空轉。我改用 TWIM + EasyDMA:先設好資料要放進記憶體哪個位址(RXD.PTR)、最多搬幾筆(MAXCNT),硬體就自己把資料搬進記憶體,CPU 完全空出來去跑 PID。另外加了雙位址自動探測 — GY-91 的位址可能是 0x68 或 0x69,取決於一個接腳的電平,我讓開機時兩個都試一次,插上就能用。</a:t>
            </a:r>
          </a:p>
          <a:p/>
          <a:p>
            <a:r>
              <a:t>③ 電機輸出:兩顆晶片產生 PWM 的計數方式不同,我重算分頻參數,輸出 62.5kHz 驅動 MOSFET。這個頻率高於人耳聽覺上限,又不會讓開關損耗過大。</a:t>
            </a:r>
          </a:p>
          <a:p/>
          <a:p>
            <a:r>
              <a:t>④ 無線:原廠是外掛 nRF51 先收 ESB,再用 UART 以 115200 轉發給 STM32。我實測單一個 32 字節封包,光這段轉發就有 2.78 毫秒延遲。改成用 nRF52840 內建 RADIO 直接收發,省掉中間那一棒。</a:t>
            </a:r>
          </a:p>
          <a:p/>
          <a:p>
            <a:r>
              <a:t>⑤ USB:原廠發送不檢查 DTR,新平台的 Serial.write 會檢查 — 而某些地面站不設 DTR,就會卡住。詳細在挑戰②那頁。</a:t>
            </a:r>
          </a:p>
          <a:p/>
          <a:p>
            <a:r>
              <a:t>⑥ 排程:兩邊的節拍來源不同,直接搬會造成任務飢餓。詳細在挑戰③那頁。</a:t>
            </a:r>
          </a:p>
          <a:p/>
          <a:p>
            <a:r>
              <a:t>⑦ 感測融合:保留原廠 Mahony 架構,增強部分在控制那一章。</a:t>
            </a:r>
          </a:p>
          <a:p/>
          <a:p>
            <a:r>
              <a:t>【一句話收束】所以這不是把程式碼搬過去 — 每一層都要理解原本為什麼那樣寫,再用新晶片的機制重新實現。</a:t>
            </a:r>
          </a:p>
          <a:p/>
          <a:p>
            <a:r>
              <a:t>【備詢·不念】</a:t>
            </a:r>
          </a:p>
          <a:p>
            <a:r>
              <a:t>Q:DMA 真的有差嗎?</a:t>
            </a:r>
          </a:p>
          <a:p>
            <a:r>
              <a:t>A:有。阻塞式 I2C 在等待期間 CPU 完全不能做事,而 PID 是每毫秒都要跑的。把等待交給硬體,是把 CPU 時間還給控制迴圈。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473 字≈2.1 分</a:t>
            </a:r>
          </a:p>
          <a:p/>
          <a:p>
            <a:r>
              <a:t>【一句話】不是寫完直接試飛,而是由底層往上分層驗證 — 每一層都有明確的通過標準。</a:t>
            </a:r>
          </a:p>
          <a:p/>
          <a:p>
            <a:r>
              <a:t>【為什麼要這樣做】如果一次把韌體寫完就試飛,飛不起來時你根本不知道問題在哪一層 — 接腳接錯?感測器讀不到?無線沒通?可能原因太多,像大海撈針。分層驗證讓每一層都變成「已知可靠」的基底。</a:t>
            </a:r>
          </a:p>
          <a:p/>
          <a:p>
            <a:r>
              <a:t>【七步】</a:t>
            </a:r>
          </a:p>
          <a:p>
            <a:r>
              <a:t>① 編譯通過 — 確認開發工具鏈建置正確</a:t>
            </a:r>
          </a:p>
          <a:p>
            <a:r>
              <a:t>② 點亮 LED — 最簡單的輸出,能亮就代表接腳映射對了</a:t>
            </a:r>
          </a:p>
          <a:p>
            <a:r>
              <a:t>③ 讀出感測器 ID — 每顆感測器都有固定身分編號,讀得到就代表 I2C 匯流排通了</a:t>
            </a:r>
          </a:p>
          <a:p>
            <a:r>
              <a:t>④ 姿態資料連續穩定 — 代表感測融合正常</a:t>
            </a:r>
          </a:p>
          <a:p>
            <a:r>
              <a:t>⑤ 遙控器配對亮綠燈 — 代表無線通訊建立</a:t>
            </a:r>
          </a:p>
          <a:p>
            <a:r>
              <a:t>⑥ 四個馬達轉向正確</a:t>
            </a:r>
          </a:p>
          <a:p>
            <a:r>
              <a:t>⑦ 實機飛行、定高懸停</a:t>
            </a:r>
          </a:p>
          <a:p/>
          <a:p>
            <a:r>
              <a:t>【一個真實例子(這頁最有說服力的部分)】當時遙控器配對已經通過、綠燈亮了,但 USB 完全沒有輸出。因為有分層驗證,我馬上能推論:問題一定在「無線之後、飛行之前」的系統層。範圍一下子縮小,再配合我在開機階段插入的階段標記,精準鎖定是排程節拍歸零造成的任務飢餓 — 也就是挑戰③那頁的問題。</a:t>
            </a:r>
          </a:p>
          <a:p/>
          <a:p>
            <a:r>
              <a:t>【一句話收束】分層讓大海撈針變成桶裡摸魚。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30 字≈8 秒 ｜ 完整版 760 字≈3.5 分</a:t>
            </a:r>
          </a:p>
          <a:p/>
          <a:p>
            <a:r>
              <a:t>【一句話】這是架構重構,不是程式搬移 — 而且有一個絕對數據可以證明。</a:t>
            </a:r>
          </a:p>
          <a:p/>
          <a:p>
            <a:r>
              <a:t>【原廠為什麼要用兩顆晶片】這不是設計缺陷,而是當年的合理選擇。STM32F411 沒有內建 2.4GHz 無線電,要收遙控訊號就必須外掛一顆射頻晶片;而 Nordic 的 nRF51822 本身有 ESB 協議棧,拿來當「無線前端」最省事。兩顆各司其職:nRF51822 只管收發與電源,STM32F411 專心跑感測融合、PID、電機、USB。</a:t>
            </a:r>
          </a:p>
          <a:p/>
          <a:p>
            <a:r>
              <a:t>【代價在哪:那條 UART 橋】兩顆晶片必須交換資料,靠的是 UART 串口,鮑率 115200。</a:t>
            </a:r>
          </a:p>
          <a:p>
            <a:r>
              <a:t>· UART 是逐位元序列傳輸,8N1 格式下每個字節要傳 10 個 bit(1 起始 + 8 資料 + 1 停止)</a:t>
            </a:r>
          </a:p>
          <a:p>
            <a:r>
              <a:t>· 115200 bps 下,一個 bit 需 1/115200 秒 ≈ 8.68 微秒 → 一個字節 86.8 微秒</a:t>
            </a:r>
          </a:p>
          <a:p>
            <a:r>
              <a:t>· 一個控制封包 32 字節 → **32 × 86.8μs = 2.78 毫秒**</a:t>
            </a:r>
          </a:p>
          <a:p/>
          <a:p>
            <a:r>
              <a:t>【為什麼 2.78 毫秒是致命的】飛控的姿態迴路跑 500Hz,也就是每 2 毫秒算一次。遙控指令晚 2.78 毫秒到達,等於整整晚了一個以上的控制週期 — 而且這個延遲是**固定發生在每一包**上的,不是偶發抖動。對於需要即時響應的姿態控制,這是結構性的損失。</a:t>
            </a:r>
          </a:p>
          <a:p/>
          <a:p>
            <a:r>
              <a:t>【本文怎麼消除它】nRF52840 本身就是 Cortex-M4F,同時內建 RADIO 外設。CPU 與 RADIO 在同一顆晶片內,透過內部的 AHB 高速匯流排讀寫共享 RAM — 沒有序列化、沒有鮑率限制,時延從毫秒級降到微秒級。</a:t>
            </a:r>
          </a:p>
          <a:p/>
          <a:p>
            <a:r>
              <a:t>【所以這是「重構」】無線層不再是「驅動一顆外掛晶片」,而是「直接操作主控晶片內的 RADIO 暫存器」。整套 ESB 收發要自己重建 — 這正是挑戰①的來源。</a:t>
            </a:r>
          </a:p>
          <a:p/>
          <a:p>
            <a:r>
              <a:t>【備詢·不念】</a:t>
            </a:r>
          </a:p>
          <a:p>
            <a:r>
              <a:t>Q:雙晶片變單晶片除了省成本還有什麼好處?</a:t>
            </a:r>
          </a:p>
          <a:p>
            <a:r>
              <a:t>A:直接拋 2.78 毫秒對比微秒級。另外還省掉一顆晶片的功耗、PCB 面積,以及兩顆之間的同步問題。</a:t>
            </a:r>
          </a:p>
          <a:p/>
          <a:p>
            <a:r>
              <a:t>Q:M0 和 M4F 差在哪?</a:t>
            </a:r>
          </a:p>
          <a:p>
            <a:r>
              <a:t>A:M4F 帶硬體浮點運算單元(FPU)。飛控的姿態解算大量用到三角函數與四元數運算,有 FPU 差距是數倍;M0 沒有 FPU,浮點要靠軟體模擬。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47 字≈13 秒 ｜ 完整版 564 字≈2.6 分</a:t>
            </a:r>
          </a:p>
          <a:p/>
          <a:p>
            <a:r>
              <a:t>【一句話】選 nRF52840 不是隨機決定,是同時滿足「研究空白、協議傳承、成本彈性」三個條件的結果。</a:t>
            </a:r>
          </a:p>
          <a:p>
            <a:r>
              <a:t>【先講為什麼不是 ESP32】ESP32 這條路市面已經太成熟 — ESP-FC、ESP-Drone 這些開源飛控生態非常完善,社群有大量現成移植與教學。如果我也走這條路,等於把別人做過的事再做一遍,沒有研究增量。所以我的策略是:直接採用 ESP32S3 的成熟生態當作第三台飛控平台,把研究力氣省下來,花在沒人做過的地方。</a:t>
            </a:r>
          </a:p>
          <a:p/>
          <a:p>
            <a:r>
              <a:t>【為什麼是 nRF52840 — 四個理由】</a:t>
            </a:r>
          </a:p>
          <a:p>
            <a:r>
              <a:t>① 原生 ESB 體系:這顆晶片與原廠遙控器同屬 Nordic 的 2.4G,理論上可直接相容配對,不必更換遙控器 — 這是延續原廠遙控器的關鍵。</a:t>
            </a:r>
          </a:p>
          <a:p>
            <a:r>
              <a:t>② 移植本身具挑戰性,正好是研究價值所在:把雙 MCU 架構重構成單晶片,會逼出無線、USB、排程三層系統級問題,也就是後面三個挑戰。</a:t>
            </a:r>
          </a:p>
          <a:p>
            <a:r>
              <a:t>③ 成本與完整性:XIAO nRF52840 Sense 自帶 LSM6DS3 六軸 IMU,不外接 GY-91 也能飛姿態模式。</a:t>
            </a:r>
          </a:p>
          <a:p>
            <a:r>
              <a:t>④ 單晶片合併:CPU 與無線電同一顆,消滅了前一頁那個 2.78 毫秒的串口橋。</a:t>
            </a:r>
          </a:p>
          <a:p/>
          <a:p>
            <a:r>
              <a:t>【成本彈性(左下角)】接 GY-91 就有九軸加氣壓可完整定高飛行;不接就用板載六軸做姿態飛行,照樣成立 — 入門者一塊 XIAO 就能起步。</a:t>
            </a:r>
          </a:p>
          <a:p/>
          <a:p>
            <a:r>
              <a:t>【備詢·不念】</a:t>
            </a:r>
          </a:p>
          <a:p>
            <a:r>
              <a:t>Q:ESP32 那麼成熟,你為什麼捨近求遠?</a:t>
            </a:r>
          </a:p>
          <a:p>
            <a:r>
              <a:t>A:把選型當成研究定位的一部分回答 — 成熟的那條路沒有研究增量,我把它當平台驗證用;真正的研究力氣放在沒人做過的 nRF52840 重構上。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26 字≈7 秒 ｜ 完整版 602 字≈2.7 分</a:t>
            </a:r>
          </a:p>
          <a:p/>
          <a:p>
            <a:r>
              <a:t>【一句話】先講清楚 ESB 是什麼,因為後面三個挑戰都圍繞它。</a:t>
            </a:r>
          </a:p>
          <a:p/>
          <a:p>
            <a:r>
              <a:t>【ESB 是什麼】全名 Enhanced ShockBurst,是 Nordic 自家的 2.4GHz 無線協議。要強調:它不是 WiFi 也不是藍牙,是更省電、延遲更低的點對點協議 — 原廠遙控器與飛機之間就是靠它通訊。</a:t>
            </a:r>
          </a:p>
          <a:p/>
          <a:p>
            <a:r>
              <a:t>【為什麼移植繞不開它】原廠是 STM32 算控制、外掛一顆 nRF51822 專收 ESB。我改成 nRF52840 單晶片,CPU 與無線電同一顆,韌體要直接驅動晶片內的 RADIO 硬體 — 不能沿用原本的外掛驅動,必須自己重建一套「與遙控器空中相容」的收發。</a:t>
            </a:r>
          </a:p>
          <a:p/>
          <a:p>
            <a:r>
              <a:t>【封包欄位逐個解釋(委員通常不熟)】一個無線封包就像一封信,有固定格式:</a:t>
            </a:r>
          </a:p>
          <a:p>
            <a:r>
              <a:t>· 前導碼 — 開頭的同步訊號,硬體自動產生,讓接收方知道封包開始了</a:t>
            </a:r>
          </a:p>
          <a:p>
            <a:r>
              <a:t>· 位址 — 這封信的收件地址,5 個字節,完全對上才會收下 ← 挑戰①位元反轉要處理的就是這欄</a:t>
            </a:r>
          </a:p>
          <a:p>
            <a:r>
              <a:t>· 長度欄 — 告訴接收方這次載荷有多長</a:t>
            </a:r>
          </a:p>
          <a:p>
            <a:r>
              <a:t>· S1 欄 — 裡面放 NOACK 旗標;NOACK 意思是不要求對方回傳確認,發完就算,適合高頻即時控制</a:t>
            </a:r>
          </a:p>
          <a:p>
            <a:r>
              <a:t>· 載荷 — 真正要傳的資料,含訊息編號與內容,最多 32 字節</a:t>
            </a:r>
          </a:p>
          <a:p>
            <a:r>
              <a:t>· CRC — 校驗碼,硬體自動算,檢查空中傳輸有沒有出錯</a:t>
            </a:r>
          </a:p>
          <a:p/>
          <a:p>
            <a:r>
              <a:t>【橙色標的三欄是關鍵】位址、長度欄、S1 欄 — 這三個是兩顆晶片預設不一致、我必須手動對齊的地方。下一頁詳細講怎麼對齊。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627 字≈2.9 分</a:t>
            </a:r>
          </a:p>
          <a:p/>
          <a:p>
            <a:r>
              <a:t>【一句話】所謂「空中相容」,就是位序、封包格式、傳輸速率三者都要跟原廠遙控器一模一樣。</a:t>
            </a:r>
          </a:p>
          <a:p/>
          <a:p>
            <a:r>
              <a:t>【① 位元順序 — 指著上方動畫講】</a:t>
            </a:r>
          </a:p>
          <a:p>
            <a:r>
              <a:t>· 問題:遙控器的 NRF24L01+ 習慣高位元先發,我的 nRF52840 習慣低位元先發。同一個位址值發到空中,兩者位元順序完全相反 → 位址對不上,整包丟棄。這就是遙控器連不上的根本原因。</a:t>
            </a:r>
          </a:p>
          <a:p>
            <a:r>
              <a:t>· 解法 swapBits:寫入前把每個位元鏡像到對稱位置(bit i 換到 bit 7-i)。以 0xAF 為例,逐位翻轉後變成 0xF5;硬體再低位先出時,空中順序恰好對回遙控器那一版 — 負負得正。</a:t>
            </a:r>
          </a:p>
          <a:p>
            <a:r>
              <a:t>· 這只有 9 行程式碼。難的不是寫,是知道要反轉、並定位到它。</a:t>
            </a:r>
          </a:p>
          <a:p/>
          <a:p>
            <a:r>
              <a:t>【② 動態載荷】</a:t>
            </a:r>
          </a:p>
          <a:p>
            <a:r>
              <a:t>遙控器每次發的資料長度不固定,長度資訊寫在封包的「長度欄」。接收方要先知道去哪讀這個長度、它佔幾個位元,才能正確解析。這由 PCNF0 這個封包格式暫存器控制:我把 LFLEN 設成 6(長度欄佔 6 位元)、S1LEN 設成 3(S1 欄佔 3 位元)。這兩個值必須與遙控器端完全一致 — 設錯任一個,接收方就從錯的位置讀長度,整包全部解不出來。</a:t>
            </a:r>
          </a:p>
          <a:p/>
          <a:p>
            <a:r>
              <a:t>【③ 傳輸速率】</a:t>
            </a:r>
          </a:p>
          <a:p>
            <a:r>
              <a:t>原廠遙控器用 250Kbps,但 nRF52840 的硬體已移除對 250K 的支援,只能用 1M。而速率是收發雙方的約定 — 好比兩個人講話的語速要一致。我只改飛機端沒用,必須連遙控器端的韌體也同步改成 1M。</a:t>
            </a:r>
          </a:p>
          <a:p/>
          <a:p>
            <a:r>
              <a:t>【收束】三個點全部對齊,遙控器才能跟飛機成功配對。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35 字≈10 秒 ｜ 完整版 601 字≈2.7 分</a:t>
            </a:r>
          </a:p>
          <a:p/>
          <a:p>
            <a:r>
              <a:t>【一句話】地面站連不上,不是硬體問題,是函式庫把「發送」和「DTR=1」綁死了。</a:t>
            </a:r>
          </a:p>
          <a:p/>
          <a:p>
            <a:r>
              <a:t>【先解釋兩個名詞(委員通常不熟)】</a:t>
            </a:r>
          </a:p>
          <a:p>
            <a:r>
              <a:t>· USB CDC:全名 Communications Device Class,是 USB 標準裡的一種裝置類別。作用是讓 USB 裝置在電腦看來像一個傳統串口(COM 口)。為什麼需要 — 很多舊地面站只會用 COM 口收發,不會直接講 USB;有了 CDC,飛控插上後電腦把它識別成 COM3 之類,地面站就能用熟悉的方式溝通。</a:t>
            </a:r>
          </a:p>
          <a:p>
            <a:r>
              <a:t>· DTR:全名 Data Terminal Ready,直譯「資料終端就緒」。它是由電腦端控制的一個開關訊號 — 設成 1 代表「我已開好串口正在聽」,設成 0 或不設就是沒表態。</a:t>
            </a:r>
          </a:p>
          <a:p/>
          <a:p>
            <a:r>
              <a:t>【問題的關鍵】大多數終端軟體開串口時會順手把 DTR 設成 1,但**這只是習慣,USB 協議並沒有規定一定要設**。有些精簡的地面站開了串口就是不設 DTR。</a:t>
            </a:r>
          </a:p>
          <a:p/>
          <a:p>
            <a:r>
              <a:t>【右邊時序圖 — 問題發生在哪一步】</a:t>
            </a:r>
          </a:p>
          <a:p>
            <a:r>
              <a:t>① 地面站開了串口,但沒設 DTR</a:t>
            </a:r>
          </a:p>
          <a:p>
            <a:r>
              <a:t>② 地面站發出「查詢版本」的問候指令</a:t>
            </a:r>
          </a:p>
          <a:p>
            <a:r>
              <a:t>③ 移植平台的 USB 函式庫在回應前先檢查 DTR,發現是 0 就判定對方沒在聽 → 一個字節都不回</a:t>
            </a:r>
          </a:p>
          <a:p>
            <a:r>
              <a:t>④ 地面站等不到回應,逾時報「連線失敗」</a:t>
            </a:r>
          </a:p>
          <a:p/>
          <a:p>
            <a:r>
              <a:t>【根本原因】函式庫把「發送」這個動作和「DTR=1」這個條件綁死了,而地面站偏偏不設 DTR。下一頁講原廠為什麼沒這問題、以及我怎麼解。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57 字≈16 秒 ｜ 完整版 422 字≈1.9 分</a:t>
            </a:r>
          </a:p>
          <a:p/>
          <a:p>
            <a:r>
              <a:t>【一句話】同一件事,原廠不看 DTR 所以怎樣都能連;移植平台看 DTR,所以連不上 — 這是函式庫設計差異,不是硬體問題。</a:t>
            </a:r>
          </a:p>
          <a:p/>
          <a:p>
            <a:r>
              <a:t>【先聲明】頁面上的 send{ } 是我畫的示意寫法,代表「發送這個動作」,重點看它有沒有檢查 DTR,不是真實函數名。</a:t>
            </a:r>
          </a:p>
          <a:p/>
          <a:p>
            <a:r>
              <a:t>【左右對比】</a:t>
            </a:r>
          </a:p>
          <a:p>
            <a:r>
              <a:t>· 原廠 STM32:發送路徑直接寫 USB 端點,不看 DTR → 地面站怎樣都能連</a:t>
            </a:r>
          </a:p>
          <a:p>
            <a:r>
              <a:t>· 移植目標 Arduino 核心:Serial.write 在發送前檢查 DTR,DTR=0 就直接 return → 一個字節都發不出</a:t>
            </a:r>
          </a:p>
          <a:p/>
          <a:p>
            <a:r>
              <a:t>【解法三步】</a:t>
            </a:r>
          </a:p>
          <a:p>
            <a:r>
              <a:t>① 改用 TinyUSB 的底層函數 tud_cdc_write 送資料 — 它只檢查 USB 實體是否連接,完全不看 DTR 這個上位機控制訊號,繞過 Arduino 核心那層檢查</a:t>
            </a:r>
          </a:p>
          <a:p>
            <a:r>
              <a:t>② 開機靜默 — 上電不主動發,等收到查詢幀才回應,相容各種地面站</a:t>
            </a:r>
          </a:p>
          <a:p>
            <a:r>
              <a:t>③ 永不阻塞 — 傳送緩衝滿就丟棄該包,通訊卡頓絕不拖垮 500Hz 控制迴圈</a:t>
            </a:r>
          </a:p>
          <a:p/>
          <a:p>
            <a:r>
              <a:t>【備詢·不念】</a:t>
            </a:r>
          </a:p>
          <a:p>
            <a:r>
              <a:t>Q:tud_cdc_write 是什麼?</a:t>
            </a:r>
          </a:p>
          <a:p>
            <a:r>
              <a:t>A:TinyUSB 是 nRF52840 官方的 USB 協議棧,tud 開頭是它的裝置端 API,cdc_write 就是往 CDC 虛擬串口寫資料的底層函數。它比 Arduino 的 Serial.write 低一層,所以能跳過 DTR 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691 字≈3.1 分</a:t>
            </a:r>
          </a:p>
          <a:p/>
          <a:p>
            <a:r>
              <a:t>【一句話】這是全篇最具代表性的作業系統級除錯案例 — 而且要先修正一個常被誤用的術語。</a:t>
            </a:r>
          </a:p>
          <a:p>
            <a:r>
              <a:t>【術語要主動澄清】很多人會說這是「排程死鎖」,但嚴格的定義:死鎖(Deadlock)是兩個任務互相等待對方釋放資源;而這裡是最高優先權的姿態任務霸佔 CPU 不放、導致低優先權任務無法執行 — 正確術語是**任務飢餓(Task Starvation)**。主動修正這個詞,代表我真的懂 OS 內核。</a:t>
            </a:r>
          </a:p>
          <a:p/>
          <a:p>
            <a:r>
              <a:t>【機制】系統節拍從 1000Hz 降到 100Hz 時,原本 1 毫秒的短延時,在 FreeRTOS 的整數除法公式裡遭遇截斷歸零 → 換算成 0 個 tick。於是全系統優先權最高的姿態任務變成 vTaskDelay(0),瘋狂霸佔 CPU 拒絕釋放。排程器無法把時間片分給低優先權的無線與 USB 任務(姿態 Priority 5,無線/USB Priority 2),低優先任務因飢餓而假性當機。</a:t>
            </a:r>
          </a:p>
          <a:p/>
          <a:p>
            <a:r>
              <a:t>【左邊三塊】</a:t>
            </a:r>
          </a:p>
          <a:p>
            <a:r>
              <a:t>① 歸零的數學:原平台 tick 1000Hz,1 毫秒算出 1 個節拍;目標平台 100Hz,同樣 1 毫秒算出 0.1 → 被截成 0。</a:t>
            </a:r>
          </a:p>
          <a:p>
            <a:r>
              <a:t>② 怎麼找到:開機插階段標記,經底層直接輸出不靠任務。S4 之後沉默 → 鎖定姿態任務第一行的延遲。</a:t>
            </a:r>
          </a:p>
          <a:p>
            <a:r>
              <a:t>③ 解法:在底層巨集加 max 換算與「取大於等於 1」,強制任何短延時至少讓出一個完整 tick(10 毫秒)。這個空隙讓排程器跳出死迴圈。</a:t>
            </a:r>
          </a:p>
          <a:p/>
          <a:p>
            <a:r>
              <a:t>【右邊動畫 — 現場指著看】橙色的姿態任務從佔四分之一逐格吞噬整條 CPU 時間軸;同時下面無線、USB、感測三個任務的 CPU 從 25% 掉到 0%,標示飢餓。動畫自動循環。</a:t>
            </a:r>
          </a:p>
          <a:p/>
          <a:p>
            <a:r>
              <a:t>【備詢·不念】</a:t>
            </a:r>
          </a:p>
          <a:p>
            <a:r>
              <a:t>Q:為什麼不直接把節拍改回 1000Hz?</a:t>
            </a:r>
          </a:p>
          <a:p>
            <a:r>
              <a:t>A:節拍是平台特性,改回去會影響其他模組的時序假設。在底層巨集做安全換算,是一次修好所有短延時的做法。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40 字≈11 秒 ｜ 完整版 664 字≈3.0 分</a:t>
            </a:r>
          </a:p>
          <a:p/>
          <a:p>
            <a:r>
              <a:t>【一句話】上方是原廠的完整控制鏈,下方是本研究在各環節的增強 — 四項增強遵循同一條原則。</a:t>
            </a:r>
          </a:p>
          <a:p/>
          <a:p>
            <a:r>
              <a:t>【上方控制鏈六環節】感測融合 → 姿態估計 → 高度估計 → 速度環 → 混控分配 → 馬達輸出。資料由左流到右,每一環的輸出是下一環的輸入。</a:t>
            </a:r>
          </a:p>
          <a:p/>
          <a:p>
            <a:r>
              <a:t>【下方四項增強,各自對應到環節】</a:t>
            </a:r>
          </a:p>
          <a:p>
            <a:r>
              <a:t>① **雙源融合 + 自動降級** → 對應「感測融合」</a:t>
            </a:r>
          </a:p>
          <a:p>
            <a:r>
              <a:t>　板載 6DOF 與外接 9 軸加權融合,分歧大時平滑過渡;單一感測器失效自動降級,不墜落。</a:t>
            </a:r>
          </a:p>
          <a:p>
            <a:r>
              <a:t>② **零偏防污染三道門** → 對應「姿態估計」</a:t>
            </a:r>
          </a:p>
          <a:p>
            <a:r>
              <a:t>　陀螺零偏在線學習,但**電機轉動、磁校未完成、未落地時拒絕採樣**。因為零偏必須在真靜止時才學得準,學進了震動就等於把震動當成常態偏差。</a:t>
            </a:r>
          </a:p>
          <a:p>
            <a:r>
              <a:t>③ **高度估計三項增強** → 對應「高度估計」(細節在後面專頁)</a:t>
            </a:r>
          </a:p>
          <a:p>
            <a:r>
              <a:t>④ **油門基準四重閘自整定** → 對應「速度環」</a:t>
            </a:r>
          </a:p>
          <a:p>
            <a:r>
              <a:t>　懸停油門會隨電池電量、載重而變,所以要自適應;但四重條件過濾,不把衝天的極端值學進基準。</a:t>
            </a:r>
          </a:p>
          <a:p/>
          <a:p>
            <a:r>
              <a:t>【★ 要強調的一句 — 這是本頁的價值】</a:t>
            </a:r>
          </a:p>
          <a:p>
            <a:r>
              <a:t>這四項不是零散補丁,而是同一組工程原則的落地:**先確認資料可信,再讓它影響控制**。</a:t>
            </a:r>
          </a:p>
          <a:p>
            <a:r>
              <a:t>· 雙源融合:兩個來源互相校驗,分歧大就降低可疑那方的權重</a:t>
            </a:r>
          </a:p>
          <a:p>
            <a:r>
              <a:t>· 零偏三道門:條件不對就不學</a:t>
            </a:r>
          </a:p>
          <a:p>
            <a:r>
              <a:t>· 中值濾波:極端值先剔除</a:t>
            </a:r>
          </a:p>
          <a:p>
            <a:r>
              <a:t>· 四重閘:狀態不對就不整定</a:t>
            </a:r>
          </a:p>
          <a:p>
            <a:r>
              <a:t>四項都是這條原則的不同面向。**在感測資料本來就不乾淨的嵌入式系統裡,防止壞資料進入控制迴路,比事後補償更有效**。</a:t>
            </a:r>
          </a:p>
          <a:p/>
          <a:p>
            <a:r>
              <a:t>【接下頁】下一頁講旗艦案例 — 雙源融合,它同時也回答了「為什麼選 nRF52840」。</a:t>
            </a:r>
          </a:p>
          <a:p/>
          <a:p>
            <a:r>
              <a:t>【備詢·不念】</a:t>
            </a:r>
          </a:p>
          <a:p>
            <a:r>
              <a:t>Q:這四項有量化的改善數據嗎?</a:t>
            </a:r>
          </a:p>
          <a:p>
            <a:r>
              <a:t>A:高度估計三項有明確的現象對照;雙 IMU 有降級實測。系統性的量化比較尚未做,這是誠實的限制。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29 字≈8 秒 ｜ 完整版 739 字≈3.4 分</a:t>
            </a:r>
          </a:p>
          <a:p/>
          <a:p>
            <a:r>
              <a:t>【一句話】把「板子上剛好有兩顆 IMU」這件事,變成主動容錯的設計。</a:t>
            </a:r>
          </a:p>
          <a:p/>
          <a:p>
            <a:r>
              <a:t>【雙感測來源從何而來】XIAO nRF52840 Sense 板載一顆 LSM6DS3TR-C 六軸 IMU(三軸加速度 + 三軸陀螺),單晶片即可完成姿態解算;同時我的載板保留外接 GY-91 的介面(MPU9250 九軸 + BMP280 氣壓)。於是同一台飛機上就有兩組姿態來源 — 這是選型帶來的機會,不是原本就有的需求。</a:t>
            </a:r>
          </a:p>
          <a:p/>
          <a:p>
            <a:r>
              <a:t>【為什麼不能直接「壞了就切」】兩顆 IMU 的安裝位置、零偏、雜訊特性都不同,同一時刻讀出的角度不會完全一致,通常差幾度。如果用硬切換,切換的瞬間姿態估計會跳變幾度 — 而 PID 看到的是「姿態突然變了」,會立刻輸出一個大修正量,飛機就抖一下。在空中這是危險的。</a:t>
            </a:r>
          </a:p>
          <a:p/>
          <a:p>
            <a:r>
              <a:t>【加權融合怎麼做】</a:t>
            </a:r>
          </a:p>
          <a:p>
            <a:r>
              <a:t>· 以外接九軸為主要來源,板載六軸換算成同一當量(座標軸對齊、單位一致)後參與加權</a:t>
            </a:r>
          </a:p>
          <a:p>
            <a:r>
              <a:t>· 權重不是固定的,而是「兩源分歧」的函數:分歧小 → 板載權重高,等於做冗餘校驗;分歧大 → 板載權重平滑降到零,完全信任外接九軸</a:t>
            </a:r>
          </a:p>
          <a:p>
            <a:r>
              <a:t>· 因為權重是連續變化的,所以從「兩源都用」過渡到「只用一源」的過程沒有任何跳變</a:t>
            </a:r>
          </a:p>
          <a:p/>
          <a:p>
            <a:r>
              <a:t>【航向軸的特別處理】roll/pitch 靠重力向量就能校正,但 yaw 沒有絕對參考,必須靠磁力計。所以航向軸只在磁校完成後才納入融合 — 未校準的磁力計硬磁偏置會鎖死 yaw,比不用更糟。</a:t>
            </a:r>
          </a:p>
          <a:p/>
          <a:p>
            <a:r>
              <a:t>【三級自動降級】</a:t>
            </a:r>
          </a:p>
          <a:p>
            <a:r>
              <a:t>① 正常:九軸 + 六軸,完整定高 + 航向修正</a:t>
            </a:r>
          </a:p>
          <a:p>
            <a:r>
              <a:t>② 降級:主感測失效,僅板載六軸接手姿態。可控,但沒有氣壓計,定高降級為純姿態飛行</a:t>
            </a:r>
          </a:p>
          <a:p>
            <a:r>
              <a:t>③ 保命:飛行中主感測失效 200 毫秒即時切板載;在地面則放寬到 2 秒 — 因為地面上晃動、插拔都可能造成短暫讀不到,不該誤切</a:t>
            </a:r>
          </a:p>
          <a:p/>
          <a:p>
            <a:r>
              <a:t>【備詢·不念】</a:t>
            </a:r>
          </a:p>
          <a:p>
            <a:r>
              <a:t>Q:加權公式的細節?</a:t>
            </a:r>
          </a:p>
          <a:p>
            <a:r>
              <a:t>A:互補濾波框架,係數隨兩源分歧動態調整。實測調校出來的機制。</a:t>
            </a:r>
          </a:p>
          <a:p/>
          <a:p>
            <a:r>
              <a:t>Q:200 毫秒怎麼定的?</a:t>
            </a:r>
          </a:p>
          <a:p>
            <a:r>
              <a:t>A:誠實答 — 實測經驗值。太短會因偶發丟包誤切,太長則失去保命意義,這是兩者的平衡點。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27 字≈7 秒 ｜ 完整版 571 字≈2.6 分</a:t>
            </a:r>
          </a:p>
          <a:p/>
          <a:p>
            <a:r>
              <a:t>【一句話】先講清楚原廠怎麼做,下一頁才能講我改了哪裡、沒改哪裡。</a:t>
            </a:r>
          </a:p>
          <a:p/>
          <a:p>
            <a:r>
              <a:t>【圖的出處】原廠開發指南圖 6.3.1,是姿態解算加串級 PID 的完整流程。我把它原樣放上來,不是充頁數 — 而是要讓委員能對照下一頁,判斷我的貢獻邊界。</a:t>
            </a:r>
          </a:p>
          <a:p/>
          <a:p>
            <a:r>
              <a:t>【串級 PID 為什麼要分兩層】</a:t>
            </a:r>
          </a:p>
          <a:p>
            <a:r>
              <a:t>· **外層角度環**:輸入是「目標角度」與「當前角度」的誤差,輸出是「目標角速度」。它管的是姿態要往哪裡去。</a:t>
            </a:r>
          </a:p>
          <a:p>
            <a:r>
              <a:t>· **內層角速度環**:輸入是「目標角速度」與「陀螺實測角速度」的誤差,輸出是電機的差動量。它管的是轉得多快。</a:t>
            </a:r>
          </a:p>
          <a:p/>
          <a:p>
            <a:r>
              <a:t>【為什麼不能只用一層】</a:t>
            </a:r>
          </a:p>
          <a:p>
            <a:r>
              <a:t>若只有角度環直接輸出電機量,系統對擾動的反應只能靠比例項,阻尼不足會震盪;而角速度是姿態的微分,內層先把角速度控住,等於給外層提供了一個「已被阻尼過」的受控對象。**分層之後,內層管快速響應、外層管穩態精度,兩者可以各自整定** — 這是串級控制的核心價值。</a:t>
            </a:r>
          </a:p>
          <a:p/>
          <a:p>
            <a:r>
              <a:t>【增益的量級也說明了分工】角度環 kp=8,角速度環 kp=260 — 內層增益高得多,因為它要在毫秒尺度上抑制擾動。</a:t>
            </a:r>
          </a:p>
          <a:p/>
          <a:p>
            <a:r>
              <a:t>【★ 為什麼我保留它不重寫】</a:t>
            </a:r>
          </a:p>
          <a:p>
            <a:r>
              <a:t>本研究的核心是跨 MCU 的架構重構,不是控制理論創新。而且更關鍵的一點:如果控制律也換了,一旦飛不好就分不清是移植問題還是控制律問題 — **保留成熟控制律,才能讓「移植是否成功」這件事有明確的對照基準**。</a:t>
            </a:r>
          </a:p>
          <a:p/>
          <a:p>
            <a:r>
              <a:t>【備詢·不念】</a:t>
            </a:r>
          </a:p>
          <a:p>
            <a:r>
              <a:t>Q:Mahony 和 Madgwick、EKF 比起來如何?</a:t>
            </a:r>
          </a:p>
          <a:p>
            <a:r>
              <a:t>A:Mahony 是互補濾波,運算量小、對 MCU 友善,精度足夠近懸停使用。EKF 精度更高但運算量大得多,對本平台沒有必要。</a:t>
            </a:r>
          </a:p>
          <a:p/>
          <a:p>
            <a:r>
              <a:t>Q:PID 參數是原廠的還是自己調的?</a:t>
            </a:r>
          </a:p>
          <a:p>
            <a:r>
              <a:t>A:架構沿用,參數依實際機體重調 — 換過馬達後角速度環 kp 從 300 降到 260,因為推力比改變會直接改變等效增益。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550 字≈2.5 分</a:t>
            </a:r>
          </a:p>
          <a:p/>
          <a:p>
            <a:r>
              <a:t>【一句話】同一條控制鏈,移植後實際長什麼樣 — 用顏色區分哪些保留、哪些改動、哪些是新增的。</a:t>
            </a:r>
          </a:p>
          <a:p/>
          <a:p>
            <a:r>
              <a:t>【為什麼要有這一頁】上一頁是原廠的設計基準。如果只講「我移植了」,委員無法判斷工作量與價值在哪。把保留、改動、新增三類分開標示,貢獻邊界就清楚了 — 也同時說明我沒有動不該動的東西。</a:t>
            </a:r>
          </a:p>
          <a:p/>
          <a:p>
            <a:r>
              <a:t>【保留(灰色)】Mahony 姿態解算 + 串級 PID 的整體架構。</a:t>
            </a:r>
          </a:p>
          <a:p>
            <a:r>
              <a:t>理由:這是原廠已經驗證過、飛得起來的成熟設計。本研究的核心是跨 MCU 的架構重構,不是控制理論創新。重寫控制律不但沒有研究增量,還會讓「移植是否成功」失去對照基準 — 如果控制律也換了,飛不好時就分不清是移植問題還是控制律問題。</a:t>
            </a:r>
          </a:p>
          <a:p/>
          <a:p>
            <a:r>
              <a:t>【改動(藍色)】感測讀取改成 TWIM + DMA、無線改成主控內建 RADIO。</a:t>
            </a:r>
          </a:p>
          <a:p>
            <a:r>
              <a:t>這兩項都是**驅動層的替換,不動控制邏輯**。輸入輸出的介面完全一樣,只是底下的實現換了晶片機制。這是移植的本質:上層邏輯不變,底層重寫。</a:t>
            </a:r>
          </a:p>
          <a:p/>
          <a:p>
            <a:r>
              <a:t>【新增(橙色)】</a:t>
            </a:r>
          </a:p>
          <a:p>
            <a:r>
              <a:t>· 雙 IMU 自動切換 — 板載六軸作為備援,主感測失效時接手</a:t>
            </a:r>
          </a:p>
          <a:p>
            <a:r>
              <a:t>· 高度估計三項增強 — 中值濾波、靜止零速修正、融合權重可調</a:t>
            </a:r>
          </a:p>
          <a:p>
            <a:r>
              <a:t>· 分級失控保護 — 三種等待策略</a:t>
            </a:r>
          </a:p>
          <a:p/>
          <a:p>
            <a:r>
              <a:t>這三項都不是原廠有的。它們的共同出發點是同一條工程原則:**先確認資料可信,再讓它影響控制**。</a:t>
            </a:r>
          </a:p>
          <a:p/>
          <a:p>
            <a:r>
              <a:t>【備詢·不念】</a:t>
            </a:r>
          </a:p>
          <a:p>
            <a:r>
              <a:t>Q:為什麼不重寫控制律?</a:t>
            </a:r>
          </a:p>
          <a:p>
            <a:r>
              <a:t>A:研究範圍界定。核心貢獻在架構重構,保留成熟控制律讓移植成果可以被公平驗證。</a:t>
            </a:r>
          </a:p>
          <a:p/>
          <a:p>
            <a:r>
              <a:t>Q:新增的部分怎麼證明有效?</a:t>
            </a:r>
          </a:p>
          <a:p>
            <a:r>
              <a:t>A:雙 IMU 有降級實測、高度增強有現象對照(尖峰消失、落地不漂)、失控保護有三支影片。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40 字≈11 秒 ｜ 完整版 699 字≈3.2 分</a:t>
            </a:r>
          </a:p>
          <a:p/>
          <a:p>
            <a:r>
              <a:t>【一句話】高度估計鏈的三項改動,每項都是「現象 → 原因 → 改法」,全部是實測踩出來的。</a:t>
            </a:r>
          </a:p>
          <a:p/>
          <a:p>
            <a:r>
              <a:t>【先講為什麼高度這麼難】</a:t>
            </a:r>
          </a:p>
          <a:p>
            <a:r>
              <a:t>高度有兩個來源:氣壓計給的是**絕對高度但慢且吵**,加速度計積分給的是**快但會漂**。兩者必須融合。而這條鏈路上任何一個環節出問題,表現出來都是「定高不穩」,所以要逐項拆解。</a:t>
            </a:r>
          </a:p>
          <a:p/>
          <a:p>
            <a:r>
              <a:t>【① 氣壓中值濾波】</a:t>
            </a:r>
          </a:p>
          <a:p>
            <a:r>
              <a:t>· 現象:高度讀值偶爾出現單拍尖峰,定高瞬間會竄動。</a:t>
            </a:r>
          </a:p>
          <a:p>
            <a:r>
              <a:t>· 原因:氣壓感測器受電機與電路的電氣雜訊干擾,單次採樣可能異常。</a:t>
            </a:r>
          </a:p>
          <a:p>
            <a:r>
              <a:t>· 改法:連續三點取中值 — 單拍的極端值必然落在兩側正常值之外,取中值就被擠掉。</a:t>
            </a:r>
          </a:p>
          <a:p>
            <a:r>
              <a:t>· **為什麼是中值不是平均**:平均會被極端值拉走(一個 +50 的尖峰會讓三點平均偏 +16.7);中值完全不受影響。這是對付脈衝雜訊的標準做法。</a:t>
            </a:r>
          </a:p>
          <a:p>
            <a:r>
              <a:t>· 為什麼是三點:已足夠濾掉單拍尖峰,點數越多延遲越大。三點只延遲一拍。</a:t>
            </a:r>
          </a:p>
          <a:p/>
          <a:p>
            <a:r>
              <a:t>【② 靜止零速修正】</a:t>
            </a:r>
          </a:p>
          <a:p>
            <a:r>
              <a:t>· 現象:落地後高度緩慢漂移,下次起飛的基線就錯了。</a:t>
            </a:r>
          </a:p>
          <a:p>
            <a:r>
              <a:t>· 原因:加速度計零偏隨溫度漂移,**積分後累積成高度誤差** — 這是慣性導航的固有問題,不積分就沒有速度,一積分就會漂。</a:t>
            </a:r>
          </a:p>
          <a:p>
            <a:r>
              <a:t>· 改法:偵測到「電機停」且「陀螺靜止」兩個條件同時成立,才判定真靜止,強制垂直速度歸零並趁機更新零偏。</a:t>
            </a:r>
          </a:p>
          <a:p>
            <a:r>
              <a:t>· **為什麼要兩個條件**:單看電機停會誤判(手持不動時電機也停);單看陀螺靜止也會誤判(勻速上升時陀螺也靜止)。兩者同時成立才排除得掉。</a:t>
            </a:r>
          </a:p>
          <a:p/>
          <a:p>
            <a:r>
              <a:t>【③ 融合權重可調】</a:t>
            </a:r>
          </a:p>
          <a:p>
            <a:r>
              <a:t>· 現象:氣壓跟隨快則抖動、平滑重則漂移。</a:t>
            </a:r>
          </a:p>
          <a:p>
            <a:r>
              <a:t>· 原因:單一固定權重無法同時兼顧跟隨性與平滑度。</a:t>
            </a:r>
          </a:p>
          <a:p>
            <a:r>
              <a:t>· 改法:把氣壓與加速度的融合比重做成可調參數,依機況與環境調校。</a:t>
            </a:r>
          </a:p>
          <a:p/>
          <a:p>
            <a:r>
              <a:t>【備詢·不念】</a:t>
            </a:r>
          </a:p>
          <a:p>
            <a:r>
              <a:t>Q:為什麼不用更好的氣壓計?</a:t>
            </a:r>
          </a:p>
          <a:p>
            <a:r>
              <a:t>A:BMP280 的解析度(約 0.12m)已足夠室內定高。問題不在感測器精度,而在雜訊與零偏 — 那是靠演算法處理的。</a:t>
            </a:r>
          </a:p>
          <a:p/>
          <a:p>
            <a:r>
              <a:t>Q:三項改動有量化數據嗎?</a:t>
            </a:r>
          </a:p>
          <a:p>
            <a:r>
              <a:t>A:有明確的現象對照(尖峰消失、落地不再漂移),系統性的量化比較尚未做 — 這是誠實的限制。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38 字≈10 秒 ｜ 完整版 674 字≈3.1 分</a:t>
            </a:r>
          </a:p>
          <a:p/>
          <a:p>
            <a:r>
              <a:t>【一句話】訊號中斷不等於一定要墜落 — 這頁同時是單機安全的核心,也是多機控制的地基。</a:t>
            </a:r>
          </a:p>
          <a:p/>
          <a:p>
            <a:r>
              <a:t>【核心問題】遙控訊號中斷時,飛機該怎麼辦?「立刻切斷馬達」最保守,但**多數中斷是短暫的**(天線遮擋、瞬時干擾、封包碰撞),直接停機等於把一次可恢復的抖動變成一次墜機。</a:t>
            </a:r>
          </a:p>
          <a:p/>
          <a:p>
            <a:r>
              <a:t>【★ 為什麼需要三種而不是一種】</a:t>
            </a:r>
          </a:p>
          <a:p>
            <a:r>
              <a:t>因為「最好的策略」取決於場景,不存在通用解:</a:t>
            </a:r>
          </a:p>
          <a:p>
            <a:r>
              <a:t>· **模式 0 斷線寬限續飛** — 中斷後維持定高最多 2 秒,訊號回來即無縫續飛,超時才轉緩降。適合**訊號本來就會間歇中斷**的場合。</a:t>
            </a:r>
          </a:p>
          <a:p>
            <a:r>
              <a:t>· **模式 1 懸停等待再緩降** — 原地懸停約 8 秒,留出操作者反應與接管的時間窗,超時再受控緩降。適合**有人監看的手動飛行**。</a:t>
            </a:r>
          </a:p>
          <a:p>
            <a:r>
              <a:t>· **模式 2 立即緩降** — 中斷即受控緩降、觸地自動停機,不等待。適合**未知環境或不容許漂移**的場合。</a:t>
            </a:r>
          </a:p>
          <a:p/>
          <a:p>
            <a:r>
              <a:t>【三者的共同點】都是**同一套失控保護狀態機**,差別只在「等多久」與「等的時候做什麼」。不是三份獨立程式碼,而是同一個狀態機的三組參數 — 所以未來可由上位機即時切換。</a:t>
            </a:r>
          </a:p>
          <a:p/>
          <a:p>
            <a:r>
              <a:t>【★ 關鍵銜接 — 這頁存在的真正理由】</a:t>
            </a:r>
          </a:p>
          <a:p>
            <a:r>
              <a:t>模式 0 的「寬限等待」正是多機廣播控制的地基。廣播模式下每台飛機**本來就會有短暫收不到指令的空檔** — 點名那一下就是(約 0.13 秒)。若沒有寬限維持,每次輪空都會觸發失控保護,多機根本不成立。</a:t>
            </a:r>
          </a:p>
          <a:p>
            <a:r>
              <a:t>寬限維持把「輪空」重新定義為**正常狀態**,而不是異常。這是單機安全設計反過來成就多機能力的例子。</a:t>
            </a:r>
          </a:p>
          <a:p/>
          <a:p>
            <a:r>
              <a:t>【現場播放三支實測影片】模式0.mp4、模式1.mp4、模式2.mp4</a:t>
            </a:r>
          </a:p>
          <a:p/>
          <a:p>
            <a:r>
              <a:t>【備詢·不念】</a:t>
            </a:r>
          </a:p>
          <a:p>
            <a:r>
              <a:t>Q:2 秒的寬限怎麼定的?</a:t>
            </a:r>
          </a:p>
          <a:p>
            <a:r>
              <a:t>A:實測經驗值。太短會因偶發丟包誤觸發降落,太長則真失聯時遲遲不處置。2 秒是兩者的平衡點,而且遠大於點名輪空的 0.13 秒,留有充足餘裕。</a:t>
            </a:r>
          </a:p>
          <a:p/>
          <a:p>
            <a:r>
              <a:t>Q:三種策略怎麼選?</a:t>
            </a:r>
          </a:p>
          <a:p>
            <a:r>
              <a:t>A:目前是編譯期選定。設計上可由上位機即時切換,這是未來工作。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553 字≈2.5 分</a:t>
            </a:r>
          </a:p>
          <a:p/>
          <a:p>
            <a:r>
              <a:t>【一句話】訊號剛中斷的第一秒,飛機做的不是掉下來,而是「維持現狀、原地待命」。</a:t>
            </a:r>
          </a:p>
          <a:p/>
          <a:p>
            <a:r>
              <a:t>【怎麼偵測中斷】飛控記錄上一次收到有效遙控指令的時間;超過逾時門檻還沒收到新指令,就判定中斷。這個逾時**不能太短也不能太長** — 太短會因為偶爾一兩包沒收到就誤觸發,太長又反應遲鈍。實作上分兩級:500ms 內算正常、超過 1000ms 才進入失控處置,中間那段是緩衝。</a:t>
            </a:r>
          </a:p>
          <a:p/>
          <a:p>
            <a:r>
              <a:t>【寬限期內同時做四件事】</a:t>
            </a:r>
          </a:p>
          <a:p>
            <a:r>
              <a:t>① **高度** — 鎖定中斷那一瞬間的高度,讓定高迴路繼續維持。</a:t>
            </a:r>
          </a:p>
          <a:p>
            <a:r>
              <a:t>② **姿態** — 把期望傾角歸零,讓飛機自動調平成水平。**為什麼要調平**:中斷前若正在轉彎,期望傾角是斜的;若保持斜著,飛機會一直往那個方向飛出去。歸零才能停在原地。</a:t>
            </a:r>
          </a:p>
          <a:p>
            <a:r>
              <a:t>③ **油門** — **絕對不切斷**,電機維持轉動。這是與「立即停機」最根本的差別 — 一切油門就是自由落體。</a:t>
            </a:r>
          </a:p>
          <a:p>
            <a:r>
              <a:t>④ **計時** — 開始累計中斷了多久,供下一階段判斷。</a:t>
            </a:r>
          </a:p>
          <a:p/>
          <a:p>
            <a:r>
              <a:t>【★ 這個設計的兩個目的】</a:t>
            </a:r>
          </a:p>
          <a:p>
            <a:r>
              <a:t>① 萬一只是短暫干擾,訊號一恢復就能無縫接管繼續飛 — 就是圖上那個綠色回歸箭頭。飛機甚至不知道剛才發生過中斷。</a:t>
            </a:r>
          </a:p>
          <a:p>
            <a:r>
              <a:t>② 它同時是多機控制的基礎:廣播模式下每台本來就會有短暫空檔,靠這個寬限維持撐住。</a:t>
            </a:r>
          </a:p>
          <a:p/>
          <a:p>
            <a:r>
              <a:t>【接下頁】如果寬限期超時、訊號還是沒回來,下一頁講怎麼分階段處理。</a:t>
            </a:r>
          </a:p>
          <a:p/>
          <a:p>
            <a:r>
              <a:t>【備詢·不念】</a:t>
            </a:r>
          </a:p>
          <a:p>
            <a:r>
              <a:t>Q:寬限期間如果飛機被風吹走怎麼辦?</a:t>
            </a:r>
          </a:p>
          <a:p>
            <a:r>
              <a:t>A:姿態已調平,所以不會主動往某個方向飛;但確實會隨風漂移。這是「等待可恢復」與「立即處置」之間的取捨,也是為什麼有模式 2 這個選項。</a:t>
            </a:r>
          </a:p>
          <a:p/>
          <a:p>
            <a:r>
              <a:t>Q:為什麼不用 GPS 定點?</a:t>
            </a:r>
          </a:p>
          <a:p>
            <a:r>
              <a:t>A:室內無 GPS,這正是本研究要做室內定位的動機之一。定位系統成熟後,寬限期可以改成「定點懸停」而非「維持高度」。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598 字≈2.7 分</a:t>
            </a:r>
          </a:p>
          <a:p/>
          <a:p>
            <a:r>
              <a:t>【一句話】飛機無法直接分辨「斷線」和「關機」— 所以用時間區分意圖,一套狀態機兩個出口。</a:t>
            </a:r>
          </a:p>
          <a:p/>
          <a:p>
            <a:r>
              <a:t>【★ 核心設計思想(右下角那句)】</a:t>
            </a:r>
          </a:p>
          <a:p>
            <a:r>
              <a:t>訊號消失時,「遙控器被關機」和「訊號短暫中斷」在飛機看來**完全一樣** — 都是沒有新封包進來。兩者唯一的差別是**會不會回來**。而「會不會回來」只能用時間來推測。所以這套狀態機的本質是:**用等待時長把使用者意圖分類**。</a:t>
            </a:r>
          </a:p>
          <a:p/>
          <a:p>
            <a:r>
              <a:t>【兩個出口】</a:t>
            </a:r>
          </a:p>
          <a:p>
            <a:r>
              <a:t>① **寬限內訊號恢復** → 判定為短暫中斷 → 綠色箭頭回到正常飛行續飛。</a:t>
            </a:r>
          </a:p>
          <a:p>
            <a:r>
              <a:t>② **超時不回** → 判定真失聯 → 進入受控下降 → 最後著陸鎖定。</a:t>
            </a:r>
          </a:p>
          <a:p/>
          <a:p>
            <a:r>
              <a:t>【為什麼下降要「受控」而不是直接停機】受控下降仍在跑姿態迴路,飛機是水平落地的;直接停機則是翻滾墜落。對機體與現場人員的風險差很多。</a:t>
            </a:r>
          </a:p>
          <a:p/>
          <a:p>
            <a:r>
              <a:t>【著陸鎖定為什麼必要】觸地後若不鎖定,加速度計的觸地衝擊可能被誤判為「還在空中」,電機又轉起來 — 那會在地面彈跳。所以觸地判定成立後直接鎖住,必須重新解鎖才能再飛。</a:t>
            </a:r>
          </a:p>
          <a:p/>
          <a:p>
            <a:r>
              <a:t>【★ 最可能被追問的問題,先準備好】</a:t>
            </a:r>
          </a:p>
          <a:p>
            <a:r>
              <a:t>Q:斷線維持和多機輪詢不都是同一件事嗎?</a:t>
            </a:r>
          </a:p>
          <a:p>
            <a:r>
              <a:t>A:兩者是一體兩面但職責不同 —</a:t>
            </a:r>
          </a:p>
          <a:p>
            <a:r>
              <a:t>· **輪詢是發射端的排程策略**:決定這一刻對誰發。</a:t>
            </a:r>
          </a:p>
          <a:p>
            <a:r>
              <a:t>· **斷線維持是接收端的容錯策略**:決定沒輪到我時該怎麼辦。</a:t>
            </a:r>
          </a:p>
          <a:p>
            <a:r>
              <a:t>只有輪詢沒有維持,每台在輪空期都會觸發失控保護直接降落,多機就不成立。維持機制把「輪空」定義為正常狀態,兩者缺一不可。</a:t>
            </a:r>
          </a:p>
          <a:p/>
          <a:p>
            <a:r>
              <a:t>【備詢·不念】</a:t>
            </a:r>
          </a:p>
          <a:p>
            <a:r>
              <a:t>Q:寬限時長可調嗎?</a:t>
            </a:r>
          </a:p>
          <a:p>
            <a:r>
              <a:t>A:可以,預設 2 秒,降落方式也可選。三種模式就是這組參數的三種組合。</a:t>
            </a:r>
          </a:p>
          <a:p/>
          <a:p>
            <a:r>
              <a:t>Q:如果是飛機端當機而不是訊號中斷呢?</a:t>
            </a:r>
          </a:p>
          <a:p>
            <a:r>
              <a:t>A:那要靠看門狗。這也是單晶片架構下我特別強化看門狗的原因 — 雙 MCU 時無線晶片還活著,單晶片一當就全機失控。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40 字≈11 秒 ｜ 完整版 702 字≈3.2 分</a:t>
            </a:r>
          </a:p>
          <a:p/>
          <a:p>
            <a:r>
              <a:t>【一句話】核心概念是廣播定址:一份指令廣播出去,兩台同時收到,再由飛機自己判斷要不要執行。</a:t>
            </a:r>
          </a:p>
          <a:p/>
          <a:p>
            <a:r>
              <a:t>【★ 為什麼是「飛機自己判斷」而不是「遙控器只發給某一台」】</a:t>
            </a:r>
          </a:p>
          <a:p>
            <a:r>
              <a:t>這是整章的關鍵設計思想。若由發射端決定收件人(那就是分時尋址),帶寬必然 O(N)、各機指令必然錯開。改成「一包全體同收、由接收端自己判斷」之後,發送次數與台數無關 — **這是 O(1) 與 O(N) 的分野,也是編隊能不能同步的分野**。</a:t>
            </a:r>
          </a:p>
          <a:p/>
          <a:p>
            <a:r>
              <a:t>【資料鏈路】PC 上位機做定位與決策 → 經 USB 以 ATKP 格式交給遙控器 → 遙控器原樣廣播 → 兩台飛機各有自己的 ID 與私有位址;兩台同時也都發 BLE 信標給四個錨點,所以能同時被定位。</a:t>
            </a:r>
          </a:p>
          <a:p/>
          <a:p>
            <a:r>
              <a:t>【三個機制,都已實機驗證】</a:t>
            </a:r>
          </a:p>
          <a:p>
            <a:r>
              <a:t>① **廣播選台(模式 A 擴展)** — 一包全體同收,包尾附目標字節;選中的執行、其餘懸停待命。</a:t>
            </a:r>
          </a:p>
          <a:p>
            <a:r>
              <a:t>② **多工廣播(模式 B)** — 一個廣播包裡裝兩台各自獨立的指令段,兩機同收後各取自己那段,**可同時做不同動作**。這是本研究的亮點。</a:t>
            </a:r>
          </a:p>
          <a:p>
            <a:r>
              <a:t>③ **廣播點名** — 廣播是單向不回 ACK 的,遙控器看不到飛機狀態,所以每隔約 0.13 秒切一次私有去探詢一台,把電量與在線狀態取回來。</a:t>
            </a:r>
          </a:p>
          <a:p/>
          <a:p>
            <a:r>
              <a:t>【★ 三者不是三選一,而是分層並存】</a:t>
            </a:r>
          </a:p>
          <a:p>
            <a:r>
              <a:t>· 模式 A 供人手操作(遙控器只有一份搖桿值)</a:t>
            </a:r>
          </a:p>
          <a:p>
            <a:r>
              <a:t>· 模式 B 供 PC 自動編隊(指令來源能算出各機不同目標)</a:t>
            </a:r>
          </a:p>
          <a:p>
            <a:r>
              <a:t>· 私有模式供逐台調參與讀狀態</a:t>
            </a:r>
          </a:p>
          <a:p>
            <a:r>
              <a:t>它們用不同的 msgID 與位址,飛機端依 msgID 分流,可即時切換而不衝突。</a:t>
            </a:r>
          </a:p>
          <a:p/>
          <a:p>
            <a:r>
              <a:t>【先給個伏筆】這三個機制不是一開始就這樣設計的 — 下一頁先講協議基礎,再下一頁講我走過的彎路。</a:t>
            </a:r>
          </a:p>
          <a:p/>
          <a:p>
            <a:r>
              <a:t>【備詢·不念】</a:t>
            </a:r>
          </a:p>
          <a:p>
            <a:r>
              <a:t>Q:現在能同時飛兩台嗎?</a:t>
            </a:r>
          </a:p>
          <a:p>
            <a:r>
              <a:t>A:三個機制都有實機影片。但「機制通了」和「兩台一起編隊飛完一段航線」是兩件事,後者尚未完整演示 — 我在系統邊界那頁也是這樣標的。</a:t>
            </a:r>
          </a:p>
          <a:p/>
          <a:p>
            <a:r>
              <a:t>Q:為什麼遙控器要原樣轉發而不解析?</a:t>
            </a:r>
          </a:p>
          <a:p>
            <a:r>
              <a:t>A:讓遙控器保持單純的無線橋,PC 的擴展不需要動遙控器韌體。模式 B 就是這樣加進來的 — 遙控器一行控制邏輯都沒改。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28 字≈8 秒 ｜ 完整版 699 字≈3.2 分</a:t>
            </a:r>
          </a:p>
          <a:p/>
          <a:p>
            <a:r>
              <a:t>【一句話】先把協議的字節格式講清楚,後面模式 B 的擴展才有基礎。</a:t>
            </a:r>
          </a:p>
          <a:p/>
          <a:p>
            <a:r>
              <a:t>【幀結構逐欄說明】</a:t>
            </a:r>
          </a:p>
          <a:p>
            <a:r>
              <a:t>· **0xAA 0xAF** — 兩個幀頭。為什麼要兩個:單一幀頭在連續位元流裡太容易誤命中,兩個字節的組合把誤判機率降到 1/65536。第二個字節同時標示方向(上位機→飛控 用 0xAF,反向用別的值),接收方一眼就知道這包該不該處理。</a:t>
            </a:r>
          </a:p>
          <a:p>
            <a:r>
              <a:t>· **功能字** — 指令類型。這是協議的擴展點:每個值代表一種指令,未用的值就是保留空間。</a:t>
            </a:r>
          </a:p>
          <a:p>
            <a:r>
              <a:t>· **長度** — 資料字節數。有了它,解析器才能知道要再讀幾個字節才到校驗和 — 這就是「動態長度」的基礎。</a:t>
            </a:r>
          </a:p>
          <a:p>
            <a:r>
              <a:t>· **資料** — 實際內容,0~N 字節。</a:t>
            </a:r>
          </a:p>
          <a:p>
            <a:r>
              <a:t>· **校驗和** — 前面所有字節相加取低 8 位。</a:t>
            </a:r>
          </a:p>
          <a:p/>
          <a:p>
            <a:r>
              <a:t>【為什麼是「相加取低8位」而不是 CRC】這是輕量校驗:計算成本極低(單片機一個迴圈就算完),能擋掉大部分單字節錯誤。它擋不住某些多字節互補的錯誤,但無線層本身已有硬體 CRC,這一層只是第二道防線。</a:t>
            </a:r>
          </a:p>
          <a:p/>
          <a:p>
            <a:r>
              <a:t>【現場可驗算的實例】解鎖指令 AA AF 01 01 A1 FC</a:t>
            </a:r>
          </a:p>
          <a:p>
            <a:r>
              <a:t>0xAA + 0xAF + 0x01 + 0x01 + 0xA1 = 0x1FC → 取低 8 位 = **0xFC** ✓</a:t>
            </a:r>
          </a:p>
          <a:p>
            <a:r>
              <a:t>這是可以當場算給委員看的。</a:t>
            </a:r>
          </a:p>
          <a:p/>
          <a:p>
            <a:r>
              <a:t>【為什麼沿用這套協議而不自己定】</a:t>
            </a:r>
          </a:p>
          <a:p>
            <a:r>
              <a:t>① 原廠地面站原生支援 — PC 端零開發即可下指令驗證,省下大量工具開發時間</a:t>
            </a:r>
          </a:p>
          <a:p>
            <a:r>
              <a:t>② 飛機端解析器已在移植韌體內 — 指令直達控制核心,不需額外橋接</a:t>
            </a:r>
          </a:p>
          <a:p>
            <a:r>
              <a:t>③ **功能字與資料欄有保留空間** — 這是最關鍵的:我可以在不破壞原有相容性的前提下加入多機定址。原廠地面站依然能用,新功能也能加。</a:t>
            </a:r>
          </a:p>
          <a:p/>
          <a:p>
            <a:r>
              <a:t>【備詢·不念】</a:t>
            </a:r>
          </a:p>
          <a:p>
            <a:r>
              <a:t>Q:為什麼不用 MAVLink 這類標準協議?</a:t>
            </a:r>
          </a:p>
          <a:p>
            <a:r>
              <a:t>A:MAVLink 功能完整但也龐大,而且原廠地面站不支援 — 換協議等於放棄現成的驗證工具。本研究的策略是「傳承協議、擴展能力」。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34 字≈9 秒 ｜ 完整版 638 字≈2.9 分</a:t>
            </a:r>
          </a:p>
          <a:p/>
          <a:p>
            <a:r>
              <a:t>【一句話】這頁講一個被我放棄的設計,以及放棄的理由 — 失敗經驗也是研究內容。</a:t>
            </a:r>
          </a:p>
          <a:p/>
          <a:p>
            <a:r>
              <a:t>【原方案是什麼】用保留功能字 0xF0 做目標選擇:PC 先告訴遙控器要控哪一台,遙控器記住,之後的常規指令就分時輪流送進對應飛機的時槽。</a:t>
            </a:r>
          </a:p>
          <a:p/>
          <a:p>
            <a:r>
              <a:t>【它在紙上很合理】飛機端完全不用改;而且「目標路由」和「分時發送」天然是同一件事 — 選誰就是進誰的時槽。這也是多數人第一時間會想到的做法。</a:t>
            </a:r>
          </a:p>
          <a:p/>
          <a:p>
            <a:r>
              <a:t>【★ 三個決定性缺點】</a:t>
            </a:r>
          </a:p>
          <a:p>
            <a:r>
              <a:t>① **帶寬 O(N)**:每台各發一次,兩台就把刷新率砍半。以遙控器 100Hz 主循環為例,兩台各得 50Hz、三台各得 33Hz。更嚴重的是**各機指令必然錯開** — 第一台收到的是 t 時刻的指令,第二台收到的是 t+10ms 的,編隊動作根本無法同步。這不是實作問題,是機制本身的性質。</a:t>
            </a:r>
          </a:p>
          <a:p>
            <a:r>
              <a:t>② **遙控器成為狀態瓶頸**:目標記在遙控器裡。一旦丟包或重啟,PC 與遙控器對「現在控誰」的認知就不一致 —— **而 PC 無從得知這件事已經發生**,指令會靜默地打到錯的飛機。分散式系統裡把狀態集中在中間節點,本身就是脆弱點。</a:t>
            </a:r>
          </a:p>
          <a:p>
            <a:r>
              <a:t>③ **實作受阻且難以除錯**:時槽協商依賴運行期握手,實測長期沒有回應。而且是黑箱 — 我無法從外部觀察到協商停在哪一步。</a:t>
            </a:r>
          </a:p>
          <a:p/>
          <a:p>
            <a:r>
              <a:t>【★ 改成什麼:編譯期約定取代運行期協商】</a:t>
            </a:r>
          </a:p>
          <a:p>
            <a:r>
              <a:t>位址、信道、ID 全部寫死在三端韌體裡,開機即生效,不需要任何握手。代價是換機器要重新燒錄,但換來的是**沒有協商就沒有協商失敗**。這個取捨對兩到三台的研究平台是划算的。</a:t>
            </a:r>
          </a:p>
          <a:p/>
          <a:p>
            <a:r>
              <a:t>【備詢·不念】</a:t>
            </a:r>
          </a:p>
          <a:p>
            <a:r>
              <a:t>Q:為什麼不再試一次分時?</a:t>
            </a:r>
          </a:p>
          <a:p>
            <a:r>
              <a:t>A:不是不能做,是「帶寬 O(N)」這個性質,決定了它在「編隊同步」這個研究目標下先天不利。這是設計選擇服從研究目標,不是實作能力問題。</a:t>
            </a:r>
          </a:p>
          <a:p/>
          <a:p>
            <a:r>
              <a:t>Q:編譯期約定不是很不靈活嗎?</a:t>
            </a:r>
          </a:p>
          <a:p>
            <a:r>
              <a:t>A:是。若要擴展到多台且需要動態加入,運行期協商仍是必要的。但那時該用的是完整的位址分配協議,而不是我原本那套簡化的時槽握手。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24 字≈7 秒 ｜ 完整版 331 字≈1.5 分</a:t>
            </a:r>
          </a:p>
          <a:p/>
          <a:p>
            <a:r>
              <a:t>【一句話】移植成果的整體驗證:從上電到降落,全程沒有剪接。</a:t>
            </a:r>
          </a:p>
          <a:p/>
          <a:p>
            <a:r>
              <a:t>【播放時要說的】</a:t>
            </a:r>
          </a:p>
          <a:p>
            <a:r>
              <a:t>① **開機自檢** — 七個驅動模組依序通過,LED 指示狀態。這一段對應驅動層移植那頁。</a:t>
            </a:r>
          </a:p>
          <a:p>
            <a:r>
              <a:t>② **遙控器配對成功** — 這代表 ESB 空中相容的三項對齊(位序反轉、動態載荷、速率)全部做對了,否則連不上。</a:t>
            </a:r>
          </a:p>
          <a:p>
            <a:r>
              <a:t>③ **起飛、定高懸停** — 對應高度估計鏈的三項增強。</a:t>
            </a:r>
          </a:p>
          <a:p>
            <a:r>
              <a:t>④ **斷訊維持** — 我故意讓訊號中斷,注意**高度沒有掉**,訊號回來後無縫續飛。</a:t>
            </a:r>
          </a:p>
          <a:p>
            <a:r>
              <a:t>⑤ 降落。</a:t>
            </a:r>
          </a:p>
          <a:p/>
          <a:p>
            <a:r>
              <a:t>【★ 這支影片放在這裡的原因】</a:t>
            </a:r>
          </a:p>
          <a:p>
            <a:r>
              <a:t>到這一頁為止,單機的所有內容(硬體、移植、三大挑戰、控制、安全)都講完了。這支影片是它們的**綜合驗證** — 每一個環節在影片裡都看得到對應的畫面。下一章才進入多機。</a:t>
            </a:r>
          </a:p>
          <a:p/>
          <a:p>
            <a:r>
              <a:t>【備詢·不念】</a:t>
            </a:r>
          </a:p>
          <a:p>
            <a:r>
              <a:t>Q:為什麼特別展示斷訊維持?</a:t>
            </a:r>
          </a:p>
          <a:p>
            <a:r>
              <a:t>A:它是多機控制的安全基礎。廣播模式下每台本來就會有短暫收不到指令的空檔(點名那一下),這個機制把「輪空」定義為正常狀態,多機才可行。這也是為什麼這支影片排在多機章之前。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45 字≈12 秒 ｜ 完整版 165 字≈0.8 分</a:t>
            </a:r>
          </a:p>
          <a:p/>
          <a:p>
            <a:r>
              <a:t>【一句話】接下來進系統二:定位。從 RSSI 這個訊號本身,到九步定位引擎,再到與文獻的對照與改進。</a:t>
            </a:r>
          </a:p>
          <a:p/>
          <a:p>
            <a:r>
              <a:t>【怎麼講】這一章的順序是:先給四步全貌,再依序展開硬體、位置閉環、RSSI 的三層深入、時槽寄生信標,最後是濾波三部曲與文獻對照。這裡要先提醒委員一件事:定位是本論文的支撐貢獻,不是主貢獻 — 主軸仍在跨 MCU 的韌體重構。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36 字≈10 秒 ｜ 完整版 368 字≈1.7 分</a:t>
            </a:r>
          </a:p>
          <a:p/>
          <a:p>
            <a:r>
              <a:t>【一句話】定位網路的硬體很簡單:一個閘道加四個錨點,全部用同一顆 ESP32S3。</a:t>
            </a:r>
          </a:p>
          <a:p/>
          <a:p>
            <a:r>
              <a:t>【硬體組成】</a:t>
            </a:r>
          </a:p>
          <a:p>
            <a:r>
              <a:t>· **閘道 ×1** — 接收四錨的 RSSI 批次上報,經 USB 轉發至上位機。使用獨立幀格式加校驗確保傳輸可靠。</a:t>
            </a:r>
          </a:p>
          <a:p>
            <a:r>
              <a:t>· **錨點 ×4** — 固定在已知座標,以 NimBLE 被動掃描量測各飛機信標的 RSSI,再經 ESP-NOW 上報閘道。</a:t>
            </a:r>
          </a:p>
          <a:p/>
          <a:p>
            <a:r>
              <a:t>【為什麼用被動掃描而非建立連線】</a:t>
            </a:r>
          </a:p>
          <a:p>
            <a:r>
              <a:t>被動掃描不需建連,因此**錨點的服務對象數量沒有上限** — 一次掃描即可收齊三台飛機的訊號。若採連線式,四個錨要各自與每台飛機建連,台數增加就會撐不住。這是多機同時定位的前提。</a:t>
            </a:r>
          </a:p>
          <a:p/>
          <a:p>
            <a:r>
              <a:t>【部署要點】四個錨的天線型號與朝向必須一致。實測天線朝向差異可造成接近 20 dB 的 RSSI 落差,換算成距離是數倍的誤差 — 這比濾波演算法的影響大得多。</a:t>
            </a:r>
          </a:p>
          <a:p/>
          <a:p>
            <a:r>
              <a:t>【備詢·不念】</a:t>
            </a:r>
          </a:p>
          <a:p>
            <a:r>
              <a:t>Q:為什麼錨點也用 ESP32S3?</a:t>
            </a:r>
          </a:p>
          <a:p>
            <a:r>
              <a:t>A:與第三台飛控平台同型,採購與韌體維護成本低;且其 BLE 掃描效能足夠。</a:t>
            </a:r>
          </a:p>
          <a:p/>
          <a:p>
            <a:r>
              <a:t>Q:四個錨怎麼決定擺位?</a:t>
            </a:r>
          </a:p>
          <a:p>
            <a:r>
              <a:t>A:盡量圍成矩形、避免共線 — 共線會使幾何精度因子(GDOP)劣化,交會出的位置誤差被放大。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33 字≈9 秒 ｜ 完整版 404 字≈1.8 分</a:t>
            </a:r>
          </a:p>
          <a:p/>
          <a:p>
            <a:r>
              <a:t>【一句話】拿到座標之後,怎麼把它變成飛機的動作 — 這是位置閉環的四個步驟。</a:t>
            </a:r>
          </a:p>
          <a:p/>
          <a:p>
            <a:r>
              <a:t>【四步】</a:t>
            </a:r>
          </a:p>
          <a:p>
            <a:r>
              <a:t>① **位置誤差** — 目標座標減去目前座標,得到還差多少。</a:t>
            </a:r>
          </a:p>
          <a:p>
            <a:r>
              <a:t>② **限速指令** — 誤差乘上增益轉為期望速度,並施加上限。不限速的話,誤差大時會要求飛機以極高速度衝過去,超出可控範圍。</a:t>
            </a:r>
          </a:p>
          <a:p>
            <a:r>
              <a:t>③ **座標轉換** — **這一步最關鍵**:誤差是在場地座標系(世界座標)算的,但飛機的 roll/pitch 是相對自身機體的。必須依當前航向把世界座標的期望速度旋轉到機體座標系,否則飛機會朝錯誤方向飛。</a:t>
            </a:r>
          </a:p>
          <a:p>
            <a:r>
              <a:t>④ **姿態指令** — 期望速度轉為 roll/pitch 目標角,交給既有的串級 PID。</a:t>
            </a:r>
          </a:p>
          <a:p/>
          <a:p>
            <a:r>
              <a:t>【上位機的四項功能】即時地圖顯示、點選導航、逐錨標定介面、參數調整。</a:t>
            </a:r>
          </a:p>
          <a:p/>
          <a:p>
            <a:r>
              <a:t>【★ 誠實邊界】此閉環已完成設計與實作,但完整的閉環自由飛行尚未驗證 — 目前定位精度為演示等級,直接用於閉環控制會使飛機在目標點附近震盪。</a:t>
            </a:r>
          </a:p>
          <a:p/>
          <a:p>
            <a:r>
              <a:t>【備詢·不念】</a:t>
            </a:r>
          </a:p>
          <a:p>
            <a:r>
              <a:t>Q:座標轉換錯了會怎樣?</a:t>
            </a:r>
          </a:p>
          <a:p>
            <a:r>
              <a:t>A:飛機會朝偏差一個航向角的方向飛,而且誤差越大偏得越遠 — 這是位置閉環最常見的錯誤來源。</a:t>
            </a:r>
          </a:p>
          <a:p/>
          <a:p>
            <a:r>
              <a:t>Q:為什麼要限速?</a:t>
            </a:r>
          </a:p>
          <a:p>
            <a:r>
              <a:t>A:位置環的輸出是速度指令,不限速時大誤差會產生超出機體能力的指令,導致姿態失控。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31 字≈8 秒 ｜ 完整版 324 字≈1.5 分</a:t>
            </a:r>
          </a:p>
          <a:p/>
          <a:p>
            <a:r>
              <a:t>【一句話】先把 RSSI 這個訊號的真面目講清楚 — 它天生就是會抖的。</a:t>
            </a:r>
          </a:p>
          <a:p/>
          <a:p>
            <a:r>
              <a:t>【RSSI 是什麼】接收訊號強度,單位 dBm,是對數刻度 — 每降 10 dB 代表功率變成十分之一。室內 BLE 典型範圍是 −40 到 −90 dBm。</a:t>
            </a:r>
          </a:p>
          <a:p/>
          <a:p>
            <a:r>
              <a:t>【波動的三大來源】</a:t>
            </a:r>
          </a:p>
          <a:p>
            <a:r>
              <a:t>① 多徑反射疊加 — 訊號走不同路徑到達,互相干涉</a:t>
            </a:r>
          </a:p>
          <a:p>
            <a:r>
              <a:t>② 遮擋 — 5 到 15 dB</a:t>
            </a:r>
          </a:p>
          <a:p>
            <a:r>
              <a:t>③ 天線朝向 — 接近 20 dB</a:t>
            </a:r>
          </a:p>
          <a:p/>
          <a:p>
            <a:r>
              <a:t>【右圖是實測(這頁最有說服力的部分)】信標完全靜止不動,讀值仍在 ±6 dB 內跳,還有偶發的 −71 離群值。換算成距離,差距超過 2 倍。</a:t>
            </a:r>
          </a:p>
          <a:p/>
          <a:p>
            <a:r>
              <a:t>【所以】必須先濾波。這不是「訊號品質不好」,而是 RSSI 的物理特性 — 下一頁講怎麼把它轉成距離,再下一頁講怎麼濾。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38 字≈10 秒 ｜ 完整版 678 字≈3.1 分</a:t>
            </a:r>
          </a:p>
          <a:p/>
          <a:p>
            <a:r>
              <a:t>【一句話】對數模型不是經驗公式,是從電波物理推出來的 — 而且有一個參數設錯就整場偏。</a:t>
            </a:r>
          </a:p>
          <a:p/>
          <a:p>
            <a:r>
              <a:t>【三步推導】</a:t>
            </a:r>
          </a:p>
          <a:p>
            <a:r>
              <a:t>① 電波從天線發出後在空間中呈球面擴散。能量守恆,球面積 4πd² 隨距離平方增長,所以單位面積的功率密度 ∝ 1/d²。</a:t>
            </a:r>
          </a:p>
          <a:p>
            <a:r>
              <a:t>② RSSI 的單位 dBm 本身是對數刻度(dBm = 10·log₁₀(功率/1mW))。把 1/d² 這個冪次關係取對數,就變成「距離每增加十倍,訊號固定掉 20 dB」的線性關係。</a:t>
            </a:r>
          </a:p>
          <a:p>
            <a:r>
              <a:t>③ 但那是自由空間。室內有牆、有家具、有反射,衰減比自由空間快。所以把指數 2 換成一個可調的**環境衰減指數 n**。</a:t>
            </a:r>
          </a:p>
          <a:p/>
          <a:p>
            <a:r>
              <a:t>【最終形式】RSSI = P₀ − 10·n·log₁₀(d)</a:t>
            </a:r>
          </a:p>
          <a:p>
            <a:r>
              <a:t>反解得 d = 10^((P₀ − RSSI) / (10n))</a:t>
            </a:r>
          </a:p>
          <a:p/>
          <a:p>
            <a:r>
              <a:t>【兩個參數的意義完全不同】</a:t>
            </a:r>
          </a:p>
          <a:p>
            <a:r>
              <a:t>· **P₀** — 距離 1 米處量到的訊號強度,是這支錨點的「基準點」。它取決於天線增益、發射功率、朝向、周圍遮擋 — **每支錨都不一樣,必須逐錨標定**。共用一個 P₀ 就等於把錨之間的硬體差異全算成距離誤差。</a:t>
            </a:r>
          </a:p>
          <a:p>
            <a:r>
              <a:t>· **n** — 環境的「指紋」。自由空間是 2,典型室內 2.7~3.5,重遮擋大於 4。</a:t>
            </a:r>
          </a:p>
          <a:p/>
          <a:p>
            <a:r>
              <a:t>【★ 為什麼 n 設錯救不回來】看反解式:n 在指數的分母。n 設偏 10%,距離就系統性偏差一個固定倍率,而且是**所有錨同方向偏**。濾波只能壓隨機雜訊,對這種系統性偏差完全無效 — 濾出來的是一個穩定但錯誤的位置。這正是「自適應 n」的動機:與其猜一個固定值,不如用錨與錨之間的互測(它們的距離是已知的)反算出當下環境的 n。</a:t>
            </a:r>
          </a:p>
          <a:p/>
          <a:p>
            <a:r>
              <a:t>【備詢·不念】</a:t>
            </a:r>
          </a:p>
          <a:p>
            <a:r>
              <a:t>Q:為什麼不直接查表?</a:t>
            </a:r>
          </a:p>
          <a:p>
            <a:r>
              <a:t>A:對數模型只需要兩個參數就能覆蓋整個空間,而指紋庫(查表)需要事前在每個網格點採樣建庫,換場地就要重做。本研究要的是可快速部署的方案。</a:t>
            </a:r>
          </a:p>
          <a:p/>
          <a:p>
            <a:r>
              <a:t>Q:P₀ 怎麼標定?</a:t>
            </a:r>
          </a:p>
          <a:p>
            <a:r>
              <a:t>A:上位機有逐錨標定介面 — 把信標放在距該錨 1 米處,讀當下的 RSSI 存為該錨的 P₀。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33 字≈9 秒 ｜ 完整版 351 字≈1.6 分</a:t>
            </a:r>
          </a:p>
          <a:p/>
          <a:p>
            <a:r>
              <a:t>【一句話】九步定位引擎 — 從這頁可以看出它不是「普通的 RSSI 定位」。</a:t>
            </a:r>
          </a:p>
          <a:p/>
          <a:p>
            <a:r>
              <a:t>【九步順序】</a:t>
            </a:r>
          </a:p>
          <a:p>
            <a:r>
              <a:t>信標廣播 → 四錨採集 → **自適應 Kalman 濾波(訊號域)** → 對數模型逐錨 P₀ 轉距離 → 自適應 n(錨間互測反算)→ 加權最小二乘解算 → 位置 Kalman 平滑軌跡</a:t>
            </a:r>
          </a:p>
          <a:p/>
          <a:p>
            <a:r>
              <a:t>【★ 順序本身就是設計決定】注意濾波在「轉距離之前」。原因是:訊號域 1 dB 的波動,轉成距離後會被指數放大成數十公分到公尺級。**先濾再轉**,才不會把小抖動放大成大誤差。這個順序如果顛倒,後面再怎麼濾都救不回來。</a:t>
            </a:r>
          </a:p>
          <a:p/>
          <a:p>
            <a:r>
              <a:t>【橙色標的部分】自適應 RSSI 濾波是本文的改進重點,接下來三頁展開:</a:t>
            </a:r>
          </a:p>
          <a:p>
            <a:r>
              <a:t>① 先看清問題(RSSI 到底難在哪)</a:t>
            </a:r>
          </a:p>
          <a:p>
            <a:r>
              <a:t>② 再講自適應 Kalman 這個方法</a:t>
            </a:r>
          </a:p>
          <a:p>
            <a:r>
              <a:t>③ 最後是一次真實除錯的故事與數據</a:t>
            </a:r>
          </a:p>
          <a:p/>
          <a:p>
            <a:r>
              <a:t>【備詢·不念】</a:t>
            </a:r>
          </a:p>
          <a:p>
            <a:r>
              <a:t>Q:為什麼要兩層 Kalman(訊號域一層、位置域一層)?</a:t>
            </a:r>
          </a:p>
          <a:p>
            <a:r>
              <a:t>A:兩層治的是不同問題 — 訊號域治 RSSI 抖動,位置域治解算結果的跳動。前者是輸入雜訊,後者是幾何解算的不穩定。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51 字≈14 秒 ｜ 完整版 853 字≈3.9 分</a:t>
            </a:r>
          </a:p>
          <a:p/>
          <a:p>
            <a:r>
              <a:t>【一句話】讓同一顆 RADIO 分時跑兩種協議 — ESB 收發遙控,並在通信空隙插入 BLE 廣播當定位信標。</a:t>
            </a:r>
          </a:p>
          <a:p/>
          <a:p>
            <a:r>
              <a:t>【為什麼這件事可行】關鍵是遙控通信的**時間結構**。ESB 是一問一答:遙控器發一包 → 飛機回 ACK → 然後雙方都閒著,直到下一包。遙控迴圈約 100Hz,也就是每 10 毫秒一輪,而一次收發加 ACK 只佔其中不到 1 毫秒。**剩下 9 毫秒 RADIO 完全空閒** — 那個空隙足夠塞進一個 BLE 廣播封包(約 0.3 毫秒)。</a:t>
            </a:r>
          </a:p>
          <a:p/>
          <a:p>
            <a:r>
              <a:t>【切換要改哪些暫存器】ESB 和 BLE 雖然都在 2.4GHz,但封包格式完全不同,切換時要重配:</a:t>
            </a:r>
          </a:p>
          <a:p>
            <a:r>
              <a:t>· 頻率 — ESB 用約定的信道,BLE 廣播用 37/38/39 三個廣播信道</a:t>
            </a:r>
          </a:p>
          <a:p>
            <a:r>
              <a:t>· 封包格式(PCNF0/PCNF1)— 長度欄位數、S1 欄位數、位址長度都不同</a:t>
            </a:r>
          </a:p>
          <a:p>
            <a:r>
              <a:t>· CRC — 多項式與初值不同</a:t>
            </a:r>
          </a:p>
          <a:p>
            <a:r>
              <a:t>· 白化(whitening)— BLE 強制啟用資料白化避免長串相同位元,ESB 不用</a:t>
            </a:r>
          </a:p>
          <a:p/>
          <a:p>
            <a:r>
              <a:t>發完 BLE 再把這些全部切回 ESB。整個切換是純暫存器寫入,微秒級。</a:t>
            </a:r>
          </a:p>
          <a:p/>
          <a:p>
            <a:r>
              <a:t>【★ 時序保護:為什麼「寧可少發一次信標」】切換插在 radiolinkTask 確定的收發空隙內,而且窗口時長受控。原則是:**控制安全永遠優先於定位**。如果某一輪的空隙不夠(例如遙控封包來得密),就跳過這次信標 — 定位少一個取樣點只是精度略降,但如果因為在發信標而錯過遙控封包,飛機就會進失控保護。這個優先順序不能反。</a:t>
            </a:r>
          </a:p>
          <a:p/>
          <a:p>
            <a:r>
              <a:t>【誠實邊界】這是 BLE **相容廣播** — 封包格式讓 NimBLE 掃描器認得、能測 RSSI,但沒有完整跑標準 BLE 的三頻道輪替與退避流程。對定位用途足夠(我們只需要錨點能收到並測強度),但論文裡如實說明,不宣稱是標準 BLE Beacon。</a:t>
            </a:r>
          </a:p>
          <a:p/>
          <a:p>
            <a:r>
              <a:t>【這個設計的價值】異構機隊裡,ATK 原機要外掛信標模組才能被定位,而 nRF 平台用自身 RADIO 就做到了 — 不增加任何硬體、不佔板面積。這是單晶片架構帶來的額外好處。</a:t>
            </a:r>
          </a:p>
          <a:p/>
          <a:p>
            <a:r>
              <a:t>【備詢·不念】</a:t>
            </a:r>
          </a:p>
          <a:p>
            <a:r>
              <a:t>Q:切換開銷會不會影響控制?</a:t>
            </a:r>
          </a:p>
          <a:p>
            <a:r>
              <a:t>A:微秒級的暫存器重配,而且插在確定的空隙,不影響 500Hz 控制迴圈。實測遙控手感無差異。</a:t>
            </a:r>
          </a:p>
          <a:p/>
          <a:p>
            <a:r>
              <a:t>Q:為什麼不用獨立的信標模組?</a:t>
            </a:r>
          </a:p>
          <a:p>
            <a:r>
              <a:t>A:板端空間精簡是設計目標之一。用時槽寄生以單晶片完成,是更符合本研究「單晶片全能」主軸的做法。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37 字≈10 秒 ｜ 完整版 354 字≈1.6 分</a:t>
            </a:r>
          </a:p>
          <a:p/>
          <a:p>
            <a:r>
              <a:t>【一句話】上一頁講「怎麼發」,這一頁講「發出去之後,一套錨點怎麼同時服務多台飛機」。</a:t>
            </a:r>
          </a:p>
          <a:p/>
          <a:p>
            <a:r>
              <a:t>【關鍵在 droneId】信標內容是 FF FF 'M' 'F' droneId seq — **droneId 標明是哪一台**。三台飛機的信標格式完全統一,只差這一個字節。</a:t>
            </a:r>
          </a:p>
          <a:p/>
          <a:p>
            <a:r>
              <a:t>【所以錨點不必為誰做特別處理】四個 ESP32S3 錨用 NimBLE 被動掃描,一次掃描就把三台的訊號都收齊,各自量到 RSSI,連同 droneId 一起經 ESP-NOW 上報閘道。上位機再按 droneId 分別解算、在同一張地圖上顯示整個機隊。</a:t>
            </a:r>
          </a:p>
          <a:p/>
          <a:p>
            <a:r>
              <a:t>【為什麼「被動掃描」是關鍵】不建連線,所以錨點的服務對象數量沒有上限 — 這是兩機(乃至多機)能同時被定位的基礎。若採用連線式定位,四個錨要各自與每台飛機建連,台數一多就撐不住。</a:t>
            </a:r>
          </a:p>
          <a:p/>
          <a:p>
            <a:r>
              <a:t>【備詢·不念】</a:t>
            </a:r>
          </a:p>
          <a:p>
            <a:r>
              <a:t>Q:三台飛機的信標會不會互相干擾?</a:t>
            </a:r>
          </a:p>
          <a:p>
            <a:r>
              <a:t>A:BLE 廣播本來就是無連線的短促發送,加上各機發送時機由自己的 RADIO 空隙決定,天然錯開;錨點靠 droneId 區分來源。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34 字≈9 秒 ｜ 完整版 417 字≈1.9 分</a:t>
            </a:r>
          </a:p>
          <a:p/>
          <a:p>
            <a:r>
              <a:t>【一句話】先把問題講透,再講方法 — RSSI 有三個麻煩,而且它們互相衝突。</a:t>
            </a:r>
          </a:p>
          <a:p/>
          <a:p>
            <a:r>
              <a:t>【三個麻煩】</a:t>
            </a:r>
          </a:p>
          <a:p>
            <a:r>
              <a:t>① 先天抖動 — 靜止不動,讀值仍在 ±2~3 dBm 跳。這是多徑反射造成的物理特性,消不掉。</a:t>
            </a:r>
          </a:p>
          <a:p>
            <a:r>
              <a:t>② 轉距離會放大 — RSSI 轉距離是 10 的 x 次方,指數運算。訊號域 1 dB 的小抖動,轉距離後放大成數十公分到公尺級。</a:t>
            </a:r>
          </a:p>
          <a:p>
            <a:r>
              <a:t>③ 靜止與移動的兩難 — 壓抖動要濾波「重」,跟上移動要濾波「輕」。固定參數無法兼顧。</a:t>
            </a:r>
          </a:p>
          <a:p/>
          <a:p>
            <a:r>
              <a:t>【右邊的核心矛盾(這頁的重點)】</a:t>
            </a:r>
          </a:p>
          <a:p>
            <a:r>
              <a:t>靜止時 RSSI 一直抖 → 濾波太輕,圖標亂跳</a:t>
            </a:r>
          </a:p>
          <a:p>
            <a:r>
              <a:t>但濾波太重 → 又跟不上真的移動</a:t>
            </a:r>
          </a:p>
          <a:p/>
          <a:p>
            <a:r>
              <a:t>【所以需要什麼】一個「會看情況」的濾波器:靜止時當它重、壓住抖動;偵測到真移動時當它輕、快速跟上。這就是下一頁自適應 Kalman 要解決的。</a:t>
            </a:r>
          </a:p>
          <a:p/>
          <a:p>
            <a:r>
              <a:t>【為什麼要先講問題】因為如果直接講「我用了自適應 Kalman」,委員會問「為什麼不用一般的 Kalman」。先把兩難講清楚,方法的必要性就自然成立。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39 字≈11 秒 ｜ 完整版 655 字≈3.0 分</a:t>
            </a:r>
          </a:p>
          <a:p/>
          <a:p>
            <a:r>
              <a:t>【一句話】自適應 Kalman 的核心是:用「創新」的方向性來分辨這是雜訊還是真的在動。</a:t>
            </a:r>
          </a:p>
          <a:p/>
          <a:p>
            <a:r>
              <a:t>【先講基本結構】每支錨各配一個一維 Kalman 濾波器,狀態就是「這支錨量到的真實 RSSI」。每來一筆新讀值,計算**創新(innovation)= 新讀值 − 目前估計**,再用它修正估計。</a:t>
            </a:r>
          </a:p>
          <a:p/>
          <a:p>
            <a:r>
              <a:t>【關鍵參數 Q 在做什麼】Q 是過程雜訊,它代表「我認為真實值本身有多容易變」。</a:t>
            </a:r>
          </a:p>
          <a:p>
            <a:r>
              <a:t>· Q 小 → 濾波器認為真值很穩定 → 傾向相信自己的估計,新讀值只能小幅修正 → 平滑但遲鈍</a:t>
            </a:r>
          </a:p>
          <a:p>
            <a:r>
              <a:t>· Q 大 → 濾波器認為真值隨時在變 → 傾向相信新讀值 → 跟手但會抖</a:t>
            </a:r>
          </a:p>
          <a:p/>
          <a:p>
            <a:r>
              <a:t>【★ 怎麼分辨移動與雜訊(全頁最關鍵)】</a:t>
            </a:r>
          </a:p>
          <a:p>
            <a:r>
              <a:t>· **雜訊的創新沒有方向性**:多徑干涉造成的抖動是隨機的,創新忽正忽負,累加起來會互相抵消,長期趨近零。</a:t>
            </a:r>
          </a:p>
          <a:p>
            <a:r>
              <a:t>· **移動的創新有方向性**:機體真的靠近錨點,RSSI 就會持續變強,創新連續同號,累加起來越來越大。</a:t>
            </a:r>
          </a:p>
          <a:p/>
          <a:p>
            <a:r>
              <a:t>所以判準是:**把創新累加起來看它會不會發散**。累積同向創新超過閾值 → 判定為真移動 → 臨時把 Q 放大;累積量回落 → 切回小 Q。</a:t>
            </a:r>
          </a:p>
          <a:p/>
          <a:p>
            <a:r>
              <a:t>【兩個模式】</a:t>
            </a:r>
          </a:p>
          <a:p>
            <a:r>
              <a:t>· 靜止模式(小 Q):壓住 ±2~3 dBm 的先天抖動,圖標穩住</a:t>
            </a:r>
          </a:p>
          <a:p>
            <a:r>
              <a:t>· 移動模式(放大 Q):快速跟上,不滯後</a:t>
            </a:r>
          </a:p>
          <a:p/>
          <a:p>
            <a:r>
              <a:t>【為什麼這比「固定三級濾波」聰明】固定三級只是預先準備三種平滑強度,還是要人去判斷現在該用哪一級。自適應的做法是讓濾波器自己從創新的統計特性判斷 — 它真正解決了「靜止要重、移動要輕」這個兩難,而不是把選擇權丟給使用者。</a:t>
            </a:r>
          </a:p>
          <a:p/>
          <a:p>
            <a:r>
              <a:t>【備詢·不念】</a:t>
            </a:r>
          </a:p>
          <a:p>
            <a:r>
              <a:t>Q:閾值怎麼定?</a:t>
            </a:r>
          </a:p>
          <a:p>
            <a:r>
              <a:t>A:在 config 可調,依實測的 RSSI 抖動幅度整定 — 要大於雜訊的累積量,又要小於真移動的累積量。</a:t>
            </a:r>
          </a:p>
          <a:p/>
          <a:p>
            <a:r>
              <a:t>Q:為什麼每支錨各一個濾波器?</a:t>
            </a:r>
          </a:p>
          <a:p>
            <a:r>
              <a:t>A:各錨的距離、朝向、遮擋都不同,抖動特性也不同。共用一個濾波器會把差異平均掉。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30 字≈8 秒 ｜ 完整版 418 字≈1.9 分</a:t>
            </a:r>
          </a:p>
          <a:p/>
          <a:p>
            <a:r>
              <a:t>【一句話】一次真實的除錯過程 — 真實的問題、真實的診斷、真實的修復。</a:t>
            </a:r>
          </a:p>
          <a:p/>
          <a:p>
            <a:r>
              <a:t>【現象(v1.14)】標定完成後,藍色的 raw 點在動,但無人機圖標卡在原位、嚴重滯後,看起來像「定住了」。</a:t>
            </a:r>
          </a:p>
          <a:p/>
          <a:p>
            <a:r>
              <a:t>【根因診斷】為了壓 RSSI 抖動,我把 Kalman 的 Q 設得極小(0.001)→ 濾波過度。機體一移動,濾波後的 RSSI 要 20 多步才跟上,圖標看起來就是卡住 — **壓噪與跟手失衡**。</a:t>
            </a:r>
          </a:p>
          <a:p/>
          <a:p>
            <a:r>
              <a:t>【修復(v1.14.1)】</a:t>
            </a:r>
          </a:p>
          <a:p>
            <a:r>
              <a:t>① 改成自適應 Q:偵測到真移動就放大 Q 快跟,靜止才用小 Q 強平滑</a:t>
            </a:r>
          </a:p>
          <a:p>
            <a:r>
              <a:t>② 位置層再加「連續大跳變 N 次就重播種」— 治標定搬動後追不上的問題</a:t>
            </a:r>
          </a:p>
          <a:p/>
          <a:p>
            <a:r>
              <a:t>【修復效果三者兼得】靜止時抖動明顯收斂、穩態時解算穩定停在對的位置、移動時圖標跟手不卡。</a:t>
            </a:r>
          </a:p>
          <a:p/>
          <a:p>
            <a:r>
              <a:t>【★ 這裡我要特別誠實(重要)】以上是除錯過程中在軟體與仿真層觀察到的**定性改善**,不是真實硬體的精度數字。真實硬體的定位精度實驗還沒做完,要等完整聯通後才能量化。</a:t>
            </a:r>
          </a:p>
          <a:p/>
          <a:p>
            <a:r>
              <a:t>【備詢·不念】</a:t>
            </a:r>
          </a:p>
          <a:p>
            <a:r>
              <a:t>Q:定位精度是多少?</a:t>
            </a:r>
          </a:p>
          <a:p>
            <a:r>
              <a:t>A:誠實答 — 定位鏈路已打通,但硬體精度實驗仍在進行,我不給未經實測的數字。這比編一個數字然後被追問來源更穩。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【備詢為主】一句話版 41 字≈11 秒 ｜ 完整版 597 字≈2.7 分</a:t>
            </a:r>
          </a:p>
          <a:p/>
          <a:p>
            <a:r>
              <a:t>【一句話】位置層 Kalman 在做的事:在「模型預測」與「量測結果」之間,自動決定該信誰。</a:t>
            </a:r>
          </a:p>
          <a:p/>
          <a:p>
            <a:r>
              <a:t>【每一拍有兩個位置說法】</a:t>
            </a:r>
          </a:p>
          <a:p>
            <a:r>
              <a:t>· **預測** — 按上一拍的位置加速度外推:「照這個速度,現在應該在這裡」。它平滑,但如果運動模型不準就會漂。</a:t>
            </a:r>
          </a:p>
          <a:p>
            <a:r>
              <a:t>· **量測** — 這一拍三邊定位解出的座標。它貼近真實,但因為 RSSI 抖動而劇烈跳動。</a:t>
            </a:r>
          </a:p>
          <a:p/>
          <a:p>
            <a:r>
              <a:t>【輸出怎麼算】輸出 = 預測 + K ×(量測 − 預測)</a:t>
            </a:r>
          </a:p>
          <a:p/>
          <a:p>
            <a:r>
              <a:t>K 叫卡爾曼增益,它是自動算出來的信任比例:</a:t>
            </a:r>
          </a:p>
          <a:p>
            <a:r>
              <a:t>· 量測雜訊 R 大(訊號很吵)→ K 變小 → 更信預測</a:t>
            </a:r>
          </a:p>
          <a:p>
            <a:r>
              <a:t>· 過程雜訊 Q 大(模型不可靠)→ K 變大 → 更信量測</a:t>
            </a:r>
          </a:p>
          <a:p/>
          <a:p>
            <a:r>
              <a:t>**K 不是人設的,是濾波器每一拍根據當前的不確定度自己算的** — 這是 Kalman 相對於固定權重平均的根本差別。</a:t>
            </a:r>
          </a:p>
          <a:p/>
          <a:p>
            <a:r>
              <a:t>【本系統的設定】狀態向量包含位置與速度,採用勻速模型。</a:t>
            </a:r>
          </a:p>
          <a:p>
            <a:r>
              <a:t>**為什麼要帶速度**:只有位置的話,預測就是「和上一拍一樣」,每次都是事後追;帶了速度,預測才能沿著運動方向外推,跟隨才不會滯後。</a:t>
            </a:r>
          </a:p>
          <a:p/>
          <a:p>
            <a:r>
              <a:t>【★ 誠實邊界(一定要講)】Kalman 救的是**跳動**,救不了**系統性偏差**。如果某支錨的 P₀ 標定錯了,或 n 設偏了,整場的解算都會朝同一個方向偏 — 而 Kalman 只會平滑地跟著偏,輸出一個「很穩定的錯誤位置」。所以標定才是根基,濾波是在標定正確的前提下改善穩定性,兩者不能互相替代。</a:t>
            </a:r>
          </a:p>
          <a:p/>
          <a:p>
            <a:r>
              <a:t>【備詢·不念】</a:t>
            </a:r>
          </a:p>
          <a:p>
            <a:r>
              <a:t>Q:為什麼不用更高階的模型(帶加速度)?</a:t>
            </a:r>
          </a:p>
          <a:p>
            <a:r>
              <a:t>A:室內近懸停以低速運動為主,勻速模型已足夠。模型階數越高,狀態維度越多、對雜訊越敏感,反而不穩。</a:t>
            </a:r>
          </a:p>
          <a:p/>
          <a:p>
            <a:r>
              <a:t>Q:兩層 Kalman(訊號域一層、位置域一層)會不會重複?</a:t>
            </a:r>
          </a:p>
          <a:p>
            <a:r>
              <a:t>A:治的是不同東西。訊號域治的是 RSSI 的輸入雜訊,位置域治的是幾何解算本身的不穩定 — 即使 RSSI 完全乾淨,四錨交會的幾何也會因為錨的分布而放大誤差。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36 字≈10 秒 ｜ 完整版 435 字≈2.0 分</a:t>
            </a:r>
          </a:p>
          <a:p/>
          <a:p>
            <a:r>
              <a:t>【一句話】三欄對照:傳統做法、對標文獻、本文方法 — 而且要把「誰的實測」講清楚。</a:t>
            </a:r>
          </a:p>
          <a:p/>
          <a:p>
            <a:r>
              <a:t>【三欄】</a:t>
            </a:r>
          </a:p>
          <a:p>
            <a:r>
              <a:t>① 傳統做法:原始 RSSI 直接轉距離、三邊定位、無濾波 → 誤差 3 米以上,跳動劇烈無法閉環</a:t>
            </a:r>
          </a:p>
          <a:p>
            <a:r>
              <a:t>② 對標文獻(王琳 2025,NTUST 碩論):同級 ESP32 硬體,RSSI 濾波 + Kalman + 自適應 n + 最小二乘 → 實測 MAE 1.88 米</a:t>
            </a:r>
          </a:p>
          <a:p>
            <a:r>
              <a:t>③ 本文方法:自適應 Kalman 濾 RSSI → 對數模型逐錨 P₀ 轉距離 → 加權最小二乘 → 位置 Kalman,再加上位機地圖整合與閉環控制 → 目標 2 米內</a:t>
            </a:r>
          </a:p>
          <a:p/>
          <a:p>
            <a:r>
              <a:t>【★ 必須主動區分清楚的兩件事】</a:t>
            </a:r>
          </a:p>
          <a:p>
            <a:r>
              <a:t>① 硬體不同:文獻用 ESP32 WiFi-RSSI,我用 BLE-RSSI。</a:t>
            </a:r>
          </a:p>
          <a:p>
            <a:r>
              <a:t>② **1.88m 是她的實測,是我的對標目標,不是我的成績。** 我的定位目前完成設計與實作,精度待量化。</a:t>
            </a:r>
          </a:p>
          <a:p/>
          <a:p>
            <a:r>
              <a:t>【為什麼這樣講】主動說明比被問到再解釋好。委員最在意的就是「這個數字是誰的」,先講清楚反而建立可信度。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27 字≈7 秒 ｜ 完整版 320 字≈1.5 分</a:t>
            </a:r>
          </a:p>
          <a:p/>
          <a:p>
            <a:r>
              <a:t>【一句話】先給一張全景圖,再進細節 — 定位這一大塊分四個步驟。</a:t>
            </a:r>
          </a:p>
          <a:p/>
          <a:p>
            <a:r>
              <a:t>【四個步驟】</a:t>
            </a:r>
          </a:p>
          <a:p>
            <a:r>
              <a:t>① 訊號採集 — 四個固定錨點持續廣播,信標接收各錨的訊號強度(RSSI)</a:t>
            </a:r>
          </a:p>
          <a:p>
            <a:r>
              <a:t>② 距離換算 — 用對數距離模型把訊號強度轉為到各錨的估計距離</a:t>
            </a:r>
          </a:p>
          <a:p>
            <a:r>
              <a:t>③ 濾波處理 — 自適應 Kalman:靜止強平滑、移動快跟手,對抗 RSSI 先天波動</a:t>
            </a:r>
          </a:p>
          <a:p>
            <a:r>
              <a:t>④ 定位解算 — 多錨距離交會出座標,上位機地圖即時顯示軌跡</a:t>
            </a:r>
          </a:p>
          <a:p/>
          <a:p>
            <a:r>
              <a:t>【接下來的展開順序】定位網路硬體 → 位置閉環 → RSSI 三層深入 → 時槽寄生信標 → 濾波三部曲 → 文獻對照。</a:t>
            </a:r>
          </a:p>
          <a:p/>
          <a:p>
            <a:r>
              <a:t>【要先提醒委員一件事】定位是本論文的**支撐貢獻**,不是主貢獻 — 主軸仍在跨 MCU 的韌體重構。這樣講可以避免委員把評分重心放錯地方。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269 字≈1.2 分</a:t>
            </a:r>
          </a:p>
          <a:p/>
          <a:p>
            <a:r>
              <a:t>【一句話】定位系統的實機影片,同時展示可行性與真實的波動情況。</a:t>
            </a:r>
          </a:p>
          <a:p/>
          <a:p>
            <a:r>
              <a:t>【建議片段順序】</a:t>
            </a:r>
          </a:p>
          <a:p>
            <a:r>
              <a:t>① 四錨部署現場 — 讓委員看到實際的場地規模與錨點擺位</a:t>
            </a:r>
          </a:p>
          <a:p>
            <a:r>
              <a:t>② 上位機地圖顯示 — 四錨座標與飛機位置</a:t>
            </a:r>
          </a:p>
          <a:p>
            <a:r>
              <a:t>③ 手持信標移動 — 沿已知路徑走一段</a:t>
            </a:r>
          </a:p>
          <a:p>
            <a:r>
              <a:t>④ 地圖軌跡跟隨 — 觀察圖標是否跟得上</a:t>
            </a:r>
          </a:p>
          <a:p>
            <a:r>
              <a:t>⑤ 濾波前後對比 — 這段最有價值,直接看出自適應 Kalman 的效果</a:t>
            </a:r>
          </a:p>
          <a:p/>
          <a:p>
            <a:r>
              <a:t>【★ 播放時要主動說的一句】請注意軌跡仍有可見的波動 — 這是 BLE-RSSI 的物理限制,文獻同級硬體也在米級。影片呈現的是**演示等級**的定位,不是精密定位。我不會宣稱它比實際更好。</a:t>
            </a:r>
          </a:p>
          <a:p/>
          <a:p>
            <a:r>
              <a:t>【備詢·不念】</a:t>
            </a:r>
          </a:p>
          <a:p>
            <a:r>
              <a:t>Q:看起來還是會飄,能用嗎?</a:t>
            </a:r>
          </a:p>
          <a:p>
            <a:r>
              <a:t>A:取決於用途。用於「知道飛機大致在場地哪一區」足夠;用於精密定點則不足,那需要 UWB 或視覺定位。這條邊界我在系統邊界那頁也明確標註。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23 字≈6 秒 ｜ 完整版 368 字≈1.7 分</a:t>
            </a:r>
          </a:p>
          <a:p/>
          <a:p>
            <a:r>
              <a:t>【一句話】功能矩陣直接回答一個問題:你比現有的多了什麼。</a:t>
            </a:r>
          </a:p>
          <a:p>
            <a:r>
              <a:t>【逐列講】</a:t>
            </a:r>
          </a:p>
          <a:p>
            <a:r>
              <a:t>· 可換 MCU 載板 — 只有本研究有</a:t>
            </a:r>
          </a:p>
          <a:p>
            <a:r>
              <a:t>· nRF52840 單晶片飛控 — 本文的移植成果</a:t>
            </a:r>
          </a:p>
          <a:p>
            <a:r>
              <a:t>· ESP32S3 支援 — 本研究同板直插(注意這一列 ESP-FC 也有 ✓,我沒有選擇性呈現)</a:t>
            </a:r>
          </a:p>
          <a:p>
            <a:r>
              <a:t>· ATKP 地面站協議 — 從原廠移植保留</a:t>
            </a:r>
          </a:p>
          <a:p>
            <a:r>
              <a:t>· BLE-RSSI 室內定位 — 本研究新增(四錨 + 引擎)</a:t>
            </a:r>
          </a:p>
          <a:p>
            <a:r>
              <a:t>· 單遙控多機(廣播架構) — 本研究新增,三機制實測</a:t>
            </a:r>
          </a:p>
          <a:p>
            <a:r>
              <a:t>· 上位機整合 — 地圖 + 標定 + 控制一體</a:t>
            </a:r>
          </a:p>
          <a:p/>
          <a:p>
            <a:r>
              <a:t>【一句話收束】本研究 = 硬體彈性(可換 MCU)+ 協議傳承(ATKP)+ 能力擴展(定位/多機/分級失控保護)的交集。</a:t>
            </a:r>
          </a:p>
          <a:p/>
          <a:p>
            <a:r>
              <a:t>【要主動提的一點】ESP32S3 那一列 ESP-FC 是勝出的 — 我沒有刻意隱藏。誠實呈現對照,比全部打勾更可信。</a:t>
            </a:r>
          </a:p>
          <a:p/>
          <a:p>
            <a:r>
              <a:t>【備詢·不念】</a:t>
            </a:r>
          </a:p>
          <a:p>
            <a:r>
              <a:t>Q:ESP-FC 在 ESP32S3 那一列也打勾,那你的優勢在哪?</a:t>
            </a:r>
          </a:p>
          <a:p>
            <a:r>
              <a:t>A:我沒有隱藏這一點。ESP-FC 是成熟的開源方案,我直接採用它當第三平台。本研究的價值在**可換 MCU 的載板**與**跨 MCU 的韌體重構** — 讓不同晶片能在同一物理基底上被公平評估,這是既有方案都沒有的。</a:t>
            </a:r>
          </a:p>
          <a:p/>
          <a:p>
            <a:r>
              <a:t>Q:原廠 MiniFly 也能飛,你的差別是什麼?</a:t>
            </a:r>
          </a:p>
          <a:p>
            <a:r>
              <a:t>A:原廠是封閉的雙 MCU 架構,無法更換主控、無法擴展定位與多機。本研究把它重建成可自行掌握、可繼續延伸的平台。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21 字≈6 秒 ｜ 完整版 396 字≈1.8 分</a:t>
            </a:r>
          </a:p>
          <a:p/>
          <a:p>
            <a:r>
              <a:t>【一句話】每個數字都可追溯,而且不給未經實測的數字。</a:t>
            </a:r>
          </a:p>
          <a:p/>
          <a:p>
            <a:r>
              <a:t>【系統一(上排)】</a:t>
            </a:r>
          </a:p>
          <a:p>
            <a:r>
              <a:t>· 7 個驅動模組完成移植 — GPIO/I2C/PWM/無線/USB/排程/感測</a:t>
            </a:r>
          </a:p>
          <a:p>
            <a:r>
              <a:t>· 3 層系統級問題解決 — 無線封包 / USB 死鎖 / 排程歸零</a:t>
            </a:r>
          </a:p>
          <a:p>
            <a:r>
              <a:t>· 2 個飛控平台同板實證 — nRF52840 + ESP32S3 直插可換</a:t>
            </a:r>
          </a:p>
          <a:p/>
          <a:p>
            <a:r>
              <a:t>【系統二(下排)】</a:t>
            </a:r>
          </a:p>
          <a:p>
            <a:r>
              <a:t>· 7 步定位處理鏈 — 自適應 KF + 對數模型 + 加權 LSQ + 位置 Kalman</a:t>
            </a:r>
          </a:p>
          <a:p>
            <a:r>
              <a:t>· 4 錨定位網路 — 閘道 + 四錨 + 上位機標定介面</a:t>
            </a:r>
          </a:p>
          <a:p>
            <a:r>
              <a:t>· &lt;2m 定位目標 — 對標王琳 2025 的 BLE 同級 MAE 1.88m</a:t>
            </a:r>
          </a:p>
          <a:p/>
          <a:p>
            <a:r>
              <a:t>【★ 最後一項要主動說明】1.88m 是文獻的**實測值**,是我的**對標目標**,不是我的成績。她用 ESP32 WiFi、我用 BLE,硬體也不同。我的精度待量化。</a:t>
            </a:r>
          </a:p>
          <a:p/>
          <a:p>
            <a:r>
              <a:t>【下一頁】多機控制的量化指標單獨一頁。</a:t>
            </a:r>
          </a:p>
          <a:p/>
          <a:p>
            <a:r>
              <a:t>【備詢·不念】</a:t>
            </a:r>
          </a:p>
          <a:p>
            <a:r>
              <a:t>Q:七個驅動模組是怎麼算的?</a:t>
            </a:r>
          </a:p>
          <a:p>
            <a:r>
              <a:t>A:GPIO、I2C、PWM、無線、USB、排程、感測共七層,每層都有對應的實作與驗證。</a:t>
            </a:r>
          </a:p>
          <a:p/>
          <a:p>
            <a:r>
              <a:t>Q:定位目標 &lt;2m 有把握達到嗎?</a:t>
            </a:r>
          </a:p>
          <a:p>
            <a:r>
              <a:t>A:對標文獻用同級硬體達到 1.88m,所以物理上可行。但我的精度尚未實測,不會先給承諾。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26 字≈7 秒 ｜ 完整版 357 字≈1.6 分</a:t>
            </a:r>
          </a:p>
          <a:p/>
          <a:p>
            <a:r>
              <a:t>【一句話】誠實界定四條邊界 — 而且每條都對應明確的升級路徑。</a:t>
            </a:r>
          </a:p>
          <a:p>
            <a:r>
              <a:t>【四條邊界】</a:t>
            </a:r>
          </a:p>
          <a:p>
            <a:r>
              <a:t>① 定位精度 — 演示等級,受 RSSI 物理限制,適合粗定位而非精密定點</a:t>
            </a:r>
          </a:p>
          <a:p>
            <a:r>
              <a:t>② 多機控制 — **單包載荷 32 字節 → 單包最多 3 台;雙機同時編隊飛行尚未完整演示**</a:t>
            </a:r>
          </a:p>
          <a:p>
            <a:r>
              <a:t>③ 飛行包線 — 室內近懸停為主,未做激烈機動驗證</a:t>
            </a:r>
          </a:p>
          <a:p>
            <a:r>
              <a:t>④ 環境依賴 — 換新場地需重新標定 P₀/n</a:t>
            </a:r>
          </a:p>
          <a:p/>
          <a:p>
            <a:r>
              <a:t>【★ 第②條要說清楚】三個機制都已實測,但「機制通了」和「兩台一起編隊飛完一段航線」是兩件事 — 後者還沒做。我在進度頁也是這樣標的,前後一致。</a:t>
            </a:r>
          </a:p>
          <a:p/>
          <a:p>
            <a:r>
              <a:t>【為什麼誠實反而加分】</a:t>
            </a:r>
          </a:p>
          <a:p>
            <a:r>
              <a:t>① RSSI 精度是物理限制,文獻同級硬體也在米級 — 不是實作缺陷</a:t>
            </a:r>
          </a:p>
          <a:p>
            <a:r>
              <a:t>② 邊界清楚 = 知道系統能做什麼、不能做什麼,這正是工程能力</a:t>
            </a:r>
          </a:p>
          <a:p>
            <a:r>
              <a:t>③ 每條邊界都對應明確的升級路徑(下頁未來工作)</a:t>
            </a:r>
          </a:p>
          <a:p/>
          <a:p>
            <a:r>
              <a:t>【備詢·不念】</a:t>
            </a:r>
          </a:p>
          <a:p>
            <a:r>
              <a:t>Q:這些限制怎麼解?</a:t>
            </a:r>
          </a:p>
          <a:p>
            <a:r>
              <a:t>A:定位可換 UWB 或 BLE 6.0 通道探測;多機台數受載荷限制,可改分組多包;飛行包線需更大機架與外部定位;重標定可做自動化流程。每條都有路。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【延伸】一句話版 28 字≈8 秒 ｜ 完整版 457 字≈2.1 分</a:t>
            </a:r>
          </a:p>
          <a:p/>
          <a:p>
            <a:r>
              <a:t>【一句話】五項工作、各自的真實狀態 — 注意兩處標籤是有意區分的。</a:t>
            </a:r>
          </a:p>
          <a:p>
            <a:r>
              <a:t>【逐項】</a:t>
            </a:r>
          </a:p>
          <a:p>
            <a:r>
              <a:t>① 可換 MCU 飛控載板 — 已完成(自製 PCB + 雙平台直插實證)</a:t>
            </a:r>
          </a:p>
          <a:p>
            <a:r>
              <a:t>② 跨 MCU 韌體移植 — 已完成(雙 MCU→單晶片 + 三層系統問題)</a:t>
            </a:r>
          </a:p>
          <a:p>
            <a:r>
              <a:t>③ BLE 定位引擎 — **設計完成**(九步處理鏈 + 文獻對照),精度尚待量化</a:t>
            </a:r>
          </a:p>
          <a:p>
            <a:r>
              <a:t>④ 地面站整合 — 已完成(地圖 + 標定 + 控制一體)</a:t>
            </a:r>
          </a:p>
          <a:p>
            <a:r>
              <a:t>⑤ 單遙控多機 — **實測驗證**(廣播定址 + 多工廣播 + 點名)</a:t>
            </a:r>
          </a:p>
          <a:p/>
          <a:p>
            <a:r>
              <a:t>【★ 第③和第⑤的標籤不同,這是刻意的】</a:t>
            </a:r>
          </a:p>
          <a:p>
            <a:r>
              <a:t>定位標「設計完成」而不是「實測驗證」,因為硬體精度實驗還沒做完 — 我不會把設計完成說成實測完成。</a:t>
            </a:r>
          </a:p>
          <a:p>
            <a:r>
              <a:t>多機標「實測驗證」,因為三個機制都有實機影片。</a:t>
            </a:r>
          </a:p>
          <a:p/>
          <a:p>
            <a:r>
              <a:t>【收束的話】這份研究把一套封閉的商用飛控,拆解到暫存器層級再重建在另一顆晶片上;過程中做出了可換 MCU 的硬體載板,也把平台能力延伸到室內定位與多機控制。</a:t>
            </a:r>
          </a:p>
          <a:p/>
          <a:p>
            <a:r>
              <a:t>它不是一個做完就結束的系統,而是一個我完全掌握、可以繼續往上加東西的平台 — 這是我認為最有價值的部分。</a:t>
            </a:r>
          </a:p>
          <a:p/>
          <a:p>
            <a:r>
              <a:t>【備詢·不念】</a:t>
            </a:r>
          </a:p>
          <a:p>
            <a:r>
              <a:t>Q:為什麼定位標「設計完成」而多機標「實測驗證」?</a:t>
            </a:r>
          </a:p>
          <a:p>
            <a:r>
              <a:t>A:標準一致 — 有實機驗證的才標實測。多機三個機制都有實機影片;定位鏈路雖已打通,但精度數字尚未量化,所以只標設計完成。</a:t>
            </a:r>
          </a:p>
          <a:p/>
          <a:p>
            <a:r>
              <a:t>Q:五項工作哪一項最重要?</a:t>
            </a:r>
          </a:p>
          <a:p>
            <a:r>
              <a:t>A:跨 MCU 韌體移植。它是全篇的技術核心,其餘四項都建立在這個平台之上。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【核心】一句話版 31 字≈8 秒 ｜ 完整版 362 字≈1.6 分</a:t>
            </a:r>
          </a:p>
          <a:p/>
          <a:p>
            <a:r>
              <a:t>【一句話】三個方向的未來工作,其中一個正好證明可換 MCU 載板的價值。</a:t>
            </a:r>
          </a:p>
          <a:p/>
          <a:p>
            <a:r>
              <a:t>【未來工作】</a:t>
            </a:r>
          </a:p>
          <a:p>
            <a:r>
              <a:t>① 完成 PC 端自動編隊 — 以定位回授驅動多工廣播,這是模式 B 打通後最直接的延伸</a:t>
            </a:r>
          </a:p>
          <a:p>
            <a:r>
              <a:t>② 定位精度實測與量化 — 目前唯一的量化空缺</a:t>
            </a:r>
          </a:p>
          <a:p>
            <a:r>
              <a:t>③ BLE 6.0 通道探測 — 這是新標準內建的高精度測距。要升級只需換一顆支援的 MCU 插上去 ← **這正是可換 MCU 載板的優勢,呼應主貢獻二**</a:t>
            </a:r>
          </a:p>
          <a:p>
            <a:r>
              <a:t>④ 光流、雷射測距與平台化</a:t>
            </a:r>
          </a:p>
          <a:p/>
          <a:p>
            <a:r>
              <a:t>【結語】這份研究把一套封閉的商用飛控,拆解到暫存器層級再重建在另一顆晶片上;過程中做出了可換 MCU 的硬體載板,也把平台能力延伸到室內定位與多機控制。</a:t>
            </a:r>
          </a:p>
          <a:p/>
          <a:p>
            <a:r>
              <a:t>它不是一個做完就結束的系統,而是一個我完全掌握、可以繼續往上加東西的平台 — 這是我認為最有價值的部分。</a:t>
            </a:r>
          </a:p>
          <a:p/>
          <a:p>
            <a:r>
              <a:t>感謝教授指導,感謝各位委員,敬請指教。</a:t>
            </a:r>
          </a:p>
          <a:p/>
          <a:p>
            <a:r>
              <a:t>【備詢·不念】</a:t>
            </a:r>
          </a:p>
          <a:p>
            <a:r>
              <a:t>Q:未來工作有優先順序嗎?</a:t>
            </a:r>
          </a:p>
          <a:p>
            <a:r>
              <a:t>A:第一是定位精度實測與量化,那是目前唯一的空缺;第二是 PC 端自動編隊,模式 B 打通後這是最直接的延伸。</a:t>
            </a:r>
          </a:p>
          <a:p/>
          <a:p>
            <a:r>
              <a:t>Q:BLE 6.0 通道探測要換硬體嗎?</a:t>
            </a:r>
          </a:p>
          <a:p>
            <a:r>
              <a:t>A:要換一顆支援的 MCU — 而這正好是可換 MCU 載板的價值:只需拔插主控,不必重做整塊板。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27 字≈7 秒 ｜ 完整版 429 字≈1.9 分</a:t>
            </a:r>
          </a:p>
          <a:p/>
          <a:p>
            <a:r>
              <a:t>【一句話】核心洞察只有一句:一切差異的根源是「要不要 ACK」。</a:t>
            </a:r>
          </a:p>
          <a:p>
            <a:r>
              <a:t>【展開這句話】</a:t>
            </a:r>
          </a:p>
          <a:p>
            <a:r>
              <a:t>· 要 ACK → 有回傳、有硬體重傳,可以逐台偵測丟包;但**必須逐台發送,指令必然錯開**。</a:t>
            </a:r>
          </a:p>
          <a:p>
            <a:r>
              <a:t>· 不要 ACK → 才能一包全體同收、真正同步;代價是**遙控器完全看不到飛機**。</a:t>
            </a:r>
          </a:p>
          <a:p/>
          <a:p>
            <a:r>
              <a:t>【左邊 帶寬與同步性對照】</a:t>
            </a:r>
          </a:p>
          <a:p>
            <a:r>
              <a:t>· 私有要發 N 次,廣播只發 1 次</a:t>
            </a:r>
          </a:p>
          <a:p>
            <a:r>
              <a:t>· 私有各機錯開,廣播同時到達</a:t>
            </a:r>
          </a:p>
          <a:p>
            <a:r>
              <a:t>· 狀態回傳只有私有原生具備</a:t>
            </a:r>
          </a:p>
          <a:p/>
          <a:p>
            <a:r>
              <a:t>【右邊 三種機制各自的定位】</a:t>
            </a:r>
          </a:p>
          <a:p>
            <a:r>
              <a:t>① 模式 C 私有 ACK 一對一 — 適合逐台調參與讀狀態</a:t>
            </a:r>
          </a:p>
          <a:p>
            <a:r>
              <a:t>② 模式 A 擴展 廣播選台 — 一次控一台、其餘懸停</a:t>
            </a:r>
          </a:p>
          <a:p>
            <a:r>
              <a:t>③ 模式 B 多工廣播 — 一包內各機獨立指令,帶寬仍是 O(1) 但可同時做不同動作</a:t>
            </a:r>
          </a:p>
          <a:p/>
          <a:p>
            <a:r>
              <a:t>【結論】編隊同步場景廣播壓倒性勝出;需要逐台狀態時仍需私有 — 所以我三種都保留,而且可以即時切換。</a:t>
            </a:r>
          </a:p>
          <a:p/>
          <a:p>
            <a:r>
              <a:t>【這頁的方法論價值】機制選擇服從研究目標,沒有絕對優劣。這是我想強調的判斷方式,也是全篇最像研究結論的一句話。</a:t>
            </a:r>
          </a:p>
          <a:p/>
          <a:p>
            <a:r>
              <a:t>【備詢·不念】</a:t>
            </a:r>
          </a:p>
          <a:p>
            <a:r>
              <a:t>Q:三種機制會不會互相干擾?</a:t>
            </a:r>
          </a:p>
          <a:p>
            <a:r>
              <a:t>A:不會。它們用不同的 msgID 與位址,飛機端依 msgID 分流;而且同一時刻只有一種模式生效,可由遙控器即時切換。</a:t>
            </a:r>
          </a:p>
          <a:p/>
          <a:p>
            <a:r>
              <a:t>Q:為什麼不只保留最好的那一種?</a:t>
            </a:r>
          </a:p>
          <a:p>
            <a:r>
              <a:t>A:沒有絕對最好的。編隊同步要廣播、逐台讀狀態要私有 — 機制選擇服從使用情境,這正是本頁想表達的方法論。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21 字≈6 秒 ｜ 完整版 441 字≈2.0 分</a:t>
            </a:r>
          </a:p>
          <a:p/>
          <a:p>
            <a:r>
              <a:t>【一句話】模式 B 的字節級格式,以及它的實測證據。</a:t>
            </a:r>
          </a:p>
          <a:p>
            <a:r>
              <a:t>【幀結構】msgID 用 0x60;資料段第一個字節是台數 N,後面每台 8 個字節。</a:t>
            </a:r>
          </a:p>
          <a:p/>
          <a:p>
            <a:r>
              <a:t>【每台 8 字節】ID、旗標、油門(兩個字節)、Roll、Pitch、Yaw、一個保留。</a:t>
            </a:r>
          </a:p>
          <a:p>
            <a:r>
              <a:t>· 旗標:bit0 是懸停待命,bit3~4 是控制模式</a:t>
            </a:r>
          </a:p>
          <a:p>
            <a:r>
              <a:t>· 油門:百分比 ×100,**5000 正好是懸停點**</a:t>
            </a:r>
          </a:p>
          <a:p>
            <a:r>
              <a:t>· 角度 ×4、角速度 ×0.6</a:t>
            </a:r>
          </a:p>
          <a:p/>
          <a:p>
            <a:r>
              <a:t>【為什麼要壓縮成定點數(右邊三點)】</a:t>
            </a:r>
          </a:p>
          <a:p>
            <a:r>
              <a:t>① 單包載荷上限是 32 字節 — 全精度浮點裝不下兩台</a:t>
            </a:r>
          </a:p>
          <a:p>
            <a:r>
              <a:t>② 量程依實際飛行需求裁切(±30°、±200°/s),精度損失遠小於機體本身的響應速度</a:t>
            </a:r>
          </a:p>
          <a:p>
            <a:r>
              <a:t>③ 8 字節一台 → 兩台 19、三台 27 字節,都還在單包內完成</a:t>
            </a:r>
          </a:p>
          <a:p/>
          <a:p>
            <a:r>
              <a:t>【實測(這頁最關鍵的一句)】同一個廣播包裡把 ATK 設成手動油門、nRF 設成懸停待命,結果**只有 ATK 轉動**;角色對調結果一致。</a:t>
            </a:r>
          </a:p>
          <a:p/>
          <a:p>
            <a:r>
              <a:t>這就是模式 B 相對於一般廣播的唯一證據 — 一般廣播做不到讓同一包裡的兩台做不同的事。</a:t>
            </a:r>
          </a:p>
          <a:p/>
          <a:p>
            <a:r>
              <a:t>【備詢·不念】</a:t>
            </a:r>
          </a:p>
          <a:p>
            <a:r>
              <a:t>Q:最多能到幾台?</a:t>
            </a:r>
          </a:p>
          <a:p>
            <a:r>
              <a:t>A:單包 32 字節的載荷上限決定了最多 3 台。這是誠實的擴展邊界,也寫在量化指標那頁。</a:t>
            </a:r>
          </a:p>
          <a:p/>
          <a:p>
            <a:r>
              <a:t>【★ 命名出處 — 老師若問「這是哪來的術語」】</a:t>
            </a:r>
          </a:p>
          <a:p>
            <a:r>
              <a:t>「多工廣播」是本研究為這個機制取的名稱,**不是既有的標準術語**,這一點我會直說。但它對應的技術概念在通訊領域是成熟的:</a:t>
            </a:r>
          </a:p>
          <a:p>
            <a:r>
              <a:t>· **多工(Multiplexing)** — 在單一傳輸通道上同時承載多個獨立資料流。本機制是在「一個廣播訊框的載荷內」為每台飛機各配一段,概念與 802.11ax 的 OFDMA(一次傳輸切出多個資源單元給不同用戶)一致,差別在於本研究做在應用層而非物理層。</a:t>
            </a:r>
          </a:p>
          <a:p>
            <a:r>
              <a:t>· **訊框聚合(Frame Aggregation)** — 把多筆資料合進單一訊框以攤提標頭開銷。差異在於:傳統聚合的多筆資料是**給同一個接收者**的,本機制聚合的是**不同接收者各自的指令**。</a:t>
            </a:r>
          </a:p>
          <a:p/>
          <a:p>
            <a:r>
              <a:t>論文中的定義寫法:「本研究將此機制稱為多工廣播(Multiplexed Broadcast),意指在單一廣播訊框的載荷中,為每一台受控機各配置一段獨立指令;其概念承襲通訊領域的多工與訊框聚合,差別在於聚合對象是不同接收者的控制指令。」</a:t>
            </a:r>
          </a:p>
          <a:p/>
          <a:p>
            <a:r>
              <a:t>【對照:模式 A 是業界既有做法】</a:t>
            </a:r>
          </a:p>
          <a:p>
            <a:r>
              <a:t>模式 A 的「廣播 + 目標識別碼由接收端自行分流」不是我發明的 — MAVLink 社群處理多機時就是全部用廣播發送(dest=65535),再靠封包內的 System ID 讓各機 demux。我只是把 System ID 換成包尾的目標字節。所以模式 A 我用既有名稱**定址廣播(Addressed Broadcast)**。</a:t>
            </a:r>
          </a:p>
          <a:p/>
          <a:p>
            <a:r>
              <a:t>【要強調的一句】兩者的分野很清楚:**定址廣播回答「這包給誰」,多工廣播回答「這包同時給誰和誰,各自要做什麼」**。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【延伸】一句話版 34 字≈9 秒 ｜ 完整版 495 字≈2.2 分</a:t>
            </a:r>
          </a:p>
          <a:p/>
          <a:p>
            <a:r>
              <a:t>【一句話】廣播先天有個矛盾:它必須不回 ACK,但遙控器還是需要知道飛機狀態。</a:t>
            </a:r>
          </a:p>
          <a:p/>
          <a:p>
            <a:r>
              <a:t>【矛盾在哪】廣播必須 NOACK — N 台同時應答一定在空中碰撞。但遙控器仍需知道各機的電量與是否在線。</a:t>
            </a:r>
          </a:p>
          <a:p/>
          <a:p>
            <a:r>
              <a:t>【解法】週期性切私有「點名」:主循環大部分週期都在廣播控制,每隔約 0.13 秒插入一次私有探詢,取回那一台的狀態後立刻切回廣播。</a:t>
            </a:r>
          </a:p>
          <a:p/>
          <a:p>
            <a:r>
              <a:t>【開銷】飛機在線時應答只要約 1 毫秒,佔比不到 1%;掉線的機器自動降到 1/4 頻率,最壞約 4% — 實測手感沒有差異。</a:t>
            </a:r>
          </a:p>
          <a:p/>
          <a:p>
            <a:r>
              <a:t>【三個設計取捨(右邊三張卡,都是實測踩出來的)】</a:t>
            </a:r>
          </a:p>
          <a:p>
            <a:r>
              <a:t>① 只點選中的那一台 — 沒被選中的機當下沒人關心,省下的輪次讓選中機的刷新率提高一倍。</a:t>
            </a:r>
          </a:p>
          <a:p>
            <a:r>
              <a:t>② 逾時必須壓到最小 — 早期版本是每 88 毫秒等 20 毫秒,等於 23% 的開銷,控制嚴重延遲;現在改成每 500 毫秒最多等 50 毫秒,而且只有真掉線才會吃滿。</a:t>
            </a:r>
          </a:p>
          <a:p>
            <a:r>
              <a:t>③ 狀態不能排隊 — 飛機端如果讓回傳佇列累積,遙控器取到的會是幾十秒前的舊值,所以電量改成單槽覆蓋,永遠回傳當下的值。</a:t>
            </a:r>
          </a:p>
          <a:p/>
          <a:p>
            <a:r>
              <a:t>【要強調的一句】這三點都是實測踩出來的,不是設計時就想到的 — 這也是這類系統整合研究的真實樣貌。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44 字≈12 秒 ｜ 完整版 262 字≈1.2 分</a:t>
            </a:r>
          </a:p>
          <a:p/>
          <a:p>
            <a:r>
              <a:t>【一句話】切 M1 只有 ATK 動、切 M2 只有 nRF 動,而未被選中的那台原地懸停不掉高。</a:t>
            </a:r>
          </a:p>
          <a:p/>
          <a:p>
            <a:r>
              <a:t>【播放時要說的】</a:t>
            </a:r>
          </a:p>
          <a:p>
            <a:r>
              <a:t>① 先切 M1:推搖桿,只有 ATK 響應,nRF 停在原處不動。</a:t>
            </a:r>
          </a:p>
          <a:p>
            <a:r>
              <a:t>② 再切 M2:同一支搖桿,換成只有 nRF 響應。</a:t>
            </a:r>
          </a:p>
          <a:p>
            <a:r>
              <a:t>③ **重點看未被選中的那台** — 它不是關機、不是緩降,而是**穩定懸停在原高度**。那是包尾目標字節不符時自動轉入的懸停待命。</a:t>
            </a:r>
          </a:p>
          <a:p/>
          <a:p>
            <a:r>
              <a:t>【★ 這段驗證的是什麼】</a:t>
            </a:r>
          </a:p>
          <a:p>
            <a:r>
              <a:t>驗證模式 A 的三件事:目標字節能正確分流、待命機能維持高度、切換即時生效(下一個廣播週期就換人,約 10 毫秒)。</a:t>
            </a:r>
          </a:p>
          <a:p/>
          <a:p>
            <a:r>
              <a:t>【備詢·不念】</a:t>
            </a:r>
          </a:p>
          <a:p>
            <a:r>
              <a:t>Q:切換的瞬間會不會有空檔?</a:t>
            </a:r>
          </a:p>
          <a:p>
            <a:r>
              <a:t>A:不會。兩台每一拍都收到同一個廣播包,差別只在誰執行、誰待命 — 切換只是目標字節的值變了,沒有任何重新建立連線的過程。</a:t>
            </a:r>
          </a:p>
          <a:p/>
          <a:p>
            <a:r>
              <a:t>Q:待命那台為什麼不會因為「沒收到指令」而觸發失控保護?</a:t>
            </a:r>
          </a:p>
          <a:p>
            <a:r>
              <a:t>A:它其實**有**收到指令 — 收到的是「待命」這個指令,而且鏈路時間戳照常刷新。對飛機而言鏈路一直是活的。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【延伸】一句話版 18 字≈5 秒 ｜ 完整版 351 字≈1.6 分</a:t>
            </a:r>
          </a:p>
          <a:p/>
          <a:p>
            <a:r>
              <a:t>【一句話】把前面的設計聲明,換成可查核的數字。</a:t>
            </a:r>
          </a:p>
          <a:p>
            <a:r>
              <a:t>【六個數字】</a:t>
            </a:r>
          </a:p>
          <a:p>
            <a:r>
              <a:t>· 3 — 三種控制機制實測通過(廣播選台、多工廣播、廣播點名)</a:t>
            </a:r>
          </a:p>
          <a:p>
            <a:r>
              <a:t>· 1 — 一個包送達 N 台,帶寬 O(1);對照分時尋址的 O(N),兩台就砍半且指令必然錯開</a:t>
            </a:r>
          </a:p>
          <a:p>
            <a:r>
              <a:t>· 8 — 每台 8 字節指令段;兩台 19、三台 27 字節,都在單包內</a:t>
            </a:r>
          </a:p>
          <a:p>
            <a:r>
              <a:t>· **2 — 台同包異動實證**:同一廣播包內 ATK 手動油門、nRF 懸停,結果只有 ATK 動作</a:t>
            </a:r>
          </a:p>
          <a:p>
            <a:r>
              <a:t>· 0.13 — 秒,選中機的狀態刷新週期</a:t>
            </a:r>
          </a:p>
          <a:p>
            <a:r>
              <a:t>· 32 — 字節單包載荷上限</a:t>
            </a:r>
          </a:p>
          <a:p/>
          <a:p>
            <a:r>
              <a:t>【★ 最關鍵的是「2」】它是多工廣播相對於一般廣播的唯一證據 — 一般廣播做不到。</a:t>
            </a:r>
          </a:p>
          <a:p/>
          <a:p>
            <a:r>
              <a:t>【★ 「32」是誠實的邊界】它同時決定兩件事:為什麼要定點壓縮,以及單包最多 3 台的擴展上限。委員問擴展性時,這就是答案。</a:t>
            </a:r>
          </a:p>
          <a:p/>
          <a:p>
            <a:r>
              <a:t>【備詢·不念】</a:t>
            </a:r>
          </a:p>
          <a:p>
            <a:r>
              <a:t>Q:0.13 秒的開銷會不會影響控制?</a:t>
            </a:r>
          </a:p>
          <a:p>
            <a:r>
              <a:t>A:飛機在線時應答約 1 毫秒,佔比不到 1%;掉線機自動降頻,最壞約 4%,實測手感無差異。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28 字≈8 秒 ｜ 完整版 730 字≈3.3 分</a:t>
            </a:r>
          </a:p>
          <a:p/>
          <a:p>
            <a:r>
              <a:t>【一句話】合併不是全贏 — 我要誠實講出它換來什麼、又付出了什麼。</a:t>
            </a:r>
          </a:p>
          <a:p/>
          <a:p>
            <a:r>
              <a:t>【為什麼要有這一頁】上一頁我拋出 2.78 毫秒這個數字,很容易讓人以為「單晶片全面優於雙晶片」。但原廠的雙 MCU 設計不是錯的 — 它用「一顆專職無線」換來架構簡單與職責隔離。這一頁把兩邊的得失攤開講,才是完整的工程判斷。</a:t>
            </a:r>
          </a:p>
          <a:p/>
          <a:p>
            <a:r>
              <a:t>【三項優勢】</a:t>
            </a:r>
          </a:p>
          <a:p>
            <a:r>
              <a:t>① **時延** — 最關鍵。控制迴圈與 RADIO 在同一核心,遙控指令不再經過序列化轉發,2.78 毫秒降到微秒級。</a:t>
            </a:r>
          </a:p>
          <a:p>
            <a:r>
              <a:t>② **資源與成本** — 少一顆晶片,省功耗、省 PCB 面積、BOM 減一項。對小型飛行器,重量與板面積都是硬約束。</a:t>
            </a:r>
          </a:p>
          <a:p>
            <a:r>
              <a:t>③ **共享與同步** — 無線資料直接寫進共享 RAM,不需要跨晶片的協定與流控;也不再有兩顆晶片之間的時序協商問題。</a:t>
            </a:r>
          </a:p>
          <a:p/>
          <a:p>
            <a:r>
              <a:t>【★ 三項代價(這才是本頁的價值)】</a:t>
            </a:r>
          </a:p>
          <a:p>
            <a:r>
              <a:t>① **單點失效風險提高** — 雙 MCU 時,無線晶片當掉,主控仍然活著、仍可執行失控保護;單晶片一旦當掉,整機失去控制。所以失控保護與看門狗的設計在單晶片架構下更形關鍵 — 這也是為什麼我在後面花一整節講分級失控保護。</a:t>
            </a:r>
          </a:p>
          <a:p>
            <a:r>
              <a:t>② **即時性競爭加劇** — 無線收發與 PID 迴圈搶同一顆 CPU。原本由專用晶片承擔的射頻中斷,現在會打斷控制任務。**挑戰③的任務飢餓,正是這個結構帶來的必然問題** — 不是我寫壞了,是架構合併後排程壓力本來就會上升。</a:t>
            </a:r>
          </a:p>
          <a:p>
            <a:r>
              <a:t>③ **移植複雜度大幅上升** — 無線層完全無法沿用,必須從暫存器層重建 ESB;USB 與排程也一併重寫。三大挑戰全部源自這一個決定。</a:t>
            </a:r>
          </a:p>
          <a:p/>
          <a:p>
            <a:r>
              <a:t>【收束】所以這個選擇的本質是:**用複雜度換即時性**。對飛控這種強即時系統,我認為值得 — 但要誠實說出代價,而且要有對應的緩解設計。</a:t>
            </a:r>
          </a:p>
          <a:p/>
          <a:p>
            <a:r>
              <a:t>【備詢·不念】</a:t>
            </a:r>
          </a:p>
          <a:p>
            <a:r>
              <a:t>Q:既然單點失效風險提高,怎麼緩解?</a:t>
            </a:r>
          </a:p>
          <a:p>
            <a:r>
              <a:t>A:三層:硬體看門狗、雙 IMU 自動降級、分級失控保護。後面各有專頁。</a:t>
            </a:r>
          </a:p>
          <a:p/>
          <a:p>
            <a:r>
              <a:t>Q:如果重來一次,還會選單晶片嗎?</a:t>
            </a:r>
          </a:p>
          <a:p>
            <a:r>
              <a:t>A:會。但我會更早意識到排程與中斷競爭的問題 — 那三個挑戰都是可預期的,不是意外。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38 字≈10 秒 ｜ 完整版 1022 字≈4.6 分</a:t>
            </a:r>
          </a:p>
          <a:p/>
          <a:p>
            <a:r>
              <a:t>【一句話】模式 A 不自創格式,而是複用已驗證可飛的原廠遙控幀,只在包尾追加一個字節。</a:t>
            </a:r>
          </a:p>
          <a:p/>
          <a:p>
            <a:r>
              <a:t>【★ 為什麼是「複用 + 1 字節」而非自創格式】</a:t>
            </a:r>
          </a:p>
          <a:p>
            <a:r>
              <a:t>這是本研究一個關鍵的工程決策。原本我實作的是自訂多工格式(現在的模式 B),但實機完全沒有反應,而模擬驗證顯示邏輯正確、分發鏈可達、鏈路時間戳也照常刷新 — 查不出原因。在無法上機除錯的情況下,我改用「與已知可飛的私有幀只差 1 字節」的做法,當天就飛起來了。這不是保守,而是在黑箱情境下把變因壓到最小的策略。</a:t>
            </a:r>
          </a:p>
          <a:p/>
          <a:p>
            <a:r>
              <a:t>【幀結構】原廠遙控幀是 msgID=0x50、資料段 = REMOTOR_DATA 標記(1 字節) + remoterData_t(27 字節)。廣播時在尾端追加 1 個目標字節,dataLen 從 28 變成 29。</a:t>
            </a:r>
          </a:p>
          <a:p/>
          <a:p>
            <a:r>
              <a:t>【飛機端四步判斷 — 這是老師最可能追問的】</a:t>
            </a:r>
          </a:p>
          <a:p>
            <a:r>
              <a:t>① **看長度**:if (dataLen &gt; 1 + sizeof(remoterData_t)) — 多出來的那一字節就是目標。私有幀沒有它,dataLen 短一位,所以**私有模式天然相容,飛機自動走原路徑**,不需要任何模式切換旗標。</a:t>
            </a:r>
          </a:p>
          <a:p>
            <a:r>
              <a:t>② **讀目標**:tgt = data[1 + 27]</a:t>
            </a:r>
          </a:p>
          <a:p>
            <a:r>
              <a:t>③ **比對**:tgt == 0(全體) 或 tgt == 本機 DRONE_ID_SELF(nRF=1、ATK=2) → 套用搖桿值</a:t>
            </a:r>
          </a:p>
          <a:p>
            <a:r>
              <a:t>④ **不符**:轉懸停待命 — roll/pitch/yaw 歸零、thrust 鎖在 32767(定高杆中位=懸停點)、強制切定高模式,然後 return</a:t>
            </a:r>
          </a:p>
          <a:p/>
          <a:p>
            <a:r>
              <a:t>【★ 待命機會懸停多久 — 答案是「無限期」】</a:t>
            </a:r>
          </a:p>
          <a:p>
            <a:r>
              <a:t>關鍵在第四步的最後一行仍然呼叫 flightCtrldataCache() — **待命時照常刷新鏈路時間戳**。所以飛機不會判定失聯、不會進失控倒數,它會一直穩定懸停在原高度,直到你切回它或發命令。</a:t>
            </a:r>
          </a:p>
          <a:p>
            <a:r>
              <a:t>如果不刷新,待命機會在 2 秒寬限後開始緩降 — 那樣多機控制就不成立了。這一行是整個機制能運作的關鍵。</a:t>
            </a:r>
          </a:p>
          <a:p/>
          <a:p>
            <a:r>
              <a:t>【★ 為什麼 thrust 要鎖 32767 而不是 0】</a:t>
            </a:r>
          </a:p>
          <a:p>
            <a:r>
              <a:t>定高模式下 thrust 不是油門,而是**升降速率**:climb = (thrust − 32767) / 32767 × 最大速率。所以 32767 才是「爬升率 0 = 原地保持」;寫 0 會變成以 60cm/s 下降。這是實測踩出來的 — 早期版本寫 0,結果未選中的那台直接掉下來。</a:t>
            </a:r>
          </a:p>
          <a:p/>
          <a:p>
            <a:r>
              <a:t>【備詢·不念】</a:t>
            </a:r>
          </a:p>
          <a:p>
            <a:r>
              <a:t>Q:為什麼命令(起飛/降落/急停)不帶目標,兩台都會執行?</a:t>
            </a:r>
          </a:p>
          <a:p>
            <a:r>
              <a:t>A:命令幀走的是另一條路徑,不加目標字節、一律廣播全體。這是刻意的 —— **急停必須人人收到**,起飛與降落目前共用同一條命令通道。若要讓起飛也分目標是可以做的,但急停一定要保持廣播。</a:t>
            </a:r>
          </a:p>
          <a:p/>
          <a:p>
            <a:r>
              <a:t>Q:兩台的 ID 怎麼分配?</a:t>
            </a:r>
          </a:p>
          <a:p>
            <a:r>
              <a:t>A:編譯期寫死在各自韌體的 DRONE_ID_SELF。不採運行期協商,正是為了避開分時尋址那套握手機制帶來的不確定性。</a:t>
            </a:r>
          </a:p>
          <a:p/>
          <a:p>
            <a:r>
              <a:t>Q:目標字節只有 1 字節,最多幾台?</a:t>
            </a:r>
          </a:p>
          <a:p>
            <a:r>
              <a:t>A:理論上 255 台。模式 A 的限制不在定址,而在「一次只能控一台」;真正受載荷限制的是模式 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【核心】一句話版 24 字≈7 秒 ｜ 完整版 296 字≈1.3 分</a:t>
            </a:r>
          </a:p>
          <a:p/>
          <a:p>
            <a:r>
              <a:t>【一句話】兩台飛機接收的是同一個封包,卻執行了不同的動作。</a:t>
            </a:r>
          </a:p>
          <a:p/>
          <a:p>
            <a:r>
              <a:t>【播放時要說的】</a:t>
            </a:r>
          </a:p>
          <a:p>
            <a:r>
              <a:t>① 上位機下發一個 msgID=0x60 的封包,裡面有兩段:ATK 那段設手動油門、nRF 那段設懸停待命旗標。</a:t>
            </a:r>
          </a:p>
          <a:p>
            <a:r>
              <a:t>② 結果只有 ATK 轉動,nRF 靜止不動。</a:t>
            </a:r>
          </a:p>
          <a:p>
            <a:r>
              <a:t>③ 角色對調(改成 nRF 手動、ATK 待命)再發一次,結果一致 — 證明分流確實是按段內 ID,不是巧合或單向的偏差。</a:t>
            </a:r>
          </a:p>
          <a:p/>
          <a:p>
            <a:r>
              <a:t>【★ 播完必說的一句】</a:t>
            </a:r>
          </a:p>
          <a:p>
            <a:r>
              <a:t>這是多工廣播相對於一般廣播的**唯一證據**。一般廣播只能讓所有飛機做同一件事;分時尋址雖能分別控制,卻要發 N 次、各機指令必然錯開。這裡是**一個封包、同時到達、各自不同** — 三者兼得。</a:t>
            </a:r>
          </a:p>
          <a:p/>
          <a:p>
            <a:r>
              <a:t>【備詢·不念】</a:t>
            </a:r>
          </a:p>
          <a:p>
            <a:r>
              <a:t>Q:為什麼要用上位機發,不用遙控器?</a:t>
            </a:r>
          </a:p>
          <a:p>
            <a:r>
              <a:t>A:遙控器物理上只有兩根搖桿,只能產生一份數值,裝不滿兩段不同的指令。模式 B 的能力要在「指令來源能算出各機不同目標」時才有意義 — 那就是 PC 端,也正是本研究定位系統的下游應用。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486400" cy="5486400"/>
          </a:xfrm>
          <a:prstGeom prst="ellipse">
            <a:avLst/>
          </a:prstGeom>
          <a:solidFill>
            <a:srgbClr val="0A4D6E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200400"/>
            <a:ext cx="3657600" cy="36576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68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spc="300" kern="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碩士學位論文口試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無人機系統整合</a:t>
            </a:r>
            <a:endParaRPr lang="en-US" sz="4000" dirty="0"/>
          </a:p>
          <a:p>
            <a:pPr algn="l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與控制研究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Research on UAV System Integration and Control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526280"/>
            <a:ext cx="59436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研究生: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[你的姓名]</a:t>
            </a:r>
            <a:pPr algn="l" indent="0" marL="0">
              <a:buNone/>
            </a:pPr>
            <a:r>
              <a:rPr lang="en-US" sz="15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指導教授: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[教授姓名] 博士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[系所名稱]</a:t>
            </a:r>
            <a:pPr algn="l" indent="0" marL="0">
              <a:buNone/>
            </a:pPr>
            <a:r>
              <a:rPr lang="en-US" sz="14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中華民國 [○○○] 年 [○] 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目錄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接下來的報告順序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39" y="162763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5577" y="1801368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5577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6514" y="1746504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研究背景與動機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326514" y="2103120"/>
            <a:ext cx="990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研究缺口 · 三項貢獻 · 誠實進度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9273" y="256032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5577" y="2734056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95577" y="2734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6514" y="2679192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系統總架構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326514" y="3035808"/>
            <a:ext cx="990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三層整合 · 可換 MCU 載板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9273" y="349300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5577" y="3666744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5577" y="36667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6514" y="3611880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韌體移植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326514" y="3968496"/>
            <a:ext cx="990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驅動七層重寫 · 三大挑戰 · 控制與安全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9273" y="442569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5577" y="4599432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95577" y="4599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6514" y="4544568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326514" y="4901184"/>
            <a:ext cx="990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廣播架構三機制 · 多工廣播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9273" y="535838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95577" y="5532120"/>
            <a:ext cx="475488" cy="475488"/>
          </a:xfrm>
          <a:prstGeom prst="ellipse">
            <a:avLst/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95577" y="5532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6514" y="5477256"/>
            <a:ext cx="990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室內定位系統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326514" y="5833872"/>
            <a:ext cx="990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· 自適應濾波 · 驗證總結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研究背景與動機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為什麼要自製可換 MCU 的無人機平台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984248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984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801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室內無 GPS 定位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00200" y="220370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室內、隧道、倉儲環境無法使用衛星定位,需替代的定位與控制手段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136392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520440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20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商業方案封閉且昂貴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739896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市售飛控多為封閉系統難以客製;高精度定位設備成本高昂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72584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5056632"/>
            <a:ext cx="603504" cy="60350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56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4873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無法公平比較異構 MCU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52760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換 MCU 就要換整套外圍電路,引入不同感測器雜訊與分布電容;缺乏「同一硬體基底」客觀評估晶片本身效能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本研究的切入點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0" y="25146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自行設計「可換 MCU」飛控載板,</a:t>
            </a:r>
            <a:endParaRPr lang="en-US" sz="15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將商用飛控韌體移植到 nRF52840 單晶片,</a:t>
            </a:r>
            <a:endParaRPr lang="en-US" sz="15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並建構室內定位與多機控制的完整平台。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858000" y="4434840"/>
            <a:ext cx="438912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46177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關鍵字:可換 MCU · 韌體移植 · ESB · 室內定位 · 多機控制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研究貢獻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本論文完成的核心工作 · 主次分明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A4D6E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847088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470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783080" y="1645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跨 MCU 異構韌體架構之重構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83080" y="2084832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把原廠雙 MCU 串口橋接架構,重構為 nRF52840 單晶片全能架構 — 暫存器層級重寫無線/USB/排程,非程式碼搬移。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464040" y="1920240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13" name="Text 11"/>
          <p:cNvSpPr/>
          <p:nvPr/>
        </p:nvSpPr>
        <p:spPr>
          <a:xfrm>
            <a:off x="9464040" y="19202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907792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07792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2389A8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291840"/>
            <a:ext cx="603504" cy="603504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291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783080" y="309067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可換 MCU 飛控硬體載板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83080" y="3529584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自行設計:雙排母座引出電源/I2C/SPI/PWM,插不同 XIAO 即換平台 — 硬體外設標準化,公平比較異構晶片。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464040" y="3364992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9464040" y="336499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主貢獻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352544"/>
            <a:ext cx="1106424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352544"/>
            <a:ext cx="146304" cy="1353312"/>
          </a:xfrm>
          <a:prstGeom prst="roundRect">
            <a:avLst>
              <a:gd name="adj" fmla="val 31250"/>
            </a:avLst>
          </a:prstGeom>
          <a:solidFill>
            <a:srgbClr val="00B894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4736592"/>
            <a:ext cx="603504" cy="60350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7365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783080" y="453542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室內定位與多機控制平台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783080" y="49743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非連接定位網路 + 自適應濾波 + 位置閉環;單一遙控器廣播控制多機(三機制已實測)。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64040" y="4809744"/>
            <a:ext cx="1645920" cy="438912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</p:sp>
      <p:sp>
        <p:nvSpPr>
          <p:cNvPr id="29" name="Text 27"/>
          <p:cNvSpPr/>
          <p:nvPr/>
        </p:nvSpPr>
        <p:spPr>
          <a:xfrm>
            <a:off x="9464040" y="48097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支撐貢獻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主軸:跨 MCU 異構韌體重構(貢獻①②) — 定位與多機(③)是驗證平台價值的應用支撐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研究進度總覽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以實際進度誠實呈現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5087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2FA64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08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21488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60704" y="214884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自製可換MCU電路板(設計+製作)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64261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64261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韌體移植(7模組)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13232" y="31363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0704" y="31363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三層系統問題解決(無線/USB/排程)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3232" y="36301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0704" y="36301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感測融合+定高+失控保護(含寬限維持)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3232" y="412394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60704" y="412394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定位網路(閘道+四錨+上位機)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46177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0704" y="461772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定位引擎七步鏈設計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" y="51114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5111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同板直插驗證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0" y="150876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297680" y="15087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E8934A"/>
          </a:solidFill>
          <a:ln/>
        </p:spPr>
      </p:sp>
      <p:sp>
        <p:nvSpPr>
          <p:cNvPr id="25" name="Text 23"/>
          <p:cNvSpPr/>
          <p:nvPr/>
        </p:nvSpPr>
        <p:spPr>
          <a:xfrm>
            <a:off x="4297680" y="1508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進行中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462272" y="21488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09744" y="214884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 上位機與遙控器完整聯通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62272" y="264261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9744" y="264261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多機廣播三機制實測後的整合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62272" y="31363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9744" y="31363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定位精度硬體實測量化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62272" y="36301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09744" y="36301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定位改進(自適應n等)驗證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46720" y="1508760"/>
            <a:ext cx="3566160" cy="43434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0" y="150876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9AA4B1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0" y="1508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待進行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11312" y="21488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558784" y="214884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雙機同時受控編隊飛行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11312" y="264261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558784" y="264261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定位閉環自由飛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11312" y="31363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58784" y="313639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精度量化達標(對標1.88m)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211312" y="36301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A4B1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○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58784" y="36301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論文撰寫完稿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系統總架構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三層整合:上位機 · 飛控 · 定位網路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108960" y="1463040"/>
            <a:ext cx="594360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108960" y="14630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 上位機:地圖顯示 · 定位解算 · ATKP 指令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229600" y="2194560"/>
            <a:ext cx="0" cy="45720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9748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0A4D6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974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飛控子系統(系統一)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33756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3375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遙控器(廣播定址·已改造)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2.4GHz ESB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ATK原機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46120" y="438912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46120" y="438912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自製板+nRF52840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697480"/>
            <a:ext cx="5669280" cy="3063240"/>
          </a:xfrm>
          <a:prstGeom prst="roundRect">
            <a:avLst>
              <a:gd name="adj" fmla="val 2388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0" y="2697480"/>
            <a:ext cx="5669280" cy="502920"/>
          </a:xfrm>
          <a:prstGeom prst="roundRect">
            <a:avLst>
              <a:gd name="adj" fmla="val 14545"/>
            </a:avLst>
          </a:prstGeom>
          <a:solidFill>
            <a:srgbClr val="2389A8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697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定位子系統(系統二)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72200" y="3337560"/>
            <a:ext cx="5212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172200" y="33375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定位閘道(USB↔無線樞紐)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72200" y="4069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 低延遲無線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7220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7804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7804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18388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8388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8388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189720" y="4389120"/>
            <a:ext cx="914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189720" y="4498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189720" y="4983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195560" y="4389120"/>
            <a:ext cx="914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195560" y="44348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飛機C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19556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定位載具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三台飛機(ATK/nRF/ESP32)皆廣播 BLE 信標 → 四錨被動掃描採集;全平台通用定位網路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spc="400" kern="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自製飛控:硬體與韌體移植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可換 MCU 載板 · 雙MCU→單晶片重構 · 三層系統問題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自製飛控電路板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 MCU 的一體化載板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3931920" cy="429768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pic>
        <p:nvPicPr>
          <p:cNvPr id="7" name="Image 0" descr="img/pcb_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3474720" cy="38221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5046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電路板正面(含機臂)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55448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37760" y="17373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設計特點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937760" y="2194560"/>
            <a:ext cx="6400800" cy="749808"/>
          </a:xfrm>
          <a:prstGeom prst="roundRect">
            <a:avLst>
              <a:gd name="adj" fmla="val 731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120640" y="242316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3" name="Text 10"/>
          <p:cNvSpPr/>
          <p:nvPr/>
        </p:nvSpPr>
        <p:spPr>
          <a:xfrm>
            <a:off x="51206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50992" y="228600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可更換主控(核心)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50992" y="257860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雙排母座引出電源軌/I2C/SPI/PWM — XIAO 直插即用,換 MCU 即換平台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937760" y="3054096"/>
            <a:ext cx="6400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120640" y="3236976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5"/>
          <p:cNvSpPr/>
          <p:nvPr/>
        </p:nvSpPr>
        <p:spPr>
          <a:xfrm>
            <a:off x="512064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50992" y="314553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機架電路一體化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50992" y="3438144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PCB 本體即機架(四臂),馬達座整合,無需結構件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937760" y="3749040"/>
            <a:ext cx="6400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120640" y="393192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50992" y="384048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抗干擾佈局(EMI)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650992" y="4133088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四層板 + 內層完整地平面;馬達高頻大電流限制於背面,屏蔽雜訊耦合到正面感測器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37760" y="4443984"/>
            <a:ext cx="6400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20640" y="4626864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8" name="Text 25"/>
          <p:cNvSpPr/>
          <p:nvPr/>
        </p:nvSpPr>
        <p:spPr>
          <a:xfrm>
            <a:off x="512064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5650992" y="453542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感測器置於幾何中心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650992" y="4828032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IMU 對齊四馬達軸線交會點 — 繞 Z 軸旋轉時向心加速度 ω²r 因 r→0 趨零,免軟體偏心補償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937760" y="5138928"/>
            <a:ext cx="64008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120640" y="5321808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3" name="Text 30"/>
          <p:cNvSpPr/>
          <p:nvPr/>
        </p:nvSpPr>
        <p:spPr>
          <a:xfrm>
            <a:off x="51206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650992" y="523036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馬達續流保護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650992" y="5522976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MOSFET 驅動並聯續流二極體 + 濾波電容,鉗制開關瞬間反向電動勢(Flyback),保護功率管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電路板組成:原理圖到實體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主控插座 · 驅動 · 電源的完整設計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66928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pic>
        <p:nvPicPr>
          <p:cNvPr id="7" name="Image 0" descr="img/pcb_s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539496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617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電路原理圖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155448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pic>
        <p:nvPicPr>
          <p:cNvPr id="10" name="Image 1" descr="img/pcb_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91640"/>
            <a:ext cx="4206240" cy="2926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0" y="4617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背面(馬達連接器 M1–M4)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029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主控插座(可換MCU)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01752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GY-91 感測介面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21208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四路 MOSFET 驅動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40664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電源濾波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601200" y="5029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● 雙 LED 指示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三個飛控平台對照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主控、無線、韌體對照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974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1554480"/>
            <a:ext cx="2551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3774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9272" y="1554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主控 MCU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23560" y="1554480"/>
            <a:ext cx="201168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96712" y="1554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35240" y="1554480"/>
            <a:ext cx="182880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08392" y="155448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韌體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64040" y="1554480"/>
            <a:ext cx="2148840" cy="502920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37192" y="1554480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057400"/>
            <a:ext cx="2697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205740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ATK-MiniFly 原機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46120" y="2057400"/>
            <a:ext cx="23774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205740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STM32F411(M4)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nRF51822(M0)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23560" y="2057400"/>
            <a:ext cx="2011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96712" y="205740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(專用晶片+PA)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635240" y="2057400"/>
            <a:ext cx="1828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08392" y="205740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原廠韌體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64040" y="2057400"/>
            <a:ext cx="2148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205740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對照組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 多機成員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291840"/>
            <a:ext cx="26974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" y="3291840"/>
            <a:ext cx="25511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nRF52840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46120" y="3291840"/>
            <a:ext cx="23774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9272" y="3291840"/>
            <a:ext cx="22311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nRF52840(M4F)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23560" y="3291840"/>
            <a:ext cx="201168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3291840"/>
            <a:ext cx="18653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2.4G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(內建 RADIO)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35240" y="3291840"/>
            <a:ext cx="182880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08392" y="32918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本文移植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(MiniFly Port)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64040" y="3291840"/>
            <a:ext cx="2148840" cy="12344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37192" y="3291840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本文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主要移植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4526280"/>
            <a:ext cx="26974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4526280"/>
            <a:ext cx="25511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自製板 + XIAO ESP32S3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46120" y="4526280"/>
            <a:ext cx="23774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19272" y="4526280"/>
            <a:ext cx="22311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ESP32S3(LX7)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623560" y="4526280"/>
            <a:ext cx="201168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6712" y="4526280"/>
            <a:ext cx="18653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WiFi / BLE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635240" y="4526280"/>
            <a:ext cx="182880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08392" y="4526280"/>
            <a:ext cx="168249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 ESP-FC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464040" y="4526280"/>
            <a:ext cx="2148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37192" y="4526280"/>
            <a:ext cx="200253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可換 MCU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實證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48640" y="57454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48640" y="57454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重點:第 2、3 列共用同一塊自製電路板 — 換插主控即換平台,「可換 MCU」由此實證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驅動層移植對照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每一層的差異與對應處理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463040" cy="438912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011680" y="1463040"/>
            <a:ext cx="2606040" cy="438912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46304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原平台做法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17720" y="1463040"/>
            <a:ext cx="2743200" cy="438912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46304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目標平台做法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60920" y="1463040"/>
            <a:ext cx="4251960" cy="438912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146304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原平台機制 → 本文實作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1901952"/>
            <a:ext cx="1463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1901952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腳位控制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11680" y="1901952"/>
            <a:ext cx="2606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03120" y="1901952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STM32 HAL 直接操作暫存器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1901952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90195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改用 nrfx 腳位抽象層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60920" y="1901952"/>
            <a:ext cx="4251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1901952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兩晶片 GPIO 編號與暫存器映射不同 → 逐腳對應到自製板佈線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2615184"/>
            <a:ext cx="1463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2615184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感測讀取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011680" y="2615184"/>
            <a:ext cx="2606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03120" y="2615184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阻塞式 I2C(CPU while 迴圈死等 TXE/RXNE)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17720" y="2615184"/>
            <a:ext cx="274320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615184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TWIM + EasyDMA(硬體自動搬移)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60920" y="2615184"/>
            <a:ext cx="425196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2615184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配置 RXD.PTR/MAXCNT 指針 → 硬體搬資料到 RAM,CPU 釋放;加 GY-91(0x68/0x69)雙位址自動探測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3328416"/>
            <a:ext cx="1463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328416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電機輸出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11680" y="3328416"/>
            <a:ext cx="2606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03120" y="3328416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定時器計數產生 4 路 PWM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17720" y="3328416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328416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nRF PWM 外設(獨立模組)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360920" y="3328416"/>
            <a:ext cx="4251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52360" y="3328416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計數方式不同 → 重算分頻,輸出 62.5kHz 驅動 MOSFET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48640" y="4041648"/>
            <a:ext cx="1463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041648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011680" y="4041648"/>
            <a:ext cx="2606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03120" y="404164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nRF51 收 ESB 再經 UART 轉發 STM32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617720" y="4041648"/>
            <a:ext cx="274320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041648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主控 RADIO 內建,晶片內直接收發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360920" y="4041648"/>
            <a:ext cx="425196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52360" y="4041648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消滅 UART 橋接(原 2.78ms 時延)→ 重建與遙控器空中相容的封包(前頁)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8640" y="4754880"/>
            <a:ext cx="1463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475488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 通訊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011680" y="4754880"/>
            <a:ext cx="26060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03120" y="4754880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發送不檢查 DTR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17720" y="4754880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09160" y="47548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函式庫 Serial.write 檢查 DTR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360920" y="4754880"/>
            <a:ext cx="4251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52360" y="4754880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地面站不置 DTR → 一字節不發 → 改用 tud_cdc_write 繞過(前頁)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8640" y="5468112"/>
            <a:ext cx="1463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080" y="5468112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任務排程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11680" y="5468112"/>
            <a:ext cx="260604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103120" y="5468112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系統節拍 1000Hz(1 tick=1ms)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617720" y="5468112"/>
            <a:ext cx="274320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09160" y="5468112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節拍降至 100Hz(1 tick=10ms)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60920" y="5468112"/>
            <a:ext cx="4251960" cy="713232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52360" y="5468112"/>
            <a:ext cx="4069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2389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1ms 延時整數除法歸零 → 鉗制 max(換算,1)(前頁)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各層皆需依目標平台的暫存器架構重新實作,非程式碼移植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移植驗證順序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由底層到飛行,七步依序打通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工具鏈建置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編譯通過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9968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185416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2389A8"/>
          </a:solidFill>
          <a:ln/>
        </p:spPr>
      </p:sp>
      <p:sp>
        <p:nvSpPr>
          <p:cNvPr id="13" name="Text 11"/>
          <p:cNvSpPr/>
          <p:nvPr/>
        </p:nvSpPr>
        <p:spPr>
          <a:xfrm>
            <a:off x="2185416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GPIO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31136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LED 點亮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腳位映射對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66744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/>
        </p:spPr>
      </p:sp>
      <p:sp>
        <p:nvSpPr>
          <p:cNvPr id="17" name="Text 15"/>
          <p:cNvSpPr/>
          <p:nvPr/>
        </p:nvSpPr>
        <p:spPr>
          <a:xfrm>
            <a:off x="3822192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I2C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67912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感測器 ID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讀取成功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58968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5458968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4688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姿態資料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連續穩定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0296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95744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/>
        </p:spPr>
      </p:sp>
      <p:sp>
        <p:nvSpPr>
          <p:cNvPr id="25" name="Text 23"/>
          <p:cNvSpPr/>
          <p:nvPr/>
        </p:nvSpPr>
        <p:spPr>
          <a:xfrm>
            <a:off x="7095744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41464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遙控器配對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綠燈常亮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77072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732520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2389A8"/>
          </a:solidFill>
          <a:ln/>
        </p:spPr>
      </p:sp>
      <p:sp>
        <p:nvSpPr>
          <p:cNvPr id="29" name="Text 27"/>
          <p:cNvSpPr/>
          <p:nvPr/>
        </p:nvSpPr>
        <p:spPr>
          <a:xfrm>
            <a:off x="8732520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778240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四路 PWM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轉向正確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213848" y="2715768"/>
            <a:ext cx="155448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0369296" y="2103120"/>
            <a:ext cx="1481328" cy="1234440"/>
          </a:xfrm>
          <a:prstGeom prst="roundRect">
            <a:avLst>
              <a:gd name="adj" fmla="val 5926"/>
            </a:avLst>
          </a:prstGeom>
          <a:solidFill>
            <a:srgbClr val="00B894"/>
          </a:solidFill>
          <a:ln/>
        </p:spPr>
      </p:sp>
      <p:sp>
        <p:nvSpPr>
          <p:cNvPr id="33" name="Text 31"/>
          <p:cNvSpPr/>
          <p:nvPr/>
        </p:nvSpPr>
        <p:spPr>
          <a:xfrm>
            <a:off x="10369296" y="221284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Flight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415016" y="2606040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實機飛行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定高懸停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3913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實際執行的順序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77240" y="42976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先讓專案編譯通過;再點亮 LED 確認腳位;讀出感測器 ID 確認 I2C;姿態資料連續穩定;遙控器配對綠燈;電機轉向正確;最後實機飛行。每步有明確的通過依據才進下一步。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72200" y="3749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400800" y="3913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實例:任務飢餓的定位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00800" y="42976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層已通過(配對綠燈)但 USB 無輸出 → 問題範圍限縮於 Radio 與 Flight 之間的系統層 → 配合開機階段標記,定位為排程 tick 歸零之任務飢餓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架構級變化:雙 MCU 合併為單 MCU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移植不是搬程式,是重構系統架構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原廠:雙 MCU 分工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103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2389A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NRF51822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(Cortex-M0)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2788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無線通訊(ESB)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電源管理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66160" y="210312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(Cortex-M4+FPU)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27889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感測/融合/PID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電機/USB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17520" y="2788920"/>
            <a:ext cx="548640" cy="0"/>
          </a:xfrm>
          <a:prstGeom prst="line">
            <a:avLst/>
          </a:prstGeom>
          <a:noFill/>
          <a:ln w="31750">
            <a:solidFill>
              <a:srgbClr val="E8934A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60604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UART2 串口橋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(PA2/PA3+流控)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資料流:遙控器 →(空中)→ NRF51822 →(串口轉發)→ STM32 radiolink 任務。NRF51822 是「通訊橋樑」,還兼開關機與電池監測。另有 PA 功放增程。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029200"/>
            <a:ext cx="4937760" cy="658368"/>
          </a:xfrm>
          <a:prstGeom prst="roundRect">
            <a:avLst>
              <a:gd name="adj" fmla="val 6944"/>
            </a:avLst>
          </a:prstGeom>
          <a:solidFill>
            <a:srgbClr val="E8934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02920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串口橋時延實算: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115200bps 下傳 32 位元組封包 = 32×86.8μs ≈</a:t>
            </a:r>
            <a:pPr algn="l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2.78ms</a:t>
            </a:r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— 對高頻飛控構成固定延遲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本文:單顆 nRF52840 合併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675120" y="2103120"/>
            <a:ext cx="4480560" cy="1828800"/>
          </a:xfrm>
          <a:prstGeom prst="roundRect">
            <a:avLst>
              <a:gd name="adj" fmla="val 4000"/>
            </a:avLst>
          </a:prstGeom>
          <a:solidFill>
            <a:srgbClr val="1B2A4A"/>
          </a:solidFill>
          <a:ln w="19050">
            <a:solidFill>
              <a:srgbClr val="00B89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nRF52840(Cortex-M4F @64MHz)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675120" y="26517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CPU:感測 / 融合 / PID / 電機 / USB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</a:t>
            </a:r>
            <a:endParaRPr lang="en-US" sz="11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晶片內建 RADIO 外設:直接收發 ESB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4114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一顆晶片 = 原來兩顆的全部職責。控制迴圈與 RADIO 同核心,晶片內 AHB 總線直讀共享 RAM,時延從</a:t>
            </a:r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2.78ms 斷崖降到微秒級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;無串口橋、單一韌體、單次燒錄。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9834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這是「架構重構」而非「程式搬移」— 無線層必須從專用晶片改寫為主控晶片上的 RADIO 驅動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單晶片架構:得與失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消除串口橋的三項效益,以及必須併同承擔的三項代價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為何原廠要用兩顆:</a:t>
            </a:r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STM32F411 無內建 2.4GHz 無線電,收遙控訊號必須外掛射頻晶片;nRF51822 自帶 ESB 協議棧,是當年的合理選擇 — 代價是兩顆之間必須用 UART 轉發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三項效益:消除轉發環節換來什麼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以原廠雙 MCU 為基準,單晶片在三個層面帶來可量化的改善: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指令時延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2.78ms → 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資料通路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UART 序列轉發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RAM 直讀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晶片數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 顆 → 1 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跨晶片同步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需協定與流控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完全免除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板面積·功耗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省一顆封裝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時延為何降到 0:RADIO 以 EasyDMA 直接把封包寫進 CPU 可讀的 RAM,沒有任何轉發環節 — 不是「變快」,是這一段不存在了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三項代價:須併同考量的風險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單點失效風險集中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 MCU 下無線晶片失效,主控仍活著、仍能執行失控保護;單晶片失效則全機失控 — 故本研究在看門狗與分級失控保護上投入更多設計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即時性競爭加劇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射頻中斷原本由專用晶片承擔,現在會打斷 PID 迴圈。挑戰③的任務飢餓不是偶發 bug,而是架構合併後排程壓力上升的必然結果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移植複雜度大幅上升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無線層無法沿用外掛驅動,必須從暫存器層重建 ESB;USB 與排程一併重寫 — 三大挑戰全部源自這一個架構決定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為什麼移植到 nRF52840,而不是 ESP32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選型即研究定位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路線:市面已成熟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084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—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084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開源飛控生態完善(ESP-FC、ESP-Drone 等)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0160" y="258775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社群大量現成移植與教學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30906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再做一次 = 重複勞動,無研究增量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611880"/>
            <a:ext cx="4937760" cy="256032"/>
          </a:xfrm>
          <a:prstGeom prst="roundRect">
            <a:avLst>
              <a:gd name="adj" fmla="val 14286"/>
            </a:avLst>
          </a:prstGeom>
          <a:ln/>
        </p:spPr>
      </p:sp>
      <p:sp>
        <p:nvSpPr>
          <p:cNvPr id="17" name="Text 15"/>
          <p:cNvSpPr/>
          <p:nvPr/>
        </p:nvSpPr>
        <p:spPr>
          <a:xfrm>
            <a:off x="777240" y="3639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本文對 ESP32S3 的定位:直接採用其成熟生態(第三飛控),把研究力氣花在沒人做過的地方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路線:研究空白 + 四項優勢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2103120"/>
            <a:ext cx="49834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232257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19456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原生 ESB 體系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040880" y="251460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與原廠遙控器同屬 Nordic 2.4G,可直連配對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0" y="3035808"/>
            <a:ext cx="49834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37960" y="325526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40880" y="312724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移植具挑戰性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40880" y="3447288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雙MCU重構為單晶片,涉及無線/USB/排程三層系統問題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3968496"/>
            <a:ext cx="49834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7960" y="418795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2" name="Text 30"/>
          <p:cNvSpPr/>
          <p:nvPr/>
        </p:nvSpPr>
        <p:spPr>
          <a:xfrm>
            <a:off x="6537960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40880" y="4059936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板載 6 軸 IMU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040880" y="4379976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XIAO Sense 自帶 LSM6DS3 — 不接 GY-91 也能飛(6軸模式),便宜又完整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4901184"/>
            <a:ext cx="4983480" cy="841248"/>
          </a:xfrm>
          <a:prstGeom prst="roundRect">
            <a:avLst>
              <a:gd name="adj" fmla="val 6522"/>
            </a:avLst>
          </a:prstGeom>
          <a:solidFill>
            <a:srgbClr val="1B2A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537960" y="512064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5120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4992624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單晶片合併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040880" y="531266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CPU+無線同顆,消滅原廠的雙 MCU 串口橋(上一頁)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343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77240" y="44805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低成本完整性:雙感測配置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77240" y="4846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有 GY-91:9 軸 + 氣壓,完整定高飛行。無 GY-91:板載 LSM6DS3 六軸,姿態飛行仍可成立 — 入門者一塊 XIAO 即可起步,展現平台的成本彈性。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挑戰① 之一:ESB 無線協議是什麼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原廠遙控器與飛機的通訊協議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系統一·挑戰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ESB(Enhanced ShockBurst)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Nordic 晶片專有的 2.4GHz 輕量無線協議。原廠遙控器與飛機之間就是用它通訊 —— 不是 WiFi、不是藍牙,是更省電、更低延遲的點對點協議。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154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為什麼移植繞不開它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68680" y="361188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71600" y="3593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原廠架構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5935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飛機用 STM32F411 算控制、外掛 nRF51822 專門收發 ESB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" y="432511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3068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本文架構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834640" y="430682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單晶片:CPU 和無線電同一顆,韌體直接驅動 RADIO 外設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8680" y="5038344"/>
            <a:ext cx="402336" cy="402336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038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71600" y="50200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移植含義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34640" y="502005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不能沿用 SPI 外掛驅動,必須重建與遙控器【空中相容】的收發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 空中封包結構(每個欄位都是移植對齊點)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0" y="210312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1031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前導碼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0" y="210312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732520" y="210312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硬體自動產生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0" y="265176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265176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46720" y="26517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2520" y="2651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0x123456789A ← 必須逐位元反轉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20040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004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長度欄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320040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6bit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732520" y="3200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動態載荷長度(LFLEN=6)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0" y="374904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8934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37490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S1欄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46720" y="374904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3bit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732520" y="37490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NOACK 旗標(S1LEN=3)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29768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2389A8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0" y="42976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載荷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46720" y="42976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0-32B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32520" y="42976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msgID + dataLen + data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400800" y="4846320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5A6575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0" y="484632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CRC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046720" y="484632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732520" y="484632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硬體校驗(2字節)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0" y="5440680"/>
            <a:ext cx="4983480" cy="274320"/>
          </a:xfrm>
          <a:prstGeom prst="roundRect">
            <a:avLst>
              <a:gd name="adj" fmla="val 13333"/>
            </a:avLst>
          </a:prstGeom>
          <a:ln w="19050">
            <a:solidFill>
              <a:srgbClr val="E8934A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6400800" y="54406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 = 兩晶片不相容、必須手動對齊的欄位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挑戰① 之二:三個不相容點的對齊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位址、載荷、速率的對齊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系統一·挑戰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160020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1517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位元順序:兩晶片空中位序相反,寫入前逐位鏡像(swapBits)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181051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NRF24L01+ 高位(MSB)先發、nRF52840 低位(LSB)先發,同一位址空中互為鏡像→對不上。  </a:t>
            </a:r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解法:</a:t>
            </a:r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寫入前每字節位元反轉(0xAF→0xF5),硬體低位先出後恰好對回。</a:t>
            </a:r>
            <a:endParaRPr lang="en-US" sz="1050" dirty="0"/>
          </a:p>
        </p:txBody>
      </p:sp>
      <p:pic>
        <p:nvPicPr>
          <p:cNvPr id="11" name="Image 0" descr="/home/claude/thesis/bitswap_mini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159000"/>
            <a:ext cx="8778240" cy="8382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164840"/>
            <a:ext cx="53949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77240" y="3667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動態載荷:長度寫在空中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4079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原協議每包長度不固定,由封包內的「長度欄」告知。目標晶片須設定: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77240" y="4673600"/>
            <a:ext cx="493776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0120" y="4765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PCNF0: LFLEN=6(長度欄6位元)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S1LEN=3(NOACK旗標3位元)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5633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設錯任一位元數 → 封包解不出來 = 收不到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72200" y="3164840"/>
            <a:ext cx="54406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0" y="3667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資料速率:250Kbps 已被移除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00800" y="4079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原廠用 250Kbps(nRF51 支援);nRF52840 硬體已移除此速率。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0" y="4627880"/>
            <a:ext cx="2377440" cy="777240"/>
          </a:xfrm>
          <a:prstGeom prst="roundRect">
            <a:avLst>
              <a:gd name="adj" fmla="val 7059"/>
            </a:avLst>
          </a:prstGeom>
          <a:solidFill>
            <a:srgbClr val="5A6575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400800" y="46278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250 Kbps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(不支援)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869680" y="4719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9464040" y="462788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9464040" y="46278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 Mbps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(兩端同改)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00800" y="5542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速率是「收發雙方約定」— 遙控器端韌體同步改為 1Mbps,才能互通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挑戰② 之一:USB CDC 虛擬串口是什麼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地面站連線走的通道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系統一·挑戰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 CDC(Communications Device Class)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 的一種標準裝置類別:在 USB 通道上提供「串口服務」。它存在的原因:既有軟體(如地面站)僅支援 COM 口收發,CDC 讓 USB 裝置以 COM 口形式被系統識別 — 地面站看到的 COM3 就是這條 USB 通道,並附帶 DTR 等控制訊號。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DTR 是什麼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422452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Data Terminal Ready — 由主機端控制的狀態訊號。置位(1)表示主機已開啟串口並就緒;未置位則為 0 或未設定。多數終端軟體開啟串口時會置位,惟此為慣例,USB 協議並未強制。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b="1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關鍵:置不置位是上位機的自由 — 協議沒規定必須置位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72200" y="146304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1627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連線時序:問題發生在哪一步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0" y="19385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背景:地面站連飛機的標準流程 = 開串口 → 發「查版本」問候 → 等飛機回應。以下為此流程在移植版上失敗的環節: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2487168"/>
            <a:ext cx="2286000" cy="384048"/>
          </a:xfrm>
          <a:prstGeom prst="roundRect">
            <a:avLst>
              <a:gd name="adj" fmla="val 11905"/>
            </a:avLst>
          </a:prstGeom>
          <a:solidFill>
            <a:srgbClr val="2389A8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2487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地面站(PC)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2487168"/>
            <a:ext cx="2286000" cy="384048"/>
          </a:xfrm>
          <a:prstGeom prst="roundRect">
            <a:avLst>
              <a:gd name="adj" fmla="val 11905"/>
            </a:avLst>
          </a:prstGeom>
          <a:solidFill>
            <a:srgbClr val="0A4D6E"/>
          </a:solidFill>
          <a:ln/>
        </p:spPr>
      </p:sp>
      <p:sp>
        <p:nvSpPr>
          <p:cNvPr id="21" name="Text 19"/>
          <p:cNvSpPr/>
          <p:nvPr/>
        </p:nvSpPr>
        <p:spPr>
          <a:xfrm>
            <a:off x="9052560" y="2487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飛控(韌體)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635240" y="2907792"/>
            <a:ext cx="0" cy="2606040"/>
          </a:xfrm>
          <a:prstGeom prst="line">
            <a:avLst/>
          </a:prstGeom>
          <a:noFill/>
          <a:ln w="9525">
            <a:solidFill>
              <a:srgbClr val="5A657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10195560" y="2907792"/>
            <a:ext cx="0" cy="2606040"/>
          </a:xfrm>
          <a:prstGeom prst="line">
            <a:avLst/>
          </a:prstGeom>
          <a:noFill/>
          <a:ln w="9525">
            <a:solidFill>
              <a:srgbClr val="5A6575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635240" y="3246120"/>
            <a:ext cx="2560320" cy="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26680" y="2990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開串口(不置DTR)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35240" y="3703320"/>
            <a:ext cx="2560320" cy="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726680" y="3447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查詢版本指令 →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29600" y="3977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…(韌體檢查DTR=0,判「沒人聽」)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9600" y="4434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 一個字節都不回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35240" y="5074920"/>
            <a:ext cx="2560320" cy="0"/>
          </a:xfrm>
          <a:prstGeom prst="line">
            <a:avLst/>
          </a:prstGeom>
          <a:noFill/>
          <a:ln w="1905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7726680" y="4818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等待逾時 → 連線失敗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根因:目標平台 USB 函式庫將「發送」與「DTR=1」耦合,而地面站未置位 DTR → 連線失敗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挑戰② 之二:兩平台 DTR 行為與解法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下方 send() 為示意寫法,重點在「是否檢查 DTR」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系統一·挑戰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原廠(STM32 VCP)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116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send() { 直接寫USB端點; }   // 不看DTR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地面站置不置 DTR 都能收到資料 = 能連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724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(原廠平台不檢查 DTR,故無此問題)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移植目標(Arduino 核心)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2011680"/>
            <a:ext cx="4983480" cy="685800"/>
          </a:xfrm>
          <a:prstGeom prst="roundRect">
            <a:avLst>
              <a:gd name="adj" fmla="val 80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04825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send() { if(!dtr) return;  // 兩層檢查</a:t>
            </a:r>
            <a:endParaRPr lang="en-US" sz="10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寫USB端點; 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0" y="2788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DTR=0 時一個字節都發不出 = 卡死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(函式庫設計差異,不是硬體問題)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解法:繞過函式庫,直達底層 + 行為配合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原生介面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" y="4892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改用 TinyUSB 真實底層函式 tud_cdc_write() 送資料 — 它只檢查 USB 實體連接,不看 DTR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89120" y="4526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開機靜默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389120" y="4892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上電不主動發;收到首個有效查詢幀才開始回應(相容各種地面站行為)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01000" y="4526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永不阻塞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001000" y="4892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傳送緩衝滿即丟棄該包 — 通訊阻塞不影響 500Hz 控制迴圈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挑戰③:任務飢餓 Task Starvation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整數除法將延遲截斷為 0 → 最高優先任務持續佔用 CPU,低優先任務無法獲得時間片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系統一·挑戰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81328"/>
            <a:ext cx="53492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" y="1591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歸零的數學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49808" y="1956816"/>
            <a:ext cx="4937760" cy="713232"/>
          </a:xfrm>
          <a:prstGeom prst="roundRect">
            <a:avLst>
              <a:gd name="adj" fmla="val 641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11680"/>
            <a:ext cx="4617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節拍 = 毫秒 × tick頻率 ÷ 1000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原(1000Hz): 1×1000÷1000=1 ✓   目標(&lt;1000Hz): =0 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7249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整數除法把 &lt;1 截成 0 —「延遲1ms」變「延遲0節拍」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163824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2735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定位方法:二分法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36393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開機插階段標記(經底層直接輸出,不靠任務):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" y="39502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4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S1✓ S2✓ S3✓ S4✓ | 建立姿態任務 → 沉默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範圍鎖定 = 姿態任務第一行延遲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4645152"/>
            <a:ext cx="5349240" cy="1133856"/>
          </a:xfrm>
          <a:prstGeom prst="roundRect">
            <a:avLst>
              <a:gd name="adj" fmla="val 6452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9808" y="47548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解法:一行鉗制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9808" y="5102352"/>
            <a:ext cx="4937760" cy="384048"/>
          </a:xfrm>
          <a:prstGeom prst="roundRect">
            <a:avLst>
              <a:gd name="adj" fmla="val 11905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5102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延遲節拍 = max(換算結果, 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" y="55046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四任務所有短延遲套用 → 至少讓出一節拍,排程恢復正常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80760" y="1481328"/>
            <a:ext cx="55778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81928" y="1591056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任務飢餓示意(放映自動循環)</a:t>
            </a:r>
            <a:endParaRPr lang="en-US" sz="1350" dirty="0"/>
          </a:p>
        </p:txBody>
      </p:sp>
      <p:pic>
        <p:nvPicPr>
          <p:cNvPr id="25" name="Image 0" descr="/home/claude/thesis/starve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2011680"/>
            <a:ext cx="5257800" cy="312724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281928" y="5230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 觀察:橙色姿態任務逐格吞噬 CPU,無線/USB/感測降至 0% — 屬任務飢餓而非當機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控制核心:原廠基礎 × 本研究增強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從感測到馬達:每個環節,以及本研究在哪裡做了增強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感測融合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35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 IMU 加權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768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774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</p:sp>
      <p:sp>
        <p:nvSpPr>
          <p:cNvPr id="13" name="Text 11"/>
          <p:cNvSpPr/>
          <p:nvPr/>
        </p:nvSpPr>
        <p:spPr>
          <a:xfrm>
            <a:off x="24323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姿態估計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4323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Mahony 互補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056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</p:sp>
      <p:sp>
        <p:nvSpPr>
          <p:cNvPr id="17" name="Text 15"/>
          <p:cNvSpPr/>
          <p:nvPr/>
        </p:nvSpPr>
        <p:spPr>
          <a:xfrm>
            <a:off x="42611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高度估計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2611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氣壓+加速度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344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60899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速度環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899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定高油門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632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</p:sp>
      <p:sp>
        <p:nvSpPr>
          <p:cNvPr id="25" name="Text 23"/>
          <p:cNvSpPr/>
          <p:nvPr/>
        </p:nvSpPr>
        <p:spPr>
          <a:xfrm>
            <a:off x="79187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混控分配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9187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X 型四電機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92056" y="2130552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92640" y="1783080"/>
            <a:ext cx="1755648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47504" y="19476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馬達輸出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747504" y="23500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 驅動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063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本研究的關鍵增強(標於對應環節下方)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3456432"/>
            <a:ext cx="82296" cy="658368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351129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雙源融合 + 自動降級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977640" y="3511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對應【感測融合】環節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板載 6DOF 與外接 9 軸加權融合,分歧大時平滑過渡;單一感測器失效自動降級不墜落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" y="41879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8640" y="4187952"/>
            <a:ext cx="82296" cy="658368"/>
          </a:xfrm>
          <a:prstGeom prst="rect">
            <a:avLst/>
          </a:prstGeom>
          <a:solidFill>
            <a:srgbClr val="2389A8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428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零偏防污染三道門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77640" y="42428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對應【姿態估計】環節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陀螺零偏在線學習,但電機轉動/磁校/未落地時拒絕採樣——不把振動學進零偏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91947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48640" y="4919472"/>
            <a:ext cx="82296" cy="658368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42" name="Text 40"/>
          <p:cNvSpPr/>
          <p:nvPr/>
        </p:nvSpPr>
        <p:spPr>
          <a:xfrm>
            <a:off x="777240" y="49743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高度估計三項增強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977640" y="497433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對應【高度估計】環節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首值建基線防暴衝、三點中值殺尖峰、阻尼比解耦減振鈴(後頁詳述)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6509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48640" y="5650992"/>
            <a:ext cx="82296" cy="658368"/>
          </a:xfrm>
          <a:prstGeom prst="rect">
            <a:avLst/>
          </a:prstGeom>
          <a:solidFill>
            <a:srgbClr val="E8934A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705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④ 油門基準四重閘自整定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977640" y="5705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對應【速度環】環節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懸停油門自適應,但四重條件過濾——不把衝天極端值學進基準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四項增強遵循同一原則:先確認資料可信,再讓它影響控制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感測融合:雙 IMU 加權與自動降級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雙感測來源的容錯設計 — 從加權融合到三級降級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雙感測來源從何而來?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139696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關鍵理由:它【板載 6DOF IMU】(LSM6DS3TR-C),單晶片即可完成姿態解算與飛行,無需外掛感測器。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同時保留外接 GY-91(9 軸 + 氣壓)的彈性 —— 於是有了「雙感測器來源」的設計空間。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雙源加權融合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968496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問題: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兩顆 IMU 讀數不會完全一致,硬切換會造成姿態跳變。</a:t>
            </a:r>
            <a:endParaRPr lang="en-US" sz="11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設計: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以外接 9 軸為主、板載 6 軸換算為同當量後加權;兩者分歧越大,板載權重平滑降到 0 —— 全程無硬切換、無跳變。航向軸僅在磁校後才納入融合。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157276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單一感測器失效 → 自動降級(不墜落)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2048256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0A4D6E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213969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35240" y="21396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外接 9 軸 + 板載 6 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28232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完整定高 + 航向修正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30815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75120" y="3255264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9712" y="334670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降級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334670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僅板載 6 軸接手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39712" y="3767328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姿態可控,定高轉純姿態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03720" y="428853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86600" y="4462272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8934A"/>
          </a:solidFill>
          <a:ln/>
        </p:spPr>
      </p:sp>
      <p:sp>
        <p:nvSpPr>
          <p:cNvPr id="26" name="Text 24"/>
          <p:cNvSpPr/>
          <p:nvPr/>
        </p:nvSpPr>
        <p:spPr>
          <a:xfrm>
            <a:off x="7251192" y="45537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保命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58200" y="4553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飛行中主感測失效 200ms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251192" y="49743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即時切板載;地面放寬 2s 防誤切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融合機制: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以互補濾波為框架,加權係數 = f(兩源角度分歧)。分歧小 → 板載權重高(冗餘校驗);分歧大 → 板載權重平滑趨零(信任外接 9 軸),過渡連續無跳變。這讓「異構感測器」成為主動容錯,而非單點故障。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控制演算法:原廠設計基準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原廠開發指南 圖6.3.1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685800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pic>
        <p:nvPicPr>
          <p:cNvPr id="9" name="Image 0" descr="img/algo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583680" cy="33375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5120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原廠姿態解算與串級 PID 流程(開發指南 圖6.3.1)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1463040"/>
            <a:ext cx="4023360" cy="4343400"/>
          </a:xfrm>
          <a:prstGeom prst="roundRect">
            <a:avLst>
              <a:gd name="adj" fmla="val 181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16276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逐塊解讀(對照左圖)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818120" y="20574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4" name="Text 11"/>
          <p:cNvSpPr/>
          <p:nvPr/>
        </p:nvSpPr>
        <p:spPr>
          <a:xfrm>
            <a:off x="781812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75320" y="20208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互補濾波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7532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加計(長期準)+陀螺(短期準)融合出姿態角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818120" y="2807208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5"/>
          <p:cNvSpPr/>
          <p:nvPr/>
        </p:nvSpPr>
        <p:spPr>
          <a:xfrm>
            <a:off x="781812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275320" y="2770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角度環 PID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75320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期望角度 vs 測量角度 → 輸出期望角速度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18120" y="3557016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2" name="Text 19"/>
          <p:cNvSpPr/>
          <p:nvPr/>
        </p:nvSpPr>
        <p:spPr>
          <a:xfrm>
            <a:off x="781812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275320" y="35204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角速度環 PID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275320" y="38313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期望角速度 vs 陀螺 → 輸出姿態控制量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818120" y="4306824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6" name="Text 23"/>
          <p:cNvSpPr/>
          <p:nvPr/>
        </p:nvSpPr>
        <p:spPr>
          <a:xfrm>
            <a:off x="7818120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75320" y="4270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Z軸高度 PID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8275320" y="458114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定高模式:油門轉 Z 速度,氣壓高度閉環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818120" y="5056632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0" name="Text 27"/>
          <p:cNvSpPr/>
          <p:nvPr/>
        </p:nvSpPr>
        <p:spPr>
          <a:xfrm>
            <a:off x="7818120" y="5056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75320" y="50200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PWM×4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275320" y="53309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三環輸出混合 → 四電機油門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控制演算法:移植後的實際資料流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保留、改動、新增的區分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GY-91 主感測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MPU9250+BMP280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6002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00B894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LSM6DS3 備援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(板載6軸·可獨飛)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↖ 新增:雙 IMU 自動切換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1600200"/>
            <a:ext cx="20116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16002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互補濾波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(Mahony·保留)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80960" y="16002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0" y="16002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角度環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92640" y="1600200"/>
            <a:ext cx="1920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2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角速度環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1984248"/>
            <a:ext cx="18288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1984248"/>
            <a:ext cx="45720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06640" y="1984248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418320" y="1984248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2004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8934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高度估計(改)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氣壓中值+靜止修正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+融合權重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32004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32004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Z軸高度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PID(保留)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32004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</p:sp>
      <p:sp>
        <p:nvSpPr>
          <p:cNvPr id="28" name="Text 26"/>
          <p:cNvSpPr/>
          <p:nvPr/>
        </p:nvSpPr>
        <p:spPr>
          <a:xfrm>
            <a:off x="557784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失控保護(新)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寬限維持→受控下降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(分級狀態機)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21040" y="32004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輸出混合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(保留)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49840" y="320040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E89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149840" y="32004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PWM×4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(重寫驅動)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926080" y="3657600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212080" y="3657600"/>
            <a:ext cx="36576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55280" y="3657600"/>
            <a:ext cx="36576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875520" y="3657600"/>
            <a:ext cx="274320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452628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77240" y="46451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圖例與結論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2960" y="502920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5A65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50109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保留:串級 PID 核心逐字對照移植 — 成熟架構不動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0" y="502920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E8934A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501091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改動:高度估計鏈、PWM 驅動(平台差異所迫)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22960" y="544068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00B894"/>
          </a:solidFill>
          <a:ln/>
        </p:spPr>
      </p:sp>
      <p:sp>
        <p:nvSpPr>
          <p:cNvPr id="44" name="Text 42"/>
          <p:cNvSpPr/>
          <p:nvPr/>
        </p:nvSpPr>
        <p:spPr>
          <a:xfrm>
            <a:off x="1371600" y="542239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新增:雙 IMU 備援、失控保護分級 — 本文的演算法貢獻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17920" y="5422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策略:核心保留、驅動重寫、保護新增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增強詳解:高度估計鏈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三項改動,每項都有「現象 → 原因 → 改法」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系統一·控制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18488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氣壓中值濾波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46120" y="1691640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6002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高度讀值偶發單拍尖峰,定高瞬間竄動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29000" y="200253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氣壓感測受電氣雜訊,單次採樣可能異常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40487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改法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 3 點取中值 — 尖峰值被兩側正常值取代,延遲僅 1 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099816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靜止零速修正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246120" y="3172968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0815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落地後高度緩慢漂移,下次起飛基線錯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29000" y="348386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加速度計零偏隨溫度漂移,積分累積誤差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29000" y="388620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改法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偵測「電機停+陀螺靜」→ 強制垂直速度歸零,同步學習零偏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47141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581144"/>
            <a:ext cx="23774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融合權重可調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246120" y="4654296"/>
            <a:ext cx="0" cy="1005840"/>
          </a:xfrm>
          <a:prstGeom prst="line">
            <a:avLst/>
          </a:prstGeom>
          <a:noFill/>
          <a:ln w="12700">
            <a:solidFill>
              <a:srgbClr val="E2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29000" y="45628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氣壓跟隨快則抖動、平滑重則漂移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49651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原因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單一權重無法兼顧跟隨性與平滑度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29000" y="53675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改法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氣壓/加速度融合比重做成參數,依機況與環境調校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失控保護:為什麼要有三種策略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 ≠ 一定要墜落 — 從單機安全通向多機控制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系統一·安全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核心問題:遙控訊號中斷時的處置策略。立即切斷馬達最為保守,但多數中斷為短暫性,直接停機造成不必要的損失 — 不同場景需要不同的等待策略。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0A4D6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65960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3" name="Shape 11"/>
          <p:cNvSpPr/>
          <p:nvPr/>
        </p:nvSpPr>
        <p:spPr>
          <a:xfrm rot="5400000">
            <a:off x="2249424" y="3182112"/>
            <a:ext cx="384048" cy="402336"/>
          </a:xfrm>
          <a:prstGeom prst="triangle">
            <a:avLst/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【影片:模式0.mp4】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斷線寬限 · 續飛等待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中斷後維持定高最多 2 秒,等待訊號回來即無縫續飛;超時才轉緩降。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0A4D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為多機廣播而生:點名輪空 &amp;lt;0.15 秒,遠短於 2 秒寬限 → 輪空不觸發保護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79392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96712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23" name="Shape 21"/>
          <p:cNvSpPr/>
          <p:nvPr/>
        </p:nvSpPr>
        <p:spPr>
          <a:xfrm rot="5400000">
            <a:off x="5980176" y="3182112"/>
            <a:ext cx="384048" cy="402336"/>
          </a:xfrm>
          <a:prstGeom prst="triangle">
            <a:avLst/>
          </a:prstGeom>
          <a:solidFill>
            <a:srgbClr val="2389A8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0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【影片:模式1.mp4】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07408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懸停等待 · 再緩降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07408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中斷後原地懸停約 8 秒(給操作者反應與接管的時間窗),超時再受控緩降落地。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79392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2389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07408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有人監看的手動飛行:留出人工介入的餘裕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10144" y="2395728"/>
            <a:ext cx="3602736" cy="1600200"/>
          </a:xfrm>
          <a:prstGeom prst="roundRect">
            <a:avLst>
              <a:gd name="adj" fmla="val 3429"/>
            </a:avLst>
          </a:prstGeom>
          <a:solidFill>
            <a:srgbClr val="E8934A"/>
          </a:solidFill>
          <a:ln/>
        </p:spPr>
      </p:sp>
      <p:sp>
        <p:nvSpPr>
          <p:cNvPr id="31" name="Text 29"/>
          <p:cNvSpPr/>
          <p:nvPr/>
        </p:nvSpPr>
        <p:spPr>
          <a:xfrm>
            <a:off x="8119872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2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427464" y="2999232"/>
            <a:ext cx="768096" cy="76809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3" name="Shape 31"/>
          <p:cNvSpPr/>
          <p:nvPr/>
        </p:nvSpPr>
        <p:spPr>
          <a:xfrm rot="5400000">
            <a:off x="9710928" y="3182112"/>
            <a:ext cx="384048" cy="402336"/>
          </a:xfrm>
          <a:prstGeom prst="triangle">
            <a:avLst/>
          </a:prstGeom>
          <a:solidFill>
            <a:srgbClr val="E8934A"/>
          </a:solidFill>
          <a:ln/>
        </p:spPr>
      </p:sp>
      <p:sp>
        <p:nvSpPr>
          <p:cNvPr id="34" name="Text 32"/>
          <p:cNvSpPr/>
          <p:nvPr/>
        </p:nvSpPr>
        <p:spPr>
          <a:xfrm>
            <a:off x="8119872" y="248716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【影片:模式2.mp4】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10144" y="4114800"/>
            <a:ext cx="360273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138160" y="4206240"/>
            <a:ext cx="3346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立即緩降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138160" y="4553712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中斷後立即受控緩降、觸地自動停機,不等待。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0144" y="5120640"/>
            <a:ext cx="3602736" cy="841248"/>
          </a:xfrm>
          <a:prstGeom prst="roundRect">
            <a:avLst>
              <a:gd name="adj" fmla="val 6522"/>
            </a:avLst>
          </a:prstGeom>
          <a:solidFill>
            <a:srgbClr val="F5F9FC"/>
          </a:solidFill>
          <a:ln w="15240">
            <a:solidFill>
              <a:srgbClr val="E89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38160" y="5120640"/>
            <a:ext cx="33467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最保守的安全裕度:未知環境、或不容許漂移的場合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關鍵銜接:模式 0 的「寬限等待」為多機廣播控制的安全基礎 — 廣播下每台皆有短暫指令空檔,需靠寬限維持撐住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失控保護狀態機(1/2):訊號中斷的第一秒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訊號中斷後的即時反應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系統一·安全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97280" y="2377440"/>
            <a:ext cx="2651760" cy="13716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774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正常飛行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(遙控指令連續)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063240"/>
            <a:ext cx="1554480" cy="0"/>
          </a:xfrm>
          <a:prstGeom prst="line">
            <a:avLst/>
          </a:prstGeom>
          <a:noFill/>
          <a:ln w="31750">
            <a:solidFill>
              <a:srgbClr val="E8934A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611880" y="21488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訊號中斷偵測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(逾時無新指令)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0" y="2377440"/>
            <a:ext cx="2651760" cy="13716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0" y="237744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寬限維持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(鎖定高度·姿態調平)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303520" y="3749040"/>
            <a:ext cx="-1554480" cy="548640"/>
          </a:xfrm>
          <a:prstGeom prst="line">
            <a:avLst/>
          </a:prstGeom>
          <a:noFill/>
          <a:ln w="25400">
            <a:solidFill>
              <a:srgbClr val="2FA64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017520" y="4343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訊號恢復 → 無縫接管續飛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412480" y="1554480"/>
            <a:ext cx="3200400" cy="4206240"/>
          </a:xfrm>
          <a:prstGeom prst="roundRect">
            <a:avLst>
              <a:gd name="adj" fmla="val 228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41080" y="1719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寬限期做什麼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641080" y="21945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高度:鎖定中斷瞬間高度,定高迴路續跑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641080" y="2971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2" name="Text 20"/>
          <p:cNvSpPr/>
          <p:nvPr/>
        </p:nvSpPr>
        <p:spPr>
          <a:xfrm>
            <a:off x="864108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926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姿態:期望角歸零,自動調平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641080" y="374904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098280" y="3703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油門:不切斷 — 電機維持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641080" y="45262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8" name="Text 26"/>
          <p:cNvSpPr/>
          <p:nvPr/>
        </p:nvSpPr>
        <p:spPr>
          <a:xfrm>
            <a:off x="864108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98280" y="44805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計時:寬限碼表開始累計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641080" y="5257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關鍵:此階段維持既有狀態不做任何處置 — 為訊號恢復保留無縫接管的可能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失控保護狀態機(2/2):完整狀態轉移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寬限超時後的處理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系統一·安全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09728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488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正常飛行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2697480"/>
            <a:ext cx="685800" cy="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606040" y="22585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中斷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2148840"/>
            <a:ext cx="2194560" cy="109728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2148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寬限維持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(計時中)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34840" y="2148840"/>
            <a:ext cx="-2286000" cy="-640080"/>
          </a:xfrm>
          <a:prstGeom prst="line">
            <a:avLst/>
          </a:prstGeom>
          <a:noFill/>
          <a:ln w="25400">
            <a:solidFill>
              <a:srgbClr val="2FA64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554480" y="11887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寬限內恢復 = 斷線 → 續飛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2697480"/>
            <a:ext cx="685800" cy="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5486400" y="2258568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超時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148840"/>
            <a:ext cx="2286000" cy="109728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148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判定真失聯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= 關機/遠離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697480"/>
            <a:ext cx="685800" cy="0"/>
          </a:xfrm>
          <a:prstGeom prst="line">
            <a:avLst/>
          </a:prstGeom>
          <a:noFill/>
          <a:ln w="2540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189720" y="2148840"/>
            <a:ext cx="2286000" cy="109728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9720" y="21488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受控下降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著陸鎖定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41148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這和「輪流發送」差在哪?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449884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輪流發送處理發射端的分配問題;斷線維持處理接收端未被輪到時的行為。若無維持機制,每次輪空即觸發失控保護,多機無法成立 — 維持機制將輪空定義為正常狀態,兩者缺一不可。寬限時長預設 2 秒可調。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72200" y="39776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0" y="41148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機制本質:用時間區分意圖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498848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飛機無法直接知道「斷線」還是「關機」— 訊號消失時兩者看起來一樣。差別只在會不會回來:寬限內回來=斷線續飛;超時不回=當作關機,安全降落。一套狀態機,兩個出口。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實機驗證影片(一):移植飛行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現場播放 — 從上電到降落的完整飛行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系統一·移植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55448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288036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5806440" y="320040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01168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【影片位置:此處替換為飛行影片截圖】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完整流程: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上電自檢 → 遙控器配對 → 起飛 → 定高懸停 → 斷訊維持續飛 → 降落</a:t>
            </a:r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要看的重點: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斷訊維持那一段 — 訊號中斷後高度不掉,回來即無縫續飛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播放方式:口試時切至播放器(影片檔與簡報同資料夾);或於 PowerPoint 內插入本機影片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多機控制:需求與系統設計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單一遙控器 × 兩台飛機(已完成 · 實機驗證通過)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459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實際資料鏈路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68680" y="214884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14884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 上位機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(定位+決策)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2743200"/>
            <a:ext cx="54864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606040" y="210312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ATKP指令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2148840"/>
            <a:ext cx="2103120" cy="1188720"/>
          </a:xfrm>
          <a:prstGeom prst="roundRect">
            <a:avLst>
              <a:gd name="adj" fmla="val 4615"/>
            </a:avLst>
          </a:prstGeom>
          <a:solidFill>
            <a:srgbClr val="0A4D6E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2148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 遙控器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(改造:廣播透傳)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9240" y="2468880"/>
            <a:ext cx="640080" cy="-274320"/>
          </a:xfrm>
          <a:prstGeom prst="line">
            <a:avLst/>
          </a:prstGeom>
          <a:noFill/>
          <a:ln w="25400">
            <a:solidFill>
              <a:srgbClr val="0A4D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349240" y="3017520"/>
            <a:ext cx="640080" cy="274320"/>
          </a:xfrm>
          <a:prstGeom prst="line">
            <a:avLst/>
          </a:prstGeom>
          <a:noFill/>
          <a:ln w="25400">
            <a:solidFill>
              <a:srgbClr val="E8934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35040" y="178308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0A4D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飛機A:ATK原機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(ID=2 · 私有位址 A)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2743200"/>
            <a:ext cx="21031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E89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2743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飛機B:nRF自製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(ID=1 · 私有位址 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38160" y="2167128"/>
            <a:ext cx="640080" cy="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38160" y="3136392"/>
            <a:ext cx="640080" cy="-320040"/>
          </a:xfrm>
          <a:prstGeom prst="line">
            <a:avLst/>
          </a:prstGeom>
          <a:noFill/>
          <a:ln w="19050">
            <a:solidFill>
              <a:srgbClr val="00B894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823960" y="228600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00B894"/>
          </a:solidFill>
          <a:ln/>
        </p:spPr>
      </p:sp>
      <p:sp>
        <p:nvSpPr>
          <p:cNvPr id="25" name="Text 23"/>
          <p:cNvSpPr/>
          <p:nvPr/>
        </p:nvSpPr>
        <p:spPr>
          <a:xfrm>
            <a:off x="8823960" y="2286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信標 → 四錨採集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(兩機同時被定位)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" y="38862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機制一:廣播選台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388620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一包全體同收,包尾附「目標字節」;各機自行比對 ID,選中者執行、其餘懸停待命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92640" y="4014216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0" y="401421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99432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45994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機制二:多工廣播(模式 B)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4599432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一個廣播包內裝 N 台各自獨立的指令段;兩機同收後各取自己 ID 那段 — 可同時做不同動作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692640" y="472744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7274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" y="5312664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1266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機制三:廣播點名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17520" y="5312664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廣播為單向無回傳;每 0.13 秒切私有向一台探詢,取回電量與在線狀態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692640" y="5440680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40" name="Text 38"/>
          <p:cNvSpPr/>
          <p:nvPr/>
        </p:nvSpPr>
        <p:spPr>
          <a:xfrm>
            <a:off x="9692640" y="5440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已驗證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ATKP 指令格式:字節級解析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 → 飛機的每一條指令長什麼樣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179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幀結構(上位機 → 飛控方向)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2862072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幀頭2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功能字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指令類型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20" name="Text 18"/>
          <p:cNvSpPr/>
          <p:nvPr/>
        </p:nvSpPr>
        <p:spPr>
          <a:xfrm>
            <a:off x="6620256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資料字節數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(1B)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</p:sp>
      <p:sp>
        <p:nvSpPr>
          <p:cNvPr id="23" name="Text 21"/>
          <p:cNvSpPr/>
          <p:nvPr/>
        </p:nvSpPr>
        <p:spPr>
          <a:xfrm>
            <a:off x="8339328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0~N 字節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12680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前面字節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求和取低8位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06324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2004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實例:解鎖指令 AA AF 01 01 A1 FC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幀頭2:上位機→飛控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功能字:命令幀 CMD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長度:資料共 1 字節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資料:解鎖 ARM 命令碼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校驗:低8位=FC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486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現場可驗算:AA+AF+01+01+A1 的低 8 位 = FC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06324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768096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為什麼用這套協議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7947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398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原廠地面站原生支援 — PC 零開發即可驗證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4805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5" name="Text 53"/>
          <p:cNvSpPr/>
          <p:nvPr/>
        </p:nvSpPr>
        <p:spPr>
          <a:xfrm>
            <a:off x="76809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4256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飛機端解析器已在移植韌體內 — 指令直達控制核心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1663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8" name="Text 56"/>
          <p:cNvSpPr/>
          <p:nvPr/>
        </p:nvSpPr>
        <p:spPr>
          <a:xfrm>
            <a:off x="76809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111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功能字/資料欄有保留空間 — 可擴展多機定址而不破壞原有相容性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方案演進:為什麼放棄分時尋址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最初設計 → 實作受阻 → 改採廣播定址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原方案:</a:t>
            </a:r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遙控器記住「目標機」,再分時輪流進入各機時槽發送 — PC 只需說一次「控 B」,之後常規指令由遙控器路由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原方案:0xF0 目標選擇 + 分時輪流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PC 先下「目標選擇」幀告知遙控器,遙控器據此把後續指令送入對應時槽: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AF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擴展功能字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(目標選擇)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長度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00/01/FF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0=A機 1=B機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FF=廣播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校驗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關鍵限制:帶寬與台數成反比。N 台需發送 N 次,各機指令必然錯開 — 編隊動作無法同步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三個決定性缺點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帶寬 O(N),無法擴展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每台各發一次,兩台就砍半;台數愈多每台刷新愈慢,編隊指令永遠錯開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遙控器成為狀態瓶頸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「目標」記在遙控器裡 — 一旦丟包或重啟,PC 與遙控器的認知不一致,指令會打到錯的飛機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實作受阻且難以除錯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時槽協商依賴運行期握手;實測長期無回應,黑箱無從定位 — 故改採編譯期約定的廣播定址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三種控制機制對照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一切差異的根源:要不要 ACK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核心洞察:</a:t>
            </a:r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 ACK 就有回傳與硬體重傳,但必須逐台發送、指令必然錯開;不要 ACK 才能一包全體同收、真同步,代價是遙控器全盲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帶寬與同步性:同一份指令送達兩台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以遙控器 100Hz 主循環為基準,比較三種機制送達 N 台所需的發送次數與時間差: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私有 ACK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N 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廣播選台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1 次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(N 台同收)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多工廣播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發 1 次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同步性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私有:錯開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廣播:同時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狀態回傳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僅私有原生具備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結論:編隊同步場景廣播壓倒性勝出;需要逐台狀態時仍需私有 — 故本研究三者並存且可即時切換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三種機制各自的定位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私有 ACK Unicast(模式 C)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一對一、要 ACK。有回傳與硬體重傳(ARC=3),可逐台偵測丟包;代價是帶寬 O(N)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廣播選台 Addressed Broadcast(模式 A 擴展)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一包全體同收,包尾目標字節決定誰執行、其餘懸停;帶寬 O(1),但一次只能控一台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多工廣播 Multiplexed Broadcast(模式 B)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一包內裝各機獨立指令段;帶寬 O(1) 且兩機可同時做不同動作 — 本研究亮點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廣播選台(模式 A 擴展):機制與識別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Addressed Broadcast — 複用原廠全精度格式,僅在包尾追加一個目標字節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179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幀結構(msgID = 0x50 原廠遙控幀,尾端追加 1 字節目標)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2862072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幀頭2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0x50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原廠遙控幀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(格式不變)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20" name="Text 18"/>
          <p:cNvSpPr/>
          <p:nvPr/>
        </p:nvSpPr>
        <p:spPr>
          <a:xfrm>
            <a:off x="6620256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1+27+1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(=29)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</p:sp>
      <p:sp>
        <p:nvSpPr>
          <p:cNvPr id="23" name="Text 21"/>
          <p:cNvSpPr/>
          <p:nvPr/>
        </p:nvSpPr>
        <p:spPr>
          <a:xfrm>
            <a:off x="8339328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remoterData_t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 字節全精度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12680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目標字節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0=全體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1=nRF 2=ATK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06324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2004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飛機端如何判斷「這包是不是給我的」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看長度:dataLen&gt;1+27 → 是廣播幀(私有幀無此字節)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讀尾端目標字節 tgt = data[1+27]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tgt==0 或 tgt==本機 ID → 套用搖桿值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否則 → 懸停待命(RPY歸零、油門鎖懸停點、強制定高)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關鍵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待命時仍刷新鏈路時間戳 → 不進失控倒數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提示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不符即待命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486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設計取捨:複用已驗證可飛的原廠幀,僅差 1 字節 — 在無法上機除錯時把變因壓到最小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06324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768096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三個設計要點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7947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398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待命機無限期懸停 — 每包都刷新鏈路時間戳,不會誤判失聯而降落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4805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5" name="Text 53"/>
          <p:cNvSpPr/>
          <p:nvPr/>
        </p:nvSpPr>
        <p:spPr>
          <a:xfrm>
            <a:off x="76809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4256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私有幀天然相容 — 無目標字節時 dataLen 短一位,飛機自動走原路徑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1663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8" name="Text 56"/>
          <p:cNvSpPr/>
          <p:nvPr/>
        </p:nvSpPr>
        <p:spPr>
          <a:xfrm>
            <a:off x="76809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111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命令幀(起飛/降落/急停)不帶目標,一律廣播全體 — 急停必須人人收到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多工廣播(模式 B):字節級格式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Multiplexed Broadcast — 一個廣播包裝 N 台各自獨立的指令,各機取自己那段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1790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幀結構(msgID = 0x60,資料段 = N + 各機指令)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62072" y="1901952"/>
            <a:ext cx="1920240" cy="475488"/>
          </a:xfrm>
          <a:prstGeom prst="roundRect">
            <a:avLst>
              <a:gd name="adj" fmla="val 9615"/>
            </a:avLst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2862072" y="19019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62072" y="24140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幀頭2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(方向標識)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01184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0x60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01184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多工廣播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(擴展功能字)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0256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2389A8"/>
          </a:solidFill>
          <a:ln/>
        </p:spPr>
      </p:sp>
      <p:sp>
        <p:nvSpPr>
          <p:cNvPr id="20" name="Text 18"/>
          <p:cNvSpPr/>
          <p:nvPr/>
        </p:nvSpPr>
        <p:spPr>
          <a:xfrm>
            <a:off x="6620256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長度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20256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 + 8×N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(兩台=17)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339328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00B894"/>
          </a:solidFill>
          <a:ln/>
        </p:spPr>
      </p:sp>
      <p:sp>
        <p:nvSpPr>
          <p:cNvPr id="23" name="Text 21"/>
          <p:cNvSpPr/>
          <p:nvPr/>
        </p:nvSpPr>
        <p:spPr>
          <a:xfrm>
            <a:off x="8339328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+ 指令段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39328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每台 8 字節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012680" y="1901952"/>
            <a:ext cx="1600200" cy="475488"/>
          </a:xfrm>
          <a:prstGeom prst="roundRect">
            <a:avLst>
              <a:gd name="adj" fmla="val 9615"/>
            </a:avLst>
          </a:prstGeom>
          <a:solidFill>
            <a:srgbClr val="E89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12680" y="190195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校驗和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58400" y="2414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前面字節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求和取低8位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063240"/>
            <a:ext cx="6675120" cy="2606040"/>
          </a:xfrm>
          <a:prstGeom prst="roundRect">
            <a:avLst>
              <a:gd name="adj" fmla="val 2807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2004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飛機端如何取出屬於自己的指令段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讀 data[0] = N(本包含幾台)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3703320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63440" y="37033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 8 字節為步長走訪 N 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比對每段首字節 id == 本機 DRONE_ID_SELF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325112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4325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663440" y="432511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命中即解壓套用;走訪完未命中 → 忽略整包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4630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模式 A 靠「包尾 1 個目標字節」,模式 B 靠「段內 ID」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4946904"/>
            <a:ext cx="548640" cy="45720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注意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663440" y="49469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各取自己那段 ✓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" y="54864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未命中不清鏈路時間戳 — 分組多包場景下,本包沒有我不代表失聯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452360" y="3063240"/>
            <a:ext cx="4160520" cy="2606040"/>
          </a:xfrm>
          <a:prstGeom prst="roundRect">
            <a:avLst>
              <a:gd name="adj" fmla="val 28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768096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為什麼壓縮成定點數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7680960" y="37947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156448" y="37398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單包載荷上限 32 字節 — 全精度浮點裝不下兩台(27×2 已超)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680960" y="44805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5" name="Text 53"/>
          <p:cNvSpPr/>
          <p:nvPr/>
        </p:nvSpPr>
        <p:spPr>
          <a:xfrm>
            <a:off x="768096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156448" y="44256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量程依實際飛行需求裁切(±30° / ±200°/s),精度損失遠小於機體響應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680960" y="51663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58" name="Text 56"/>
          <p:cNvSpPr/>
          <p:nvPr/>
        </p:nvSpPr>
        <p:spPr>
          <a:xfrm>
            <a:off x="768096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156448" y="5111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 字節/台 → 兩台 19、三台 27 字節仍在單包內;四台 35 超限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廣播點名:單向鏈路下的狀態回傳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廣播不回 ACK,飛機狀態怎麼拿回來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矛盾:</a:t>
            </a:r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廣播必須 NOACK — N 台同時應答必在空中碰撞;但遙控器仍需知道各機電量與是否在線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6675120" cy="3154680"/>
          </a:xfrm>
          <a:prstGeom prst="roundRect">
            <a:avLst>
              <a:gd name="adj" fmla="val 231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81635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解法:週期性切私有「點名」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主循環大部分週期廣播控制,每隔約 0.13 秒插入一次私有探詢,取回該機狀態後立即切回廣播: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廣播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控制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2199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2199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×12 週期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2199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約 130ms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(NOACK)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319272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9272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點名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9272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切私有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16552" y="3840480"/>
            <a:ext cx="1261872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16552" y="384048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16552" y="43891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探詢一台</a:t>
            </a:r>
            <a:endParaRPr lang="en-US" sz="10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(要 ACK)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769864" y="3840480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1B2A4A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8404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769864" y="43891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電量·在線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0749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開銷:飛機在線時應答約 1ms,佔比不足 1%;掉線機自動降至 1/4 頻率,最壞約 4% — 實測手感無差異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52360" y="2651760"/>
            <a:ext cx="416052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0" y="28163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三個設計取捨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24612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138160" y="32004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只點選中的那一台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38160" y="35204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未被選中的機當下無人關心 — 省下的輪次讓選中機刷新率提高一倍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80960" y="411480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3816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逾時必須壓到最小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43891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早期版本 20ms/88ms 週期 = 23% 開銷,控制嚴重延遲;現為 50ms/500ms 且僅在真掉線時吃滿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80960" y="49834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40" name="Text 38"/>
          <p:cNvSpPr/>
          <p:nvPr/>
        </p:nvSpPr>
        <p:spPr>
          <a:xfrm>
            <a:off x="7680960" y="4983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138160" y="493776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狀態不得排隊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52578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飛機端回傳佇列若累積,取到的是數十秒前的舊值 — 電量改為單槽覆蓋,永遠回傳當下值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實機驗證影片(二):廣播選台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現場播放 — 一包全體同收,僅指定機執行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55448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288036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5806440" y="320040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01168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【影片位置:此處替換為廣播選台影片截圖】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遙控器切 M1 → 只有 ATK 響應;切 M2 → 只有 nRF 響應</a:t>
            </a:r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要看的重點: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未被選中的那台【原地懸停不掉高】— 收到包尾目標字節不符,自動轉懸停待命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驗證的是模式 A:一份搖桿值 + 一個目標字節,選中者執行、其餘待命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實機驗證影片(三):多工廣播(模式 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現場播放 — 同一封包,兩台執行不同動作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0A4D6E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系統一·多機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55448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288036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5806440" y="320040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01168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【影片位置:此處替換為多工廣播影片截圖】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操作: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上位機下發一個 0x60 封包 — ATK 段設手動油門、nRF 段設懸停待命</a:t>
            </a:r>
            <a:pPr algn="ctr"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要看的重點:</a:t>
            </a:r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僅 ATK 轉動,nRF 靜止;角色對調後結果一致 — 證明是按段內 ID 分流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核心實證:兩台接收同一封包而執行不同動作 — 此為分時尋址無法達成的能力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943600" cy="5943600"/>
          </a:xfrm>
          <a:prstGeom prst="ellipse">
            <a:avLst/>
          </a:prstGeom>
          <a:solidFill>
            <a:srgbClr val="0A4D6E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114800"/>
            <a:ext cx="3200400" cy="3200400"/>
          </a:xfrm>
          <a:prstGeom prst="ellipse">
            <a:avLst/>
          </a:prstGeom>
          <a:solidFill>
            <a:srgbClr val="2389A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spc="400" kern="0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室內定位:從訊號到座標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49808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深度 · 九步引擎 · 文獻對照改進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4343400"/>
            <a:ext cx="548640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39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第二部分:室內定位系統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錨網 — 從訊號到座標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95681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74520" y="186537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訊號採集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865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四個固定錨點持續廣播,信標接收各錨的訊號強度(RSSI)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272491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22960" y="283464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305409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0540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74520" y="296265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距離換算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96265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以對數距離模型把訊號強度轉為到各錨的估計距離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382219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" y="393192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51560" y="4151376"/>
            <a:ext cx="548640" cy="548640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4151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874520" y="40599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濾波處理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405993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 Kalman:靜止強平滑、移動快跟手,對抗 RSSI 先天波動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4919472"/>
            <a:ext cx="0" cy="118872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22960" y="5029200"/>
            <a:ext cx="10515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51560" y="5248656"/>
            <a:ext cx="548640" cy="54864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5248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874520" y="515721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定位解算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892040" y="515721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多錨距離交會出座標,上位機地圖即時顯示軌跡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22960" y="6108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涵蓋範圍:定位網路硬體、四步處理鏈、自適應濾波與文獻對照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定位網路硬體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 + 四錨(XIAO ESP32S3)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7190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閘道(×1)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接收四錨 RSSI 批次上報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2743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USB 轉發至上位機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324612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2461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獨立幀格式+校驗確保可靠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3749040"/>
            <a:ext cx="274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LED 指示配對狀態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937760" cy="1143000"/>
          </a:xfrm>
          <a:prstGeom prst="roundRect">
            <a:avLst>
              <a:gd name="adj" fmla="val 48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3484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部署要點:四錨天線型號、朝向、高度必須一致 — 朝向差實測近 20dB,是精度的地基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0" y="171907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錨點(×4,固定已知座標)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0" y="228600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239572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27249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06840" y="228600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9572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27249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324612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3355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錨3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37960" y="3685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3246120"/>
            <a:ext cx="2423160" cy="822960"/>
          </a:xfrm>
          <a:prstGeom prst="roundRect">
            <a:avLst>
              <a:gd name="adj" fmla="val 6667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0" y="335584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144000" y="3685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被動掃描·批次上報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 = 不建連線 → 可同時服務多架飛機(兩機同時定位的基礎)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位置閉環與上位機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從座標到飛行動作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位置誤差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目標−目前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2900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限速指令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42900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期望速度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936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座標轉換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依航向轉機體系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915400" y="2148840"/>
            <a:ext cx="274320" cy="0"/>
          </a:xfrm>
          <a:prstGeom prst="line">
            <a:avLst/>
          </a:prstGeom>
          <a:noFill/>
          <a:ln w="25400">
            <a:solidFill>
              <a:srgbClr val="2389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189720" y="15544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9720" y="1554480"/>
            <a:ext cx="2606040" cy="411480"/>
          </a:xfrm>
          <a:prstGeom prst="roundRect">
            <a:avLst>
              <a:gd name="adj" fmla="val 13333"/>
            </a:avLst>
          </a:prstGeom>
          <a:solidFill>
            <a:srgbClr val="0A4D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8972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姿態指令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189720" y="2011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傾角驅動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關鍵:定位是地面座標系,飛機傾斜是機體座標系 — 必須依當前航向旋轉,否則方向錯亂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566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上位機:地圖 · 標定 · 控制一體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258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即時地圖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房間/錨點/飛機航向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204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5" name="Text 33"/>
          <p:cNvSpPr/>
          <p:nvPr/>
        </p:nvSpPr>
        <p:spPr>
          <a:xfrm>
            <a:off x="35204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690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點選導航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0690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點機→點目標→前往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636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9" name="Text 37"/>
          <p:cNvSpPr/>
          <p:nvPr/>
        </p:nvSpPr>
        <p:spPr>
          <a:xfrm>
            <a:off x="6263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8122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逐錨標定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8122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P₀ 一米實測介面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06840" y="4114800"/>
            <a:ext cx="457200" cy="45720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43" name="Text 41"/>
          <p:cNvSpPr/>
          <p:nvPr/>
        </p:nvSpPr>
        <p:spPr>
          <a:xfrm>
            <a:off x="9006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555480" y="40416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飛行控制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555480" y="4407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解鎖/油門/急停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保守參數:定位屬演示級 → 移動速度與傾角刻意保守,避免定位跳動放大成劇烈動作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深入定位 ①:RSSI 訊號的真面目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訊號強度的波動特性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2011680"/>
          </a:xfrm>
          <a:prstGeom prst="roundRect">
            <a:avLst>
              <a:gd name="adj" fmla="val 363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RSSI(Received Signal Strength Indicator)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01168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接收訊號強度,單位 dBm(對數刻度)。0 dBm = 1mW;每 -10dB = 功率變 1/10。典型室內 BLE:-40(很近)到 -90(很遠)。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波動的三大來源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206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41696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多徑效應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16966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訊號經牆面/地面反射,多條路徑疊加干涉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4736592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88720" y="47000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遮擋衰減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7000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人體/機身遮擋可差 5~15 dB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5266944"/>
            <a:ext cx="329184" cy="329184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5230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天線方向性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43200" y="52303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朝向不同可造成顯著落差(將實測量化)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06440" y="14630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160934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波動示意(靜止信標)— 口試前以實測數據替換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2194560"/>
            <a:ext cx="0" cy="265176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484632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97880" y="2057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97880" y="2932481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97880" y="380756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-70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89788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29400" y="3078480"/>
            <a:ext cx="313509" cy="-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42909" y="2901696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56417" y="3343656"/>
            <a:ext cx="313509" cy="-353568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69926" y="2990088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83434" y="3166872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6943" y="3608832"/>
            <a:ext cx="313509" cy="-795528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10451" y="2813304"/>
            <a:ext cx="313509" cy="441960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23960" y="3255264"/>
            <a:ext cx="313509" cy="176784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37469" y="3432048"/>
            <a:ext cx="313509" cy="-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50977" y="2901696"/>
            <a:ext cx="313509" cy="1149096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764486" y="4050792"/>
            <a:ext cx="313509" cy="-97231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77994" y="3078480"/>
            <a:ext cx="313509" cy="-8839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91503" y="2990088"/>
            <a:ext cx="313509" cy="530352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705011" y="3520440"/>
            <a:ext cx="313509" cy="-353568"/>
          </a:xfrm>
          <a:prstGeom prst="line">
            <a:avLst/>
          </a:prstGeom>
          <a:noFill/>
          <a:ln w="22225">
            <a:solidFill>
              <a:srgbClr val="E893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83680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48" name="Shape 46"/>
          <p:cNvSpPr/>
          <p:nvPr/>
        </p:nvSpPr>
        <p:spPr>
          <a:xfrm>
            <a:off x="6897189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49" name="Shape 47"/>
          <p:cNvSpPr/>
          <p:nvPr/>
        </p:nvSpPr>
        <p:spPr>
          <a:xfrm>
            <a:off x="7210697" y="329793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0" name="Shape 48"/>
          <p:cNvSpPr/>
          <p:nvPr/>
        </p:nvSpPr>
        <p:spPr>
          <a:xfrm>
            <a:off x="7524206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1" name="Shape 49"/>
          <p:cNvSpPr/>
          <p:nvPr/>
        </p:nvSpPr>
        <p:spPr>
          <a:xfrm>
            <a:off x="7837714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2" name="Shape 50"/>
          <p:cNvSpPr/>
          <p:nvPr/>
        </p:nvSpPr>
        <p:spPr>
          <a:xfrm>
            <a:off x="8151223" y="356311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3" name="Shape 51"/>
          <p:cNvSpPr/>
          <p:nvPr/>
        </p:nvSpPr>
        <p:spPr>
          <a:xfrm>
            <a:off x="8464731" y="276758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4" name="Shape 52"/>
          <p:cNvSpPr/>
          <p:nvPr/>
        </p:nvSpPr>
        <p:spPr>
          <a:xfrm>
            <a:off x="8778240" y="3209544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5" name="Shape 53"/>
          <p:cNvSpPr/>
          <p:nvPr/>
        </p:nvSpPr>
        <p:spPr>
          <a:xfrm>
            <a:off x="9091749" y="338632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6" name="Shape 54"/>
          <p:cNvSpPr/>
          <p:nvPr/>
        </p:nvSpPr>
        <p:spPr>
          <a:xfrm>
            <a:off x="9405257" y="2855976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7" name="Shape 55"/>
          <p:cNvSpPr/>
          <p:nvPr/>
        </p:nvSpPr>
        <p:spPr>
          <a:xfrm>
            <a:off x="9718766" y="400507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8" name="Shape 56"/>
          <p:cNvSpPr/>
          <p:nvPr/>
        </p:nvSpPr>
        <p:spPr>
          <a:xfrm>
            <a:off x="10032274" y="303276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45783" y="2944368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659291" y="3474720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61" name="Shape 59"/>
          <p:cNvSpPr/>
          <p:nvPr/>
        </p:nvSpPr>
        <p:spPr>
          <a:xfrm>
            <a:off x="10972800" y="3121152"/>
            <a:ext cx="91440" cy="91440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62" name="Shape 60"/>
          <p:cNvSpPr/>
          <p:nvPr/>
        </p:nvSpPr>
        <p:spPr>
          <a:xfrm>
            <a:off x="6629400" y="3078480"/>
            <a:ext cx="4389120" cy="0"/>
          </a:xfrm>
          <a:prstGeom prst="line">
            <a:avLst/>
          </a:prstGeom>
          <a:noFill/>
          <a:ln w="25400">
            <a:solidFill>
              <a:srgbClr val="00B894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9601200" y="27310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中值 ≈ -60 dBm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0080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樣本序列(信標完全靜止)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035040" y="5212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此圖為典型波動型態示意:靜止時讀值仍在數 dB 內跳動、偶發離群值 — 換算距離會差數倍。定稿前將以本系統四錨的實際採樣替換。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深入定位 ②:對數距離模型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訊號強度與距離的關係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物理直覺 → 數學形式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103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98448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電波擴散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20756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能量隨球面擴散:功率 ∝ 1/d²(自由空間)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99232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999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98448" y="2971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取對數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88920" y="29718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dBm 本身是對數刻度 → 功率的冪次變成「每十倍距離掉固定 dB」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389534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895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8679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環境修正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88920" y="38679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室內有牆、反射:衰減指數 n 取代固定的 2 — n 就是「這個房間的衰減速度」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48463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846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RSSI(d) = P₀ − 10·n·log₁₀(d)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反解:d = 10^((P₀−RSSI)/(10n))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兩個參數的物理意義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29400" y="2103120"/>
            <a:ext cx="4754880" cy="1143000"/>
          </a:xfrm>
          <a:prstGeom prst="roundRect">
            <a:avLst>
              <a:gd name="adj" fmla="val 4800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2212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P₀:1 公尺處的參考強度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12280" y="254203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由發射功率+天線共同決定 — 每支錨不同,必須逐錨 1m 實測標定(上位機提供標定介面)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9400" y="3383280"/>
            <a:ext cx="475488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34930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n:路徑損耗指數(環境的指紋)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903720" y="3840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138160" y="3840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自由空間(無遮擋理想值)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n=2.7~3.5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138160" y="4169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典型室內(牆面反射)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03720" y="44988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n&gt;4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138160" y="449884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重遮擋 / 多牆環境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834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此為文獻改進「自適應 n」之動機。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深入定位 ③:定位引擎完整流程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從訊號到座標的處理流程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1. BLE 信標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飛機廣播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56432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56432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A4D6E"/>
          </a:solidFill>
          <a:ln/>
        </p:spPr>
      </p:sp>
      <p:sp>
        <p:nvSpPr>
          <p:cNvPr id="15" name="Text 13"/>
          <p:cNvSpPr/>
          <p:nvPr/>
        </p:nvSpPr>
        <p:spPr>
          <a:xfrm>
            <a:off x="3502152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2. 四錨採集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7872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被動掃描 RSSI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72784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72784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E89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318504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3. 自適應 KF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364224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Kalman(靜止平滑/移動跟手)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265176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89136" y="20116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89136" y="201168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</p:sp>
      <p:sp>
        <p:nvSpPr>
          <p:cNvPr id="25" name="Text 23"/>
          <p:cNvSpPr/>
          <p:nvPr/>
        </p:nvSpPr>
        <p:spPr>
          <a:xfrm>
            <a:off x="9134856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4. 訊號→距離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180576" y="252374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對數模型(逐錨 P₀)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415016" y="3383280"/>
            <a:ext cx="0" cy="32004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034540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034540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</p:sp>
      <p:sp>
        <p:nvSpPr>
          <p:cNvPr id="30" name="Text 28"/>
          <p:cNvSpPr/>
          <p:nvPr/>
        </p:nvSpPr>
        <p:spPr>
          <a:xfrm>
            <a:off x="2080260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5. 自適應 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125980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錨間互測反算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86300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850892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50892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389A8"/>
          </a:solidFill>
          <a:ln/>
        </p:spPr>
      </p:sp>
      <p:sp>
        <p:nvSpPr>
          <p:cNvPr id="35" name="Text 33"/>
          <p:cNvSpPr/>
          <p:nvPr/>
        </p:nvSpPr>
        <p:spPr>
          <a:xfrm>
            <a:off x="4896612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6. 加權最小二乘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942332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四錨線性化(權重1/d²)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2652" y="4343400"/>
            <a:ext cx="164592" cy="0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667244" y="3703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67244" y="37033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0B894"/>
          </a:solidFill>
          <a:ln/>
        </p:spPr>
      </p:sp>
      <p:sp>
        <p:nvSpPr>
          <p:cNvPr id="40" name="Text 38"/>
          <p:cNvSpPr/>
          <p:nvPr/>
        </p:nvSpPr>
        <p:spPr>
          <a:xfrm>
            <a:off x="7712964" y="3703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7. 位置 Kalman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758684" y="4215384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軌跡平滑輸出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橙色 = 自適應 RSSI 濾波(本文改進重點);藍 = 幾何解算;綠 = 文獻對照改進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時槽寄生信標:一顆 RADIO,兩種協議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 平台以自身 RADIO 分時發送 BLE 定位信標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技術: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讓 nRF52840 用同一顆 RADIO 分時切換兩種協議 — ESB 收發遙控,並在通信空隙插入 BLE 廣播作為定位信標。</a:t>
            </a:r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關鍵: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遙控為一問一答式通信,兩次收發之間 RADIO 處於閒置,足以插入一個信標封包。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時間軸:在 ESB 空隙臨時切 BLE 廣播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14" name="Text 12"/>
          <p:cNvSpPr/>
          <p:nvPr/>
        </p:nvSpPr>
        <p:spPr>
          <a:xfrm>
            <a:off x="237366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</p:sp>
      <p:sp>
        <p:nvSpPr>
          <p:cNvPr id="16" name="Text 14"/>
          <p:cNvSpPr/>
          <p:nvPr/>
        </p:nvSpPr>
        <p:spPr>
          <a:xfrm>
            <a:off x="340024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18" name="Text 16"/>
          <p:cNvSpPr/>
          <p:nvPr/>
        </p:nvSpPr>
        <p:spPr>
          <a:xfrm>
            <a:off x="5567471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切回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20" name="Text 18"/>
          <p:cNvSpPr/>
          <p:nvPr/>
        </p:nvSpPr>
        <p:spPr>
          <a:xfrm>
            <a:off x="6594049" y="2816352"/>
            <a:ext cx="17884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ESB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收遙控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solidFill>
            <a:srgbClr val="0A4D6E"/>
          </a:solidFill>
          <a:ln/>
        </p:spPr>
      </p:sp>
      <p:sp>
        <p:nvSpPr>
          <p:cNvPr id="22" name="Text 20"/>
          <p:cNvSpPr/>
          <p:nvPr/>
        </p:nvSpPr>
        <p:spPr>
          <a:xfrm>
            <a:off x="8419079" y="2816352"/>
            <a:ext cx="9900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回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ACK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solidFill>
            <a:srgbClr val="2389A8"/>
          </a:solidFill>
          <a:ln/>
        </p:spPr>
      </p:sp>
      <p:sp>
        <p:nvSpPr>
          <p:cNvPr id="24" name="Text 22"/>
          <p:cNvSpPr/>
          <p:nvPr/>
        </p:nvSpPr>
        <p:spPr>
          <a:xfrm>
            <a:off x="9445658" y="2816352"/>
            <a:ext cx="21306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切BLE</a:t>
            </a:r>
            <a:endParaRPr lang="en-US" sz="10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廣播信標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← 青色 = 寄生信標窗口:借用空隙發一個 BLE 相容廣播,錨點 NimBLE 被動掃描即可收到、測 RSSI 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13232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切換機制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RADIO 重配頻率/封包格式/CRC/白化 → 發 BLE 廣播 → 切回 ESB。切換插在 radiolinkTask 的收發空隙,窗口短到不影響遙控回應。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9392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443984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時序保護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443984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信標窗口卡在確定的空隙、時長受控;寧可少發一次信標,不佔用遙控指令的接收時機 — 控制安全永遠優先於定位。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10144" y="4114800"/>
            <a:ext cx="3602736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174736" y="42428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誠實邊界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74736" y="4645152"/>
            <a:ext cx="3273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這是「BLE 相容廣播」(借 RADIO 發 BLE 格式包能被掃到),非標準三頻道 BLE Beacon 流程。定位夠用,論文如實說明。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價值:單晶片同時做「遙控 + 定位」— 這是異構機隊裡 nRF 平台以最精簡方式參與定位的關鍵設計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nRF 平台如何併入定位網路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時槽寄生之後 — droneId 讓一套錨點同時服務多機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信標格式統一、以 droneId 區分來源 — 一套錨點即可同時服務多台飛機</a:t>
            </a:r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信標格式統一、以 droneId 區分來源 — 一套錨點即可同時服務多台飛機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414016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414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3408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 飛機發信標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0" y="2340864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時槽寄生:RADIO 空隙切 BLE,廣播 FF FF 'M' 'F' droneId seq(droneId 標明是哪台)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0723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四個錨點掃到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0" y="312724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四個 ESP32S3 錨(NimBLE 被動掃描)各自收到此廣播,分別測得 RSSI(訊號強度)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3730752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38587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3986784"/>
            <a:ext cx="402336" cy="402336"/>
          </a:xfrm>
          <a:prstGeom prst="ellipse">
            <a:avLst/>
          </a:prstGeom>
          <a:solidFill>
            <a:srgbClr val="0A4D6E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391363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錨→網關→上位機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14800" y="3913632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錨點把「哪台飛機、RSSI 多少」經 ESP-NOW 上報網關,網關 USB 轉給 PC 上位機(10Hz)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32688" y="4517136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1520" y="4773168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73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上位機解算座標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70001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 KF 濾 RSSI → 對數模型轉距離 → 四錨加權最小二乘 → 位置 Kalman → (x,y) 座標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32688" y="5303520"/>
            <a:ext cx="0" cy="128016"/>
          </a:xfrm>
          <a:prstGeom prst="line">
            <a:avLst/>
          </a:prstGeom>
          <a:noFill/>
          <a:ln w="19050">
            <a:solidFill>
              <a:srgbClr val="5A6575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48640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31520" y="55595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559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80160" y="5486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地圖顯示 + 閉環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4864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地圖即時畫出 nRF 飛機位置;座標亦可回饋控制,實現位置閉環(定點/軌跡)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關鍵:三台飛機(ATK/nRF/ESP32)信標格式統一,droneId 區分 — 錨點一次掃描收齊三台,上位機分別定位,同一張地圖顯示機隊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RSSI 濾波(1/3):先看清問題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抖動抑制與即時跟隨 — 兩項互相衝突的需求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64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的三個麻煩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2121408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22402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① 先天抖動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同一位置靜止不動,RSSI 讀值仍在 ±2~3dBm 跳 — 多徑、反射、環境干擾造成,屬物理特性,無法消除。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355701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② 轉距離會放大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0120" y="389534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RSSI→距離是指數運算(10^x)。訊號域 1dB 的小抖動,轉成距離後放大成數十公分甚至公尺級跳動。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4599940"/>
            <a:ext cx="4937760" cy="1207008"/>
          </a:xfrm>
          <a:prstGeom prst="roundRect">
            <a:avLst>
              <a:gd name="adj" fmla="val 6061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8737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③ 靜止 vs 移動的兩難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212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要壓抖 → 濾波要「重」;要跟上移動 → 濾波要「輕」。同一組固定參數無法兼顧兩者。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2200" y="1508760"/>
            <a:ext cx="5440680" cy="4297680"/>
          </a:xfrm>
          <a:prstGeom prst="roundRect">
            <a:avLst>
              <a:gd name="adj" fmla="val 1702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核心矛盾:固定參數無法兼顧兩端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靜止時:訊號持續抖動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063240"/>
            <a:ext cx="4846320" cy="0"/>
          </a:xfrm>
          <a:prstGeom prst="line">
            <a:avLst/>
          </a:prstGeom>
          <a:noFill/>
          <a:ln w="12700">
            <a:solidFill>
              <a:srgbClr val="5A657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300984"/>
            <a:ext cx="440575" cy="-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32815" y="306324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3389" y="3538728"/>
            <a:ext cx="440575" cy="-356616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13964" y="318211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54538" y="3419856"/>
            <a:ext cx="440575" cy="-356616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95113" y="3063240"/>
            <a:ext cx="440575" cy="594360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35687" y="3657600"/>
            <a:ext cx="440575" cy="-356616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76262" y="3300984"/>
            <a:ext cx="440575" cy="-118872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16836" y="3182112"/>
            <a:ext cx="440575" cy="237744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57411" y="3419856"/>
            <a:ext cx="440575" cy="-356616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897985" y="3063240"/>
            <a:ext cx="440575" cy="475488"/>
          </a:xfrm>
          <a:prstGeom prst="line">
            <a:avLst/>
          </a:prstGeom>
          <a:noFill/>
          <a:ln w="19050">
            <a:solidFill>
              <a:srgbClr val="E893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34290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濾波過輕 → 圖標隨雜訊跳動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39776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83680" y="4114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移動時:需即時跟隨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83680" y="449884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濾波過重 → 圖標滯後、跟不上;</a:t>
            </a:r>
            <a:endParaRPr lang="en-US" sz="11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固定參數必然犧牲其中一端。</a:t>
            </a:r>
            <a:endParaRPr lang="en-US" sz="11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故需依機況自動調整強度的濾波器。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RSSI 濾波(2/3):自適應 Kalman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依機況自動調整強度的濾波器 — 以創新偵測移動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一維 Kalman(每支錨一個)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8483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狀態 = 真實 RSSI。每來一筆讀值,用「創新(innovation)= 新讀值 − 目前估計」修正。關鍵是【過程噪聲 Q】決定信任度: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303580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靜止模式:小 Q(強平滑)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336499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創新在零附近往復振盪 = 無實際移動 → 採小 Q,濾波器倚重自身估計 → 抑制 ±3dBm 抖動。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224528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0120" y="433425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移動模式:放大 Q(快跟手)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6634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連續幾筆創新都往【同方向】偏 = 機真的在動(不是噪聲)→ 臨時放大 Q,濾波器「相信新讀值」→ 快速跟上,不滯後。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72200" y="1508760"/>
            <a:ext cx="5440680" cy="2514600"/>
          </a:xfrm>
          <a:prstGeom prst="roundRect">
            <a:avLst>
              <a:gd name="adj" fmla="val 2909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怎麼分辨「移動」與「噪聲」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103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噪聲:創新忽正忽負、相互抵消(抖動無方向)。</a:t>
            </a:r>
            <a:endParaRPr lang="en-US" sz="10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移動:創新持續同號、越累越大(有方向)。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880360"/>
            <a:ext cx="5120640" cy="1005840"/>
          </a:xfrm>
          <a:prstGeom prst="roundRect">
            <a:avLst>
              <a:gd name="adj" fmla="val 5455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944368"/>
            <a:ext cx="4892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累積同向創新 &gt; 閾值(RSSI_KF_MOVE_DB)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判定移動 → Q 從 靜止值 切到 移動值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72200" y="411480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0" y="4224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可調參數(config.py)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0" y="459028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RSSI_KF_Q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靜止平滑度</a:t>
            </a:r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RSSI_KF_Q_MOVE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移動跟手度</a:t>
            </a:r>
            <a:endParaRPr lang="en-US" sz="100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RSSI_KF_MOVE_DB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移動判定閾值</a:t>
            </a:r>
            <a:pPr algn="l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RSSI_KF_R</a:t>
            </a:r>
            <a:pPr algn="l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量測噪聲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RSSI 濾波(3/3):一次真實的除錯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「圖標卡住」— 從過度平滑到自適應的修復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E893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682496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現象(v1.14)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944" y="210312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標定完成後,藍色 raw 點持續更新,但無人機圖標停滯原位、嚴重滯後。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23944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79392" y="155448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25696" y="1682496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根因診斷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25696" y="210312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為壓制 RSSI 抖動,將 Kalman 的 Q 設為極小值(0.001)→ 濾波過度。機體移動時,濾波後 RSSI 需 20 步以上才跟上 → 圖標呈現停滯。壓噪與跟手失衡。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54696" y="24688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10144" y="1554480"/>
            <a:ext cx="3602736" cy="2286000"/>
          </a:xfrm>
          <a:prstGeom prst="roundRect">
            <a:avLst>
              <a:gd name="adj" fmla="val 3200"/>
            </a:avLst>
          </a:prstGeom>
          <a:solidFill>
            <a:srgbClr val="2389A8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56448" y="1682496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修復(v1.14.1)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2103120"/>
            <a:ext cx="33101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改為自適應 Q:創新偵測到真移動即放大 Q 快速跟隨;靜止時方採用小 Q 強平滑。位置層另加「連續大跳變 N 次即重播種」,處理標定搬動後的追蹤問題。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修復效果:自適應 Q 讓「壓噪」與「跟手」兼得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68680" y="4617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709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靜止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51755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抖動顯著收斂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543153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小 Q 強平滑生效,圖標不再跳動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4617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2389A8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4709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穩態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26280" y="51755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定位穩定收斂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17720" y="543153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解算不再發散,圖標停在對的位置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092439" y="4617720"/>
            <a:ext cx="3520440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183880" y="47091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移動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83880" y="51755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圖標跟手不卡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543153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 Q 偵測移動快速跟上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48640" y="58704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⚠ 以上為除錯過程的定性改善(軟體/仿真層);真實硬體的定位精度數字待 PC↔遙控器完整聯通後實測量化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深入定位 ④:Kalman 濾波在做什麼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平滑軌跡的估計方法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778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核心思想:兩個資訊源的加權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每一拍都有兩個「位置說法」: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468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預測: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「按上一拍的位置+速度,現在應該在這」(運動模型外推,平滑但會漂)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5120640" cy="731520"/>
          </a:xfrm>
          <a:prstGeom prst="roundRect">
            <a:avLst>
              <a:gd name="adj" fmla="val 7500"/>
            </a:avLst>
          </a:prstGeom>
          <a:solidFill>
            <a:srgbClr val="F5F9FC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91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E893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量測:</a:t>
            </a:r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「三邊定位這一拍解出的座標」(貼近真實但劇烈跳動)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160520"/>
            <a:ext cx="512064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60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輸出 = 預測 + K ×(量測 − 預測)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K(卡爾曼增益)= 自動調節的信任比例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量測越吵 → K 越小 → 更信預測(更平滑);模型越不準 → K 越大 → 更信量測(跟得緊)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0" y="14630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2940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本系統的實作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29400" y="2084832"/>
            <a:ext cx="4754880" cy="868680"/>
          </a:xfrm>
          <a:prstGeom prst="roundRect">
            <a:avLst>
              <a:gd name="adj" fmla="val 6316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21762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狀態向量 x = [位置x, 位置y, 速度x, 速度y]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560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勻速運動模型:預測 = 位置 + 速度×Δt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29400" y="310896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86600" y="3063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為什麼帶速度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34015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純位置平滑會滯後;帶速度可「預判」移動方向,跟隨快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29400" y="4069080"/>
            <a:ext cx="365760" cy="365760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9" name="Text 27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86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參數整定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86600" y="4361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過程噪聲 Q(信模型幾分)vs 量測噪聲 R(信量測幾分)— 依實測波動設定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29400" y="50292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B2A4A"/>
          </a:solidFill>
          <a:ln/>
        </p:spPr>
      </p:sp>
      <p:sp>
        <p:nvSpPr>
          <p:cNvPr id="33" name="Text 31"/>
          <p:cNvSpPr/>
          <p:nvPr/>
        </p:nvSpPr>
        <p:spPr>
          <a:xfrm>
            <a:off x="6766560" y="5074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適用邊界:Kalman 可平滑隨機跳動,但無法修正系統性偏差 — P₀/n 標定為精度根基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文獻對照:定位方法的演進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傳統方法、對標文獻、本文方法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55448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5A657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544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傳統做法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194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Traditional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606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原始 RSSI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直接轉距離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三邊定位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840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無濾波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51560" y="443484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5A6575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434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誤差 3m+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074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跳動劇烈,無法閉環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155448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43400" y="155448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4343400" y="15544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對標文獻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43400" y="2194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· NTUST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617720" y="2606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 WiFi-RSSI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617720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Kalman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17720" y="3429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自適應 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17720" y="3840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最小二乘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46320" y="443484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434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MAE 1.88m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80560" y="5074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她的實測值(非本文成績)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55448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8160" y="155448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00B894"/>
          </a:solidFill>
          <a:ln/>
        </p:spPr>
      </p:sp>
      <p:sp>
        <p:nvSpPr>
          <p:cNvPr id="32" name="Text 30"/>
          <p:cNvSpPr/>
          <p:nvPr/>
        </p:nvSpPr>
        <p:spPr>
          <a:xfrm>
            <a:off x="8138160" y="155448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本文方法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38160" y="219456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This 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412480" y="26060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 KF 濾波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412480" y="3017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對數模型逐錨 P₀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412480" y="3429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加權最小二乘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412480" y="3840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→ 位置 Kalman + 地圖站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641080" y="443484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00B894"/>
          </a:solidFill>
          <a:ln/>
        </p:spPr>
      </p:sp>
      <p:sp>
        <p:nvSpPr>
          <p:cNvPr id="39" name="Text 37"/>
          <p:cNvSpPr/>
          <p:nvPr/>
        </p:nvSpPr>
        <p:spPr>
          <a:xfrm>
            <a:off x="8641080" y="4434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目標 &lt;2m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275320" y="5074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+ 上位機整合 + 閉環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實機驗證影片(四):室內定位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現場播放 — 四錨定位與地圖顯示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46920" y="45720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2389A8"/>
          </a:solidFill>
          <a:ln/>
        </p:spPr>
      </p:sp>
      <p:sp>
        <p:nvSpPr>
          <p:cNvPr id="5" name="Text 3"/>
          <p:cNvSpPr/>
          <p:nvPr/>
        </p:nvSpPr>
        <p:spPr>
          <a:xfrm>
            <a:off x="9646920" y="4572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系統二·定位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463040" y="1554480"/>
            <a:ext cx="9235440" cy="4023360"/>
          </a:xfrm>
          <a:prstGeom prst="roundRect">
            <a:avLst>
              <a:gd name="adj" fmla="val 1818"/>
            </a:avLst>
          </a:prstGeom>
          <a:solidFill>
            <a:srgbClr val="1B2A4A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2880360"/>
            <a:ext cx="1280160" cy="128016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5806440" y="3200400"/>
            <a:ext cx="594360" cy="640080"/>
          </a:xfrm>
          <a:prstGeom prst="triangl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01168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【影片位置:此處替換為定位系統截圖】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4572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建議片段:四錨部署 → 上位機地圖 → 移動信標 → 軌跡跟隨 → 濾波前後對比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誠實呈現:演示級精度 — 影片同時展示「可行性」與「波動的真實情況」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本研究 vs 現有系統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與原廠及開源方案的功能對照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4747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0876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比較項目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023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原廠 MiniFly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08760"/>
            <a:ext cx="228600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ESP-FC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3017520" cy="475488"/>
          </a:xfrm>
          <a:prstGeom prst="rect">
            <a:avLst/>
          </a:prstGeom>
          <a:solidFill>
            <a:srgbClr val="0A4D6E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0" y="15087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198424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1984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可換 MCU 載板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198424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9842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95360" y="198424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19842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253288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532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單晶片飛控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23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253288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5328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253288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0" y="25328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308152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0815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ESP32S3 支援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023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08152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3081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595360" y="308152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0" y="30815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✓(同板直插)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363016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63016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ATKP 地面站協議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023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09360" y="363016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6301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95360" y="363016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0" y="36301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✓(移植保留)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417880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" y="41788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BLE-RSSI 室內定位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023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309360" y="417880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41788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595360" y="417880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86800" y="41788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✓(四錨+引擎)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4727448"/>
            <a:ext cx="34747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4727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單遙控多機(廣播架構)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023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14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309360" y="4727448"/>
            <a:ext cx="2286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0" y="47274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✗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595360" y="4727448"/>
            <a:ext cx="30175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686800" y="47274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✓(三機制實測)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276088"/>
            <a:ext cx="34747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0080" y="5276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上位機整合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023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14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部分(調參)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309360" y="5276088"/>
            <a:ext cx="228600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00800" y="527608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部分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595360" y="5276088"/>
            <a:ext cx="3017520" cy="548640"/>
          </a:xfrm>
          <a:prstGeom prst="rect">
            <a:avLst/>
          </a:prstGeom>
          <a:solidFill>
            <a:srgbClr val="F5F9FC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686800" y="5276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2FA64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✓(地圖+標定+控制)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一句話:本研究 = 硬體彈性(可換MCU)+ 協議傳承(ATKP)+ 能力擴展(定位/多機/分級失控保護)的交集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量化驗證指標(一):硬體與定位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以數據支撐每項聲明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驅動模組完成移植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GPIO/I2C/PWM/無線/USB/排程/感測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15968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層系統級問題解決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無線封包 / USB死鎖 / 排程歸零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83296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飛控平台同板實證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nRF52840 + ESP32S3 直插可換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7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步定位處理鏈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自適應KF+對數模型+加權LSQ+位置Kalman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315968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錨定位網路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閘道+四錨+上位機標定介面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83296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&lt;2m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定位目標(對標文獻)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王琳2025 BLE同級 MAE 1.88m為對標目標,本文精度待量化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量化驗證指標(二):多機控制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廣播架構的可量測聲明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種控制機制實測通過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廣播選台 · 多工廣播(模式B) · 廣播點名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15968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315968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包送達 N 台(帶寬 O(1))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98848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對照分時尋址 O(N):兩台即砍半、指令必然錯開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83296" y="1764792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8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083296" y="2651760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字節/台 多工指令段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66176" y="3026664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ID·旗標·油門·RPY;兩台19、三台27字節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2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548640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台同包異動實證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同包內 ATK 手動、nRF 懸停 → 僅 ATK 轉動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15968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315968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389A8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0.13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315968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秒 選中機狀態刷新週期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498848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點名開銷:在線約1ms(&lt;1%),掉線降頻最壞約4%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83296" y="3822192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83296" y="3986784"/>
            <a:ext cx="3538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934A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32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8083296" y="4873752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字節 單包載荷上限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66176" y="524865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決定多工需定點壓縮,亦決定單包最多3台的擴展邊界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系統邊界與限制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目前系統的能力範圍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目前的邊界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1122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定位精度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112264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演示等級(受RSSI物理限制),適合粗定位,非精密定點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0083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多機控制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34640" y="3008376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單包載荷 32 字節 → 單包最多 3 台;雙機同時編隊飛行尚未完整演示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941064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9044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飛行包線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34640" y="39044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室內近懸停為主,未做激烈機動驗證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837176"/>
            <a:ext cx="384048" cy="384048"/>
          </a:xfrm>
          <a:prstGeom prst="ellipse">
            <a:avLst/>
          </a:prstGeom>
          <a:solidFill>
            <a:srgbClr val="E8934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80160" y="4800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環境依賴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4640" y="48006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定位需重新標定 P₀/n 於新場地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171907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為什麼誠實界定反而加分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92240" y="219456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95160" y="2148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RSSI 精度是物理限制,文獻同級硬體亦在米級 — 不是實作缺陷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10896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3063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邊界清楚 = 知道系統「能做什麼、不能做什麼」— 這正是工程能力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4023360"/>
            <a:ext cx="384048" cy="384048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95160" y="39776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每條邊界皆對應明確的升級路徑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5029200"/>
            <a:ext cx="4892040" cy="594360"/>
          </a:xfrm>
          <a:prstGeom prst="roundRect">
            <a:avLst>
              <a:gd name="adj" fmla="val 9231"/>
            </a:avLst>
          </a:prstGeom>
          <a:solidFill>
            <a:srgbClr val="1B2A4A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502920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00B894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委員最怕誇大,最欣賞「知道自己在哪」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0A4D6E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2389A8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結論:貢獻總覽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可換 MCU 飛控載板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48132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自製 PCB·雙平台直插實證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509760" y="157276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</p:sp>
      <p:sp>
        <p:nvSpPr>
          <p:cNvPr id="9" name="Text 7"/>
          <p:cNvSpPr/>
          <p:nvPr/>
        </p:nvSpPr>
        <p:spPr>
          <a:xfrm>
            <a:off x="9509760" y="15727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40864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450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跨 MCU 韌體移植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24505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雙MCU→單晶片·三層系統問題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509760" y="2542032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0" y="25420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310128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4198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定位引擎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2064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九步處理鏈·文獻對照設計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509760" y="351129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9AA4B1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0" y="351129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設計完成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279392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389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地面站整合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20640" y="43891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地圖+標定+控制一體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2FA64F"/>
          </a:solidFill>
          <a:ln/>
        </p:spPr>
      </p:sp>
      <p:sp>
        <p:nvSpPr>
          <p:cNvPr id="24" name="Text 22"/>
          <p:cNvSpPr/>
          <p:nvPr/>
        </p:nvSpPr>
        <p:spPr>
          <a:xfrm>
            <a:off x="950976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已完成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5248656"/>
            <a:ext cx="10698480" cy="868680"/>
          </a:xfrm>
          <a:prstGeom prst="roundRect">
            <a:avLst>
              <a:gd name="adj" fmla="val 8421"/>
            </a:avLst>
          </a:prstGeom>
          <a:solidFill>
            <a:srgbClr val="0A4D6E">
              <a:alpha val="85000"/>
            </a:srgbClr>
          </a:solidFill>
          <a:ln w="12700">
            <a:solidFill>
              <a:srgbClr val="238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535838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單遙控多機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535838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廣播定址+多工廣播+點名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509760" y="544982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E8934A"/>
          </a:solidFill>
          <a:ln/>
        </p:spPr>
      </p:sp>
      <p:sp>
        <p:nvSpPr>
          <p:cNvPr id="29" name="Text 27"/>
          <p:cNvSpPr/>
          <p:nvPr/>
        </p:nvSpPr>
        <p:spPr>
          <a:xfrm>
            <a:off x="9509760" y="5449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實測驗證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58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4D6E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未來工作與致謝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389A8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後續發展方向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59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無人機系統整合與控制研究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A4D6E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升級路徑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1305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多機聯通已完成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4780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下一步:PC 端自動編隊(以定位回授驅動多工廣播)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402336" cy="402336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0266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定位改進實測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3374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自適應 n 全域標定與硬體場地精度量化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941064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98448" y="39227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BLE 6.0 通道探測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98448" y="42702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新標準內建高精度測距;換用支援 BLE 6.0 的 MCU 即可升級定位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837176"/>
            <a:ext cx="402336" cy="402336"/>
          </a:xfrm>
          <a:prstGeom prst="ellipse">
            <a:avLst/>
          </a:prstGeom>
          <a:solidFill>
            <a:srgbClr val="2389A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98448" y="48188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A2333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感測與平台化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298448" y="5166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光流/雷射測距;可換 MCU 載板 → 教學套件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0A4D6E"/>
          </a:solidFill>
          <a:ln w="12700">
            <a:solidFill>
              <a:srgbClr val="E2EAF0"/>
            </a:solidFill>
            <a:prstDash val="solid"/>
          </a:ln>
          <a:effectLst>
            <a:outerShdw sx="100000" sy="100000" kx="0" ky="0" algn="bl" rotWithShape="0" blurRad="76200" dist="25400" dir="5400000">
              <a:srgbClr val="BBC8D4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92240" y="18288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結語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492240" y="246888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E6F5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本研究從自製硬體、跨 MCU 韌體移植,到室內定位與多機控制設計,建構了一套可自行掌握、可持續延伸的無人機整合平台。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3840480"/>
            <a:ext cx="4663440" cy="0"/>
          </a:xfrm>
          <a:prstGeom prst="line">
            <a:avLst/>
          </a:prstGeom>
          <a:noFill/>
          <a:ln w="19050">
            <a:solidFill>
              <a:srgbClr val="00B89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感謝指導教授悉心指導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感謝口試委員撥冗審閱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B894"/>
                </a:solidFill>
                <a:latin typeface="Noto Serif CJK TC" pitchFamily="34" charset="0"/>
                <a:ea typeface="Noto Serif CJK TC" pitchFamily="34" charset="-122"/>
                <a:cs typeface="Noto Serif CJK TC" pitchFamily="34" charset="-120"/>
              </a:rPr>
              <a:t>敬請各位委員指教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碩士論文口試</dc:creator>
  <cp:lastModifiedBy>碩士論文口試</cp:lastModifiedBy>
  <cp:revision>1</cp:revision>
  <dcterms:created xsi:type="dcterms:W3CDTF">2026-07-21T07:02:54Z</dcterms:created>
  <dcterms:modified xsi:type="dcterms:W3CDTF">2026-07-21T07:02:54Z</dcterms:modified>
</cp:coreProperties>
</file>