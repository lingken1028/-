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33" r:id="rId10"/>
    <p:sldId id="265" r:id="rId11"/>
    <p:sldId id="320" r:id="rId12"/>
    <p:sldId id="337" r:id="rId13"/>
    <p:sldId id="338" r:id="rId14"/>
    <p:sldId id="336" r:id="rId15"/>
    <p:sldId id="335" r:id="rId16"/>
    <p:sldId id="334" r:id="rId17"/>
    <p:sldId id="323" r:id="rId18"/>
    <p:sldId id="324" r:id="rId19"/>
    <p:sldId id="278" r:id="rId20"/>
    <p:sldId id="328" r:id="rId21"/>
    <p:sldId id="329" r:id="rId22"/>
    <p:sldId id="330" r:id="rId23"/>
    <p:sldId id="280" r:id="rId24"/>
    <p:sldId id="281" r:id="rId25"/>
    <p:sldId id="282" r:id="rId26"/>
    <p:sldId id="331" r:id="rId27"/>
    <p:sldId id="286" r:id="rId28"/>
    <p:sldId id="283" r:id="rId29"/>
    <p:sldId id="284" r:id="rId30"/>
    <p:sldId id="285" r:id="rId31"/>
    <p:sldId id="317" r:id="rId32"/>
    <p:sldId id="315" r:id="rId33"/>
    <p:sldId id="316" r:id="rId34"/>
    <p:sldId id="307" r:id="rId35"/>
    <p:sldId id="311" r:id="rId36"/>
    <p:sldId id="314" r:id="rId37"/>
    <p:sldId id="287" r:id="rId38"/>
    <p:sldId id="300" r:id="rId39"/>
    <p:sldId id="288" r:id="rId40"/>
    <p:sldId id="293" r:id="rId41"/>
    <p:sldId id="294" r:id="rId42"/>
    <p:sldId id="290" r:id="rId43"/>
    <p:sldId id="291" r:id="rId44"/>
    <p:sldId id="295" r:id="rId45"/>
    <p:sldId id="296" r:id="rId46"/>
    <p:sldId id="297" r:id="rId47"/>
    <p:sldId id="298" r:id="rId48"/>
    <p:sldId id="292" r:id="rId49"/>
    <p:sldId id="289" r:id="rId50"/>
    <p:sldId id="299" r:id="rId51"/>
    <p:sldId id="301" r:id="rId52"/>
    <p:sldId id="302" r:id="rId53"/>
    <p:sldId id="303" r:id="rId54"/>
    <p:sldId id="310" r:id="rId55"/>
    <p:sldId id="304" r:id="rId56"/>
    <p:sldId id="305" r:id="rId57"/>
    <p:sldId id="306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C4CB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 autoAdjust="0"/>
    <p:restoredTop sz="95664" autoAdjust="0"/>
  </p:normalViewPr>
  <p:slideViewPr>
    <p:cSldViewPr snapToGrid="0" snapToObjects="1">
      <p:cViewPr>
        <p:scale>
          <a:sx n="75" d="100"/>
          <a:sy n="75" d="100"/>
        </p:scale>
        <p:origin x="168" y="5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0 字≈0 秒 ｜ 完整版 166 字≈0.8 分</a:t>
            </a:r>
          </a:p>
          <a:p>
            <a:endParaRPr/>
          </a:p>
          <a:p>
            <a:r>
              <a:t>【怎麼講】停 3 秒讓委員讀完題目,不需逐字念。自我介紹後直接進目錄。</a:t>
            </a:r>
          </a:p>
          <a:p>
            <a:endParaRPr/>
          </a:p>
          <a:p>
            <a:r>
              <a:t>【口頭示範】各位委員早安,我是〔姓名〕,指導教授是〔教授〕。今天報告的題目是「無人機系統整合與控制研究」— 主要工作是把一套商用飛控移植到另一顆微控制器上,並在這個平台上延伸出室內定位與多機控制。</a:t>
            </a:r>
          </a:p>
          <a:p>
            <a:endParaRPr/>
          </a:p>
          <a:p>
            <a:r>
              <a:t>【★ 提醒】封面的姓名、教授、系所、日期務必在口試前填妥。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「各位口試委員、教授好，我是林寗墾。今天我要報告的題目是</a:t>
            </a:r>
            <a:r>
              <a:rPr lang="en-US" altLang="zh-TW" dirty="0"/>
              <a:t>『</a:t>
            </a:r>
            <a:r>
              <a:rPr lang="zh-TW" altLang="en-US" dirty="0"/>
              <a:t>無人機系統整合與控制研究</a:t>
            </a:r>
            <a:r>
              <a:rPr lang="en-US" altLang="zh-TW" dirty="0"/>
              <a:t>』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這是今天的簡報大綱，主要分為五個部分： 首先是</a:t>
            </a:r>
            <a:r>
              <a:rPr lang="zh-TW" altLang="en-US" b="1" dirty="0"/>
              <a:t>研究背景與動機</a:t>
            </a:r>
            <a:r>
              <a:rPr lang="zh-TW" altLang="en-US" dirty="0"/>
              <a:t>，說明室內微型無人機開發面臨的痛點。 </a:t>
            </a:r>
            <a:endParaRPr lang="en-US" altLang="zh-TW" dirty="0"/>
          </a:p>
          <a:p>
            <a:r>
              <a:rPr lang="zh-TW" altLang="en-US" dirty="0"/>
              <a:t>接著進入核心實作，我會依序介紹硬體層面的</a:t>
            </a:r>
            <a:r>
              <a:rPr lang="zh-TW" altLang="en-US" b="1" dirty="0"/>
              <a:t>自製飛控電路板</a:t>
            </a:r>
            <a:r>
              <a:rPr lang="zh-TW" altLang="en-US" dirty="0"/>
              <a:t>、韌體層面的</a:t>
            </a:r>
            <a:r>
              <a:rPr lang="zh-TW" altLang="en-US" b="1" dirty="0"/>
              <a:t>飛控韌體移植</a:t>
            </a:r>
            <a:r>
              <a:rPr lang="zh-TW" altLang="en-US" dirty="0"/>
              <a:t>，以及應用層面的 </a:t>
            </a:r>
            <a:r>
              <a:rPr lang="en-US" altLang="zh-TW" b="1" dirty="0"/>
              <a:t>BLE </a:t>
            </a:r>
            <a:r>
              <a:rPr lang="zh-TW" altLang="en-US" b="1" dirty="0"/>
              <a:t>室內定位整合</a:t>
            </a:r>
            <a:r>
              <a:rPr lang="zh-TW" altLang="en-US" dirty="0"/>
              <a:t>。 最後則是</a:t>
            </a:r>
            <a:r>
              <a:rPr lang="zh-TW" altLang="en-US" b="1" dirty="0"/>
              <a:t>結論與未來展望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首先，讓我們進入第一部分：研究背景與動機。」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effectLst/>
                <a:latin typeface="Google Sans Text"/>
              </a:rPr>
              <a:t>「各位委員，在進行室內無人機開發與實驗時，我們主要面臨三項限制：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第一，</a:t>
            </a:r>
            <a:r>
              <a:rPr lang="zh-TW" altLang="en-US" b="1" dirty="0">
                <a:effectLst/>
                <a:latin typeface="Google Sans Text"/>
              </a:rPr>
              <a:t>傳統硬體故障難以檢測與更換</a:t>
            </a:r>
            <a:r>
              <a:rPr lang="zh-TW" altLang="en-US" dirty="0">
                <a:effectLst/>
                <a:latin typeface="Google Sans Text"/>
              </a:rPr>
              <a:t>。市面上的微型飛控板大部分元件都是直接焊接固定在</a:t>
            </a:r>
            <a:r>
              <a:rPr lang="en-US" altLang="zh-TW" dirty="0">
                <a:effectLst/>
                <a:latin typeface="Google Sans Text"/>
              </a:rPr>
              <a:t>PCB</a:t>
            </a:r>
            <a:r>
              <a:rPr lang="zh-TW" altLang="en-US" dirty="0">
                <a:effectLst/>
                <a:latin typeface="Google Sans Text"/>
              </a:rPr>
              <a:t>上，一旦出現異常或硬體損壞，不僅極難單獨用儀器量測除錯，拆卸替換</a:t>
            </a:r>
            <a:r>
              <a:rPr lang="zh-CN" altLang="en-US" dirty="0">
                <a:effectLst/>
                <a:latin typeface="Google Sans Text"/>
              </a:rPr>
              <a:t>也需要較爲專業設備與手法</a:t>
            </a:r>
            <a:r>
              <a:rPr lang="zh-TW" altLang="en-US" dirty="0">
                <a:effectLst/>
                <a:latin typeface="Google Sans Text"/>
              </a:rPr>
              <a:t>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第二，</a:t>
            </a:r>
            <a:r>
              <a:rPr lang="zh-TW" altLang="en-US" b="1" dirty="0">
                <a:effectLst/>
                <a:latin typeface="Google Sans Text"/>
              </a:rPr>
              <a:t>通訊協定與射頻整合</a:t>
            </a:r>
            <a:r>
              <a:rPr lang="zh-TW" altLang="en-US" dirty="0">
                <a:effectLst/>
                <a:latin typeface="Google Sans Text"/>
              </a:rPr>
              <a:t>。傳統 </a:t>
            </a:r>
            <a:r>
              <a:rPr lang="en-US" altLang="zh-TW" dirty="0">
                <a:effectLst/>
                <a:latin typeface="Google Sans Text"/>
              </a:rPr>
              <a:t>MiniFly </a:t>
            </a:r>
            <a:r>
              <a:rPr lang="zh-TW" altLang="en-US" dirty="0">
                <a:effectLst/>
                <a:latin typeface="Google Sans Text"/>
              </a:rPr>
              <a:t>需外接 </a:t>
            </a:r>
            <a:r>
              <a:rPr lang="en-US" altLang="zh-TW" dirty="0">
                <a:effectLst/>
                <a:latin typeface="Google Sans Text"/>
              </a:rPr>
              <a:t>nRF24L01 RF </a:t>
            </a:r>
            <a:r>
              <a:rPr lang="zh-TW" altLang="en-US" dirty="0">
                <a:effectLst/>
                <a:latin typeface="Google Sans Text"/>
              </a:rPr>
              <a:t>模組，而常見 </a:t>
            </a:r>
            <a:r>
              <a:rPr lang="en-US" altLang="zh-TW" dirty="0">
                <a:effectLst/>
                <a:latin typeface="Google Sans Text"/>
              </a:rPr>
              <a:t>ESP </a:t>
            </a:r>
            <a:r>
              <a:rPr lang="zh-TW" altLang="en-US" dirty="0">
                <a:effectLst/>
                <a:latin typeface="Google Sans Text"/>
              </a:rPr>
              <a:t>平台又無法原生相容原廠 </a:t>
            </a:r>
            <a:r>
              <a:rPr lang="en-US" altLang="zh-TW" dirty="0">
                <a:effectLst/>
                <a:latin typeface="Google Sans Text"/>
              </a:rPr>
              <a:t>ESB </a:t>
            </a:r>
            <a:r>
              <a:rPr lang="zh-TW" altLang="en-US" dirty="0">
                <a:effectLst/>
                <a:latin typeface="Google Sans Text"/>
              </a:rPr>
              <a:t>協定。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第三，</a:t>
            </a:r>
            <a:r>
              <a:rPr lang="zh-TW" altLang="en-US" b="1" dirty="0">
                <a:effectLst/>
                <a:latin typeface="Google Sans Text"/>
              </a:rPr>
              <a:t>室內無法使用衛星定位</a:t>
            </a:r>
            <a:r>
              <a:rPr lang="zh-TW" altLang="en-US" dirty="0">
                <a:effectLst/>
                <a:latin typeface="Google Sans Text"/>
              </a:rPr>
              <a:t>。在無 </a:t>
            </a:r>
            <a:r>
              <a:rPr lang="en-US" altLang="zh-TW" dirty="0">
                <a:effectLst/>
                <a:latin typeface="Google Sans Text"/>
              </a:rPr>
              <a:t>GNSS </a:t>
            </a:r>
            <a:r>
              <a:rPr lang="zh-TW" altLang="en-US" dirty="0">
                <a:effectLst/>
                <a:latin typeface="Google Sans Text"/>
              </a:rPr>
              <a:t>環境下，無人機必須依靠自主定位。 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總結來說，本研究的做法就是</a:t>
            </a:r>
            <a:r>
              <a:rPr lang="zh-TW" altLang="en-US" b="1" dirty="0">
                <a:effectLst/>
                <a:latin typeface="Google Sans Text"/>
              </a:rPr>
              <a:t>自行設計易檢測與更換的</a:t>
            </a:r>
            <a:r>
              <a:rPr lang="en-US" altLang="zh-TW" b="1" dirty="0">
                <a:effectLst/>
                <a:latin typeface="Google Sans Text"/>
              </a:rPr>
              <a:t>PCB</a:t>
            </a:r>
            <a:r>
              <a:rPr lang="zh-TW" altLang="en-US" b="1" dirty="0">
                <a:effectLst/>
                <a:latin typeface="Google Sans Text"/>
              </a:rPr>
              <a:t>、移植韌體至 </a:t>
            </a:r>
            <a:r>
              <a:rPr lang="en-US" altLang="zh-TW" b="1" dirty="0">
                <a:effectLst/>
                <a:latin typeface="Google Sans Text"/>
              </a:rPr>
              <a:t>nRF52840</a:t>
            </a:r>
            <a:r>
              <a:rPr lang="zh-TW" altLang="en-US" b="1" dirty="0">
                <a:effectLst/>
                <a:latin typeface="Google Sans Text"/>
              </a:rPr>
              <a:t>，並整合 </a:t>
            </a:r>
            <a:r>
              <a:rPr lang="en-US" altLang="zh-TW" b="1" dirty="0">
                <a:effectLst/>
                <a:latin typeface="Google Sans Text"/>
              </a:rPr>
              <a:t>BLE </a:t>
            </a:r>
            <a:r>
              <a:rPr lang="zh-TW" altLang="en-US" b="1" dirty="0">
                <a:effectLst/>
                <a:latin typeface="Google Sans Text"/>
              </a:rPr>
              <a:t>室內定位</a:t>
            </a:r>
            <a:r>
              <a:rPr lang="zh-TW" altLang="en-US" dirty="0">
                <a:effectLst/>
                <a:latin typeface="Google Sans Text"/>
              </a:rPr>
              <a:t>，打造高擴充性的無人機實驗平台。」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「本研究的核心目標與貢獻可歸納為三個部分：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第一是</a:t>
            </a:r>
            <a:r>
              <a:rPr lang="zh-TW" altLang="en-US" b="1" dirty="0"/>
              <a:t>自製飛控電路板</a:t>
            </a:r>
            <a:r>
              <a:rPr lang="zh-TW" altLang="en-US" dirty="0"/>
              <a:t>。</a:t>
            </a:r>
            <a:r>
              <a:rPr lang="en-US" altLang="zh-TW" dirty="0">
                <a:effectLst/>
                <a:latin typeface="Google Sans Text"/>
              </a:rPr>
              <a:t>layout</a:t>
            </a:r>
            <a:r>
              <a:rPr lang="zh-TW" altLang="en-US" dirty="0"/>
              <a:t>可拆卸的插拔式載板，大幅降低過去硬體損壞時難以檢測與更換的門檻。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韌體移植</a:t>
            </a:r>
            <a:r>
              <a:rPr lang="zh-TW" altLang="en-US" dirty="0"/>
              <a:t>。我們將 </a:t>
            </a:r>
            <a:r>
              <a:rPr lang="en-US" altLang="zh-TW" dirty="0"/>
              <a:t>MiniFly </a:t>
            </a:r>
            <a:r>
              <a:rPr lang="zh-TW" altLang="en-US" dirty="0"/>
              <a:t>飛控韌體完整移植到 </a:t>
            </a:r>
            <a:r>
              <a:rPr lang="en-US" altLang="zh-TW" b="1" dirty="0"/>
              <a:t>nRF52840</a:t>
            </a:r>
            <a:r>
              <a:rPr lang="zh-TW" altLang="en-US" dirty="0"/>
              <a:t> 晶片上，在單晶片內整合 </a:t>
            </a:r>
            <a:r>
              <a:rPr lang="en-US" altLang="zh-TW" dirty="0"/>
              <a:t>2.4GHz RF</a:t>
            </a:r>
            <a:r>
              <a:rPr lang="zh-TW" altLang="en-US" dirty="0"/>
              <a:t>，並相容原廠的 </a:t>
            </a:r>
            <a:r>
              <a:rPr lang="en-US" altLang="zh-TW" dirty="0"/>
              <a:t>ATK ESB </a:t>
            </a:r>
            <a:r>
              <a:rPr lang="zh-TW" altLang="en-US" dirty="0"/>
              <a:t>通訊協定。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第三則是</a:t>
            </a:r>
            <a:r>
              <a:rPr lang="zh-TW" altLang="en-US" b="1" dirty="0"/>
              <a:t>整合 </a:t>
            </a:r>
            <a:r>
              <a:rPr lang="en-US" altLang="zh-TW" b="1" dirty="0"/>
              <a:t>BLE </a:t>
            </a:r>
            <a:r>
              <a:rPr lang="zh-TW" altLang="en-US" b="1" dirty="0"/>
              <a:t>室內定位</a:t>
            </a:r>
            <a:r>
              <a:rPr lang="zh-TW" altLang="en-US" dirty="0"/>
              <a:t>，補足無 </a:t>
            </a:r>
            <a:r>
              <a:rPr lang="en-US" altLang="zh-TW" dirty="0"/>
              <a:t>GNSS </a:t>
            </a:r>
            <a:r>
              <a:rPr lang="zh-TW" altLang="en-US" dirty="0"/>
              <a:t>環境下的自主定位能力。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接下來，我將依序介紹硬體電路設計、韌體移植過程與定位實作細節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14 字≈4 秒 ｜ </a:t>
            </a:r>
            <a:r>
              <a:rPr dirty="0" err="1"/>
              <a:t>完整版</a:t>
            </a:r>
            <a:r>
              <a:rPr dirty="0"/>
              <a:t> 355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一句話】以真實進度誠實呈現,不誇大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已完成】自製可換</a:t>
            </a:r>
            <a:r>
              <a:rPr dirty="0"/>
              <a:t> MCU 電路板、nRF52840 </a:t>
            </a:r>
            <a:r>
              <a:rPr dirty="0" err="1"/>
              <a:t>韌體移植</a:t>
            </a:r>
            <a:r>
              <a:rPr dirty="0"/>
              <a:t>(</a:t>
            </a:r>
            <a:r>
              <a:rPr dirty="0" err="1"/>
              <a:t>七模組</a:t>
            </a:r>
            <a:r>
              <a:rPr dirty="0"/>
              <a:t>)、三層系統問題解決、感測融合+定高+失控保護、定位網路、定位引擎設計、ESP32S3 </a:t>
            </a:r>
            <a:r>
              <a:rPr dirty="0" err="1"/>
              <a:t>同板直插驗證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進行中】PC</a:t>
            </a:r>
            <a:r>
              <a:rPr dirty="0"/>
              <a:t> </a:t>
            </a:r>
            <a:r>
              <a:rPr dirty="0" err="1"/>
              <a:t>上位機與遙控器完整聯通、多機三機制實測後的整合、定位精度硬體實測量化、定位改進驗證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待進行】雙機同時受控編隊飛行、定位閉環自由飛、精度量化達標、論文撰寫完稿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為什麼要放這一頁】口試最怕「聲明超過實作</a:t>
            </a:r>
            <a:r>
              <a:rPr dirty="0"/>
              <a:t>」。把狀態標清楚,</a:t>
            </a:r>
            <a:r>
              <a:rPr dirty="0" err="1"/>
              <a:t>委員的注意力就會放在「已完成的部分做得多深</a:t>
            </a:r>
            <a:r>
              <a:rPr dirty="0"/>
              <a:t>」,</a:t>
            </a:r>
            <a:r>
              <a:rPr dirty="0" err="1"/>
              <a:t>而不是「有沒有虛報</a:t>
            </a:r>
            <a:r>
              <a:rPr dirty="0"/>
              <a:t>」。</a:t>
            </a:r>
            <a:r>
              <a:rPr dirty="0" err="1"/>
              <a:t>後面每一章我都會標明哪些是實測、哪些是設計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要主動說的一句】多機控制的三個機制都已實測,但「兩機同時編隊飛行」還沒完整演示</a:t>
            </a:r>
            <a:r>
              <a:rPr dirty="0"/>
              <a:t> — </a:t>
            </a:r>
            <a:r>
              <a:rPr dirty="0" err="1"/>
              <a:t>這兩件事不同,我在結論頁也是這樣標的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Q:為什麼有些項目還在進行中就來口試?</a:t>
            </a:r>
          </a:p>
          <a:p>
            <a:r>
              <a:rPr dirty="0"/>
              <a:t>A:碩士研究本就有時程。我把每項的真實狀態標清楚,已完成的部分深度足夠支撐論文論述;進行中的部分我也說得出還差什麼、要怎麼做。</a:t>
            </a:r>
          </a:p>
          <a:p>
            <a:endParaRPr dirty="0"/>
          </a:p>
          <a:p>
            <a:r>
              <a:rPr dirty="0"/>
              <a:t>Q:定位精度什麼時候能量化?</a:t>
            </a:r>
          </a:p>
          <a:p>
            <a:r>
              <a:rPr dirty="0"/>
              <a:t>A:需要 PC </a:t>
            </a:r>
            <a:r>
              <a:rPr dirty="0" err="1"/>
              <a:t>與遙控器完整聯通後,在固定場地做多點靜置與軌跡實驗。這是目前唯一的量化空缺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</a:t>
            </a:r>
            <a:r>
              <a:rPr lang="zh-CN" altLang="en-US" dirty="0"/>
              <a:t>本</a:t>
            </a:r>
            <a:r>
              <a:rPr lang="zh-TW" altLang="en-US" dirty="0"/>
              <a:t>頁展示的是本研究的</a:t>
            </a:r>
            <a:r>
              <a:rPr lang="zh-TW" altLang="en-US" b="1" dirty="0"/>
              <a:t>系統總架構</a:t>
            </a:r>
            <a:r>
              <a:rPr lang="zh-TW" altLang="en-US" dirty="0"/>
              <a:t>，整體分為</a:t>
            </a:r>
            <a:r>
              <a:rPr lang="en-US" altLang="zh-TW" dirty="0"/>
              <a:t>『</a:t>
            </a:r>
            <a:r>
              <a:rPr lang="zh-TW" altLang="en-US" dirty="0"/>
              <a:t>控制</a:t>
            </a:r>
            <a:r>
              <a:rPr lang="en-US" altLang="zh-TW" dirty="0"/>
              <a:t>』</a:t>
            </a:r>
            <a:r>
              <a:rPr lang="zh-TW" altLang="en-US" dirty="0"/>
              <a:t>與</a:t>
            </a:r>
            <a:r>
              <a:rPr lang="en-US" altLang="zh-TW" dirty="0"/>
              <a:t>『</a:t>
            </a:r>
            <a:r>
              <a:rPr lang="zh-TW" altLang="en-US" dirty="0"/>
              <a:t>定位</a:t>
            </a:r>
            <a:r>
              <a:rPr lang="en-US" altLang="zh-TW" dirty="0"/>
              <a:t>』</a:t>
            </a:r>
            <a:r>
              <a:rPr lang="zh-TW" altLang="en-US" dirty="0"/>
              <a:t>兩條鏈路：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首先在控制鏈路上，最上層是 </a:t>
            </a:r>
            <a:r>
              <a:rPr lang="en-US" altLang="zh-TW" b="1" dirty="0"/>
              <a:t>PC </a:t>
            </a:r>
            <a:r>
              <a:rPr lang="zh-TW" altLang="en-US" b="1" dirty="0"/>
              <a:t>上位機</a:t>
            </a:r>
            <a:r>
              <a:rPr lang="zh-TW" altLang="en-US" dirty="0"/>
              <a:t>，作為系統的運算，負責地圖顯示、定位解算與生成控制指令。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指令下傳給</a:t>
            </a:r>
            <a:r>
              <a:rPr lang="zh-CN" altLang="en-US" dirty="0"/>
              <a:t>飛控子系統 </a:t>
            </a:r>
            <a:r>
              <a:rPr lang="zh-TW" altLang="en-US" dirty="0"/>
              <a:t>的 </a:t>
            </a:r>
            <a:r>
              <a:rPr lang="en-US" altLang="zh-TW" b="1" dirty="0"/>
              <a:t>ATK </a:t>
            </a:r>
            <a:r>
              <a:rPr lang="zh-TW" altLang="en-US" b="1" dirty="0"/>
              <a:t>遙控器</a:t>
            </a:r>
            <a:r>
              <a:rPr lang="zh-TW" altLang="en-US" dirty="0"/>
              <a:t>，透過 </a:t>
            </a:r>
            <a:r>
              <a:rPr lang="en-US" altLang="zh-TW" dirty="0"/>
              <a:t>2.4GHz ESB </a:t>
            </a:r>
            <a:r>
              <a:rPr lang="zh-TW" altLang="en-US" dirty="0"/>
              <a:t>協定，指令會傳送給：</a:t>
            </a:r>
            <a:r>
              <a:rPr lang="zh-TW" altLang="en-US" b="1" dirty="0"/>
              <a:t>飛機 </a:t>
            </a:r>
            <a:r>
              <a:rPr lang="en-US" altLang="zh-TW" b="1" dirty="0"/>
              <a:t>A</a:t>
            </a:r>
            <a:r>
              <a:rPr lang="zh-TW" altLang="en-US" dirty="0"/>
              <a:t> 是原廠機；</a:t>
            </a:r>
            <a:r>
              <a:rPr lang="zh-TW" altLang="en-US" b="1" dirty="0"/>
              <a:t>飛機 </a:t>
            </a:r>
            <a:r>
              <a:rPr lang="en-US" altLang="zh-TW" b="1" dirty="0"/>
              <a:t>B</a:t>
            </a:r>
            <a:r>
              <a:rPr lang="zh-TW" altLang="en-US" dirty="0"/>
              <a:t> 是我們的自製載板插上 </a:t>
            </a:r>
            <a:r>
              <a:rPr lang="en-US" altLang="zh-TW" b="1" dirty="0"/>
              <a:t>nRF52840</a:t>
            </a:r>
            <a:r>
              <a:rPr lang="zh-TW" altLang="en-US" dirty="0"/>
              <a:t>，驗證韌體移植；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則是同一塊載板直接換插 </a:t>
            </a:r>
            <a:r>
              <a:rPr lang="en-US" altLang="zh-TW" b="1" dirty="0"/>
              <a:t>ESP32S3</a:t>
            </a:r>
            <a:r>
              <a:rPr lang="zh-TW" altLang="en-US" dirty="0"/>
              <a:t>，驗證硬體模組化更換的能力。</a:t>
            </a:r>
            <a:r>
              <a:rPr lang="zh-CN" altLang="en-US" dirty="0"/>
              <a:t>指令由上位機透過 </a:t>
            </a:r>
            <a:r>
              <a:rPr lang="en-US" altLang="zh-TW" b="1" dirty="0"/>
              <a:t>ESP32S3</a:t>
            </a:r>
            <a:r>
              <a:rPr lang="zh-CN" altLang="en-US" b="1" dirty="0"/>
              <a:t>中繼站 </a:t>
            </a:r>
            <a:r>
              <a:rPr lang="zh-TW" altLang="en-US" dirty="0"/>
              <a:t>透</a:t>
            </a:r>
            <a:r>
              <a:rPr lang="zh-CN" altLang="en-US" dirty="0"/>
              <a:t>過 </a:t>
            </a:r>
            <a:r>
              <a:rPr lang="en-US" altLang="zh-CN" dirty="0"/>
              <a:t>ESP-NOW </a:t>
            </a:r>
            <a:r>
              <a:rPr lang="zh-CN" altLang="en-US" dirty="0"/>
              <a:t>協定傳輸給 ：</a:t>
            </a:r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最後是</a:t>
            </a:r>
            <a:r>
              <a:rPr lang="zh-TW" altLang="en-US" b="1" dirty="0"/>
              <a:t>定位鏈路</a:t>
            </a:r>
            <a:r>
              <a:rPr lang="zh-TW" altLang="en-US" dirty="0"/>
              <a:t>：三架飛機在飛行時都會廣播 </a:t>
            </a:r>
            <a:r>
              <a:rPr lang="en-US" altLang="zh-TW" dirty="0"/>
              <a:t>BLE </a:t>
            </a:r>
            <a:r>
              <a:rPr lang="zh-TW" altLang="en-US" dirty="0"/>
              <a:t>信標，由場地周圍的 </a:t>
            </a:r>
            <a:r>
              <a:rPr lang="en-US" altLang="zh-TW" b="1" dirty="0"/>
              <a:t>4 </a:t>
            </a:r>
            <a:r>
              <a:rPr lang="zh-TW" altLang="en-US" b="1" dirty="0"/>
              <a:t>個 </a:t>
            </a:r>
            <a:r>
              <a:rPr lang="en-US" altLang="zh-TW" b="1" dirty="0"/>
              <a:t>ESP32 </a:t>
            </a:r>
            <a:r>
              <a:rPr lang="zh-TW" altLang="en-US" b="1" dirty="0"/>
              <a:t>錨點</a:t>
            </a:r>
            <a:r>
              <a:rPr lang="zh-TW" altLang="en-US" dirty="0"/>
              <a:t>進行被動掃描，再透過 </a:t>
            </a:r>
            <a:r>
              <a:rPr lang="en-US" altLang="zh-TW" b="1" dirty="0"/>
              <a:t>ESP</a:t>
            </a:r>
            <a:r>
              <a:rPr lang="zh-CN" altLang="en-US" b="1" dirty="0"/>
              <a:t>中繼站 </a:t>
            </a:r>
            <a:r>
              <a:rPr lang="zh-TW" altLang="en-US" dirty="0"/>
              <a:t>將強度數據傳回 </a:t>
            </a:r>
            <a:r>
              <a:rPr lang="en-US" altLang="zh-TW" dirty="0"/>
              <a:t>PC </a:t>
            </a:r>
            <a:r>
              <a:rPr lang="zh-TW" altLang="en-US" dirty="0"/>
              <a:t>上位機進行計算。</a:t>
            </a:r>
          </a:p>
          <a:p>
            <a:r>
              <a:rPr lang="zh-TW" altLang="en-US" dirty="0"/>
              <a:t>這套架構成功建立了兼具多機控制與室內定位能力的實驗平台。」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「第八頁展示的是我們自製飛控板的四項硬體設計重點：</a:t>
            </a:r>
          </a:p>
          <a:p>
            <a:r>
              <a:rPr lang="zh-TW" altLang="en-US" dirty="0"/>
              <a:t>第一是</a:t>
            </a:r>
            <a:r>
              <a:rPr lang="zh-TW" altLang="en-US" b="1" dirty="0"/>
              <a:t>模組化設計</a:t>
            </a:r>
            <a:r>
              <a:rPr lang="zh-TW" altLang="en-US" dirty="0"/>
              <a:t>，</a:t>
            </a:r>
            <a:r>
              <a:rPr lang="en-US" altLang="zh-CN" dirty="0"/>
              <a:t>MCU</a:t>
            </a:r>
            <a:r>
              <a:rPr lang="zh-TW" altLang="en-US" dirty="0"/>
              <a:t>和 </a:t>
            </a:r>
            <a:r>
              <a:rPr lang="en-US" altLang="zh-TW" dirty="0"/>
              <a:t>GY-91 </a:t>
            </a:r>
            <a:r>
              <a:rPr lang="zh-TW" altLang="en-US" dirty="0"/>
              <a:t>感測器都採用排母連接，方便獨立拆裝與訊號量測。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機臂一體化</a:t>
            </a:r>
            <a:r>
              <a:rPr lang="zh-TW" altLang="en-US" dirty="0"/>
              <a:t>，直接用 </a:t>
            </a:r>
            <a:r>
              <a:rPr lang="en-US" altLang="zh-TW" dirty="0"/>
              <a:t>PCB </a:t>
            </a:r>
            <a:r>
              <a:rPr lang="zh-TW" altLang="en-US" dirty="0"/>
              <a:t>當作機身結構與馬達座，實現輕量化。</a:t>
            </a:r>
          </a:p>
          <a:p>
            <a:endParaRPr lang="en-US" altLang="zh-TW" dirty="0"/>
          </a:p>
          <a:p>
            <a:r>
              <a:rPr lang="zh-TW" altLang="en-US" dirty="0"/>
              <a:t>第</a:t>
            </a:r>
            <a:r>
              <a:rPr lang="zh-CN" altLang="en-US" dirty="0"/>
              <a:t>三</a:t>
            </a:r>
            <a:r>
              <a:rPr lang="zh-TW" altLang="en-US" dirty="0"/>
              <a:t>是</a:t>
            </a:r>
            <a:r>
              <a:rPr lang="zh-TW" altLang="en-US" b="1" dirty="0"/>
              <a:t>重心平衡與空間利用</a:t>
            </a:r>
            <a:r>
              <a:rPr lang="zh-TW" altLang="en-US" dirty="0"/>
              <a:t>，</a:t>
            </a:r>
            <a:r>
              <a:rPr lang="zh-CN" altLang="en-US" dirty="0"/>
              <a:t>母排</a:t>
            </a:r>
            <a:r>
              <a:rPr lang="zh-TW" altLang="en-US" dirty="0"/>
              <a:t>架下方空隙</a:t>
            </a:r>
            <a:r>
              <a:rPr lang="zh-CN" altLang="en-US" dirty="0"/>
              <a:t>放</a:t>
            </a:r>
            <a:r>
              <a:rPr lang="zh-TW" altLang="en-US" dirty="0"/>
              <a:t>置元件</a:t>
            </a:r>
            <a:r>
              <a:rPr lang="zh-CN" altLang="en-US" dirty="0"/>
              <a:t>，可使用較大顆元件容易更換和維護，提升高利用率</a:t>
            </a:r>
            <a:r>
              <a:rPr lang="zh-TW" altLang="en-US" dirty="0"/>
              <a:t>，並對稱擺放模組，確保整體重心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較平衡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</a:t>
            </a:r>
            <a:r>
              <a:rPr lang="zh-CN" altLang="en-US" dirty="0"/>
              <a:t>四</a:t>
            </a:r>
            <a:r>
              <a:rPr lang="zh-TW" altLang="en-US" dirty="0"/>
              <a:t>是</a:t>
            </a:r>
            <a:r>
              <a:rPr lang="zh-TW" altLang="en-US" b="1" dirty="0"/>
              <a:t>降低電磁干擾</a:t>
            </a:r>
            <a:r>
              <a:rPr lang="zh-TW" altLang="en-US" dirty="0"/>
              <a:t>。將馬達插座配置於背面，</a:t>
            </a:r>
            <a:r>
              <a:rPr lang="en-US" altLang="zh-TW" dirty="0"/>
              <a:t>PCB </a:t>
            </a:r>
            <a:r>
              <a:rPr lang="zh-TW" altLang="en-US" dirty="0"/>
              <a:t>厚度與母</a:t>
            </a:r>
            <a:r>
              <a:rPr lang="zh-CN" altLang="en-US" dirty="0"/>
              <a:t>排</a:t>
            </a:r>
            <a:r>
              <a:rPr lang="zh-TW" altLang="en-US" dirty="0"/>
              <a:t>高度拉開距離，降低高電流切換的電磁； 於馬達採用 </a:t>
            </a:r>
            <a:r>
              <a:rPr lang="en-US" altLang="zh-TW" dirty="0"/>
              <a:t>N-MOSFET </a:t>
            </a:r>
            <a:r>
              <a:rPr lang="zh-TW" altLang="en-US" dirty="0"/>
              <a:t>進行低側驅動，並於馬達兩端並聯 </a:t>
            </a:r>
            <a:r>
              <a:rPr lang="en-US" altLang="zh-TW" dirty="0"/>
              <a:t>SS14 </a:t>
            </a:r>
            <a:r>
              <a:rPr lang="zh-TW" altLang="en-US" dirty="0"/>
              <a:t>續流二極體。當 </a:t>
            </a:r>
            <a:r>
              <a:rPr lang="en-US" altLang="zh-TW" dirty="0"/>
              <a:t>MOSFET </a:t>
            </a:r>
            <a:r>
              <a:rPr lang="zh-TW" altLang="en-US" dirty="0"/>
              <a:t>切換關閉時，馬達會產生反電動勢，二極體能提供電流迴路，防止汲極</a:t>
            </a:r>
            <a:r>
              <a:rPr lang="zh-CN" altLang="en-US" dirty="0"/>
              <a:t>（</a:t>
            </a:r>
            <a:r>
              <a:rPr lang="en-US" altLang="zh-TW" dirty="0"/>
              <a:t>Drain </a:t>
            </a:r>
            <a:r>
              <a:rPr lang="zh-CN" altLang="en-US" dirty="0"/>
              <a:t>）</a:t>
            </a:r>
            <a:r>
              <a:rPr lang="zh-TW" altLang="en-US" dirty="0"/>
              <a:t>腳位產生高壓擊穿 </a:t>
            </a:r>
            <a:r>
              <a:rPr lang="en-US" altLang="zh-TW" dirty="0"/>
              <a:t>MOSFET</a:t>
            </a:r>
            <a:r>
              <a:rPr lang="zh-TW" altLang="en-US" dirty="0"/>
              <a:t>；同時搭配 </a:t>
            </a:r>
            <a:r>
              <a:rPr lang="en-US" altLang="zh-TW" dirty="0"/>
              <a:t>100 </a:t>
            </a:r>
            <a:r>
              <a:rPr lang="en-US" altLang="zh-TW" dirty="0" err="1"/>
              <a:t>nF</a:t>
            </a:r>
            <a:r>
              <a:rPr lang="en-US" altLang="zh-TW" dirty="0"/>
              <a:t> </a:t>
            </a:r>
            <a:r>
              <a:rPr lang="zh-TW" altLang="en-US" dirty="0"/>
              <a:t>去耦電容濾除高頻切換雜訊，避免干擾經由電源與接地路徑耦合至 </a:t>
            </a:r>
            <a:r>
              <a:rPr lang="en-US" altLang="zh-TW" dirty="0"/>
              <a:t>IMU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接下來第九頁，我將說明單路馬達驅動電路的詳細原理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備詢為主】一句話版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461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一句話】三個平台的精確對照</a:t>
            </a:r>
            <a:r>
              <a:rPr dirty="0"/>
              <a:t> — </a:t>
            </a:r>
            <a:r>
              <a:rPr dirty="0" err="1"/>
              <a:t>重點在後兩列共用同一塊自製板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① **ATK </a:t>
            </a:r>
            <a:r>
              <a:rPr dirty="0" err="1"/>
              <a:t>原機</a:t>
            </a:r>
            <a:r>
              <a:rPr dirty="0"/>
              <a:t>**:STM32F411 </a:t>
            </a:r>
            <a:r>
              <a:rPr dirty="0" err="1"/>
              <a:t>主控</a:t>
            </a:r>
            <a:r>
              <a:rPr dirty="0"/>
              <a:t> + nRF51822 </a:t>
            </a:r>
            <a:r>
              <a:rPr dirty="0" err="1"/>
              <a:t>無線</a:t>
            </a:r>
            <a:r>
              <a:rPr dirty="0"/>
              <a:t> + PA </a:t>
            </a:r>
            <a:r>
              <a:rPr dirty="0" err="1"/>
              <a:t>功放,跑原廠韌體。它是對照組,也是多機控制的成員之一</a:t>
            </a:r>
            <a:r>
              <a:rPr dirty="0"/>
              <a:t>。</a:t>
            </a:r>
          </a:p>
          <a:p>
            <a:r>
              <a:rPr dirty="0"/>
              <a:t>② **</a:t>
            </a:r>
            <a:r>
              <a:rPr dirty="0" err="1"/>
              <a:t>自製板</a:t>
            </a:r>
            <a:r>
              <a:rPr dirty="0"/>
              <a:t> + nRF52840**:</a:t>
            </a:r>
            <a:r>
              <a:rPr dirty="0" err="1"/>
              <a:t>單晶片</a:t>
            </a:r>
            <a:r>
              <a:rPr dirty="0"/>
              <a:t> M4F,內建 RADIO </a:t>
            </a:r>
            <a:r>
              <a:rPr dirty="0" err="1"/>
              <a:t>收發</a:t>
            </a:r>
            <a:r>
              <a:rPr dirty="0"/>
              <a:t> </a:t>
            </a:r>
            <a:r>
              <a:rPr dirty="0" err="1"/>
              <a:t>ESB,跑本文移植的韌體</a:t>
            </a:r>
            <a:r>
              <a:rPr dirty="0"/>
              <a:t> — </a:t>
            </a:r>
            <a:r>
              <a:rPr dirty="0" err="1"/>
              <a:t>這是主要研究對象</a:t>
            </a:r>
            <a:r>
              <a:rPr dirty="0"/>
              <a:t>。</a:t>
            </a:r>
          </a:p>
          <a:p>
            <a:r>
              <a:rPr dirty="0"/>
              <a:t>③ **</a:t>
            </a:r>
            <a:r>
              <a:rPr dirty="0" err="1"/>
              <a:t>自製板</a:t>
            </a:r>
            <a:r>
              <a:rPr dirty="0"/>
              <a:t> + ESP32S3**:</a:t>
            </a:r>
            <a:r>
              <a:rPr dirty="0" err="1"/>
              <a:t>WiFi</a:t>
            </a:r>
            <a:r>
              <a:rPr dirty="0"/>
              <a:t>/</a:t>
            </a:r>
            <a:r>
              <a:rPr dirty="0" err="1"/>
              <a:t>BLE,跑開源</a:t>
            </a:r>
            <a:r>
              <a:rPr dirty="0"/>
              <a:t> ESP-FC。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這頁的重點不是三個平台,而是「後兩列共用同一塊板</a:t>
            </a:r>
            <a:r>
              <a:rPr dirty="0"/>
              <a:t>」】</a:t>
            </a:r>
          </a:p>
          <a:p>
            <a:r>
              <a:rPr dirty="0" err="1"/>
              <a:t>換插主控即換平台</a:t>
            </a:r>
            <a:r>
              <a:rPr dirty="0"/>
              <a:t> — </a:t>
            </a:r>
            <a:r>
              <a:rPr dirty="0" err="1"/>
              <a:t>這不是三塊不同的板子在比,而是</a:t>
            </a:r>
            <a:r>
              <a:rPr dirty="0"/>
              <a:t>**</a:t>
            </a:r>
            <a:r>
              <a:rPr dirty="0" err="1"/>
              <a:t>同一個物理基底上換晶片</a:t>
            </a:r>
            <a:r>
              <a:rPr dirty="0"/>
              <a:t>**。</a:t>
            </a:r>
            <a:r>
              <a:rPr dirty="0" err="1"/>
              <a:t>這正是研究動機第三點</a:t>
            </a:r>
            <a:r>
              <a:rPr dirty="0"/>
              <a:t>(</a:t>
            </a:r>
            <a:r>
              <a:rPr dirty="0" err="1"/>
              <a:t>無法公平比較異構</a:t>
            </a:r>
            <a:r>
              <a:rPr dirty="0"/>
              <a:t> MCU)</a:t>
            </a:r>
            <a:r>
              <a:rPr dirty="0" err="1"/>
              <a:t>的直接回應:控制變因一致,比較結果才歸因得到晶片本身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第三個平台的角色要主動界定</a:t>
            </a:r>
            <a:r>
              <a:rPr dirty="0"/>
              <a:t>】</a:t>
            </a:r>
          </a:p>
          <a:p>
            <a:r>
              <a:rPr dirty="0"/>
              <a:t>ESP32S3 </a:t>
            </a:r>
            <a:r>
              <a:rPr dirty="0" err="1"/>
              <a:t>那一列跑的是開源</a:t>
            </a:r>
            <a:r>
              <a:rPr dirty="0"/>
              <a:t> ESP-FC,**</a:t>
            </a:r>
            <a:r>
              <a:rPr dirty="0" err="1"/>
              <a:t>不在本文的移植範圍內</a:t>
            </a:r>
            <a:r>
              <a:rPr dirty="0"/>
              <a:t>**。</a:t>
            </a:r>
            <a:r>
              <a:rPr dirty="0" err="1"/>
              <a:t>它存在的意義是證明載板真的能換平台。主動說明比被問到再解釋好</a:t>
            </a:r>
            <a:r>
              <a:rPr dirty="0"/>
              <a:t> — </a:t>
            </a:r>
            <a:r>
              <a:rPr dirty="0" err="1"/>
              <a:t>而且它恰好是「可換</a:t>
            </a:r>
            <a:r>
              <a:rPr dirty="0"/>
              <a:t> </a:t>
            </a:r>
            <a:r>
              <a:rPr dirty="0" err="1"/>
              <a:t>MCU」這個貢獻最直接的證據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Q:為什麼不三個平台都自己移植?</a:t>
            </a:r>
          </a:p>
          <a:p>
            <a:r>
              <a:rPr dirty="0"/>
              <a:t>A:ESP32 </a:t>
            </a:r>
            <a:r>
              <a:rPr dirty="0" err="1"/>
              <a:t>生態已經非常成熟,再做一次沒有研究增量。我把力氣放在沒人做過的</a:t>
            </a:r>
            <a:r>
              <a:rPr dirty="0"/>
              <a:t> nRF52840 重構上,ESP32S3 </a:t>
            </a:r>
            <a:r>
              <a:rPr dirty="0" err="1"/>
              <a:t>直接採用成熟方案當平台驗證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Q:三台都能被定位嗎?</a:t>
            </a:r>
          </a:p>
          <a:p>
            <a:r>
              <a:rPr dirty="0"/>
              <a:t>A:能。三台的 BLE </a:t>
            </a:r>
            <a:r>
              <a:rPr dirty="0" err="1"/>
              <a:t>信標格式統一,以</a:t>
            </a:r>
            <a:r>
              <a:rPr dirty="0"/>
              <a:t> </a:t>
            </a:r>
            <a:r>
              <a:rPr dirty="0" err="1"/>
              <a:t>droneId</a:t>
            </a:r>
            <a:r>
              <a:rPr dirty="0"/>
              <a:t> </a:t>
            </a:r>
            <a:r>
              <a:rPr dirty="0" err="1"/>
              <a:t>區分,四個錨點一次掃描就收齊</a:t>
            </a:r>
            <a:r>
              <a:rPr dirty="0"/>
              <a:t> — </a:t>
            </a:r>
            <a:r>
              <a:rPr dirty="0" err="1"/>
              <a:t>這在定位那章會展開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30 字≈8 秒 ｜ 完整版 760 字≈3.5 分</a:t>
            </a:r>
          </a:p>
          <a:p>
            <a:endParaRPr/>
          </a:p>
          <a:p>
            <a:r>
              <a:t>【一句話】這是架構重構,不是程式搬移 — 而且有一個絕對數據可以證明。</a:t>
            </a:r>
          </a:p>
          <a:p>
            <a:endParaRPr/>
          </a:p>
          <a:p>
            <a:r>
              <a:t>【原廠為什麼要用兩顆晶片】這不是設計缺陷,而是當年的合理選擇。STM32F411 沒有內建 2.4GHz 無線電,要收遙控訊號就必須外掛一顆射頻晶片;而 Nordic 的 nRF51822 本身有 ESB 協議棧,拿來當「無線前端」最省事。兩顆各司其職:nRF51822 只管收發與電源,STM32F411 專心跑感測融合、PID、電機、USB。</a:t>
            </a:r>
          </a:p>
          <a:p>
            <a:endParaRPr/>
          </a:p>
          <a:p>
            <a:r>
              <a:t>【代價在哪:那條 UART 橋】兩顆晶片必須交換資料,靠的是 UART 串口,鮑率 115200。</a:t>
            </a:r>
          </a:p>
          <a:p>
            <a:r>
              <a:t>· UART 是逐位元序列傳輸,8N1 格式下每個字節要傳 10 個 bit(1 起始 + 8 資料 + 1 停止)</a:t>
            </a:r>
          </a:p>
          <a:p>
            <a:r>
              <a:t>· 115200 bps 下,一個 bit 需 1/115200 秒 ≈ 8.68 微秒 → 一個字節 86.8 微秒</a:t>
            </a:r>
          </a:p>
          <a:p>
            <a:r>
              <a:t>· 一個控制封包 32 字節 → **32 × 86.8μs = 2.78 毫秒**</a:t>
            </a:r>
          </a:p>
          <a:p>
            <a:endParaRPr/>
          </a:p>
          <a:p>
            <a:r>
              <a:t>【為什麼 2.78 毫秒是致命的】飛控的姿態迴路跑 500Hz,也就是每 2 毫秒算一次。遙控指令晚 2.78 毫秒到達,等於整整晚了一個以上的控制週期 — 而且這個延遲是**固定發生在每一包**上的,不是偶發抖動。對於需要即時響應的姿態控制,這是結構性的損失。</a:t>
            </a:r>
          </a:p>
          <a:p>
            <a:endParaRPr/>
          </a:p>
          <a:p>
            <a:r>
              <a:t>【本文怎麼消除它】nRF52840 本身就是 Cortex-M4F,同時內建 RADIO 外設。CPU 與 RADIO 在同一顆晶片內,透過內部的 AHB 高速匯流排讀寫共享 RAM — 沒有序列化、沒有鮑率限制,時延從毫秒級降到微秒級。</a:t>
            </a:r>
          </a:p>
          <a:p>
            <a:endParaRPr/>
          </a:p>
          <a:p>
            <a:r>
              <a:t>【所以這是「重構」】無線層不再是「驅動一顆外掛晶片」,而是「直接操作主控晶片內的 RADIO 暫存器」。整套 ESB 收發要自己重建 — 這正是挑戰①的來源。</a:t>
            </a:r>
          </a:p>
          <a:p>
            <a:endParaRPr/>
          </a:p>
          <a:p>
            <a:r>
              <a:t>【備詢·不念】</a:t>
            </a:r>
          </a:p>
          <a:p>
            <a:r>
              <a:t>Q:雙晶片變單晶片除了省成本還有什麼好處?</a:t>
            </a:r>
          </a:p>
          <a:p>
            <a:r>
              <a:t>A:直接拋 2.78 毫秒對比微秒級。另外還省掉一顆晶片的功耗、PCB 面積,以及兩顆之間的同步問題。</a:t>
            </a:r>
          </a:p>
          <a:p>
            <a:endParaRPr/>
          </a:p>
          <a:p>
            <a:r>
              <a:t>Q:M0 和 M4F 差在哪?</a:t>
            </a:r>
          </a:p>
          <a:p>
            <a:r>
              <a:t>A:M4F 帶硬體浮點運算單元(FPU)。飛控的姿態解算大量用到三角函數與四元數運算,有 FPU 差距是數倍;M0 沒有 FPU,浮點要靠軟體模擬。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26 字≈7 秒 ｜ 完整版 602 字≈2.7 分</a:t>
            </a:r>
          </a:p>
          <a:p>
            <a:endParaRPr/>
          </a:p>
          <a:p>
            <a:r>
              <a:t>【一句話】先講清楚 ESB 是什麼,因為後面三個挑戰都圍繞它。</a:t>
            </a:r>
          </a:p>
          <a:p>
            <a:endParaRPr/>
          </a:p>
          <a:p>
            <a:r>
              <a:t>【ESB 是什麼】全名 Enhanced ShockBurst,是 Nordic 自家的 2.4GHz 無線協議。要強調:它不是 WiFi 也不是藍牙,是更省電、延遲更低的點對點協議 — 原廠遙控器與飛機之間就是靠它通訊。</a:t>
            </a:r>
          </a:p>
          <a:p>
            <a:endParaRPr/>
          </a:p>
          <a:p>
            <a:r>
              <a:t>【為什麼移植繞不開它】原廠是 STM32 算控制、外掛一顆 nRF51822 專收 ESB。我改成 nRF52840 單晶片,CPU 與無線電同一顆,韌體要直接驅動晶片內的 RADIO 硬體 — 不能沿用原本的外掛驅動,必須自己重建一套「與遙控器空中相容」的收發。</a:t>
            </a:r>
          </a:p>
          <a:p>
            <a:endParaRPr/>
          </a:p>
          <a:p>
            <a:r>
              <a:t>【封包欄位逐個解釋(委員通常不熟)】一個無線封包就像一封信,有固定格式:</a:t>
            </a:r>
          </a:p>
          <a:p>
            <a:r>
              <a:t>· 前導碼 — 開頭的同步訊號,硬體自動產生,讓接收方知道封包開始了</a:t>
            </a:r>
          </a:p>
          <a:p>
            <a:r>
              <a:t>· 位址 — 這封信的收件地址,5 個字節,完全對上才會收下 ← 挑戰①位元反轉要處理的就是這欄</a:t>
            </a:r>
          </a:p>
          <a:p>
            <a:r>
              <a:t>· 長度欄 — 告訴接收方這次載荷有多長</a:t>
            </a:r>
          </a:p>
          <a:p>
            <a:r>
              <a:t>· S1 欄 — 裡面放 NOACK 旗標;NOACK 意思是不要求對方回傳確認,發完就算,適合高頻即時控制</a:t>
            </a:r>
          </a:p>
          <a:p>
            <a:r>
              <a:t>· 載荷 — 真正要傳的資料,含訊息編號與內容,最多 32 字節</a:t>
            </a:r>
          </a:p>
          <a:p>
            <a:r>
              <a:t>· CRC — 校驗碼,硬體自動算,檢查空中傳輸有沒有出錯</a:t>
            </a:r>
          </a:p>
          <a:p>
            <a:endParaRPr/>
          </a:p>
          <a:p>
            <a:r>
              <a:t>【橙色標的三欄是關鍵】位址、長度欄、S1 欄 — 這三個是兩顆晶片預設不一致、我必須手動對齊的地方。下一頁詳細講怎麼對齊。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627 字≈2.9 分</a:t>
            </a:r>
          </a:p>
          <a:p>
            <a:endParaRPr/>
          </a:p>
          <a:p>
            <a:r>
              <a:t>【一句話】所謂「空中相容」,就是位序、封包格式、傳輸速率三者都要跟原廠遙控器一模一樣。</a:t>
            </a:r>
          </a:p>
          <a:p>
            <a:endParaRPr/>
          </a:p>
          <a:p>
            <a:r>
              <a:t>【① 位元順序 — 指著上方動畫講】</a:t>
            </a:r>
          </a:p>
          <a:p>
            <a:r>
              <a:t>· 問題:遙控器的 NRF24L01+ 習慣高位元先發,我的 nRF52840 習慣低位元先發。同一個位址值發到空中,兩者位元順序完全相反 → 位址對不上,整包丟棄。這就是遙控器連不上的根本原因。</a:t>
            </a:r>
          </a:p>
          <a:p>
            <a:r>
              <a:t>· 解法 swapBits:寫入前把每個位元鏡像到對稱位置(bit i 換到 bit 7-i)。以 0xAF 為例,逐位翻轉後變成 0xF5;硬體再低位先出時,空中順序恰好對回遙控器那一版 — 負負得正。</a:t>
            </a:r>
          </a:p>
          <a:p>
            <a:r>
              <a:t>· 這只有 9 行程式碼。難的不是寫,是知道要反轉、並定位到它。</a:t>
            </a:r>
          </a:p>
          <a:p>
            <a:endParaRPr/>
          </a:p>
          <a:p>
            <a:r>
              <a:t>【② 動態載荷】</a:t>
            </a:r>
          </a:p>
          <a:p>
            <a:r>
              <a:t>遙控器每次發的資料長度不固定,長度資訊寫在封包的「長度欄」。接收方要先知道去哪讀這個長度、它佔幾個位元,才能正確解析。這由 PCNF0 這個封包格式暫存器控制:我把 LFLEN 設成 6(長度欄佔 6 位元)、S1LEN 設成 3(S1 欄佔 3 位元)。這兩個值必須與遙控器端完全一致 — 設錯任一個,接收方就從錯的位置讀長度,整包全部解不出來。</a:t>
            </a:r>
          </a:p>
          <a:p>
            <a:endParaRPr/>
          </a:p>
          <a:p>
            <a:r>
              <a:t>【③ 傳輸速率】</a:t>
            </a:r>
          </a:p>
          <a:p>
            <a:r>
              <a:t>原廠遙控器用 250Kbps,但 nRF52840 的硬體已移除對 250K 的支援,只能用 1M。而速率是收發雙方的約定 — 好比兩個人講話的語速要一致。我只改飛機端沒用,必須連遙控器端的韌體也同步改成 1M。</a:t>
            </a:r>
          </a:p>
          <a:p>
            <a:endParaRPr/>
          </a:p>
          <a:p>
            <a:r>
              <a:t>【收束】三個點全部對齊,遙控器才能跟飛機成功配對。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備詢為主】一句話版</a:t>
            </a:r>
            <a:r>
              <a:rPr dirty="0"/>
              <a:t> 41 字≈11 秒 ｜ </a:t>
            </a:r>
            <a:r>
              <a:rPr dirty="0" err="1"/>
              <a:t>完整版</a:t>
            </a:r>
            <a:r>
              <a:rPr dirty="0"/>
              <a:t> 550 字≈2.5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一句話】同一條控制鏈,移植後實際長什麼樣</a:t>
            </a:r>
            <a:r>
              <a:rPr dirty="0"/>
              <a:t> — </a:t>
            </a:r>
            <a:r>
              <a:rPr dirty="0" err="1"/>
              <a:t>用顏色區分哪些保留、哪些改動、哪些是新增的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【為什麼要有這一頁】上一頁是原廠的設計基準。如果只講「我移植了」,委員無法判斷工作量與價值在哪。把保留、改動、新增三類分開標示,貢獻邊界就清楚了 — </a:t>
            </a:r>
            <a:r>
              <a:rPr dirty="0" err="1"/>
              <a:t>也同時說明我沒有動不該動的東西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保留</a:t>
            </a:r>
            <a:r>
              <a:rPr dirty="0"/>
              <a:t>(</a:t>
            </a:r>
            <a:r>
              <a:rPr dirty="0" err="1"/>
              <a:t>灰色</a:t>
            </a:r>
            <a:r>
              <a:rPr dirty="0"/>
              <a:t>)】Mahony </a:t>
            </a:r>
            <a:r>
              <a:rPr dirty="0" err="1"/>
              <a:t>姿態解算</a:t>
            </a:r>
            <a:r>
              <a:rPr dirty="0"/>
              <a:t> + </a:t>
            </a:r>
            <a:r>
              <a:rPr dirty="0" err="1"/>
              <a:t>串級</a:t>
            </a:r>
            <a:r>
              <a:rPr dirty="0"/>
              <a:t> PID </a:t>
            </a:r>
            <a:r>
              <a:rPr dirty="0" err="1"/>
              <a:t>的整體架構</a:t>
            </a:r>
            <a:r>
              <a:rPr dirty="0"/>
              <a:t>。</a:t>
            </a:r>
          </a:p>
          <a:p>
            <a:r>
              <a:rPr dirty="0" err="1"/>
              <a:t>理由:這是原廠已經驗證過、飛得起來的成熟設計。本研究的核心是跨</a:t>
            </a:r>
            <a:r>
              <a:rPr dirty="0"/>
              <a:t> MCU </a:t>
            </a:r>
            <a:r>
              <a:rPr dirty="0" err="1"/>
              <a:t>的架構重構,不是控制理論創新。重寫控制律不但沒有研究增量,還會讓「移植是否成功」失去對照基準</a:t>
            </a:r>
            <a:r>
              <a:rPr dirty="0"/>
              <a:t> — </a:t>
            </a:r>
            <a:r>
              <a:rPr dirty="0" err="1"/>
              <a:t>如果控制律也換了,飛不好時就分不清是移植問題還是控制律問題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改動</a:t>
            </a:r>
            <a:r>
              <a:rPr dirty="0"/>
              <a:t>(</a:t>
            </a:r>
            <a:r>
              <a:rPr dirty="0" err="1"/>
              <a:t>藍色</a:t>
            </a:r>
            <a:r>
              <a:rPr dirty="0"/>
              <a:t>)】</a:t>
            </a:r>
            <a:r>
              <a:rPr dirty="0" err="1"/>
              <a:t>感測讀取改成</a:t>
            </a:r>
            <a:r>
              <a:rPr dirty="0"/>
              <a:t> TWIM + </a:t>
            </a:r>
            <a:r>
              <a:rPr dirty="0" err="1"/>
              <a:t>DMA、無線改成主控內建</a:t>
            </a:r>
            <a:r>
              <a:rPr dirty="0"/>
              <a:t> RADIO。</a:t>
            </a:r>
          </a:p>
          <a:p>
            <a:r>
              <a:rPr dirty="0" err="1"/>
              <a:t>這兩項都是</a:t>
            </a:r>
            <a:r>
              <a:rPr dirty="0"/>
              <a:t>**</a:t>
            </a:r>
            <a:r>
              <a:rPr dirty="0" err="1"/>
              <a:t>驅動層的替換,不動控制邏輯</a:t>
            </a:r>
            <a:r>
              <a:rPr dirty="0"/>
              <a:t>**。</a:t>
            </a:r>
            <a:r>
              <a:rPr dirty="0" err="1"/>
              <a:t>輸入輸出的介面完全一樣,只是底下的實現換了晶片機制。這是移植的本質:上層邏輯不變,底層重寫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新增</a:t>
            </a:r>
            <a:r>
              <a:rPr dirty="0"/>
              <a:t>(</a:t>
            </a:r>
            <a:r>
              <a:rPr dirty="0" err="1"/>
              <a:t>橙色</a:t>
            </a:r>
            <a:r>
              <a:rPr dirty="0"/>
              <a:t>)】</a:t>
            </a:r>
          </a:p>
          <a:p>
            <a:r>
              <a:rPr dirty="0"/>
              <a:t>· 雙 IMU </a:t>
            </a:r>
            <a:r>
              <a:rPr dirty="0" err="1"/>
              <a:t>自動切換</a:t>
            </a:r>
            <a:r>
              <a:rPr dirty="0"/>
              <a:t> — </a:t>
            </a:r>
            <a:r>
              <a:rPr dirty="0" err="1"/>
              <a:t>板載六軸作為備援,主感測失效時接手</a:t>
            </a:r>
            <a:endParaRPr dirty="0"/>
          </a:p>
          <a:p>
            <a:r>
              <a:rPr dirty="0"/>
              <a:t>· </a:t>
            </a:r>
            <a:r>
              <a:rPr dirty="0" err="1"/>
              <a:t>高度估計三項增強</a:t>
            </a:r>
            <a:r>
              <a:rPr dirty="0"/>
              <a:t> — </a:t>
            </a:r>
            <a:r>
              <a:rPr dirty="0" err="1"/>
              <a:t>中值濾波、靜止零速修正、融合權重可調</a:t>
            </a:r>
            <a:endParaRPr dirty="0"/>
          </a:p>
          <a:p>
            <a:r>
              <a:rPr dirty="0"/>
              <a:t>· </a:t>
            </a:r>
            <a:r>
              <a:rPr dirty="0" err="1"/>
              <a:t>分級失控保護</a:t>
            </a:r>
            <a:r>
              <a:rPr dirty="0"/>
              <a:t> — </a:t>
            </a:r>
            <a:r>
              <a:rPr dirty="0" err="1"/>
              <a:t>三種等待策略</a:t>
            </a:r>
            <a:endParaRPr dirty="0"/>
          </a:p>
          <a:p>
            <a:endParaRPr dirty="0"/>
          </a:p>
          <a:p>
            <a:r>
              <a:rPr dirty="0" err="1"/>
              <a:t>這三項都不是原廠有的。它們的共同出發點是同一條工程原則</a:t>
            </a:r>
            <a:r>
              <a:rPr dirty="0"/>
              <a:t>:**</a:t>
            </a:r>
            <a:r>
              <a:rPr dirty="0" err="1"/>
              <a:t>先確認資料可信,再讓它影響控制</a:t>
            </a:r>
            <a:r>
              <a:rPr dirty="0"/>
              <a:t>**。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Q:為什麼不重寫控制律?</a:t>
            </a:r>
          </a:p>
          <a:p>
            <a:r>
              <a:rPr dirty="0"/>
              <a:t>A:研究範圍界定。核心貢獻在架構重構,保留成熟控制律讓移植成果可以被公平驗證。</a:t>
            </a:r>
          </a:p>
          <a:p>
            <a:endParaRPr dirty="0"/>
          </a:p>
          <a:p>
            <a:r>
              <a:rPr dirty="0"/>
              <a:t>Q:新增的部分怎麼證明有效?</a:t>
            </a:r>
          </a:p>
          <a:p>
            <a:r>
              <a:rPr dirty="0"/>
              <a:t>A:雙 IMU </a:t>
            </a:r>
            <a:r>
              <a:rPr dirty="0" err="1"/>
              <a:t>有降級實測、高度增強有現象對照</a:t>
            </a:r>
            <a:r>
              <a:rPr dirty="0"/>
              <a:t>(</a:t>
            </a:r>
            <a:r>
              <a:rPr dirty="0" err="1"/>
              <a:t>尖峰消失、落地不漂</a:t>
            </a:r>
            <a:r>
              <a:rPr dirty="0"/>
              <a:t>)、</a:t>
            </a:r>
            <a:r>
              <a:rPr dirty="0" err="1"/>
              <a:t>失控保護有三支影片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40 字≈11 秒 ｜ 完整版 664 字≈3.0 分</a:t>
            </a:r>
          </a:p>
          <a:p>
            <a:endParaRPr/>
          </a:p>
          <a:p>
            <a:r>
              <a:t>【一句話】上方是原廠的完整控制鏈,下方是本研究在各環節的增強 — 四項增強遵循同一條原則。</a:t>
            </a:r>
          </a:p>
          <a:p>
            <a:endParaRPr/>
          </a:p>
          <a:p>
            <a:r>
              <a:t>【上方控制鏈六環節】感測融合 → 姿態估計 → 高度估計 → 速度環 → 混控分配 → 馬達輸出。資料由左流到右,每一環的輸出是下一環的輸入。</a:t>
            </a:r>
          </a:p>
          <a:p>
            <a:endParaRPr/>
          </a:p>
          <a:p>
            <a:r>
              <a:t>【下方四項增強,各自對應到環節】</a:t>
            </a:r>
          </a:p>
          <a:p>
            <a:r>
              <a:t>① **雙源融合 + 自動降級** → 對應「感測融合」</a:t>
            </a:r>
          </a:p>
          <a:p>
            <a:r>
              <a:t>　板載 6DOF 與外接 9 軸加權融合,分歧大時平滑過渡;單一感測器失效自動降級,不墜落。</a:t>
            </a:r>
          </a:p>
          <a:p>
            <a:r>
              <a:t>② **零偏防污染三道門** → 對應「姿態估計」</a:t>
            </a:r>
          </a:p>
          <a:p>
            <a:r>
              <a:t>　陀螺零偏在線學習,但**電機轉動、磁校未完成、未落地時拒絕採樣**。因為零偏必須在真靜止時才學得準,學進了震動就等於把震動當成常態偏差。</a:t>
            </a:r>
          </a:p>
          <a:p>
            <a:r>
              <a:t>③ **高度估計三項增強** → 對應「高度估計」(細節在後面專頁)</a:t>
            </a:r>
          </a:p>
          <a:p>
            <a:r>
              <a:t>④ **油門基準四重閘自整定** → 對應「速度環」</a:t>
            </a:r>
          </a:p>
          <a:p>
            <a:r>
              <a:t>　懸停油門會隨電池電量、載重而變,所以要自適應;但四重條件過濾,不把衝天的極端值學進基準。</a:t>
            </a:r>
          </a:p>
          <a:p>
            <a:endParaRPr/>
          </a:p>
          <a:p>
            <a:r>
              <a:t>【★ 要強調的一句 — 這是本頁的價值】</a:t>
            </a:r>
          </a:p>
          <a:p>
            <a:r>
              <a:t>這四項不是零散補丁,而是同一組工程原則的落地:**先確認資料可信,再讓它影響控制**。</a:t>
            </a:r>
          </a:p>
          <a:p>
            <a:r>
              <a:t>· 雙源融合:兩個來源互相校驗,分歧大就降低可疑那方的權重</a:t>
            </a:r>
          </a:p>
          <a:p>
            <a:r>
              <a:t>· 零偏三道門:條件不對就不學</a:t>
            </a:r>
          </a:p>
          <a:p>
            <a:r>
              <a:t>· 中值濾波:極端值先剔除</a:t>
            </a:r>
          </a:p>
          <a:p>
            <a:r>
              <a:t>· 四重閘:狀態不對就不整定</a:t>
            </a:r>
          </a:p>
          <a:p>
            <a:r>
              <a:t>四項都是這條原則的不同面向。**在感測資料本來就不乾淨的嵌入式系統裡,防止壞資料進入控制迴路,比事後補償更有效**。</a:t>
            </a:r>
          </a:p>
          <a:p>
            <a:endParaRPr/>
          </a:p>
          <a:p>
            <a:r>
              <a:t>【接下頁】下一頁講旗艦案例 — 雙源融合,它同時也回答了「為什麼選 nRF52840」。</a:t>
            </a:r>
          </a:p>
          <a:p>
            <a:endParaRPr/>
          </a:p>
          <a:p>
            <a:r>
              <a:t>【備詢·不念】</a:t>
            </a:r>
          </a:p>
          <a:p>
            <a:r>
              <a:t>Q:這四項有量化的改善數據嗎?</a:t>
            </a:r>
          </a:p>
          <a:p>
            <a:r>
              <a:t>A:高度估計三項有明確的現象對照;雙 IMU 有降級實測。系統性的量化比較尚未做,這是誠實的限制。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29 字≈8 秒 ｜ 完整版 739 字≈3.4 分</a:t>
            </a:r>
          </a:p>
          <a:p>
            <a:endParaRPr/>
          </a:p>
          <a:p>
            <a:r>
              <a:t>【一句話】把「板子上剛好有兩顆 IMU」這件事,變成主動容錯的設計。</a:t>
            </a:r>
          </a:p>
          <a:p>
            <a:endParaRPr/>
          </a:p>
          <a:p>
            <a:r>
              <a:t>【雙感測來源從何而來】XIAO nRF52840 Sense 板載一顆 LSM6DS3TR-C 六軸 IMU(三軸加速度 + 三軸陀螺),單晶片即可完成姿態解算;同時我的載板保留外接 GY-91 的介面(MPU9250 九軸 + BMP280 氣壓)。於是同一台飛機上就有兩組姿態來源 — 這是選型帶來的機會,不是原本就有的需求。</a:t>
            </a:r>
          </a:p>
          <a:p>
            <a:endParaRPr/>
          </a:p>
          <a:p>
            <a:r>
              <a:t>【為什麼不能直接「壞了就切」】兩顆 IMU 的安裝位置、零偏、雜訊特性都不同,同一時刻讀出的角度不會完全一致,通常差幾度。如果用硬切換,切換的瞬間姿態估計會跳變幾度 — 而 PID 看到的是「姿態突然變了」,會立刻輸出一個大修正量,飛機就抖一下。在空中這是危險的。</a:t>
            </a:r>
          </a:p>
          <a:p>
            <a:endParaRPr/>
          </a:p>
          <a:p>
            <a:r>
              <a:t>【加權融合怎麼做】</a:t>
            </a:r>
          </a:p>
          <a:p>
            <a:r>
              <a:t>· 以外接九軸為主要來源,板載六軸換算成同一當量(座標軸對齊、單位一致)後參與加權</a:t>
            </a:r>
          </a:p>
          <a:p>
            <a:r>
              <a:t>· 權重不是固定的,而是「兩源分歧」的函數:分歧小 → 板載權重高,等於做冗餘校驗;分歧大 → 板載權重平滑降到零,完全信任外接九軸</a:t>
            </a:r>
          </a:p>
          <a:p>
            <a:r>
              <a:t>· 因為權重是連續變化的,所以從「兩源都用」過渡到「只用一源」的過程沒有任何跳變</a:t>
            </a:r>
          </a:p>
          <a:p>
            <a:endParaRPr/>
          </a:p>
          <a:p>
            <a:r>
              <a:t>【航向軸的特別處理】roll/pitch 靠重力向量就能校正,但 yaw 沒有絕對參考,必須靠磁力計。所以航向軸只在磁校完成後才納入融合 — 未校準的磁力計硬磁偏置會鎖死 yaw,比不用更糟。</a:t>
            </a:r>
          </a:p>
          <a:p>
            <a:endParaRPr/>
          </a:p>
          <a:p>
            <a:r>
              <a:t>【三級自動降級】</a:t>
            </a:r>
          </a:p>
          <a:p>
            <a:r>
              <a:t>① 正常:九軸 + 六軸,完整定高 + 航向修正</a:t>
            </a:r>
          </a:p>
          <a:p>
            <a:r>
              <a:t>② 降級:主感測失效,僅板載六軸接手姿態。可控,但沒有氣壓計,定高降級為純姿態飛行</a:t>
            </a:r>
          </a:p>
          <a:p>
            <a:r>
              <a:t>③ 保命:飛行中主感測失效 200 毫秒即時切板載;在地面則放寬到 2 秒 — 因為地面上晃動、插拔都可能造成短暫讀不到,不該誤切</a:t>
            </a:r>
          </a:p>
          <a:p>
            <a:endParaRPr/>
          </a:p>
          <a:p>
            <a:r>
              <a:t>【備詢·不念】</a:t>
            </a:r>
          </a:p>
          <a:p>
            <a:r>
              <a:t>Q:加權公式的細節?</a:t>
            </a:r>
          </a:p>
          <a:p>
            <a:r>
              <a:t>A:互補濾波框架,係數隨兩源分歧動態調整。實測調校出來的機制。</a:t>
            </a:r>
          </a:p>
          <a:p>
            <a:endParaRPr/>
          </a:p>
          <a:p>
            <a:r>
              <a:t>Q:200 毫秒怎麼定的?</a:t>
            </a:r>
          </a:p>
          <a:p>
            <a:r>
              <a:t>A:誠實答 — 實測經驗值。太短會因偶發丟包誤切,太長則失去保命意義,這是兩者的平衡點。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備詢為主】一句話版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571 字≈2.6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一句話】先講清楚原廠怎麼做,下一頁才能講我改了哪裡、沒改哪裡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圖的出處】原廠開發指南圖</a:t>
            </a:r>
            <a:r>
              <a:rPr dirty="0"/>
              <a:t> 6.3.1,是姿態解算加串級 PID </a:t>
            </a:r>
            <a:r>
              <a:rPr dirty="0" err="1"/>
              <a:t>的完整流程。我把它原樣放上來,不是充頁數</a:t>
            </a:r>
            <a:r>
              <a:rPr dirty="0"/>
              <a:t> — </a:t>
            </a:r>
            <a:r>
              <a:rPr dirty="0" err="1"/>
              <a:t>而是要讓委員能對照下一頁,判斷我的貢獻邊界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串級</a:t>
            </a:r>
            <a:r>
              <a:rPr dirty="0"/>
              <a:t> PID </a:t>
            </a:r>
            <a:r>
              <a:rPr dirty="0" err="1"/>
              <a:t>為什麼要分兩層</a:t>
            </a:r>
            <a:r>
              <a:rPr dirty="0"/>
              <a:t>】</a:t>
            </a:r>
          </a:p>
          <a:p>
            <a:r>
              <a:rPr dirty="0"/>
              <a:t>· **</a:t>
            </a:r>
            <a:r>
              <a:rPr dirty="0" err="1"/>
              <a:t>外層角度環</a:t>
            </a:r>
            <a:r>
              <a:rPr dirty="0"/>
              <a:t>**:</a:t>
            </a:r>
            <a:r>
              <a:rPr dirty="0" err="1"/>
              <a:t>輸入是「目標角度」與「當前角度」的誤差,輸出是「目標角速度</a:t>
            </a:r>
            <a:r>
              <a:rPr dirty="0"/>
              <a:t>」。</a:t>
            </a:r>
            <a:r>
              <a:rPr dirty="0" err="1"/>
              <a:t>它管的是姿態要往哪裡去</a:t>
            </a:r>
            <a:r>
              <a:rPr dirty="0"/>
              <a:t>。</a:t>
            </a:r>
          </a:p>
          <a:p>
            <a:r>
              <a:rPr dirty="0"/>
              <a:t>· **</a:t>
            </a:r>
            <a:r>
              <a:rPr dirty="0" err="1"/>
              <a:t>內層角速度環</a:t>
            </a:r>
            <a:r>
              <a:rPr dirty="0"/>
              <a:t>**:</a:t>
            </a:r>
            <a:r>
              <a:rPr dirty="0" err="1"/>
              <a:t>輸入是「目標角速度」與「陀螺實測角速度」的誤差,輸出是電機的差動量。它管的是轉得多快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為什麼不能只用一層</a:t>
            </a:r>
            <a:r>
              <a:rPr dirty="0"/>
              <a:t>】</a:t>
            </a:r>
          </a:p>
          <a:p>
            <a:r>
              <a:rPr dirty="0"/>
              <a:t>若只有角度環直接輸出電機量,系統對擾動的反應只能靠比例項,阻尼不足會震盪;而角速度是姿態的微分,內層先把角速度控住,等於給外層提供了一個「已被阻尼過」的受控對象。**</a:t>
            </a:r>
            <a:r>
              <a:rPr dirty="0" err="1"/>
              <a:t>分層之後,內層管快速響應、外層管穩態精度,兩者可以各自整定</a:t>
            </a:r>
            <a:r>
              <a:rPr dirty="0"/>
              <a:t>** — </a:t>
            </a:r>
            <a:r>
              <a:rPr dirty="0" err="1"/>
              <a:t>這是串級控制的核心價值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增益的量級也說明了分工】角度環</a:t>
            </a:r>
            <a:r>
              <a:rPr dirty="0"/>
              <a:t> </a:t>
            </a:r>
            <a:r>
              <a:rPr dirty="0" err="1"/>
              <a:t>kp</a:t>
            </a:r>
            <a:r>
              <a:rPr dirty="0"/>
              <a:t>=8,角速度環 </a:t>
            </a:r>
            <a:r>
              <a:rPr dirty="0" err="1"/>
              <a:t>kp</a:t>
            </a:r>
            <a:r>
              <a:rPr dirty="0"/>
              <a:t>=260 — </a:t>
            </a:r>
            <a:r>
              <a:rPr dirty="0" err="1"/>
              <a:t>內層增益高得多,因為它要在毫秒尺度上抑制擾動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為什麼我保留它不重寫</a:t>
            </a:r>
            <a:r>
              <a:rPr dirty="0"/>
              <a:t>】</a:t>
            </a:r>
          </a:p>
          <a:p>
            <a:r>
              <a:rPr dirty="0" err="1"/>
              <a:t>本研究的核心是跨</a:t>
            </a:r>
            <a:r>
              <a:rPr dirty="0"/>
              <a:t> MCU </a:t>
            </a:r>
            <a:r>
              <a:rPr dirty="0" err="1"/>
              <a:t>的架構重構,不是控制理論創新。而且更關鍵的一點:如果控制律也換了,一旦飛不好就分不清是移植問題還是控制律問題</a:t>
            </a:r>
            <a:r>
              <a:rPr dirty="0"/>
              <a:t> — **</a:t>
            </a:r>
            <a:r>
              <a:rPr dirty="0" err="1"/>
              <a:t>保留成熟控制律,才能讓「移植是否成功」這件事有明確的對照基準</a:t>
            </a:r>
            <a:r>
              <a:rPr dirty="0"/>
              <a:t>**。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Q:Mahony 和 </a:t>
            </a:r>
            <a:r>
              <a:rPr dirty="0" err="1"/>
              <a:t>Madgwick、EKF</a:t>
            </a:r>
            <a:r>
              <a:rPr dirty="0"/>
              <a:t> </a:t>
            </a:r>
            <a:r>
              <a:rPr dirty="0" err="1"/>
              <a:t>比起來如何</a:t>
            </a:r>
            <a:r>
              <a:rPr dirty="0"/>
              <a:t>?</a:t>
            </a:r>
          </a:p>
          <a:p>
            <a:r>
              <a:rPr dirty="0"/>
              <a:t>A:Mahony </a:t>
            </a:r>
            <a:r>
              <a:rPr dirty="0" err="1"/>
              <a:t>是互補濾波,運算量小、對</a:t>
            </a:r>
            <a:r>
              <a:rPr dirty="0"/>
              <a:t> MCU </a:t>
            </a:r>
            <a:r>
              <a:rPr dirty="0" err="1"/>
              <a:t>友善,精度足夠近懸停使用。EKF</a:t>
            </a:r>
            <a:r>
              <a:rPr dirty="0"/>
              <a:t> </a:t>
            </a:r>
            <a:r>
              <a:rPr dirty="0" err="1"/>
              <a:t>精度更高但運算量大得多,對本平台沒有必要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Q:PID </a:t>
            </a:r>
            <a:r>
              <a:rPr dirty="0" err="1"/>
              <a:t>參數是原廠的還是自己調的</a:t>
            </a:r>
            <a:r>
              <a:rPr dirty="0"/>
              <a:t>?</a:t>
            </a:r>
          </a:p>
          <a:p>
            <a:r>
              <a:rPr dirty="0"/>
              <a:t>A:架構沿用,參數依實際機體重調 — </a:t>
            </a:r>
            <a:r>
              <a:rPr dirty="0" err="1"/>
              <a:t>換過馬達後角速度環</a:t>
            </a:r>
            <a:r>
              <a:rPr dirty="0"/>
              <a:t> </a:t>
            </a:r>
            <a:r>
              <a:rPr dirty="0" err="1"/>
              <a:t>kp</a:t>
            </a:r>
            <a:r>
              <a:rPr dirty="0"/>
              <a:t> 從 300 </a:t>
            </a:r>
            <a:r>
              <a:rPr dirty="0" err="1"/>
              <a:t>降到</a:t>
            </a:r>
            <a:r>
              <a:rPr dirty="0"/>
              <a:t> 260,因為推力比改變會直接改變等效增益。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674 字≈3.1 分</a:t>
            </a:r>
          </a:p>
          <a:p>
            <a:endParaRPr/>
          </a:p>
          <a:p>
            <a:r>
              <a:t>【一句話】訊號中斷不等於一定要墜落 — 這頁同時是單機安全的核心,也是多機控制的地基。</a:t>
            </a:r>
          </a:p>
          <a:p>
            <a:endParaRPr/>
          </a:p>
          <a:p>
            <a:r>
              <a:t>【核心問題】遙控訊號中斷時,飛機該怎麼辦?「立刻切斷馬達」最保守,但**多數中斷是短暫的**(天線遮擋、瞬時干擾、封包碰撞),直接停機等於把一次可恢復的抖動變成一次墜機。</a:t>
            </a:r>
          </a:p>
          <a:p>
            <a:endParaRPr/>
          </a:p>
          <a:p>
            <a:r>
              <a:t>【★ 為什麼需要三種而不是一種】</a:t>
            </a:r>
          </a:p>
          <a:p>
            <a:r>
              <a:t>因為「最好的策略」取決於場景,不存在通用解:</a:t>
            </a:r>
          </a:p>
          <a:p>
            <a:r>
              <a:t>· **模式 0 斷線寬限續飛** — 中斷後維持定高最多 2 秒,訊號回來即無縫續飛,超時才轉緩降。適合**訊號本來就會間歇中斷**的場合。</a:t>
            </a:r>
          </a:p>
          <a:p>
            <a:r>
              <a:t>· **模式 1 懸停等待再緩降** — 原地懸停約 8 秒,留出操作者反應與接管的時間窗,超時再受控緩降。適合**有人監看的手動飛行**。</a:t>
            </a:r>
          </a:p>
          <a:p>
            <a:r>
              <a:t>· **模式 2 立即緩降** — 中斷即受控緩降、觸地自動停機,不等待。適合**未知環境或不容許漂移**的場合。</a:t>
            </a:r>
          </a:p>
          <a:p>
            <a:endParaRPr/>
          </a:p>
          <a:p>
            <a:r>
              <a:t>【三者的共同點】都是**同一套失控保護狀態機**,差別只在「等多久」與「等的時候做什麼」。不是三份獨立程式碼,而是同一個狀態機的三組參數 — 所以未來可由上位機即時切換。</a:t>
            </a:r>
          </a:p>
          <a:p>
            <a:endParaRPr/>
          </a:p>
          <a:p>
            <a:r>
              <a:t>【★ 關鍵銜接 — 這頁存在的真正理由】</a:t>
            </a:r>
          </a:p>
          <a:p>
            <a:r>
              <a:t>模式 0 的「寬限等待」正是多機廣播控制的地基。廣播模式下每台飛機**本來就會有短暫收不到指令的空檔** — 點名那一下就是(約 0.13 秒)。若沒有寬限維持,每次輪空都會觸發失控保護,多機根本不成立。</a:t>
            </a:r>
          </a:p>
          <a:p>
            <a:r>
              <a:t>寬限維持把「輪空」重新定義為**正常狀態**,而不是異常。這是單機安全設計反過來成就多機能力的例子。</a:t>
            </a:r>
          </a:p>
          <a:p>
            <a:endParaRPr/>
          </a:p>
          <a:p>
            <a:r>
              <a:t>【現場播放三支實測影片】模式0.mp4、模式1.mp4、模式2.mp4</a:t>
            </a:r>
          </a:p>
          <a:p>
            <a:endParaRPr/>
          </a:p>
          <a:p>
            <a:r>
              <a:t>【備詢·不念】</a:t>
            </a:r>
          </a:p>
          <a:p>
            <a:r>
              <a:t>Q:2 秒的寬限怎麼定的?</a:t>
            </a:r>
          </a:p>
          <a:p>
            <a:r>
              <a:t>A:實測經驗值。太短會因偶發丟包誤觸發降落,太長則真失聯時遲遲不處置。2 秒是兩者的平衡點,而且遠大於點名輪空的 0.13 秒,留有充足餘裕。</a:t>
            </a:r>
          </a:p>
          <a:p>
            <a:endParaRPr/>
          </a:p>
          <a:p>
            <a:r>
              <a:t>Q:三種策略怎麼選?</a:t>
            </a:r>
          </a:p>
          <a:p>
            <a:r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553 字≈2.5 分</a:t>
            </a:r>
          </a:p>
          <a:p>
            <a:endParaRPr/>
          </a:p>
          <a:p>
            <a:r>
              <a:t>【一句話】訊號剛中斷的第一秒,飛機做的不是掉下來,而是「維持現狀、原地待命」。</a:t>
            </a:r>
          </a:p>
          <a:p>
            <a:endParaRPr/>
          </a:p>
          <a:p>
            <a:r>
              <a:t>【怎麼偵測中斷】飛控記錄上一次收到有效遙控指令的時間;超過逾時門檻還沒收到新指令,就判定中斷。這個逾時**不能太短也不能太長** — 太短會因為偶爾一兩包沒收到就誤觸發,太長又反應遲鈍。實作上分兩級:500ms 內算正常、超過 1000ms 才進入失控處置,中間那段是緩衝。</a:t>
            </a:r>
          </a:p>
          <a:p>
            <a:endParaRPr/>
          </a:p>
          <a:p>
            <a:r>
              <a:t>【寬限期內同時做四件事】</a:t>
            </a:r>
          </a:p>
          <a:p>
            <a:r>
              <a:t>① **高度** — 鎖定中斷那一瞬間的高度,讓定高迴路繼續維持。</a:t>
            </a:r>
          </a:p>
          <a:p>
            <a:r>
              <a:t>② **姿態** — 把期望傾角歸零,讓飛機自動調平成水平。**為什麼要調平**:中斷前若正在轉彎,期望傾角是斜的;若保持斜著,飛機會一直往那個方向飛出去。歸零才能停在原地。</a:t>
            </a:r>
          </a:p>
          <a:p>
            <a:r>
              <a:t>③ **油門** — **絕對不切斷**,電機維持轉動。這是與「立即停機」最根本的差別 — 一切油門就是自由落體。</a:t>
            </a:r>
          </a:p>
          <a:p>
            <a:r>
              <a:t>④ **計時** — 開始累計中斷了多久,供下一階段判斷。</a:t>
            </a:r>
          </a:p>
          <a:p>
            <a:endParaRPr/>
          </a:p>
          <a:p>
            <a:r>
              <a:t>【★ 這個設計的兩個目的】</a:t>
            </a:r>
          </a:p>
          <a:p>
            <a:r>
              <a:t>① 萬一只是短暫干擾,訊號一恢復就能無縫接管繼續飛 — 就是圖上那個綠色回歸箭頭。飛機甚至不知道剛才發生過中斷。</a:t>
            </a:r>
          </a:p>
          <a:p>
            <a:r>
              <a:t>② 它同時是多機控制的基礎:廣播模式下每台本來就會有短暫空檔,靠這個寬限維持撐住。</a:t>
            </a:r>
          </a:p>
          <a:p>
            <a:endParaRPr/>
          </a:p>
          <a:p>
            <a:r>
              <a:t>【接下頁】如果寬限期超時、訊號還是沒回來,下一頁講怎麼分階段處理。</a:t>
            </a:r>
          </a:p>
          <a:p>
            <a:endParaRPr/>
          </a:p>
          <a:p>
            <a:r>
              <a:t>【備詢·不念】</a:t>
            </a:r>
          </a:p>
          <a:p>
            <a:r>
              <a:t>Q:寬限期間如果飛機被風吹走怎麼辦?</a:t>
            </a:r>
          </a:p>
          <a:p>
            <a:r>
              <a:t>A:姿態已調平,所以不會主動往某個方向飛;但確實會隨風漂移。這是「等待可恢復」與「立即處置」之間的取捨,也是為什麼有模式 2 這個選項。</a:t>
            </a:r>
          </a:p>
          <a:p>
            <a:endParaRPr/>
          </a:p>
          <a:p>
            <a:r>
              <a:t>Q:為什麼不用 GPS 定點?</a:t>
            </a:r>
          </a:p>
          <a:p>
            <a:r>
              <a:t>A:室內無 GPS,這正是本研究要做室內定位的動機之一。定位系統成熟後,寬限期可以改成「定點懸停」而非「維持高度」。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備詢為主】一句話版</a:t>
            </a:r>
            <a:r>
              <a:rPr dirty="0"/>
              <a:t> 39 字≈11 秒 ｜ </a:t>
            </a:r>
            <a:r>
              <a:rPr dirty="0" err="1"/>
              <a:t>完整版</a:t>
            </a:r>
            <a:r>
              <a:rPr dirty="0"/>
              <a:t> 598 字≈2.7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一句話】飛機無法直接分辨「斷線」和「關機</a:t>
            </a:r>
            <a:r>
              <a:rPr dirty="0"/>
              <a:t>」— </a:t>
            </a:r>
            <a:r>
              <a:rPr dirty="0" err="1"/>
              <a:t>所以用時間區分意圖,一套狀態機兩個出口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核心設計思想</a:t>
            </a:r>
            <a:r>
              <a:rPr dirty="0"/>
              <a:t>(</a:t>
            </a:r>
            <a:r>
              <a:rPr dirty="0" err="1"/>
              <a:t>右下角那句</a:t>
            </a:r>
            <a:r>
              <a:rPr dirty="0"/>
              <a:t>)】</a:t>
            </a:r>
          </a:p>
          <a:p>
            <a:r>
              <a:rPr dirty="0" err="1"/>
              <a:t>訊號消失時</a:t>
            </a:r>
            <a:r>
              <a:rPr dirty="0"/>
              <a:t>,「</a:t>
            </a:r>
            <a:r>
              <a:rPr dirty="0" err="1"/>
              <a:t>遙控器被關機」和「訊號短暫中斷」在飛機看來</a:t>
            </a:r>
            <a:r>
              <a:rPr dirty="0"/>
              <a:t>**</a:t>
            </a:r>
            <a:r>
              <a:rPr dirty="0" err="1"/>
              <a:t>完全一樣</a:t>
            </a:r>
            <a:r>
              <a:rPr dirty="0"/>
              <a:t>** — </a:t>
            </a:r>
            <a:r>
              <a:rPr dirty="0" err="1"/>
              <a:t>都是沒有新封包進來。兩者唯一的差別是</a:t>
            </a:r>
            <a:r>
              <a:rPr dirty="0"/>
              <a:t>**</a:t>
            </a:r>
            <a:r>
              <a:rPr dirty="0" err="1"/>
              <a:t>會不會回來</a:t>
            </a:r>
            <a:r>
              <a:rPr dirty="0"/>
              <a:t>**。</a:t>
            </a:r>
            <a:r>
              <a:rPr dirty="0" err="1"/>
              <a:t>而「會不會回來」只能用時間來推測。所以這套狀態機的本質是</a:t>
            </a:r>
            <a:r>
              <a:rPr dirty="0"/>
              <a:t>:**</a:t>
            </a:r>
            <a:r>
              <a:rPr dirty="0" err="1"/>
              <a:t>用等待時長把使用者意圖分類</a:t>
            </a:r>
            <a:r>
              <a:rPr dirty="0"/>
              <a:t>**。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兩個出口</a:t>
            </a:r>
            <a:r>
              <a:rPr dirty="0"/>
              <a:t>】</a:t>
            </a:r>
          </a:p>
          <a:p>
            <a:r>
              <a:rPr dirty="0"/>
              <a:t>① **</a:t>
            </a:r>
            <a:r>
              <a:rPr dirty="0" err="1"/>
              <a:t>寬限內訊號恢復</a:t>
            </a:r>
            <a:r>
              <a:rPr dirty="0"/>
              <a:t>** → </a:t>
            </a:r>
            <a:r>
              <a:rPr dirty="0" err="1"/>
              <a:t>判定為短暫中斷</a:t>
            </a:r>
            <a:r>
              <a:rPr dirty="0"/>
              <a:t> → </a:t>
            </a:r>
            <a:r>
              <a:rPr dirty="0" err="1"/>
              <a:t>綠色箭頭回到正常飛行續飛</a:t>
            </a:r>
            <a:r>
              <a:rPr dirty="0"/>
              <a:t>。</a:t>
            </a:r>
          </a:p>
          <a:p>
            <a:r>
              <a:rPr dirty="0"/>
              <a:t>② **</a:t>
            </a:r>
            <a:r>
              <a:rPr dirty="0" err="1"/>
              <a:t>超時不回</a:t>
            </a:r>
            <a:r>
              <a:rPr dirty="0"/>
              <a:t>** → </a:t>
            </a:r>
            <a:r>
              <a:rPr dirty="0" err="1"/>
              <a:t>判定真失聯</a:t>
            </a:r>
            <a:r>
              <a:rPr dirty="0"/>
              <a:t> → </a:t>
            </a:r>
            <a:r>
              <a:rPr dirty="0" err="1"/>
              <a:t>進入受控下降</a:t>
            </a:r>
            <a:r>
              <a:rPr dirty="0"/>
              <a:t> → </a:t>
            </a:r>
            <a:r>
              <a:rPr dirty="0" err="1"/>
              <a:t>最後著陸鎖定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【為什麼下降要「受控」而不是直接停機】受控下降仍在跑姿態迴路,飛機是水平落地的;直接停機則是翻滾墜落。對機體與現場人員的風險差很多。</a:t>
            </a:r>
          </a:p>
          <a:p>
            <a:endParaRPr dirty="0"/>
          </a:p>
          <a:p>
            <a:r>
              <a:rPr dirty="0"/>
              <a:t>【著陸鎖定為什麼必要】觸地後若不鎖定,</a:t>
            </a:r>
            <a:r>
              <a:rPr dirty="0" err="1"/>
              <a:t>加速度計的觸地衝擊可能被誤判為「還在空中</a:t>
            </a:r>
            <a:r>
              <a:rPr dirty="0"/>
              <a:t>」,</a:t>
            </a:r>
            <a:r>
              <a:rPr dirty="0" err="1"/>
              <a:t>電機又轉起來</a:t>
            </a:r>
            <a:r>
              <a:rPr dirty="0"/>
              <a:t> — </a:t>
            </a:r>
            <a:r>
              <a:rPr dirty="0" err="1"/>
              <a:t>那會在地面彈跳。所以觸地判定成立後直接鎖住,必須重新解鎖才能再飛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最可能被追問的問題,先準備好</a:t>
            </a:r>
            <a:r>
              <a:rPr dirty="0"/>
              <a:t>】</a:t>
            </a:r>
          </a:p>
          <a:p>
            <a:r>
              <a:rPr dirty="0"/>
              <a:t>Q:斷線維持和多機輪詢不都是同一件事嗎?</a:t>
            </a:r>
          </a:p>
          <a:p>
            <a:r>
              <a:rPr dirty="0"/>
              <a:t>A:兩者是一體兩面但職責不同 —</a:t>
            </a:r>
          </a:p>
          <a:p>
            <a:r>
              <a:rPr dirty="0"/>
              <a:t>· **</a:t>
            </a:r>
            <a:r>
              <a:rPr dirty="0" err="1"/>
              <a:t>輪詢是發射端的排程策略</a:t>
            </a:r>
            <a:r>
              <a:rPr dirty="0"/>
              <a:t>**:</a:t>
            </a:r>
            <a:r>
              <a:rPr dirty="0" err="1"/>
              <a:t>決定這一刻對誰發</a:t>
            </a:r>
            <a:r>
              <a:rPr dirty="0"/>
              <a:t>。</a:t>
            </a:r>
          </a:p>
          <a:p>
            <a:r>
              <a:rPr dirty="0"/>
              <a:t>· **</a:t>
            </a:r>
            <a:r>
              <a:rPr dirty="0" err="1"/>
              <a:t>斷線維持是接收端的容錯策略</a:t>
            </a:r>
            <a:r>
              <a:rPr dirty="0"/>
              <a:t>**:</a:t>
            </a:r>
            <a:r>
              <a:rPr dirty="0" err="1"/>
              <a:t>決定沒輪到我時該怎麼辦</a:t>
            </a:r>
            <a:r>
              <a:rPr dirty="0"/>
              <a:t>。</a:t>
            </a:r>
          </a:p>
          <a:p>
            <a:r>
              <a:rPr dirty="0" err="1"/>
              <a:t>只有輪詢沒有維持,每台在輪空期都會觸發失控保護直接降落,多機就不成立。維持機制把「輪空」定義為正常狀態,兩者缺一不可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Q:寬限時長可調嗎?</a:t>
            </a:r>
          </a:p>
          <a:p>
            <a:r>
              <a:rPr dirty="0"/>
              <a:t>A:可以,預設 2 </a:t>
            </a:r>
            <a:r>
              <a:rPr dirty="0" err="1"/>
              <a:t>秒,降落方式也可選。三種模式就是這組參數的三種組合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Q:如果是飛機端當機而不是訊號中斷呢?</a:t>
            </a:r>
          </a:p>
          <a:p>
            <a:r>
              <a:rPr dirty="0"/>
              <a:t>A:那要靠看門狗。這也是單晶片架構下我特別強化看門狗的原因 — 雙 MCU </a:t>
            </a:r>
            <a:r>
              <a:rPr dirty="0" err="1"/>
              <a:t>時無線晶片還活著,單晶片一當就全機失控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40 字≈11 秒 ｜ 完整版 699 字≈3.2 分</a:t>
            </a:r>
          </a:p>
          <a:p>
            <a:endParaRPr/>
          </a:p>
          <a:p>
            <a:r>
              <a:t>【一句話】高度估計鏈的三項改動,每項都是「現象 → 原因 → 改法」,全部是實測踩出來的。</a:t>
            </a:r>
          </a:p>
          <a:p>
            <a:endParaRPr/>
          </a:p>
          <a:p>
            <a:r>
              <a:t>【先講為什麼高度這麼難】</a:t>
            </a:r>
          </a:p>
          <a:p>
            <a:r>
              <a:t>高度有兩個來源:氣壓計給的是**絕對高度但慢且吵**,加速度計積分給的是**快但會漂**。兩者必須融合。而這條鏈路上任何一個環節出問題,表現出來都是「定高不穩」,所以要逐項拆解。</a:t>
            </a:r>
          </a:p>
          <a:p>
            <a:endParaRPr/>
          </a:p>
          <a:p>
            <a:r>
              <a:t>【① 氣壓中值濾波】</a:t>
            </a:r>
          </a:p>
          <a:p>
            <a:r>
              <a:t>· 現象:高度讀值偶爾出現單拍尖峰,定高瞬間會竄動。</a:t>
            </a:r>
          </a:p>
          <a:p>
            <a:r>
              <a:t>· 原因:氣壓感測器受電機與電路的電氣雜訊干擾,單次採樣可能異常。</a:t>
            </a:r>
          </a:p>
          <a:p>
            <a:r>
              <a:t>· 改法:連續三點取中值 — 單拍的極端值必然落在兩側正常值之外,取中值就被擠掉。</a:t>
            </a:r>
          </a:p>
          <a:p>
            <a:r>
              <a:t>· **為什麼是中值不是平均**:平均會被極端值拉走(一個 +50 的尖峰會讓三點平均偏 +16.7);中值完全不受影響。這是對付脈衝雜訊的標準做法。</a:t>
            </a:r>
          </a:p>
          <a:p>
            <a:r>
              <a:t>· 為什麼是三點:已足夠濾掉單拍尖峰,點數越多延遲越大。三點只延遲一拍。</a:t>
            </a:r>
          </a:p>
          <a:p>
            <a:endParaRPr/>
          </a:p>
          <a:p>
            <a:r>
              <a:t>【② 靜止零速修正】</a:t>
            </a:r>
          </a:p>
          <a:p>
            <a:r>
              <a:t>· 現象:落地後高度緩慢漂移,下次起飛的基線就錯了。</a:t>
            </a:r>
          </a:p>
          <a:p>
            <a:r>
              <a:t>· 原因:加速度計零偏隨溫度漂移,**積分後累積成高度誤差** — 這是慣性導航的固有問題,不積分就沒有速度,一積分就會漂。</a:t>
            </a:r>
          </a:p>
          <a:p>
            <a:r>
              <a:t>· 改法:偵測到「電機停」且「陀螺靜止」兩個條件同時成立,才判定真靜止,強制垂直速度歸零並趁機更新零偏。</a:t>
            </a:r>
          </a:p>
          <a:p>
            <a:r>
              <a:t>· **為什麼要兩個條件**:單看電機停會誤判(手持不動時電機也停);單看陀螺靜止也會誤判(勻速上升時陀螺也靜止)。兩者同時成立才排除得掉。</a:t>
            </a:r>
          </a:p>
          <a:p>
            <a:endParaRPr/>
          </a:p>
          <a:p>
            <a:r>
              <a:t>【③ 融合權重可調】</a:t>
            </a:r>
          </a:p>
          <a:p>
            <a:r>
              <a:t>· 現象:氣壓跟隨快則抖動、平滑重則漂移。</a:t>
            </a:r>
          </a:p>
          <a:p>
            <a:r>
              <a:t>· 原因:單一固定權重無法同時兼顧跟隨性與平滑度。</a:t>
            </a:r>
          </a:p>
          <a:p>
            <a:r>
              <a:t>· 改法:把氣壓與加速度的融合比重做成可調參數,依機況與環境調校。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Q:為什麼不用更好的氣壓計?</a:t>
            </a:r>
          </a:p>
          <a:p>
            <a:r>
              <a:t>A:BMP280 的解析度(約 0.12m)已足夠室內定高。問題不在感測器精度,而在雜訊與零偏 — 那是靠演算法處理的。</a:t>
            </a:r>
          </a:p>
          <a:p>
            <a:endParaRPr/>
          </a:p>
          <a:p>
            <a:r>
              <a:t>Q:三項改動有量化數據嗎?</a:t>
            </a:r>
          </a:p>
          <a:p>
            <a:r>
              <a:t>A:有明確的現象對照(尖峰消失、落地不再漂移),系統性的量化比較尚未做 — 這是誠實的限制。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24 字≈7 秒 ｜ 完整版 331 字≈1.5 分</a:t>
            </a:r>
          </a:p>
          <a:p>
            <a:endParaRPr/>
          </a:p>
          <a:p>
            <a:r>
              <a:t>【一句話】移植成果的整體驗證:從上電到降落,全程沒有剪接。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**開機自檢** — 七個驅動模組依序通過,LED 指示狀態。這一段對應驅動層移植那頁。</a:t>
            </a:r>
          </a:p>
          <a:p>
            <a:r>
              <a:t>② **遙控器配對成功** — 這代表 ESB 空中相容的三項對齊(位序反轉、動態載荷、速率)全部做對了,否則連不上。</a:t>
            </a:r>
          </a:p>
          <a:p>
            <a:r>
              <a:t>③ **起飛、定高懸停** — 對應高度估計鏈的三項增強。</a:t>
            </a:r>
          </a:p>
          <a:p>
            <a:r>
              <a:t>④ **斷訊維持** — 我故意讓訊號中斷,注意**高度沒有掉**,訊號回來後無縫續飛。</a:t>
            </a:r>
          </a:p>
          <a:p>
            <a:r>
              <a:t>⑤ 降落。</a:t>
            </a:r>
          </a:p>
          <a:p>
            <a:endParaRPr/>
          </a:p>
          <a:p>
            <a:r>
              <a:t>【★ 這支影片放在這裡的原因】</a:t>
            </a:r>
          </a:p>
          <a:p>
            <a:r>
              <a:t>到這一頁為止,單機的所有內容(硬體、移植、三大挑戰、控制、安全)都講完了。這支影片是它們的**綜合驗證** — 每一個環節在影片裡都看得到對應的畫面。下一章才進入多機。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Q:為什麼特別展示斷訊維持?</a:t>
            </a:r>
          </a:p>
          <a:p>
            <a:r>
              <a:t>A:它是多機控制的安全基礎。廣播模式下每台本來就會有短暫收不到指令的空檔(點名那一下),這個機制把「輪空」定義為正常狀態,多機才可行。這也是為什麼這支影片排在多機章之前。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40 字≈11 秒 ｜ 完整版 702 字≈3.2 分</a:t>
            </a:r>
          </a:p>
          <a:p>
            <a:endParaRPr/>
          </a:p>
          <a:p>
            <a:r>
              <a:t>【一句話】核心概念是廣播定址:一份指令廣播出去,兩台同時收到,再由飛機自己判斷要不要執行。</a:t>
            </a:r>
          </a:p>
          <a:p>
            <a:endParaRPr/>
          </a:p>
          <a:p>
            <a:r>
              <a:t>【★ 為什麼是「飛機自己判斷」而不是「遙控器只發給某一台」】</a:t>
            </a:r>
          </a:p>
          <a:p>
            <a:r>
              <a:t>這是整章的關鍵設計思想。若由發射端決定收件人(那就是分時尋址),帶寬必然 O(N)、各機指令必然錯開。改成「一包全體同收、由接收端自己判斷」之後,發送次數與台數無關 — **這是 O(1) 與 O(N) 的分野,也是編隊能不能同步的分野**。</a:t>
            </a:r>
          </a:p>
          <a:p>
            <a:endParaRPr/>
          </a:p>
          <a:p>
            <a:r>
              <a:t>【資料鏈路】PC 上位機做定位與決策 → 經 USB 以 ATKP 格式交給遙控器 → 遙控器原樣廣播 → 兩台飛機各有自己的 ID 與私有位址;兩台同時也都發 BLE 信標給四個錨點,所以能同時被定位。</a:t>
            </a:r>
          </a:p>
          <a:p>
            <a:endParaRPr/>
          </a:p>
          <a:p>
            <a:r>
              <a:t>【三個機制,都已實機驗證】</a:t>
            </a:r>
          </a:p>
          <a:p>
            <a:r>
              <a:t>① **廣播選台(模式 A 擴展)** — 一包全體同收,包尾附目標字節;選中的執行、其餘懸停待命。</a:t>
            </a:r>
          </a:p>
          <a:p>
            <a:r>
              <a:t>② **多工廣播(模式 B)** — 一個廣播包裡裝兩台各自獨立的指令段,兩機同收後各取自己那段,**可同時做不同動作**。這是本研究的亮點。</a:t>
            </a:r>
          </a:p>
          <a:p>
            <a:r>
              <a:t>③ **廣播點名** — 廣播是單向不回 ACK 的,遙控器看不到飛機狀態,所以每隔約 0.13 秒切一次私有去探詢一台,把電量與在線狀態取回來。</a:t>
            </a:r>
          </a:p>
          <a:p>
            <a:endParaRPr/>
          </a:p>
          <a:p>
            <a:r>
              <a:t>【★ 三者不是三選一,而是分層並存】</a:t>
            </a:r>
          </a:p>
          <a:p>
            <a:r>
              <a:t>· 模式 A 供人手操作(遙控器只有一份搖桿值)</a:t>
            </a:r>
          </a:p>
          <a:p>
            <a:r>
              <a:t>· 模式 B 供 PC 自動編隊(指令來源能算出各機不同目標)</a:t>
            </a:r>
          </a:p>
          <a:p>
            <a:r>
              <a:t>· 私有模式供逐台調參與讀狀態</a:t>
            </a:r>
          </a:p>
          <a:p>
            <a:r>
              <a:t>它們用不同的 msgID 與位址,飛機端依 msgID 分流,可即時切換而不衝突。</a:t>
            </a:r>
          </a:p>
          <a:p>
            <a:endParaRPr/>
          </a:p>
          <a:p>
            <a:r>
              <a:t>【先給個伏筆】這三個機制不是一開始就這樣設計的 — 下一頁先講協議基礎,再下一頁講我走過的彎路。</a:t>
            </a:r>
          </a:p>
          <a:p>
            <a:endParaRPr/>
          </a:p>
          <a:p>
            <a:r>
              <a:t>【備詢·不念】</a:t>
            </a:r>
          </a:p>
          <a:p>
            <a:r>
              <a:t>Q:現在能同時飛兩台嗎?</a:t>
            </a:r>
          </a:p>
          <a:p>
            <a:r>
              <a:t>A:三個機制都有實機影片。但「機制通了」和「兩台一起編隊飛完一段航線」是兩件事,後者尚未完整演示 — 我在系統邊界那頁也是這樣標的。</a:t>
            </a:r>
          </a:p>
          <a:p>
            <a:endParaRPr/>
          </a:p>
          <a:p>
            <a:r>
              <a:t>Q:為什麼遙控器要原樣轉發而不解析?</a:t>
            </a:r>
          </a:p>
          <a:p>
            <a:r>
              <a:t>A:讓遙控器保持單純的無線橋,PC 的擴展不需要動遙控器韌體。模式 B 就是這樣加進來的 — 遙控器一行控制邏輯都沒改。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28 字≈8 秒 ｜ 完整版 699 字≈3.2 分</a:t>
            </a:r>
          </a:p>
          <a:p>
            <a:endParaRPr/>
          </a:p>
          <a:p>
            <a:r>
              <a:t>【一句話】先把協議的字節格式講清楚,後面模式 B 的擴展才有基礎。</a:t>
            </a:r>
          </a:p>
          <a:p>
            <a:endParaRPr/>
          </a:p>
          <a:p>
            <a:r>
              <a:t>【幀結構逐欄說明】</a:t>
            </a:r>
          </a:p>
          <a:p>
            <a:r>
              <a:t>· **0xAA 0xAF** — 兩個幀頭。為什麼要兩個:單一幀頭在連續位元流裡太容易誤命中,兩個字節的組合把誤判機率降到 1/65536。第二個字節同時標示方向(上位機→飛控 用 0xAF,反向用別的值),接收方一眼就知道這包該不該處理。</a:t>
            </a:r>
          </a:p>
          <a:p>
            <a:r>
              <a:t>· **功能字** — 指令類型。這是協議的擴展點:每個值代表一種指令,未用的值就是保留空間。</a:t>
            </a:r>
          </a:p>
          <a:p>
            <a:r>
              <a:t>· **長度** — 資料字節數。有了它,解析器才能知道要再讀幾個字節才到校驗和 — 這就是「動態長度」的基礎。</a:t>
            </a:r>
          </a:p>
          <a:p>
            <a:r>
              <a:t>· **資料** — 實際內容,0~N 字節。</a:t>
            </a:r>
          </a:p>
          <a:p>
            <a:r>
              <a:t>· **校驗和** — 前面所有字節相加取低 8 位。</a:t>
            </a:r>
          </a:p>
          <a:p>
            <a:endParaRPr/>
          </a:p>
          <a:p>
            <a:r>
              <a:t>【為什麼是「相加取低8位」而不是 CRC】這是輕量校驗:計算成本極低(單片機一個迴圈就算完),能擋掉大部分單字節錯誤。它擋不住某些多字節互補的錯誤,但無線層本身已有硬體 CRC,這一層只是第二道防線。</a:t>
            </a:r>
          </a:p>
          <a:p>
            <a:endParaRPr/>
          </a:p>
          <a:p>
            <a:r>
              <a:t>【現場可驗算的實例】解鎖指令 AA AF 01 01 A1 FC</a:t>
            </a:r>
          </a:p>
          <a:p>
            <a:r>
              <a:t>0xAA + 0xAF + 0x01 + 0x01 + 0xA1 = 0x1FC → 取低 8 位 = **0xFC** ✓</a:t>
            </a:r>
          </a:p>
          <a:p>
            <a:r>
              <a:t>這是可以當場算給委員看的。</a:t>
            </a:r>
          </a:p>
          <a:p>
            <a:endParaRPr/>
          </a:p>
          <a:p>
            <a:r>
              <a:t>【為什麼沿用這套協議而不自己定】</a:t>
            </a:r>
          </a:p>
          <a:p>
            <a:r>
              <a:t>① 原廠地面站原生支援 — PC 端零開發即可下指令驗證,省下大量工具開發時間</a:t>
            </a:r>
          </a:p>
          <a:p>
            <a:r>
              <a:t>② 飛機端解析器已在移植韌體內 — 指令直達控制核心,不需額外橋接</a:t>
            </a:r>
          </a:p>
          <a:p>
            <a:r>
              <a:t>③ **功能字與資料欄有保留空間** — 這是最關鍵的:我可以在不破壞原有相容性的前提下加入多機定址。原廠地面站依然能用,新功能也能加。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 MAVLink 這類標準協議?</a:t>
            </a:r>
          </a:p>
          <a:p>
            <a:r>
              <a:t>A:MAVLink 功能完整但也龐大,而且原廠地面站不支援 — 換協議等於放棄現成的驗證工具。本研究的策略是「傳承協議、擴展能力」。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34 字≈9 秒 ｜ 完整版 638 字≈2.9 分</a:t>
            </a:r>
          </a:p>
          <a:p>
            <a:endParaRPr/>
          </a:p>
          <a:p>
            <a:r>
              <a:t>【一句話】這頁講一個被我放棄的設計,以及放棄的理由 — 失敗經驗也是研究內容。</a:t>
            </a:r>
          </a:p>
          <a:p>
            <a:endParaRPr/>
          </a:p>
          <a:p>
            <a:r>
              <a:t>【原方案是什麼】用保留功能字 0xF0 做目標選擇:PC 先告訴遙控器要控哪一台,遙控器記住,之後的常規指令就分時輪流送進對應飛機的時槽。</a:t>
            </a:r>
          </a:p>
          <a:p>
            <a:endParaRPr/>
          </a:p>
          <a:p>
            <a:r>
              <a:t>【它在紙上很合理】飛機端完全不用改;而且「目標路由」和「分時發送」天然是同一件事 — 選誰就是進誰的時槽。這也是多數人第一時間會想到的做法。</a:t>
            </a:r>
          </a:p>
          <a:p>
            <a:endParaRPr/>
          </a:p>
          <a:p>
            <a:r>
              <a:t>【★ 三個決定性缺點】</a:t>
            </a:r>
          </a:p>
          <a:p>
            <a:r>
              <a:t>① **帶寬 O(N)**:每台各發一次,兩台就把刷新率砍半。以遙控器 100Hz 主循環為例,兩台各得 50Hz、三台各得 33Hz。更嚴重的是**各機指令必然錯開** — 第一台收到的是 t 時刻的指令,第二台收到的是 t+10ms 的,編隊動作根本無法同步。這不是實作問題,是機制本身的性質。</a:t>
            </a:r>
          </a:p>
          <a:p>
            <a:r>
              <a:t>② **遙控器成為狀態瓶頸**:目標記在遙控器裡。一旦丟包或重啟,PC 與遙控器對「現在控誰」的認知就不一致 —— **而 PC 無從得知這件事已經發生**,指令會靜默地打到錯的飛機。分散式系統裡把狀態集中在中間節點,本身就是脆弱點。</a:t>
            </a:r>
          </a:p>
          <a:p>
            <a:r>
              <a:t>③ **實作受阻且難以除錯**:時槽協商依賴運行期握手,實測長期沒有回應。而且是黑箱 — 我無法從外部觀察到協商停在哪一步。</a:t>
            </a:r>
          </a:p>
          <a:p>
            <a:endParaRPr/>
          </a:p>
          <a:p>
            <a:r>
              <a:t>【★ 改成什麼:編譯期約定取代運行期協商】</a:t>
            </a:r>
          </a:p>
          <a:p>
            <a:r>
              <a:t>位址、信道、ID 全部寫死在三端韌體裡,開機即生效,不需要任何握手。代價是換機器要重新燒錄,但換來的是**沒有協商就沒有協商失敗**。這個取捨對兩到三台的研究平台是划算的。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Q:為什麼不再試一次分時?</a:t>
            </a:r>
          </a:p>
          <a:p>
            <a:r>
              <a:t>A:不是不能做,是「帶寬 O(N)」這個性質,決定了它在「編隊同步」這個研究目標下先天不利。這是設計選擇服從研究目標,不是實作能力問題。</a:t>
            </a:r>
          </a:p>
          <a:p>
            <a:endParaRPr/>
          </a:p>
          <a:p>
            <a:r>
              <a:t>Q:編譯期約定不是很不靈活嗎?</a:t>
            </a:r>
          </a:p>
          <a:p>
            <a:r>
              <a:t>A:是。若要擴展到多台且需要動態加入,運行期協商仍是必要的。但那時該用的是完整的位址分配協議,而不是我原本那套簡化的時槽握手。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27 字≈7 秒 ｜ 完整版 429 字≈1.9 分</a:t>
            </a:r>
          </a:p>
          <a:p>
            <a:endParaRPr/>
          </a:p>
          <a:p>
            <a:r>
              <a:t>【一句話】核心洞察只有一句:一切差異的根源是「要不要 ACK」。</a:t>
            </a:r>
          </a:p>
          <a:p>
            <a:r>
              <a:t>【展開這句話】</a:t>
            </a:r>
          </a:p>
          <a:p>
            <a:r>
              <a:t>· 要 ACK → 有回傳、有硬體重傳,可以逐台偵測丟包;但**必須逐台發送,指令必然錯開**。</a:t>
            </a:r>
          </a:p>
          <a:p>
            <a:r>
              <a:t>· 不要 ACK → 才能一包全體同收、真正同步;代價是**遙控器完全看不到飛機**。</a:t>
            </a:r>
          </a:p>
          <a:p>
            <a:endParaRPr/>
          </a:p>
          <a:p>
            <a:r>
              <a:t>【左邊 帶寬與同步性對照】</a:t>
            </a:r>
          </a:p>
          <a:p>
            <a:r>
              <a:t>· 私有要發 N 次,廣播只發 1 次</a:t>
            </a:r>
          </a:p>
          <a:p>
            <a:r>
              <a:t>· 私有各機錯開,廣播同時到達</a:t>
            </a:r>
          </a:p>
          <a:p>
            <a:r>
              <a:t>· 狀態回傳只有私有原生具備</a:t>
            </a:r>
          </a:p>
          <a:p>
            <a:endParaRPr/>
          </a:p>
          <a:p>
            <a:r>
              <a:t>【右邊 三種機制各自的定位】</a:t>
            </a:r>
          </a:p>
          <a:p>
            <a:r>
              <a:t>① 模式 C 私有 ACK 一對一 — 適合逐台調參與讀狀態</a:t>
            </a:r>
          </a:p>
          <a:p>
            <a:r>
              <a:t>② 模式 A 擴展 廣播選台 — 一次控一台、其餘懸停</a:t>
            </a:r>
          </a:p>
          <a:p>
            <a:r>
              <a:t>③ 模式 B 多工廣播 — 一包內各機獨立指令,帶寬仍是 O(1) 但可同時做不同動作</a:t>
            </a:r>
          </a:p>
          <a:p>
            <a:endParaRPr/>
          </a:p>
          <a:p>
            <a:r>
              <a:t>【結論】編隊同步場景廣播壓倒性勝出;需要逐台狀態時仍需私有 — 所以我三種都保留,而且可以即時切換。</a:t>
            </a:r>
          </a:p>
          <a:p>
            <a:endParaRPr/>
          </a:p>
          <a:p>
            <a:r>
              <a:t>【這頁的方法論價值】機制選擇服從研究目標,沒有絕對優劣。這是我想強調的判斷方式,也是全篇最像研究結論的一句話。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Q:三種機制會不會互相干擾?</a:t>
            </a:r>
          </a:p>
          <a:p>
            <a:r>
              <a:t>A:不會。它們用不同的 msgID 與位址,飛機端依 msgID 分流;而且同一時刻只有一種模式生效,可由遙控器即時切換。</a:t>
            </a:r>
          </a:p>
          <a:p>
            <a:endParaRPr/>
          </a:p>
          <a:p>
            <a:r>
              <a:t>Q:為什麼不只保留最好的那一種?</a:t>
            </a:r>
          </a:p>
          <a:p>
            <a:r>
              <a:t>A:沒有絕對最好的。編隊同步要廣播、逐台讀狀態要私有 — 機制選擇服從使用情境,這正是本頁想表達的方法論。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44 字≈12 秒 ｜ 完整版 262 字≈1.2 分</a:t>
            </a:r>
          </a:p>
          <a:p>
            <a:endParaRPr/>
          </a:p>
          <a:p>
            <a:r>
              <a:t>【一句話】切 M1 只有 ATK 動、切 M2 只有 nRF 動,而未被選中的那台原地懸停不掉高。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先切 M1:推搖桿,只有 ATK 響應,nRF 停在原處不動。</a:t>
            </a:r>
          </a:p>
          <a:p>
            <a:r>
              <a:t>② 再切 M2:同一支搖桿,換成只有 nRF 響應。</a:t>
            </a:r>
          </a:p>
          <a:p>
            <a:r>
              <a:t>③ **重點看未被選中的那台** — 它不是關機、不是緩降,而是**穩定懸停在原高度**。那是包尾目標字節不符時自動轉入的懸停待命。</a:t>
            </a:r>
          </a:p>
          <a:p>
            <a:endParaRPr/>
          </a:p>
          <a:p>
            <a:r>
              <a:t>【★ 這段驗證的是什麼】</a:t>
            </a:r>
          </a:p>
          <a:p>
            <a:r>
              <a:t>驗證模式 A 的三件事:目標字節能正確分流、待命機能維持高度、切換即時生效(下一個廣播週期就換人,約 10 毫秒)。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Q:切換的瞬間會不會有空檔?</a:t>
            </a:r>
          </a:p>
          <a:p>
            <a:r>
              <a:t>A:不會。兩台每一拍都收到同一個廣播包,差別只在誰執行、誰待命 — 切換只是目標字節的值變了,沒有任何重新建立連線的過程。</a:t>
            </a:r>
          </a:p>
          <a:p>
            <a:endParaRPr/>
          </a:p>
          <a:p>
            <a:r>
              <a:t>Q:待命那台為什麼不會因為「沒收到指令」而觸發失控保護?</a:t>
            </a:r>
          </a:p>
          <a:p>
            <a:r>
              <a:t>A:它其實**有**收到指令 — 收到的是「待命」這個指令,而且鏈路時間戳照常刷新。對飛機而言鏈路一直是活的。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24 字≈7 秒 ｜ 完整版 296 字≈1.3 分</a:t>
            </a:r>
          </a:p>
          <a:p>
            <a:endParaRPr/>
          </a:p>
          <a:p>
            <a:r>
              <a:t>【一句話】兩台飛機接收的是同一個封包,卻執行了不同的動作。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上位機下發一個 msgID=0x60 的封包,裡面有兩段:ATK 那段設手動油門、nRF 那段設懸停待命旗標。</a:t>
            </a:r>
          </a:p>
          <a:p>
            <a:r>
              <a:t>② 結果只有 ATK 轉動,nRF 靜止不動。</a:t>
            </a:r>
          </a:p>
          <a:p>
            <a:r>
              <a:t>③ 角色對調(改成 nRF 手動、ATK 待命)再發一次,結果一致 — 證明分流確實是按段內 ID,不是巧合或單向的偏差。</a:t>
            </a:r>
          </a:p>
          <a:p>
            <a:endParaRPr/>
          </a:p>
          <a:p>
            <a:r>
              <a:t>【★ 播完必說的一句】</a:t>
            </a:r>
          </a:p>
          <a:p>
            <a:r>
              <a:t>這是多工廣播相對於一般廣播的**唯一證據**。一般廣播只能讓所有飛機做同一件事;分時尋址雖能分別控制,卻要發 N 次、各機指令必然錯開。這裡是**一個封包、同時到達、各自不同** — 三者兼得。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Q:為什麼要用上位機發,不用遙控器?</a:t>
            </a:r>
          </a:p>
          <a:p>
            <a:r>
              <a:t>A:遙控器物理上只有兩根搖桿,只能產生一份數值,裝不滿兩段不同的指令。模式 B 的能力要在「指令來源能算出各機不同目標」時才有意義 — 那就是 PC 端,也正是本研究定位系統的下游應用。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45 字≈12 秒 ｜ </a:t>
            </a:r>
            <a:r>
              <a:rPr dirty="0" err="1"/>
              <a:t>完整版</a:t>
            </a:r>
            <a:r>
              <a:rPr dirty="0"/>
              <a:t> 165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一句話】接下來進系統二:定位。從</a:t>
            </a:r>
            <a:r>
              <a:rPr dirty="0"/>
              <a:t> RSSI </a:t>
            </a:r>
            <a:r>
              <a:rPr dirty="0" err="1"/>
              <a:t>這個訊號本身,到九步定位引擎,再到與文獻的對照與改進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怎麼講】這一章的順序是:先給四步全貌,再依序展開硬體、位置閉環、RSSI</a:t>
            </a:r>
            <a:r>
              <a:rPr dirty="0"/>
              <a:t> </a:t>
            </a:r>
            <a:r>
              <a:rPr dirty="0" err="1"/>
              <a:t>的三層深入、時槽寄生信標,最後是濾波三部曲與文獻對照。這裡要先提醒委員一件事:定位是本論文的支撐貢獻,不是主貢獻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320 字≈1.5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一句話】先給一張全景圖,再進細節</a:t>
            </a:r>
            <a:r>
              <a:rPr dirty="0"/>
              <a:t> — </a:t>
            </a:r>
            <a:r>
              <a:rPr dirty="0" err="1"/>
              <a:t>定位這一大塊分四個步驟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四個步驟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訊號採集</a:t>
            </a:r>
            <a:r>
              <a:rPr dirty="0"/>
              <a:t> — </a:t>
            </a:r>
            <a:r>
              <a:rPr dirty="0" err="1"/>
              <a:t>四個固定錨點持續廣播,信標接收各錨的訊號強度</a:t>
            </a:r>
            <a:r>
              <a:rPr dirty="0"/>
              <a:t>(RSSI)</a:t>
            </a:r>
          </a:p>
          <a:p>
            <a:r>
              <a:rPr dirty="0"/>
              <a:t>② </a:t>
            </a:r>
            <a:r>
              <a:rPr dirty="0" err="1"/>
              <a:t>距離換算</a:t>
            </a:r>
            <a:r>
              <a:rPr dirty="0"/>
              <a:t> — </a:t>
            </a:r>
            <a:r>
              <a:rPr dirty="0" err="1"/>
              <a:t>用對數距離模型把訊號強度轉為到各錨的估計距離</a:t>
            </a:r>
            <a:endParaRPr dirty="0"/>
          </a:p>
          <a:p>
            <a:r>
              <a:rPr dirty="0"/>
              <a:t>③ </a:t>
            </a:r>
            <a:r>
              <a:rPr dirty="0" err="1"/>
              <a:t>濾波處理</a:t>
            </a:r>
            <a:r>
              <a:rPr dirty="0"/>
              <a:t> — </a:t>
            </a:r>
            <a:r>
              <a:rPr dirty="0" err="1"/>
              <a:t>自適應</a:t>
            </a:r>
            <a:r>
              <a:rPr dirty="0"/>
              <a:t> </a:t>
            </a:r>
            <a:r>
              <a:rPr dirty="0" err="1"/>
              <a:t>Kalman:靜止強平滑、移動快跟手,對抗</a:t>
            </a:r>
            <a:r>
              <a:rPr dirty="0"/>
              <a:t> RSSI </a:t>
            </a:r>
            <a:r>
              <a:rPr dirty="0" err="1"/>
              <a:t>先天波動</a:t>
            </a:r>
            <a:endParaRPr dirty="0"/>
          </a:p>
          <a:p>
            <a:r>
              <a:rPr dirty="0"/>
              <a:t>④ </a:t>
            </a:r>
            <a:r>
              <a:rPr dirty="0" err="1"/>
              <a:t>定位解算</a:t>
            </a:r>
            <a:r>
              <a:rPr dirty="0"/>
              <a:t> — </a:t>
            </a:r>
            <a:r>
              <a:rPr dirty="0" err="1"/>
              <a:t>多錨距離交會出座標,上位機地圖即時顯示軌跡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接下來的展開順序】定位網路硬體</a:t>
            </a:r>
            <a:r>
              <a:rPr dirty="0"/>
              <a:t> → </a:t>
            </a:r>
            <a:r>
              <a:rPr dirty="0" err="1"/>
              <a:t>位置閉環</a:t>
            </a:r>
            <a:r>
              <a:rPr dirty="0"/>
              <a:t> → RSSI </a:t>
            </a:r>
            <a:r>
              <a:rPr dirty="0" err="1"/>
              <a:t>三層深入</a:t>
            </a:r>
            <a:r>
              <a:rPr dirty="0"/>
              <a:t> → </a:t>
            </a:r>
            <a:r>
              <a:rPr dirty="0" err="1"/>
              <a:t>時槽寄生信標</a:t>
            </a:r>
            <a:r>
              <a:rPr dirty="0"/>
              <a:t> → </a:t>
            </a:r>
            <a:r>
              <a:rPr dirty="0" err="1"/>
              <a:t>濾波三部曲</a:t>
            </a:r>
            <a:r>
              <a:rPr dirty="0"/>
              <a:t> → </a:t>
            </a:r>
            <a:r>
              <a:rPr dirty="0" err="1"/>
              <a:t>文獻對照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要先提醒委員一件事】定位是本論文的</a:t>
            </a:r>
            <a:r>
              <a:rPr dirty="0"/>
              <a:t>**</a:t>
            </a:r>
            <a:r>
              <a:rPr dirty="0" err="1"/>
              <a:t>支撐貢獻</a:t>
            </a:r>
            <a:r>
              <a:rPr dirty="0"/>
              <a:t>**,</a:t>
            </a:r>
            <a:r>
              <a:rPr dirty="0" err="1"/>
              <a:t>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的韌體重構。這樣講可以避免委員把評分重心放錯地方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A:與第三台飛控平台同型,採購與韌體維護成本低;且其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共線會使幾何精度因子(GDOP)劣化,交會出的位置誤差被放大。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用約定的信道,BLE 廣播用 37/38/39 三個廣播信道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確定的收發空隙內,而且窗口時長受控。原則是:**控制安全永遠優先於定位**。如果某一輪的空隙不夠(例如遙控封包來得密),就跳過這次信標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平台用自身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Q:三台飛機的信標會不會互相干擾?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但那是自由空間。室內有牆、有家具、有反射,衰減比自由空間快。所以把指數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這裡我要特別誠實(重要)】以上是除錯過程中在軟體與仿真層觀察到的**定性改善**,不是真實硬體的精度數字。真實硬體的定位精度實驗還沒做完,要等完整聯通後才能量化。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完全乾淨,四錨交會的幾何也會因為錨的分布而放大誤差。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23 字≈6 秒 ｜ </a:t>
            </a:r>
            <a:r>
              <a:rPr dirty="0" err="1"/>
              <a:t>完整版</a:t>
            </a:r>
            <a:r>
              <a:rPr dirty="0"/>
              <a:t> 368 字≈1.7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一句話】功能矩陣直接回答一個問題:你比現有的多了什麼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載板</a:t>
            </a:r>
            <a:r>
              <a:rPr dirty="0"/>
              <a:t> — </a:t>
            </a:r>
            <a:r>
              <a:rPr dirty="0" err="1"/>
              <a:t>只有本研究有</a:t>
            </a:r>
            <a:endParaRPr dirty="0"/>
          </a:p>
          <a:p>
            <a:r>
              <a:rPr dirty="0"/>
              <a:t>· nRF52840 </a:t>
            </a:r>
            <a:r>
              <a:rPr dirty="0" err="1"/>
              <a:t>單晶片飛控</a:t>
            </a:r>
            <a:r>
              <a:rPr dirty="0"/>
              <a:t> — </a:t>
            </a:r>
            <a:r>
              <a:rPr dirty="0" err="1"/>
              <a:t>本文的移植成果</a:t>
            </a:r>
            <a:endParaRPr dirty="0"/>
          </a:p>
          <a:p>
            <a:r>
              <a:rPr dirty="0"/>
              <a:t>· ESP32S3 </a:t>
            </a:r>
            <a:r>
              <a:rPr dirty="0" err="1"/>
              <a:t>支援</a:t>
            </a:r>
            <a:r>
              <a:rPr dirty="0"/>
              <a:t> — </a:t>
            </a:r>
            <a:r>
              <a:rPr dirty="0" err="1"/>
              <a:t>本研究同板直插</a:t>
            </a:r>
            <a:r>
              <a:rPr dirty="0"/>
              <a:t>(</a:t>
            </a:r>
            <a:r>
              <a:rPr dirty="0" err="1"/>
              <a:t>注意這一列</a:t>
            </a:r>
            <a:r>
              <a:rPr dirty="0"/>
              <a:t> ESP-FC </a:t>
            </a:r>
            <a:r>
              <a:rPr dirty="0" err="1"/>
              <a:t>也有</a:t>
            </a:r>
            <a:r>
              <a:rPr dirty="0"/>
              <a:t> ✓,</a:t>
            </a:r>
            <a:r>
              <a:rPr dirty="0" err="1"/>
              <a:t>我沒有選擇性呈現</a:t>
            </a:r>
            <a:r>
              <a:rPr dirty="0"/>
              <a:t>)</a:t>
            </a:r>
          </a:p>
          <a:p>
            <a:r>
              <a:rPr dirty="0"/>
              <a:t>· ATKP </a:t>
            </a:r>
            <a:r>
              <a:rPr dirty="0" err="1"/>
              <a:t>地面站協議</a:t>
            </a:r>
            <a:r>
              <a:rPr dirty="0"/>
              <a:t> — </a:t>
            </a:r>
            <a:r>
              <a:rPr dirty="0" err="1"/>
              <a:t>從原廠移植保留</a:t>
            </a:r>
            <a:endParaRPr dirty="0"/>
          </a:p>
          <a:p>
            <a:r>
              <a:rPr dirty="0"/>
              <a:t>· BLE-RSSI </a:t>
            </a:r>
            <a:r>
              <a:rPr dirty="0" err="1"/>
              <a:t>室內定位</a:t>
            </a:r>
            <a:r>
              <a:rPr dirty="0"/>
              <a:t> — </a:t>
            </a:r>
            <a:r>
              <a:rPr dirty="0" err="1"/>
              <a:t>本研究新增</a:t>
            </a:r>
            <a:r>
              <a:rPr dirty="0"/>
              <a:t>(</a:t>
            </a:r>
            <a:r>
              <a:rPr dirty="0" err="1"/>
              <a:t>四錨</a:t>
            </a:r>
            <a:r>
              <a:rPr dirty="0"/>
              <a:t> + </a:t>
            </a:r>
            <a:r>
              <a:rPr dirty="0" err="1"/>
              <a:t>引擎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單遙控多機</a:t>
            </a:r>
            <a:r>
              <a:rPr dirty="0"/>
              <a:t>(</a:t>
            </a:r>
            <a:r>
              <a:rPr dirty="0" err="1"/>
              <a:t>廣播架構</a:t>
            </a:r>
            <a:r>
              <a:rPr dirty="0"/>
              <a:t>) — </a:t>
            </a:r>
            <a:r>
              <a:rPr dirty="0" err="1"/>
              <a:t>本研究新增,三機制實測</a:t>
            </a:r>
            <a:endParaRPr dirty="0"/>
          </a:p>
          <a:p>
            <a:r>
              <a:rPr dirty="0"/>
              <a:t>· </a:t>
            </a:r>
            <a:r>
              <a:rPr dirty="0" err="1"/>
              <a:t>上位機整合</a:t>
            </a:r>
            <a:r>
              <a:rPr dirty="0"/>
              <a:t> — 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一句話收束】本研究</a:t>
            </a:r>
            <a:r>
              <a:rPr dirty="0"/>
              <a:t> = </a:t>
            </a:r>
            <a:r>
              <a:rPr dirty="0" err="1"/>
              <a:t>硬體彈性</a:t>
            </a:r>
            <a:r>
              <a:rPr dirty="0"/>
              <a:t>(</a:t>
            </a:r>
            <a:r>
              <a:rPr dirty="0" err="1"/>
              <a:t>可換</a:t>
            </a:r>
            <a:r>
              <a:rPr dirty="0"/>
              <a:t> MCU)+ </a:t>
            </a:r>
            <a:r>
              <a:rPr dirty="0" err="1"/>
              <a:t>協議傳承</a:t>
            </a:r>
            <a:r>
              <a:rPr dirty="0"/>
              <a:t>(ATKP)+ </a:t>
            </a:r>
            <a:r>
              <a:rPr dirty="0" err="1"/>
              <a:t>能力擴展</a:t>
            </a:r>
            <a:r>
              <a:rPr dirty="0"/>
              <a:t>(</a:t>
            </a:r>
            <a:r>
              <a:rPr dirty="0" err="1"/>
              <a:t>定位</a:t>
            </a:r>
            <a:r>
              <a:rPr dirty="0"/>
              <a:t>/</a:t>
            </a:r>
            <a:r>
              <a:rPr dirty="0" err="1"/>
              <a:t>多機</a:t>
            </a:r>
            <a:r>
              <a:rPr dirty="0"/>
              <a:t>/</a:t>
            </a:r>
            <a:r>
              <a:rPr dirty="0" err="1"/>
              <a:t>分級失控保護</a:t>
            </a:r>
            <a:r>
              <a:rPr dirty="0"/>
              <a:t>)</a:t>
            </a:r>
            <a:r>
              <a:rPr dirty="0" err="1"/>
              <a:t>的交集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【要主動提的一點】ESP32S3 </a:t>
            </a:r>
            <a:r>
              <a:rPr dirty="0" err="1"/>
              <a:t>那一列</a:t>
            </a:r>
            <a:r>
              <a:rPr dirty="0"/>
              <a:t> ESP-FC </a:t>
            </a:r>
            <a:r>
              <a:rPr dirty="0" err="1"/>
              <a:t>是勝出的</a:t>
            </a:r>
            <a:r>
              <a:rPr dirty="0"/>
              <a:t> — </a:t>
            </a:r>
            <a:r>
              <a:rPr dirty="0" err="1"/>
              <a:t>我沒有刻意隱藏。誠實呈現對照,比全部打勾更可信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Q:ESP-FC 在 ESP32S3 </a:t>
            </a:r>
            <a:r>
              <a:rPr dirty="0" err="1"/>
              <a:t>那一列也打勾,那你的優勢在哪</a:t>
            </a:r>
            <a:r>
              <a:rPr dirty="0"/>
              <a:t>?</a:t>
            </a:r>
          </a:p>
          <a:p>
            <a:r>
              <a:rPr dirty="0"/>
              <a:t>A:我沒有隱藏這一點。ESP-FC </a:t>
            </a:r>
            <a:r>
              <a:rPr dirty="0" err="1"/>
              <a:t>是成熟的開源方案,我直接採用它當第三平台。本研究的價值在</a:t>
            </a:r>
            <a:r>
              <a:rPr dirty="0"/>
              <a:t>**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的載板</a:t>
            </a:r>
            <a:r>
              <a:rPr dirty="0"/>
              <a:t>**與**跨 MCU </a:t>
            </a:r>
            <a:r>
              <a:rPr dirty="0" err="1"/>
              <a:t>的韌體重構</a:t>
            </a:r>
            <a:r>
              <a:rPr dirty="0"/>
              <a:t>** — </a:t>
            </a:r>
            <a:r>
              <a:rPr dirty="0" err="1"/>
              <a:t>讓不同晶片能在同一物理基底上被公平評估,這是既有方案都沒有的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Q:原廠 MiniFly </a:t>
            </a:r>
            <a:r>
              <a:rPr dirty="0" err="1"/>
              <a:t>也能飛,你的差別是什麼</a:t>
            </a:r>
            <a:r>
              <a:rPr dirty="0"/>
              <a:t>?</a:t>
            </a:r>
          </a:p>
          <a:p>
            <a:r>
              <a:rPr dirty="0"/>
              <a:t>A:原廠是封閉的雙 MCU </a:t>
            </a:r>
            <a:r>
              <a:rPr dirty="0" err="1"/>
              <a:t>架構,無法更換主控、無法擴展定位與多機。本研究把它重建成可自行掌握、可繼續延伸的平台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個飛控平台同板實證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28 字≈8 秒 ｜ </a:t>
            </a:r>
            <a:r>
              <a:rPr dirty="0" err="1"/>
              <a:t>完整版</a:t>
            </a:r>
            <a:r>
              <a:rPr dirty="0"/>
              <a:t> 457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一句話】五項工作、各自的真實狀態</a:t>
            </a:r>
            <a:r>
              <a:rPr dirty="0"/>
              <a:t> — </a:t>
            </a:r>
            <a:r>
              <a:rPr dirty="0" err="1"/>
              <a:t>注意兩處標籤是有意區分的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逐項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飛控載板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自製</a:t>
            </a:r>
            <a:r>
              <a:rPr dirty="0"/>
              <a:t> PCB + </a:t>
            </a:r>
            <a:r>
              <a:rPr dirty="0" err="1"/>
              <a:t>雙平台直插實證</a:t>
            </a:r>
            <a:r>
              <a:rPr dirty="0"/>
              <a:t>)</a:t>
            </a:r>
          </a:p>
          <a:p>
            <a:r>
              <a:rPr dirty="0"/>
              <a:t>② 跨 MCU </a:t>
            </a:r>
            <a:r>
              <a:rPr dirty="0" err="1"/>
              <a:t>韌體移植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(雙 </a:t>
            </a:r>
            <a:r>
              <a:rPr dirty="0" err="1"/>
              <a:t>MCU→單晶片</a:t>
            </a:r>
            <a:r>
              <a:rPr dirty="0"/>
              <a:t> + </a:t>
            </a:r>
            <a:r>
              <a:rPr dirty="0" err="1"/>
              <a:t>三層系統問題</a:t>
            </a:r>
            <a:r>
              <a:rPr dirty="0"/>
              <a:t>)</a:t>
            </a:r>
          </a:p>
          <a:p>
            <a:r>
              <a:rPr dirty="0"/>
              <a:t>③ BLE </a:t>
            </a:r>
            <a:r>
              <a:rPr dirty="0" err="1"/>
              <a:t>定位引擎</a:t>
            </a:r>
            <a:r>
              <a:rPr dirty="0"/>
              <a:t> — **</a:t>
            </a:r>
            <a:r>
              <a:rPr dirty="0" err="1"/>
              <a:t>設計完成</a:t>
            </a:r>
            <a:r>
              <a:rPr dirty="0"/>
              <a:t>**(</a:t>
            </a:r>
            <a:r>
              <a:rPr dirty="0" err="1"/>
              <a:t>九步處理鏈</a:t>
            </a:r>
            <a:r>
              <a:rPr dirty="0"/>
              <a:t> + </a:t>
            </a:r>
            <a:r>
              <a:rPr dirty="0" err="1"/>
              <a:t>文獻對照</a:t>
            </a:r>
            <a:r>
              <a:rPr dirty="0"/>
              <a:t>),</a:t>
            </a:r>
            <a:r>
              <a:rPr dirty="0" err="1"/>
              <a:t>精度尚待量化</a:t>
            </a:r>
            <a:endParaRPr dirty="0"/>
          </a:p>
          <a:p>
            <a:r>
              <a:rPr dirty="0"/>
              <a:t>④ </a:t>
            </a:r>
            <a:r>
              <a:rPr dirty="0" err="1"/>
              <a:t>地面站整合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r>
              <a:rPr dirty="0"/>
              <a:t>)</a:t>
            </a:r>
          </a:p>
          <a:p>
            <a:r>
              <a:rPr dirty="0"/>
              <a:t>⑤ </a:t>
            </a:r>
            <a:r>
              <a:rPr dirty="0" err="1"/>
              <a:t>單遙控多機</a:t>
            </a:r>
            <a:r>
              <a:rPr dirty="0"/>
              <a:t> — **</a:t>
            </a:r>
            <a:r>
              <a:rPr dirty="0" err="1"/>
              <a:t>實測驗證</a:t>
            </a:r>
            <a:r>
              <a:rPr dirty="0"/>
              <a:t>**(</a:t>
            </a:r>
            <a:r>
              <a:rPr dirty="0" err="1"/>
              <a:t>廣播定址</a:t>
            </a:r>
            <a:r>
              <a:rPr dirty="0"/>
              <a:t> + </a:t>
            </a:r>
            <a:r>
              <a:rPr dirty="0" err="1"/>
              <a:t>多工廣播</a:t>
            </a:r>
            <a:r>
              <a:rPr dirty="0"/>
              <a:t> + </a:t>
            </a:r>
            <a:r>
              <a:rPr dirty="0" err="1"/>
              <a:t>點名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第③和第⑤的標籤不同,這是刻意的</a:t>
            </a:r>
            <a:r>
              <a:rPr dirty="0"/>
              <a:t>】</a:t>
            </a:r>
          </a:p>
          <a:p>
            <a:r>
              <a:rPr dirty="0" err="1"/>
              <a:t>定位標「設計完成」而不是「實測驗證</a:t>
            </a:r>
            <a:r>
              <a:rPr dirty="0"/>
              <a:t>」,</a:t>
            </a:r>
            <a:r>
              <a:rPr dirty="0" err="1"/>
              <a:t>因為硬體精度實驗還沒做完</a:t>
            </a:r>
            <a:r>
              <a:rPr dirty="0"/>
              <a:t> — </a:t>
            </a:r>
            <a:r>
              <a:rPr dirty="0" err="1"/>
              <a:t>我不會把設計完成說成實測完成</a:t>
            </a:r>
            <a:r>
              <a:rPr dirty="0"/>
              <a:t>。</a:t>
            </a:r>
          </a:p>
          <a:p>
            <a:r>
              <a:rPr dirty="0" err="1"/>
              <a:t>多機標「實測驗證</a:t>
            </a:r>
            <a:r>
              <a:rPr dirty="0"/>
              <a:t>」,</a:t>
            </a:r>
            <a:r>
              <a:rPr dirty="0" err="1"/>
              <a:t>因為三個機制都有實機影片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收束的話】這份研究把一套封閉的商用飛控,拆解到暫存器層級再重建在另一顆晶片上;過程中做出了可換</a:t>
            </a:r>
            <a:r>
              <a:rPr dirty="0"/>
              <a:t> MCU </a:t>
            </a:r>
            <a:r>
              <a:rPr dirty="0" err="1"/>
              <a:t>的硬體載板,也把平台能力延伸到室內定位與多機控制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它不是一個做完就結束的系統,而是一個我完全掌握、可以繼續往上加東西的平台</a:t>
            </a:r>
            <a:r>
              <a:rPr dirty="0"/>
              <a:t> 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Q:為什麼定位標「設計完成」而多機標「實測驗證」?</a:t>
            </a:r>
          </a:p>
          <a:p>
            <a:r>
              <a:rPr dirty="0"/>
              <a:t>A:標準一致 — </a:t>
            </a:r>
            <a:r>
              <a:rPr dirty="0" err="1"/>
              <a:t>有實機驗證的才標實測。多機三個機制都有實機影片;定位鏈路雖已打通,但精度數字尚未量化,所以只標設計完成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Q:五項工作哪一項最重要?</a:t>
            </a:r>
          </a:p>
          <a:p>
            <a:r>
              <a:rPr dirty="0"/>
              <a:t>A:跨 MCU </a:t>
            </a:r>
            <a:r>
              <a:rPr dirty="0" err="1"/>
              <a:t>韌體移植。它是全篇的技術核心,其餘四項都建立在這個平台之上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31 字≈8 秒 ｜ </a:t>
            </a:r>
            <a:r>
              <a:rPr dirty="0" err="1"/>
              <a:t>完整版</a:t>
            </a:r>
            <a:r>
              <a:rPr dirty="0"/>
              <a:t> 362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一句話】三個方向的未來工作,其中一個正好證明可換</a:t>
            </a:r>
            <a:r>
              <a:rPr dirty="0"/>
              <a:t> MCU </a:t>
            </a:r>
            <a:r>
              <a:rPr dirty="0" err="1"/>
              <a:t>載板的價值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未來工作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完成</a:t>
            </a:r>
            <a:r>
              <a:rPr dirty="0"/>
              <a:t> PC </a:t>
            </a:r>
            <a:r>
              <a:rPr dirty="0" err="1"/>
              <a:t>端自動編隊</a:t>
            </a:r>
            <a:r>
              <a:rPr dirty="0"/>
              <a:t> — </a:t>
            </a:r>
            <a:r>
              <a:rPr dirty="0" err="1"/>
              <a:t>以定位回授驅動多工廣播,這是模式</a:t>
            </a:r>
            <a:r>
              <a:rPr dirty="0"/>
              <a:t> B </a:t>
            </a:r>
            <a:r>
              <a:rPr dirty="0" err="1"/>
              <a:t>打通後最直接的延伸</a:t>
            </a:r>
            <a:endParaRPr dirty="0"/>
          </a:p>
          <a:p>
            <a:r>
              <a:rPr dirty="0"/>
              <a:t>② </a:t>
            </a:r>
            <a:r>
              <a:rPr dirty="0" err="1"/>
              <a:t>定位精度實測與量化</a:t>
            </a:r>
            <a:r>
              <a:rPr dirty="0"/>
              <a:t> — </a:t>
            </a:r>
            <a:r>
              <a:rPr dirty="0" err="1"/>
              <a:t>目前唯一的量化空缺</a:t>
            </a:r>
            <a:endParaRPr dirty="0"/>
          </a:p>
          <a:p>
            <a:r>
              <a:rPr dirty="0"/>
              <a:t>③ BLE 6.0 </a:t>
            </a:r>
            <a:r>
              <a:rPr dirty="0" err="1"/>
              <a:t>通道探測</a:t>
            </a:r>
            <a:r>
              <a:rPr dirty="0"/>
              <a:t> — </a:t>
            </a:r>
            <a:r>
              <a:rPr dirty="0" err="1"/>
              <a:t>這是新標準內建的高精度測距。要升級只需換一顆支援的</a:t>
            </a:r>
            <a:r>
              <a:rPr dirty="0"/>
              <a:t> MCU </a:t>
            </a:r>
            <a:r>
              <a:rPr dirty="0" err="1"/>
              <a:t>插上去</a:t>
            </a:r>
            <a:r>
              <a:rPr dirty="0"/>
              <a:t> ← **</a:t>
            </a:r>
            <a:r>
              <a:rPr dirty="0" err="1"/>
              <a:t>這正是可換</a:t>
            </a:r>
            <a:r>
              <a:rPr dirty="0"/>
              <a:t> MCU </a:t>
            </a:r>
            <a:r>
              <a:rPr dirty="0" err="1"/>
              <a:t>載板的優勢,呼應主貢獻二</a:t>
            </a:r>
            <a:r>
              <a:rPr dirty="0"/>
              <a:t>**</a:t>
            </a:r>
          </a:p>
          <a:p>
            <a:r>
              <a:rPr dirty="0"/>
              <a:t>④ </a:t>
            </a:r>
            <a:r>
              <a:rPr dirty="0" err="1"/>
              <a:t>光流、雷射測距與平台化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結語】這份研究把一套封閉的商用飛控,拆解到暫存器層級再重建在另一顆晶片上;過程中做出了可換</a:t>
            </a:r>
            <a:r>
              <a:rPr dirty="0"/>
              <a:t> MCU </a:t>
            </a:r>
            <a:r>
              <a:rPr dirty="0" err="1"/>
              <a:t>的硬體載板,也把平台能力延伸到室內定位與多機控制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它不是一個做完就結束的系統,而是一個我完全掌握、可以繼續往上加東西的平台</a:t>
            </a:r>
            <a:r>
              <a:rPr dirty="0"/>
              <a:t> 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感謝教授指導,感謝各位委員,敬請指教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Q:未來工作有優先順序嗎?</a:t>
            </a:r>
          </a:p>
          <a:p>
            <a:r>
              <a:rPr dirty="0"/>
              <a:t>A:第一是定位精度實測與量化,那是目前唯一的空缺;第二是 PC </a:t>
            </a:r>
            <a:r>
              <a:rPr dirty="0" err="1"/>
              <a:t>端自動編隊,模式</a:t>
            </a:r>
            <a:r>
              <a:rPr dirty="0"/>
              <a:t> B </a:t>
            </a:r>
            <a:r>
              <a:rPr dirty="0" err="1"/>
              <a:t>打通後這是最直接的延伸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Q:BLE 6.0 </a:t>
            </a:r>
            <a:r>
              <a:rPr dirty="0" err="1"/>
              <a:t>通道探測要換硬體嗎</a:t>
            </a:r>
            <a:r>
              <a:rPr dirty="0"/>
              <a:t>?</a:t>
            </a:r>
          </a:p>
          <a:p>
            <a:r>
              <a:rPr dirty="0"/>
              <a:t>A:要換一顆支援的 MCU — </a:t>
            </a:r>
            <a:r>
              <a:rPr dirty="0" err="1"/>
              <a:t>而這正好是可換</a:t>
            </a:r>
            <a:r>
              <a:rPr dirty="0"/>
              <a:t> MCU </a:t>
            </a:r>
            <a:r>
              <a:rPr dirty="0" err="1"/>
              <a:t>載板的價值:只需拔插主控,不必重做整塊板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研究生: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[你的姓名]</a:t>
            </a: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指導教授: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[教授姓名] 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[系所名稱]中華民國 [○○○] 年 [○]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9273" y="23957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韌體移植與通訊協定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9273" y="426110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95577" y="4434840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5577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6514" y="447929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49273" y="519379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95577" y="5367528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6514" y="541147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結論與未來展望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傳統硬體故障難以檢測與更換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00200" y="20665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傳統微型飛控將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與感測器直接焊接於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載板上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，當元件損壞或異常時難以單獨量測除錯，且無法拆卸更換。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開源平台的 </a:t>
            </a:r>
            <a:r>
              <a:rPr lang="en-US" altLang="zh-TW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協定與晶片架構受到硬體限制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需外接射頻模塊（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模組），且常見的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平台硬體底層難以原生支援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3542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室內無法使用衛星定位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室內、隧道與倉儲環境收不到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GNSS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衛星訊號。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146304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本研究的做法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0" y="1773936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自主設計一款</a:t>
            </a:r>
            <a:r>
              <a:rPr lang="zh-TW" alt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支援可更換 </a:t>
            </a:r>
            <a:r>
              <a:rPr 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 </a:t>
            </a:r>
            <a:r>
              <a:rPr lang="zh-TW" alt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核心板</a:t>
            </a:r>
            <a:r>
              <a:rPr 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的PCB</a:t>
            </a:r>
            <a:r>
              <a:rPr 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</a:t>
            </a:r>
            <a:endParaRPr lang="en-US" sz="1550" dirty="0"/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並將商用飛控韌體移植至 </a:t>
            </a:r>
            <a:r>
              <a:rPr lang="en-US" altLang="zh-TW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SoC </a:t>
            </a: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平台，</a:t>
            </a:r>
            <a:endParaRPr lang="en-US" altLang="zh-TW" sz="1400" dirty="0">
              <a:solidFill>
                <a:srgbClr val="FFFFFF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同時於該平台上導入 </a:t>
            </a:r>
            <a:r>
              <a:rPr lang="en-US" altLang="zh-TW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室內定位系統。</a:t>
            </a:r>
            <a:endParaRPr lang="en-US" sz="155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99EA73AE-6D6E-4E98-9F2B-C9C8F69EF9CF}"/>
              </a:ext>
            </a:extLst>
          </p:cNvPr>
          <p:cNvSpPr/>
          <p:nvPr/>
        </p:nvSpPr>
        <p:spPr>
          <a:xfrm>
            <a:off x="685800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2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22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D849FB7-B18B-479C-9310-2B24D8C5F42E}"/>
              </a:ext>
            </a:extLst>
          </p:cNvPr>
          <p:cNvSpPr/>
          <p:nvPr/>
        </p:nvSpPr>
        <p:spPr>
          <a:xfrm>
            <a:off x="6858000" y="3762756"/>
            <a:ext cx="4572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建立兼具高自主修改度、方便檢測更換、原廠通訊相容性與室內定位能力的微型無人機實驗平台。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4E5FA17-FC17-481B-9146-CAFC7200EA69}"/>
              </a:ext>
            </a:extLst>
          </p:cNvPr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4D070E44-C7BD-4430-92F9-E08F2A516C65}"/>
              </a:ext>
            </a:extLst>
          </p:cNvPr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68FE900-A2C4-43AF-A30A-26AFC4169D35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1F31D7D-CF7E-4834-8E7F-8D5FCBB7829E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96755BA-2F93-4602-AD7A-D47392B7E4C4}"/>
              </a:ext>
            </a:extLst>
          </p:cNvPr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自製飛控電路板（硬體層面）</a:t>
            </a:r>
            <a:endParaRPr lang="en-US" sz="170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2B77CB8-637F-4E4F-90D7-CADE5F102232}"/>
              </a:ext>
            </a:extLst>
          </p:cNvPr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解決傳統飛控焊接難以儀器檢測與單獨替換痛點，提升實驗擴充與維護性。</a:t>
            </a:r>
            <a:endParaRPr lang="en-US" sz="14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4FB756C-84CF-400E-9E82-70BA0ADAA2EB}"/>
              </a:ext>
            </a:extLst>
          </p:cNvPr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84AD2A24-5577-4BE0-917F-C86DC6036FE7}"/>
              </a:ext>
            </a:extLst>
          </p:cNvPr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E223A43-97C3-49C6-AF09-6D27DDCCBB79}"/>
              </a:ext>
            </a:extLst>
          </p:cNvPr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27FDCD2-C3D4-403D-9D8A-6639FB27EE1E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D56D99B6-4B58-4FA6-BD20-F44540958339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2980B869-7BFE-483B-B81D-9789382E42F4}"/>
              </a:ext>
            </a:extLst>
          </p:cNvPr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飛控韌體移植（韌體與通訊層面）</a:t>
            </a:r>
            <a:endParaRPr lang="en-US" sz="1700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00968B82-DC34-4CB4-ABB7-8BCB99AACEB9}"/>
              </a:ext>
            </a:extLst>
          </p:cNvPr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整合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2.4GHz RF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並原生支援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通訊協定，完全相容原廠遙控生態。</a:t>
            </a:r>
            <a:endParaRPr lang="en-US" sz="14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A9A03510-DDAC-42BC-90E7-3E2C3C87D63F}"/>
              </a:ext>
            </a:extLst>
          </p:cNvPr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53590D6-CC96-4067-A057-ED70B4C85248}"/>
              </a:ext>
            </a:extLst>
          </p:cNvPr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43A419DA-FE00-4DFB-98B8-8B166DCB444D}"/>
              </a:ext>
            </a:extLst>
          </p:cNvPr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A72934C9-4513-4631-ABD3-EFE99FA75DCC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8428737E-743B-4315-B884-15F46E373337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59A5D810-C694-4E2E-A78F-5F0D98E539C7}"/>
              </a:ext>
            </a:extLst>
          </p:cNvPr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室內定位整合（應用層面）</a:t>
            </a:r>
            <a:endParaRPr lang="en-US" sz="170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35B19DFB-11F3-4A4C-90FE-37DABDB6A47A}"/>
              </a:ext>
            </a:extLst>
          </p:cNvPr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實現微型無人機於室內環境之自主定位與控制能力。</a:t>
            </a:r>
            <a:endParaRPr lang="en-US" sz="14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3A260918-3638-44ED-8035-5E79E3C9DE56}"/>
              </a:ext>
            </a:extLst>
          </p:cNvPr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研究進度總覽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21031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210312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完成飛控電路板的設計與製作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5968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 nRF52840 的韌體移植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309067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0704" y="309067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解決無線、USB 與排程三項問題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3232" y="358444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0704" y="358444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完成感測融合、定高與失控保護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3232" y="407822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40782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架設一個閘道與四個錨點的定位網路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45720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457200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完成定位解算流程的設計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" y="506577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506577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同一塊電路板換插 ESP32S3 驗證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0" y="146304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297680" y="1463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進行中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462272" y="21031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09744" y="210312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上位機與遙控器的連線整合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62272" y="25968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9744" y="25968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三種廣播機制的整合測試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62272" y="309067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9744" y="309067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定位精度的實機量測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62272" y="358444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9744" y="358444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定位改進方法的驗證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46720" y="146304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8046720" y="14630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046720" y="1463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待進行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11312" y="21031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558784" y="210312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兩架同時受控的編隊飛行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11312" y="25968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558784" y="25968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以定位結果回授的自主飛行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11312" y="309067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58784" y="309067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定位誤差縮小到 2 公尺以內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211312" y="358444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58784" y="358444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論文撰寫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上位機:顯示地圖、解算位置、下達指令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飛控系統(系統一)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遙控器(</a:t>
            </a:r>
            <a:r>
              <a:rPr lang="zh-CN" alt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連接電腦與發送控制信號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定位系統(系統二)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zh-TW" alt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中繼站</a:t>
            </a: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(連接無線與電腦)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</a:t>
            </a:r>
            <a:r>
              <a:rPr lang="en-US" sz="1100" b="1" dirty="0"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</a:t>
            </a: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自製電路板與</a:t>
            </a:r>
            <a:r>
              <a:rPr lang="zh-CN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系統架構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電路板設計</a:t>
            </a:r>
            <a:r>
              <a:rPr lang="en-US" altLang="zh-TW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、 </a:t>
            </a:r>
            <a:r>
              <a:rPr lang="zh-CN" alt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正面配置與四項設計重點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23731"/>
            <a:ext cx="3931920" cy="464347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4663440" y="1423731"/>
            <a:ext cx="6949440" cy="4643469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937760" y="16459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四項核心硬體設計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19"/>
            <a:ext cx="6400800" cy="984123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5120640" y="233172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50992" y="219456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</a:t>
            </a: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50992" y="2487167"/>
            <a:ext cx="55321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採用雙排母引出腳位，支援</a:t>
            </a:r>
            <a:r>
              <a:rPr lang="en-US" altLang="zh-CN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 與 </a:t>
            </a:r>
            <a:r>
              <a:rPr lang="en-US" altLang="zh-TW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感測模組獨立拆裝與訊號檢測。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37760" y="316668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120640" y="3349561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120640" y="33495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50992" y="3237012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板框一體化輕量結構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50992" y="3550729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本體兼具機身結構與機臂，端點直接整合馬達固定座，實現結構輕量化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937760" y="505057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5120640" y="523345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120640" y="523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50992" y="5142009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降低電磁干擾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</a:t>
            </a:r>
            <a:r>
              <a:rPr lang="en-US" altLang="zh-CN" sz="13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EMI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）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650992" y="5526056"/>
            <a:ext cx="5532120" cy="417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M1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～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M4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插座置於背面、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置於正面；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板厚與母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高度增加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軸距離，降低電磁耦合。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馬達端配置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SS14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續流二極體與去耦電容，吸收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瞬間電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壓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變化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與高頻雜訊。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37760" y="4095022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5120640" y="4277902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120640" y="42779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3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650992" y="4186462"/>
            <a:ext cx="5532120" cy="285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重心平衡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與空間利用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650992" y="447907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母排架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模組產生的下方空隙佈置被動元件，提高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板面利用率。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對稱佈置主控與感測器，確保安裝後重心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比較平衡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3761266-4EA9-40DA-A391-20BCEDF14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13636" y="1913928"/>
            <a:ext cx="2562387" cy="3741851"/>
          </a:xfrm>
          <a:prstGeom prst="rect">
            <a:avLst/>
          </a:prstGeom>
        </p:spPr>
      </p:pic>
      <p:pic>
        <p:nvPicPr>
          <p:cNvPr id="34" name="Image 1" descr="img/pcb_back.png">
            <a:extLst>
              <a:ext uri="{FF2B5EF4-FFF2-40B4-BE49-F238E27FC236}">
                <a16:creationId xmlns:a16="http://schemas.microsoft.com/office/drawing/2014/main" id="{C2645FC4-D408-4EA2-BEA0-3F0956DABBB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5344" y="3621023"/>
            <a:ext cx="2330496" cy="2401716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0CBE9AF6-31FF-46E5-B999-27DE9317DDC0}"/>
              </a:ext>
            </a:extLst>
          </p:cNvPr>
          <p:cNvSpPr/>
          <p:nvPr/>
        </p:nvSpPr>
        <p:spPr>
          <a:xfrm>
            <a:off x="788276" y="5125896"/>
            <a:ext cx="178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pic>
        <p:nvPicPr>
          <p:cNvPr id="7" name="Image 0" descr="img/pcb_front.png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98" y="1546544"/>
            <a:ext cx="2330496" cy="24649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52592" y="2115049"/>
            <a:ext cx="1927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電路板的元件組成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原理圖、背面實體與板上主要元件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img/pcb_s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39496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617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電路原理圖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1554480"/>
            <a:ext cx="433026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img/pcb_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84" y="1705356"/>
            <a:ext cx="2965494" cy="2926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0" y="4480560"/>
            <a:ext cx="4330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82296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主控插座(可更換模組)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01752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GY-91 感測模組座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21208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四路 MOSFET 馬達驅動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40664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電源濾波電容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60120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雙 LED 狀態指示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三個飛控平台對照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三個平台的主控、無線與韌體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 MCU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r>
              <a:rPr lang="zh-CN" alt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（被移植）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對照組,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也是多機控制的一員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nRF52840(M4F)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本研究移植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主要對象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驗證主控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48640" y="57454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原廠系統框架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MiniFly 開發指南 圖 4.1.1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pic>
        <p:nvPicPr>
          <p:cNvPr id="8" name="Picture 7" descr="atk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5000"/>
            <a:ext cx="11064240" cy="4058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本文系統框架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以相同畫法呈現本研究的硬體組成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4445000" y="1422400"/>
            <a:ext cx="2286000" cy="60960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300" b="0">
                <a:solidFill>
                  <a:srgbClr val="111111"/>
                </a:solidFill>
              </a:rPr>
              <a:t>馬達驅動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四路 MOSFET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3000" y="2235200"/>
            <a:ext cx="4318000" cy="2717800"/>
          </a:xfrm>
          <a:prstGeom prst="rect">
            <a:avLst/>
          </a:prstGeom>
          <a:solidFill>
            <a:srgbClr val="E8F1FB"/>
          </a:solidFill>
          <a:ln w="15240">
            <a:solidFill>
              <a:srgbClr val="33333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89200" y="2286000"/>
            <a:ext cx="4165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</a:rPr>
              <a:t>XIAO nRF52840 Sense 模組(可插拔更換)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90800" y="2540000"/>
            <a:ext cx="3962400" cy="965200"/>
          </a:xfrm>
          <a:prstGeom prst="rect">
            <a:avLst/>
          </a:prstGeom>
          <a:solidFill>
            <a:srgbClr val="7B9FE0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350" b="1">
                <a:solidFill>
                  <a:srgbClr val="111111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64MHz Cortex-M4F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1MB FLASH ｜ 256KB 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800" y="3606800"/>
            <a:ext cx="1905000" cy="584200"/>
          </a:xfrm>
          <a:prstGeom prst="rect">
            <a:avLst/>
          </a:prstGeom>
          <a:solidFill>
            <a:srgbClr val="B8D9F2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150" b="0" dirty="0" err="1">
                <a:solidFill>
                  <a:srgbClr val="111111"/>
                </a:solidFill>
              </a:rPr>
              <a:t>板載晶片天線</a:t>
            </a:r>
            <a:endParaRPr sz="1150" b="0" dirty="0">
              <a:solidFill>
                <a:srgbClr val="11111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48200" y="3606800"/>
            <a:ext cx="1905000" cy="584200"/>
          </a:xfrm>
          <a:prstGeom prst="rect">
            <a:avLst/>
          </a:prstGeom>
          <a:solidFill>
            <a:srgbClr val="B8D9F2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150" b="0" dirty="0">
                <a:solidFill>
                  <a:srgbClr val="111111"/>
                </a:solidFill>
              </a:rPr>
              <a:t>LSM6DS3TR-C</a:t>
            </a:r>
          </a:p>
          <a:p>
            <a:pPr algn="ctr"/>
            <a:r>
              <a:rPr sz="1050" b="0" dirty="0" err="1">
                <a:solidFill>
                  <a:srgbClr val="111111"/>
                </a:solidFill>
              </a:rPr>
              <a:t>板載六軸</a:t>
            </a:r>
            <a:endParaRPr sz="1050" b="0" dirty="0">
              <a:solidFill>
                <a:srgbClr val="11111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90800" y="4292600"/>
            <a:ext cx="3962400" cy="533400"/>
          </a:xfrm>
          <a:prstGeom prst="rect">
            <a:avLst/>
          </a:prstGeom>
          <a:solidFill>
            <a:srgbClr val="B8D9F2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200" b="0">
                <a:solidFill>
                  <a:srgbClr val="111111"/>
                </a:solidFill>
              </a:rPr>
              <a:t>內建充電電路(BQ25101)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3000" y="2362200"/>
            <a:ext cx="2286000" cy="139700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250" b="1">
                <a:solidFill>
                  <a:srgbClr val="111111"/>
                </a:solidFill>
              </a:rPr>
              <a:t>GY-91　10DOF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三軸加速度計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三軸陀螺儀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三軸磁力計</a:t>
            </a:r>
          </a:p>
          <a:p>
            <a:pPr algn="ctr"/>
            <a:r>
              <a:rPr sz="1100" b="0">
                <a:solidFill>
                  <a:srgbClr val="111111"/>
                </a:solidFill>
              </a:rPr>
              <a:t>氣壓計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3000" y="4038600"/>
            <a:ext cx="2286000" cy="78740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250" b="0">
                <a:solidFill>
                  <a:srgbClr val="111111"/>
                </a:solidFill>
              </a:rPr>
              <a:t>鋰電池</a:t>
            </a:r>
          </a:p>
          <a:p>
            <a:pPr algn="ctr"/>
            <a:r>
              <a:rPr sz="1050" b="0">
                <a:solidFill>
                  <a:srgbClr val="111111"/>
                </a:solidFill>
              </a:rPr>
              <a:t>(經模組內建電路充電)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13000" y="5181600"/>
            <a:ext cx="2286000" cy="60960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300" b="0">
                <a:solidFill>
                  <a:srgbClr val="111111"/>
                </a:solidFill>
              </a:rPr>
              <a:t>USB 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9100" y="2032000"/>
            <a:ext cx="1397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>
                <a:solidFill>
                  <a:srgbClr val="111111"/>
                </a:solidFill>
              </a:rPr>
              <a:t>PWM×4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3500" y="2819400"/>
            <a:ext cx="1397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>
                <a:solidFill>
                  <a:srgbClr val="111111"/>
                </a:solidFill>
              </a:rPr>
              <a:t>TWIM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3500" y="4191000"/>
            <a:ext cx="1397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>
                <a:solidFill>
                  <a:srgbClr val="111111"/>
                </a:solidFill>
              </a:rPr>
              <a:t>BAT+/BAT−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2500" y="4953000"/>
            <a:ext cx="1397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>
                <a:solidFill>
                  <a:srgbClr val="111111"/>
                </a:solidFill>
              </a:rPr>
              <a:t>CDC / 5V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000" y="5918200"/>
            <a:ext cx="6604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>
                <a:solidFill>
                  <a:srgbClr val="111111"/>
                </a:solidFill>
              </a:rPr>
              <a:t>※ 載板無獨立充電與穩壓晶片,充電由模組內建電路完成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588000" y="2032000"/>
            <a:ext cx="0" cy="20320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731000" y="3060700"/>
            <a:ext cx="762000" cy="0"/>
          </a:xfrm>
          <a:prstGeom prst="line">
            <a:avLst/>
          </a:prstGeom>
          <a:ln w="16510">
            <a:solidFill>
              <a:srgbClr val="333333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31000" y="4432300"/>
            <a:ext cx="762000" cy="0"/>
          </a:xfrm>
          <a:prstGeom prst="line">
            <a:avLst/>
          </a:prstGeom>
          <a:ln w="16510">
            <a:solidFill>
              <a:srgbClr val="333333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556000" y="4953000"/>
            <a:ext cx="0" cy="22860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779000" y="4432300"/>
            <a:ext cx="762000" cy="0"/>
          </a:xfrm>
          <a:prstGeom prst="line">
            <a:avLst/>
          </a:prstGeom>
          <a:ln w="1651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541000" y="1727200"/>
            <a:ext cx="0" cy="2705100"/>
          </a:xfrm>
          <a:prstGeom prst="line">
            <a:avLst/>
          </a:prstGeom>
          <a:ln w="1651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731000" y="1727200"/>
            <a:ext cx="3810000" cy="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33000" y="2921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>
                <a:solidFill>
                  <a:srgbClr val="111111"/>
                </a:solidFill>
              </a:rPr>
              <a:t>VBAT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開發環境對照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 dirty="0" err="1">
                <a:solidFill>
                  <a:srgbClr val="FFFFFF"/>
                </a:solidFill>
              </a:rPr>
              <a:t>原廠</a:t>
            </a:r>
            <a:r>
              <a:rPr sz="125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897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開發框架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8897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原廠自行維護的 C 專案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8897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Arduino 框架
XIAO 官方 BSP 即以此為基礎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9588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開發環境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595880"/>
            <a:ext cx="44450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Keil MDK(僅支援 STM32)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595880"/>
            <a:ext cx="456184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VS Code + PlatformIO 擴充套件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040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燒錄方式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200400"/>
            <a:ext cx="44450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ST-Link 燒錄器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200400"/>
            <a:ext cx="456184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雙擊 RESET 進入 Bootloader 後由 USB 上傳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492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串列監視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3804920"/>
            <a:ext cx="44450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需 USB-TTL 轉換器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3804920"/>
            <a:ext cx="456184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USB CDC 直接開啟,不需轉換器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36440"/>
            <a:ext cx="11064240" cy="1041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rIns="203200" rtlCol="0" anchor="ctr"/>
          <a:lstStyle/>
          <a:p>
            <a:pPr algn="l"/>
            <a:r>
              <a:rPr sz="1150" b="1">
                <a:solidFill>
                  <a:srgbClr val="FFFFFF"/>
                </a:solidFill>
              </a:rPr>
              <a:t>選用 PlatformIO 的原因
</a:t>
            </a:r>
            <a:r>
              <a:rPr sz="1050">
                <a:solidFill>
                  <a:srgbClr val="FFFFFF"/>
                </a:solidFill>
              </a:rPr>
              <a:t>XIAO 的官方 BSP 以 Arduino 框架為基礎,韌體必須在此框架下開發;PlatformIO 是 VS Code 上支援該框架的擴充套件。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主控晶片對照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核心、電源、職責分工與韌體形式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4818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核心與記憶體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4818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nRF51822　16MHz M0 ｜ 256KB FLASH / 16KB RAM</a:t>
            </a:r>
          </a:p>
          <a:p>
            <a:r>
              <a:rPr sz="1050">
                <a:solidFill>
                  <a:srgbClr val="1B2A4A"/>
                </a:solidFill>
              </a:rPr>
              <a:t>STM32F411　96MHz M4 ｜ 512KB FLASH / 128KB 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4818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nRF52840　64MHz M4F(含 FPU)</a:t>
            </a:r>
          </a:p>
          <a:p>
            <a:r>
              <a:rPr sz="1050">
                <a:solidFill>
                  <a:srgbClr val="1B2A4A"/>
                </a:solidFill>
              </a:rPr>
              <a:t>1MB FLASH / 256KB RAM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43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電源與充電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6543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TP4059 充電晶片(500mA)</a:t>
            </a:r>
          </a:p>
          <a:p>
            <a:r>
              <a:rPr sz="1050">
                <a:solidFill>
                  <a:srgbClr val="1B2A4A"/>
                </a:solidFill>
              </a:rPr>
              <a:t>兩顆 XC6204B302 LDO 分別供電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6543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無獨立充電與穩壓晶片,改用模組內建</a:t>
            </a:r>
          </a:p>
          <a:p>
            <a:r>
              <a:rPr sz="1050">
                <a:solidFill>
                  <a:srgbClr val="1B2A4A"/>
                </a:solidFill>
              </a:rPr>
              <a:t>充電電路(BQ25101),載板僅加濾波電容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6042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職責分工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36042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51822 負責無線通訊與電源管理
F411 負責感測、融合、PID、馬達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36042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同一顆處理感測、融合、PID、馬達、USB,並內建 RADIO 收發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6654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晶片間通訊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06654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兩顆之間以 UART 相連,遙控指令需轉發一次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06654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無跨晶片通訊,資料在同一顆晶片內流動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726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韌體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29840" y="47726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分為兩份,需各自燒錄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51040" y="47726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單一份,一次燒錄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498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原廠以兩顆晶片分工,指令需經 UART 轉發;本研究合併為一顆,省去晶片間的轉發環節</a:t>
            </a:r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慣性感測對照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型號、掛接方式與備援設計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4818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九軸感測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4818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MPU9250(三軸加速度+陀螺+磁力計)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4818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GY-91 模組(內含 MPU9250)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43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氣壓計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6543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BMP280(後改 SPL06)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6543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GY-91 模組內含 BMP280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6042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掛接與讀取方式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36042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九軸掛主控 IIC1(PB8/PB9),位址 0xD2;氣壓計掛在九軸的輔助 IIC</a:t>
            </a:r>
          </a:p>
          <a:p>
            <a:r>
              <a:rPr sz="1050">
                <a:solidFill>
                  <a:srgbClr val="1B2A4A"/>
                </a:solidFill>
              </a:rPr>
              <a:t>讀取方式:中斷 + DMA + 信號量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36042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以 TWIM + EasyDMA 讀取,設定 RXD.PTR/MAXCNT 由硬體搬資料</a:t>
            </a:r>
          </a:p>
          <a:p>
            <a:r>
              <a:rPr sz="1050">
                <a:solidFill>
                  <a:srgbClr val="1B2A4A"/>
                </a:solidFill>
              </a:rPr>
              <a:t>開機自動探測 0x68/0x69 雙位址;採純輪詢等待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6654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備援感測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06654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06654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板載 LSM6DS3 六軸,主感測失效時自動接手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726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可更換性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29840" y="47726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感測器直接焊在板上,不可更換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51040" y="47726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以排針座連接,可插拔更換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498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原廠感測器焊死在板上;本研究改為模組化,並多一組板載六軸作為備援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無線通訊對照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射頻晶片、訊號路徑與驅動實作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4818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射頻晶片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4818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NRF51822 + RFX2401C 功率放大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4818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nRF52840 內建 RADIO,無外掛射頻晶片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43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訊號路徑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6543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 dirty="0">
                <a:solidFill>
                  <a:srgbClr val="1B2A4A"/>
                </a:solidFill>
              </a:rPr>
              <a:t>遙控器 → NRF51822 → UART → STM32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6543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 dirty="0">
                <a:solidFill>
                  <a:srgbClr val="1B2A4A"/>
                </a:solidFill>
              </a:rPr>
              <a:t>遙控器 → nRF52840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6042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軟體實作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36042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STM32 端由 radiolink 任務逐位元組解析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36042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直接操作 RADIO 暫存器收發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6654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韌體分佈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06654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無線與飛控分屬不同晶片,韌體分兩份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06654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單一份韌體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5498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原廠訊號須經射頻晶片再轉給主控;本研究由主控直接收發,無中間轉發環節</a:t>
            </a:r>
          </a:p>
        </p:txBody>
      </p:sp>
      <p:sp>
        <p:nvSpPr>
          <p:cNvPr id="24" name="Rectangle 10"/>
          <p:cNvSpPr/>
          <p:nvPr/>
        </p:nvSpPr>
        <p:spPr>
          <a:xfrm>
            <a:off x="548640" y="47726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驅動實作</a:t>
            </a:r>
          </a:p>
        </p:txBody>
      </p:sp>
      <p:sp>
        <p:nvSpPr>
          <p:cNvPr id="25" name="Rectangle 11"/>
          <p:cNvSpPr/>
          <p:nvPr/>
        </p:nvSpPr>
        <p:spPr>
          <a:xfrm>
            <a:off x="2529840" y="47726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沿用 nRF51 現成的 ESB 函式庫,主控端只解析 UART 位元組流</a:t>
            </a:r>
          </a:p>
        </p:txBody>
      </p:sp>
      <p:sp>
        <p:nvSpPr>
          <p:cNvPr id="26" name="Rectangle 12"/>
          <p:cNvSpPr/>
          <p:nvPr/>
        </p:nvSpPr>
        <p:spPr>
          <a:xfrm>
            <a:off x="7051040" y="47726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無現成函式庫可用,需直接設定 RADIO 暫存器:頻率、封包格式、CRC、白化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無線層:從外掛晶片改為主控內建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封包各欄位與移植對齊點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晶片專有的 2.4GHz 輕量無線協議。原廠遙控器與飛機之間就是用它通訊 —— 不是 WiFi、不是藍牙,是更省電、更低延遲的點對點協議。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154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無線層的架構改變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68680" y="361188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6868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593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原廠架構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5935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飛機用 STM32F411 算控制、外掛 nRF51822 專門收發 ESB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" y="432511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6868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3068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本研究架構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34640" y="430682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單晶片:CPU 和無線電同一顆,韌體直接驅動 RADIO 外設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" y="5038344"/>
            <a:ext cx="402336" cy="402336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5038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1600" y="50200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4640" y="502005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外掛晶片的驅動無法沿用,改為直接操作主控內建的無線電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40080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</a:t>
            </a:r>
            <a:r>
              <a:rPr lang="en-US" sz="13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封包結構:橙色欄位是移植時需要對齊的部分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0" y="210312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0" y="21031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0" y="210312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732520" y="210312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265176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00800" y="265176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46720" y="26517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2520" y="2651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 ← 必須逐位元反轉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200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200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3200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6bit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732520" y="3200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動態載荷長度(LFLEN=6)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0" y="374904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400800" y="37490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S1欄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46720" y="374904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732520" y="37490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NO回覆確認 旗標(S1LEN=3)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29768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00800" y="42976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46720" y="42976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32520" y="42976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msgID + dataLen + data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400800" y="484632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00800" y="48463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46720" y="484632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32520" y="484632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硬體校驗(2位元組)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0" y="5440680"/>
            <a:ext cx="4983480" cy="274320"/>
          </a:xfrm>
          <a:prstGeom prst="roundRect">
            <a:avLst>
              <a:gd name="adj" fmla="val 13333"/>
            </a:avLst>
          </a:prstGeom>
          <a:ln w="19050">
            <a:solidFill>
              <a:srgbClr val="E8934A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0" y="54406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橙色欄位在兩顆晶片上的預設值不同,移植時逐項對齊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無線層的三項調整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位址位序、載荷長度與傳輸速率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17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位元順序:兩晶片空中位序相反,寫入前逐位鏡像(swapBits)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181051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NRF24L01+ 高位(MSB)先發、nRF52840 低位(LSB)先發,同一位址空中互為鏡像→對不上。  </a:t>
            </a: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解法: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寫入前每位元組位元反轉(0xAF→0xF5),硬體低位先出後恰好對回。</a:t>
            </a:r>
            <a:endParaRPr lang="en-US" sz="1050" dirty="0"/>
          </a:p>
        </p:txBody>
      </p:sp>
      <p:pic>
        <p:nvPicPr>
          <p:cNvPr id="11" name="Image 0" descr="/home/claude/thesis/bitswap_min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159000"/>
            <a:ext cx="8778240" cy="8382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164840"/>
            <a:ext cx="53949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77240" y="3667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動態載荷:長度寫在空中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4079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原協議每包長度不固定,由封包內的「長度欄」告知。目標晶片須設定: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77240" y="4673600"/>
            <a:ext cx="493776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960120" y="4765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PCNF0: LFLEN=6(長度欄6位元)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S1LEN=3(NO回覆確認旗標3位元)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5633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設錯任一位元數 → 封包解不出來 = 收不到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72200" y="316484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400800" y="366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資料速率:250Kbps 已被移除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0" y="4079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原廠用 250Kbps(nRF51 支援);nRF52840 硬體已移除此速率。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0" y="4627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6400800" y="4627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250 Kbps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(不支援)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869680" y="4719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9464040" y="462788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9464040" y="4627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 Mbps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(兩端同改)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00800" y="5542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速率是「收發雙方約定」— 遙控器端韌體同步改為 1Mbps,才能互通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移植後的控制流程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哪些保留、哪些改動、哪些新增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主感測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MPU9250+BMP280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002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8346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LSM6DS3 備援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(板載6軸·可獨飛)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新增:兩組感測器自動切換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160020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394960" y="16002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互補濾波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(Mahony·保留)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80960" y="16002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680960" y="16002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角度環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2640" y="16002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692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角速度環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1984248"/>
            <a:ext cx="18288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937760" y="1984248"/>
            <a:ext cx="45720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406640" y="1984248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9418320" y="1984248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高度估計(改)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氣壓中值+靜止修正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+融合權重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2004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00400" y="32004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Z軸高度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32004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57784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失控保護(新)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寬限維持→受控下降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(分級狀態機)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0" y="32004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321040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輸出混合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(保留)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49840" y="320040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0149840" y="32004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PWM×4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(重寫驅動)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926080" y="3657600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212080" y="3657600"/>
            <a:ext cx="36576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955280" y="3657600"/>
            <a:ext cx="36576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875520" y="3657600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48640" y="45262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77240" y="46451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三類改動的區分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2960" y="502920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371600" y="50109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保留:串級 PID 的核心流程照原樣移植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0" y="502920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217920" y="501091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改動:高度估計與馬達驅動,因為兩個平台的硬體不同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22960" y="544068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37160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新增:第二組感測器備援,以及分級的失控保護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17920" y="5422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移植策略:核心不動、驅動重寫、保護另外加上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控制流程與本研究的增強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原廠六個環節與新增的四項處理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035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感測融合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 IMU 加權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768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774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323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姿態估計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4323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Mahony 互補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056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2611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高度估計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2611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氣壓+加速度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344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899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速度環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899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定高油門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632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9187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混控分配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9187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X 型四馬達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920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926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7475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馬達輸出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7475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 驅動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063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本研究的關鍵增強(標於對應環節下方)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548640" y="3456432"/>
            <a:ext cx="82296" cy="658368"/>
          </a:xfrm>
          <a:prstGeom prst="rect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777240" y="35112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雙源融合 + 自動降級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77640" y="3511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對應【感測融合】環節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板載 6DOF 與外接 9 軸加權融合,分歧大時平滑過渡;單一感測器失效自動降級不墜落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1879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48640" y="4187952"/>
            <a:ext cx="82296" cy="658368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77240" y="42428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零偏防污染三道門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77640" y="42428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對應【姿態估計】環節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陀螺零偏在線學習,但馬達轉動/磁校/未落地時拒絕採樣——不把振動學進零偏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91947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48640" y="4919472"/>
            <a:ext cx="82296" cy="658368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77240" y="49743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高度估計三項增強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977640" y="497433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對應【高度估計】環節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首值建基線防暴衝、三點中值殺尖峰、阻尼比解耦減振鈴(後頁詳述)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6509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48640" y="5650992"/>
            <a:ext cx="82296" cy="658368"/>
          </a:xfrm>
          <a:prstGeom prst="rect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77240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④ 油門基準四重閘自整定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977640" y="5705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對應【速度環】環節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懸停油門自適應,但四重條件過濾——不把衝天極端值學進基準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四項增強遵循同一原則:先確認資料可信,再讓它影響控制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兩組感測器的融合與降級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加權融合與失效時的自動切換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雙感測來源從何而來?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139696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關鍵理由:它【板載 6DOF IMU】(LSM6DS3TR-C),單晶片即可完成姿態解算與飛行,無需外掛感測器。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同時保留外接 GY-91(9 軸 + 氣壓)的彈性 —— 於是有了「雙感測器來源」的設計空間。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雙源加權融合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968496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兩顆 IMU 讀數不會完全一致,硬切換會造成姿態跳變。</a:t>
            </a:r>
            <a:endParaRPr lang="en-US" sz="11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設計: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以外接 9 軸為主、板載 6 軸換算為同當量後加權;兩者分歧越大,板載權重平滑降到 0 —— 全程無硬切換、無跳變。航向軸僅在磁校後才納入融合。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15727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單一感測器失效 → 自動降級(不墜落)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048256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28232" y="21396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35240" y="21396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外接 9 軸 + 板載 6 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28232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完整定高 + 航向修正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3081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75120" y="3255264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39712" y="3346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降級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334670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僅板載 6 軸接手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39712" y="37673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姿態可控,定高轉純姿態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03720" y="428853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86600" y="4462272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45537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保命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58200" y="4553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飛行中主感測失效 200ms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51192" y="49743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即時切板載;地面放寬 2s 防誤切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原廠的控制流程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出自原廠開發指南圖 6.3.1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685800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0" descr="img/alg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91640"/>
            <a:ext cx="658368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5120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原廠姿態解算與串級 PID 流程(開發指南 圖6.3.1)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1463040"/>
            <a:ext cx="4023360" cy="4343400"/>
          </a:xfrm>
          <a:prstGeom prst="roundRect">
            <a:avLst>
              <a:gd name="adj" fmla="val 181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7818120" y="16276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逐塊解讀(對照左圖)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818120" y="20574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781812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75320" y="20208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互補濾波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7532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加計(長期準)+陀螺(短期準)融合出姿態角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818120" y="2807208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81812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275320" y="2770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角度環 PID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75320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期望角度 vs 測量角度 → 輸出期望角速度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18120" y="3557016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781812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275320" y="35204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角速度環 PID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275320" y="38313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期望角速度 vs 陀螺 → 輸出姿態控制量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818120" y="4306824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7818120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75320" y="4270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Z軸高度 PID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8275320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定高模式:油門轉 Z 速度,氣壓高度閉環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818120" y="5056632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7818120" y="5056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75320" y="50200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PWM×4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275320" y="53309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三環輸出混合 → 四馬達油門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三種失控保護策略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訊號中斷時的三種處理方式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遙控訊號中斷時,立刻切斷馬達最保守,但多數中斷只是短暫的,直接停機並不必要。因此依使用場合設計了三種等待方式。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65960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 rot="5400000">
            <a:off x="2249424" y="3182112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【影片:模式0.mp4】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76656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保持高度,等訊號回來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中斷後維持原高度最多 2 秒,訊號回來就繼續飛;超過 2 秒才開始緩慢下降。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0A4D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多機控制時每架都會有約 0.15 秒收不到指令,遠短於 2 秒,所以不會誤觸發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79392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8912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96712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 rot="5400000">
            <a:off x="5980176" y="3182112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389120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【影片:模式1.mp4】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407408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原地懸停,再緩慢下降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中斷後原地懸停約 8 秒,讓操作者有時間反應與接手,超時再緩慢下降落地。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79392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4407408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適合有人在旁監看的手動飛行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10144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119872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427464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 rot="5400000">
            <a:off x="9710928" y="3182112"/>
            <a:ext cx="384048" cy="402336"/>
          </a:xfrm>
          <a:prstGeom prst="triangl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119872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【影片:模式2.mp4】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10144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38160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立刻緩慢下降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138160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中斷後立刻緩慢下降,觸地自動停機,不等待訊號。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0144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138160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適合陌生環境,或不希望飛機漂移的場合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0 的等待機制也是多機控制的基礎:廣播時每架都會有短暫收不到指令的空檔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失控保護:寬限維持階段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訊號中斷當下的四項處理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97280" y="2286000"/>
            <a:ext cx="2651760" cy="13716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97280" y="22860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正常飛行</a:t>
            </a:r>
            <a:endParaRPr lang="en-US" sz="130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(遙控指令連續)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2971800"/>
            <a:ext cx="1554480" cy="0"/>
          </a:xfrm>
          <a:prstGeom prst="line">
            <a:avLst/>
          </a:prstGeom>
          <a:noFill/>
          <a:ln w="3175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611880" y="2057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偵測到中斷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(超過時限沒有新指令)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2286000"/>
            <a:ext cx="2651760" cy="13716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303520" y="22860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進入等待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(鎖住高度、把機身調平)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303520" y="3657600"/>
            <a:ext cx="0" cy="548640"/>
          </a:xfrm>
          <a:prstGeom prst="line">
            <a:avLst/>
          </a:prstGeom>
          <a:noFill/>
          <a:ln w="25400">
            <a:solidFill>
              <a:srgbClr val="2FA64F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017520" y="4251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訊號回來就直接繼續飛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200400" cy="4206240"/>
          </a:xfrm>
          <a:prstGeom prst="roundRect">
            <a:avLst>
              <a:gd name="adj" fmla="val 228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641080" y="1627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等待期間做的四件事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41080" y="2103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64108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057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高度:記住中斷當下的高度,定高持續運作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41080" y="28803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4108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834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姿態:目標傾角歸零,機身自動調平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641080" y="36576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64108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09828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油門:不切斷,馬達繼續轉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641080" y="443484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64108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98280" y="4389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計時:開始累計中斷了多久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641080" y="5166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這個階段只維持現狀、不做處置,是為了讓訊號回來時能直接接手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失控保護:完整狀態轉移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寬限超時後的處理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09728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正常飛行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2697480"/>
            <a:ext cx="685800" cy="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606040" y="22585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2148840"/>
            <a:ext cx="2194560" cy="109728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37560" y="2148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進入等待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(計時中)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2148840"/>
            <a:ext cx="0" cy="0"/>
          </a:xfrm>
          <a:prstGeom prst="line">
            <a:avLst/>
          </a:prstGeom>
          <a:noFill/>
          <a:ln w="25400">
            <a:solidFill>
              <a:srgbClr val="2FA64F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554480" y="1188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訊號恢復與逾時的兩種結果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2697480"/>
            <a:ext cx="685800" cy="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86400" y="22585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超時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148840"/>
            <a:ext cx="2286000" cy="109728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217920" y="2148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判定真失聯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= 關機/遠離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697480"/>
            <a:ext cx="685800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9189720" y="2148840"/>
            <a:ext cx="2286000" cy="109728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189720" y="2148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受控下降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著陸鎖定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77240" y="41148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與輪流發送的差別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49884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輪流發送決定發給誰,斷線維持決定沒輪到時怎麼辦。沒有維持機制,每次輪空都會觸發保護,多機就不成立。寬限時長預設 2 秒可調。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7220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以等待時間判斷是暫時中斷還是真的失聯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49884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斷線與關機在飛機看來完全一樣,差別只在會不會回來,因此以等待時間判斷。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高度估計的三項改動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每項都對應一個實際遇到的現象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氣壓中值濾波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46120" y="1691640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29000" y="16002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高度讀值偶發單拍尖峰,定高瞬間竄動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29000" y="200253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氣壓感測受電氣雜訊,單次採樣可能異常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40487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改法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 3 點取中值 — 尖峰值被兩側正常值取代,延遲僅 1 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3099816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靜止零速修正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246120" y="3172968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429000" y="30815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落地後高度緩慢漂移,下次起飛基線錯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29000" y="348386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加速度計零偏隨溫度漂移,積分累積誤差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29000" y="38862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改法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偵測「馬達停+陀螺靜」→ 強制垂直速度歸零,同步學習零偏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47141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581144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融合權重可調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246120" y="4654296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429000" y="45628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氣壓跟隨快則抖動、平滑重則漂移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49651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單一權重無法兼顧跟隨性與平滑度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實機影片(一):移植後的飛行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從開機到降落的完整過程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【影片位置:此處替換為飛行影片截圖】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影片內容: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開機自檢、遙控器配對、起飛、定高懸停、訊號中斷後繼續飛、降落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　請注意: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訊號中斷那一段,飛機高度沒有掉下來,訊號回來就繼續飛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一支遙控器同時指揮兩架的組成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(定位與決策)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(改為廣播轉發)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9240" y="2423160"/>
            <a:ext cx="640080" cy="0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飛機A:ATK原機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(編號 2,一對一位址 A)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飛機B:nRF自製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(編號 1,一對一位址 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138160" y="3090672"/>
            <a:ext cx="64008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兩架都發出藍牙訊號</a:t>
            </a:r>
            <a:endParaRPr lang="en-US" sz="10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79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77240" y="3840479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A:指定其中一架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3840479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同一個封包兩架都收到,封包尾端註明要給誰。被指定的執行動作,另一架原地懸停等待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92640" y="3968496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9692640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53712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77240" y="455371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B:一次指揮多架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4553712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一個封包裡分別放入每一架的指令,兩架各自取出屬於自己的部分,因此可以同時做不同動作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692640" y="46817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9692640" y="46817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5266944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777240" y="52669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輪流查詢狀態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17520" y="5266944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廣播時飛機不會回傳,因此每 0.13 秒改用一對一方式向其中一架查詢電量與連線狀態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692640" y="5394959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692640" y="5394959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指令的封包格式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多機定址加在這個既有格式的保留欄位上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封包結構(上位機送往飛控)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指令類型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資料位元組數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339328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0~N 位元組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012680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59736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前面位元組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求和取低8位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 AA AF 01 01 A1 FC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0233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起始碼2:上位機→飛控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 CMD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0233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位元組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 ARM 命令碼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233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相加後取低 8 位,結果就是 FC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10896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3246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沿用原廠協議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840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68096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856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原廠地面站可直接使用,上位機不必另外開發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5262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768096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471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飛機端的解析程式已在移植的韌體中,指令可直接進入控制流程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212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68096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1572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功能欄位仍有保留空間,可加入多機定址而不影響原有相容性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最初的方案與放棄的原因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說明為何最後採用廣播而非輪流發送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最初的想法是讓遙控器記住要控制哪一架,再輪流對每一架分別發送指令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最初的方案:先指定目標,再輪流發送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上位機先送一個封包告訴遙控器要控制哪一架,之後的指令就由遙控器轉給那一架: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AF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功能欄位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(指定目標)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00/01/FF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 = A 機　1 = B 機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FF = 全部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主要限制是:有幾架就要發幾次,每一架收到指令的時間必然錯開,無法做到同步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放棄的三個原因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發送次數隨架數增加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每一架各發一次,兩架就讓更新速率減半;架數越多每一架越慢,而且指令永遠錯開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狀態集中在遙控器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目標記在遙控器裡,一旦封包遺失或重開機,上位機與遙控器的認知就會不一致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實作後無法除錯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時槽分配需要執行時協商,實測長時間沒有回應,也無法觀察卡在哪一步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指定其中一架執行,其餘原地懸停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03276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16991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飛機端的判斷步驟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6728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672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672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先看長度。長度多出一個位元組,代表是廣播封包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6728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023360" y="3672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672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讀取尾端那個位元組,得知這個封包指定給誰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294631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294631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294631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若指定為全部,或正好是自己的編號,就執行搖桿指令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294631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023360" y="4294631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294631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否則原地懸停等待:傾角歸零、油門固定在懸停值、切換為定高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1642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22960" y="491642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關鍵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1642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等待時仍會更新連線時間,不會被誤判為失聯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1642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23360" y="491642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提示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1642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不符即待命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4559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沿用已經確認可以飛的原廠封包,只差一個位元組,在不易除錯的情況下把變動降到最低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03276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316991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三項設計說明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7642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680960" y="37642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09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等待中的飛機會持續懸停,因為每個封包都會更新連線時間,不會誤判為失聯而降落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4500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7680960" y="44500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3952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一對一傳送時封包少一個位元組,飛機會自動走原本的流程,不需另外切換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1358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680960" y="51358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0810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起飛、降落與緊急停止這類指令不指定對象,一律送給所有飛機,因為緊急停止必須每一架都收到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封包結構:沿用原廠遙控封包,尾端多加一個位元組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原廠遙控封包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(格式不變)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339328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位元組全精度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012680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目標位元組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59736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0=全體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1=nRF 2=ATK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B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一個封包同時指揮多架,各架動作可不同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03276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16991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飛機端的取用步驟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6728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672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672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先讀第一個位元組,得知這個封包含有幾架的指令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6728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023360" y="3672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672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8 個位元組為一段,依序檢查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294631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294631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294631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比對每一段開頭的編號是否為自己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294631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023360" y="4294631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294631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找到就取出使用;全部檢查完都沒有自己的,就忽略這個封包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1642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22960" y="491642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1642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A 靠封包尾端的位元組,模式 B 靠每段開頭的編號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1642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23360" y="491642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注意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1642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各取自己那一段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4559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沒找到自己時不會重置連線時間,因為分批傳送時這個封包沒有自己並不代表失聯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03276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316991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數值壓縮的原因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7642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680960" y="37642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09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單一封包最多只能放 32 個位元組,原本的完整格式兩架就放不下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4500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7680960" y="44500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3952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依實際飛行需要縮小範圍(傾角 ±30 度、轉速 ±200 度/秒),損失的精度遠小於機體本身的反應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13587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680960" y="51358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0810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每架 8 個位元組,兩架 19、三架 27 個位元組仍在限制內,四架則超過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封包結構:先寫架數,再依序放入每一架的指令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一次指揮多架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(功能欄位)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 + 8×N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(兩架=17)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339328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架數 + 各架指令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每架 8 個位元組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012680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59736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前面位元組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求和取低8位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廣播模式下的狀態回報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以定期切換一對一的方式取得狀態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575559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452360" y="2575559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164839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大部分時間都在廣播控制,每隔約 0.13 秒插入一次一對一查詢,取得該架狀態後立刻切回廣播: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04919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68680" y="3804919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535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控制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221992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連續 12 次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約 130ms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(不回覆)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319272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點名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改為一對一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04919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416552" y="3804919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535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查詢其中一架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(要求回覆)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769864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電量與連線狀態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3936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飛機在線時回覆約 1 毫秒,佔用不到百分之一;某架失聯時等待會拉長,故連續三次失敗後把查詢頻率降到四分之一,避免拖慢控制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80960" y="321055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680960" y="321055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164839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只查詢目前操控的那一架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48487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沒有被操控的那一架當下不需要即時狀態,省下的次數讓目前操控的那一架更新更快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07923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680960" y="40792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33519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查詢的等待時間要盡量短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535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等待上限設為 50 毫秒。飛機在線時約 1 毫秒即回覆,只有失聯時才會等滿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4791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680960" y="4947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022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狀態資料不能累積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22239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飛機端若讓回傳資料排隊,遙控器取到的會是數十秒前的舊值。改為只保留最新一筆,確保取得的是當下的數值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廣播時飛機不能回覆,否則多架同時應答會互相干擾;但遙控器仍需知道各架的電量與連線狀態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740151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做法:定期改用一對一查詢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80960" y="2740151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三項設計說明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三種控制方式的比較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差別在於飛機是否回覆確認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要求飛機回覆就能確認是否收到,也能自動重送,但必須逐架發送,指令會錯開;不要求回覆,一個封包所有飛機同時收到,代價是遙控器看不到飛機狀態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把同一份指令送到兩架所需的發送次數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以遙控器每秒 100 次的傳送速率為基準,比較三種方式: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一對一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N 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廣播模式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1 次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(所有飛機同時收到)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廣播模式 B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1 次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同步性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一對一:錯開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廣播:同時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狀態回覆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只有一對一才有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要同步動作就用廣播,要逐架讀狀態就用一對一。本研究三種都保留,可隨時切換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三種方式各自適用的情況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一對一傳送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只對一架發送並要求回覆,收不到會自動重送,可以逐架偵測封包遺失。缺點是有幾架就要發幾次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一個封包所有飛機都收到,由封包尾端註明誰執行,其餘原地懸停。發送次數固定為一次,但一次只能操控一架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B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一個封包裡分別放入每一架的指令,發送次數固定一次,兩架可同時做不同動作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實機影片(二):廣播模式 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同一個封包兩架都收到,只有指定的那架執行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【影片位置:此處替換為廣播模式 A 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操作方式:遙控器切到 M1 時只有 ATK 有反應,切到 M2 時只有 nRF 有反應　請注意:沒有被指定的那一架會原地懸停、高度不掉,因為它讀到尾端的目標位元組不是自己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實機影片(三):廣播模式 B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同一個封包,兩架執行不同的動作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【影片位置:此處替換為廣播模式 B 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上位機送出一個封包,其中 ATK 那段設為手動油門、nRF 那段設為懸停等待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要看的重點: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結果只有 ATK 轉動,nRF 靜止;兩者對調後結果一致,可見是依段內編號分辨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從接收訊號到算出座標的四個步驟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一個閘道與四個錨點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閘道(一台)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 20 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錨點(四個,位置固定且已知)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飛機端不加裝模組,用原有晶片發出定位訊號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若當下空檔不足就跳過這次定位訊號,不占用接收遙控指令的時機。飛行安全優先於定位。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同一套錨點如何同時服務多架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 USB 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步驟一:先看清訊號本身的特性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 dBm。每降低 10 分貝代表功率變成十分之一。室內藍牙常見範圍約 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訊號經牆面與地面反射後,多條路徑疊在一起互相干擾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 5 到 15 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訊號強度跳動示意(飛機靜止不動)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連續取樣(飛機完全靜止)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步驟二:把訊號強度換算成距離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衰減指數(反映環境特性)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訊號濾波(1/3):問題說明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步驟三之一:濾波要解決的問題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 2 到 3 分貝之間跳動。這是反射與環境干擾造成的,無法消除。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 1 分貝,換算後可能差到數十公分甚至一公尺以上。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固定參數一定會犧牲其中一邊,因此需要能依情況自動調整強度的濾波方式。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訊號濾波(2/3):依情況調整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步驟三之二:依情況調整濾波強度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訊號濾波(3/3):實際除錯過程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步驟三之三:實作時遇到的問題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步驟四:把座標整理成連續軌跡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 = 目前位置 + 速度 × 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四個步驟展開後的實際處理順序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從位置誤差換算成飛行指令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傳統做法、參考文獻與本研究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她的實測值(非本研究成績)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實機影片(四):室內定位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四個錨點定位與地圖顯示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與原廠及開源方案的功能對照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目前的量化數據(一):硬體與定位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硬體移植與定位系統的實測數據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 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1.88m為對標目標,本研究精度待量化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目前的量化數據(二):多機控制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三種控制方式的實測數據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 19、三架共 27 個位元組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 ATK 設手動、nRF 設懸停,結果只有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位元組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系統目前能做到與做不到的部分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 32 個位元組,因此一個封包最多容納三架;兩架同時編隊飛行尚未完整展示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56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30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五項工作與各自的完成狀態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接下來要做的事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本研究從自行設計電路板、移植飛控韌體,到室內定位與多機控制,建立了一套可以自行修改、也能繼續延伸的無人機平台。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1954</TotalTime>
  <Words>11959</Words>
  <Application>Microsoft Office PowerPoint</Application>
  <PresentationFormat>宽屏</PresentationFormat>
  <Paragraphs>2254</Paragraphs>
  <Slides>57</Slides>
  <Notes>48</Notes>
  <HiddenSlides>2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57</vt:i4>
      </vt:variant>
    </vt:vector>
  </HeadingPairs>
  <TitlesOfParts>
    <vt:vector size="65" baseType="lpstr">
      <vt:lpstr>Google Sans Text</vt:lpstr>
      <vt:lpstr>Noto Sans CJK TC</vt:lpstr>
      <vt:lpstr>Noto Serif CJK TC</vt:lpstr>
      <vt:lpstr>Arial</vt:lpstr>
      <vt:lpstr>Calibri</vt:lpstr>
      <vt:lpstr>Courier New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78</cp:revision>
  <dcterms:created xsi:type="dcterms:W3CDTF">2026-07-21T07:02:54Z</dcterms:created>
  <dcterms:modified xsi:type="dcterms:W3CDTF">2026-08-17T13:21:26Z</dcterms:modified>
</cp:coreProperties>
</file>